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Lst>
  <p:sldSz cy="5143500" cx="9144000"/>
  <p:notesSz cx="5143500" cy="9144000"/>
  <p:embeddedFontLst>
    <p:embeddedFont>
      <p:font typeface="Roboto Mono"/>
      <p:regular r:id="rId56"/>
      <p:bold r:id="rId57"/>
      <p:italic r:id="rId58"/>
      <p:boldItalic r:id="rId59"/>
    </p:embeddedFont>
    <p:embeddedFont>
      <p:font typeface="Merriweather"/>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4" roundtripDataSignature="AMtx7mjtSck9V05VA5nBYuxQ9KePHKiM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Merriweather-italic.fntdata"/><Relationship Id="rId61" Type="http://schemas.openxmlformats.org/officeDocument/2006/relationships/font" Target="fonts/Merriweather-bold.fntdata"/><Relationship Id="rId20" Type="http://schemas.openxmlformats.org/officeDocument/2006/relationships/slide" Target="slides/slide16.xml"/><Relationship Id="rId64" Type="http://customschemas.google.com/relationships/presentationmetadata" Target="metadata"/><Relationship Id="rId63" Type="http://schemas.openxmlformats.org/officeDocument/2006/relationships/font" Target="fonts/Merriweather-bold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font" Target="fonts/Merriweather-regular.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font" Target="fonts/RobotoMono-bold.fntdata"/><Relationship Id="rId12" Type="http://schemas.openxmlformats.org/officeDocument/2006/relationships/slide" Target="slides/slide8.xml"/><Relationship Id="rId56" Type="http://schemas.openxmlformats.org/officeDocument/2006/relationships/font" Target="fonts/RobotoMono-regular.fntdata"/><Relationship Id="rId15" Type="http://schemas.openxmlformats.org/officeDocument/2006/relationships/slide" Target="slides/slide11.xml"/><Relationship Id="rId59" Type="http://schemas.openxmlformats.org/officeDocument/2006/relationships/font" Target="fonts/RobotoMono-boldItalic.fntdata"/><Relationship Id="rId14" Type="http://schemas.openxmlformats.org/officeDocument/2006/relationships/slide" Target="slides/slide10.xml"/><Relationship Id="rId58" Type="http://schemas.openxmlformats.org/officeDocument/2006/relationships/font" Target="fonts/RobotoMono-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000" b="0" i="0" u="none" strike="noStrike">
                <a:solidFill>
                  <a:srgbClr val="0F172A"/>
                </a:solidFill>
                <a:latin typeface="Arial"/>
              </a:defRPr>
            </a:pPr>
            <a:r>
              <a:rPr sz="1000" b="0" i="0" u="none" strike="noStrike">
                <a:solidFill>
                  <a:srgbClr val="0F172A"/>
                </a:solidFill>
                <a:latin typeface="Arial"/>
              </a:rPr>
              <a:t>Sample Penalty Breakdown</a:t>
            </a:r>
          </a:p>
        </c:rich>
      </c:tx>
      <c:layout/>
      <c:overlay val="0"/>
    </c:title>
    <c:autoTitleDeleted val="0"/>
    <c:plotArea>
      <c:layout/>
      <c:barChart>
        <c:barDir val="col"/>
        <c:grouping val="clustered"/>
        <c:varyColors val="0"/>
        <c:ser>
          <c:idx val="0"/>
          <c:order val="0"/>
          <c:tx>
            <c:strRef>
              <c:f>Sheet1!$B$1</c:f>
              <c:strCache>
                <c:ptCount val="1"/>
                <c:pt idx="0">
                  <c:v>Penalty</c:v>
                </c:pt>
              </c:strCache>
            </c:strRef>
          </c:tx>
          <c:spPr>
            <a:solidFill>
              <a:srgbClr val="DC2626"/>
            </a:solidFill>
            <a:effectLst/>
          </c:spPr>
          <c:invertIfNegative val="0"/>
          <c:dLbls>
            <c:numFmt formatCode="#,##0" sourceLinked="0"/>
            <c:txPr>
              <a:bodyPr/>
              <a:lstStyle/>
              <a:p>
                <a:pPr>
                  <a:defRPr b="0" i="0" strike="noStrike" sz="900" u="none">
                    <a:solidFill>
                      <a:srgbClr val="0F172A"/>
                    </a:solidFill>
                    <a:latin typeface="Arial"/>
                  </a:defRPr>
                </a:pPr>
              </a:p>
            </c:txPr>
            <c:showLegendKey val="0"/>
            <c:showVal val="1"/>
            <c:showCatName val="0"/>
            <c:showSerName val="0"/>
            <c:showPercent val="0"/>
            <c:showBubbleSize val="0"/>
            <c:showLeaderLines val="0"/>
          </c:dLbls>
          <c:dPt>
            <c:idx val="0"/>
            <c:invertIfNegative val="0"/>
            <c:bubble3D val="0"/>
            <c:spPr>
              <a:solidFill>
                <a:srgbClr val="DC2626"/>
              </a:solidFill>
              <a:effectLst/>
            </c:spPr>
          </c:dPt>
          <c:dPt>
            <c:idx val="1"/>
            <c:invertIfNegative val="0"/>
            <c:bubble3D val="0"/>
            <c:spPr>
              <a:solidFill>
                <a:srgbClr val="D97706"/>
              </a:solidFill>
              <a:effectLst/>
            </c:spPr>
          </c:dPt>
          <c:dPt>
            <c:idx val="2"/>
            <c:invertIfNegative val="0"/>
            <c:bubble3D val="0"/>
            <c:spPr>
              <a:solidFill>
                <a:srgbClr val="D97706"/>
              </a:solidFill>
              <a:effectLst/>
            </c:spPr>
          </c:dPt>
          <c:dPt>
            <c:idx val="3"/>
            <c:invertIfNegative val="0"/>
            <c:bubble3D val="0"/>
            <c:spPr>
              <a:solidFill>
                <a:srgbClr val="DC2626"/>
              </a:solidFill>
              <a:effectLst/>
            </c:spPr>
          </c:dPt>
          <c:dPt>
            <c:idx val="4"/>
            <c:invertIfNegative val="0"/>
            <c:bubble3D val="0"/>
            <c:spPr>
              <a:solidFill>
                <a:srgbClr val="D97706"/>
              </a:solidFill>
              <a:effectLst/>
            </c:spPr>
          </c:dPt>
          <c:cat>
            <c:multiLvlStrRef>
              <c:f>Sheet1!$A$2:$A$6</c:f>
              <c:multiLvlStrCache>
                <c:ptCount val="5"/>
                <c:lvl>
                  <c:pt idx="0">
                    <c:v>SQL Inj.</c:v>
                  </c:pt>
                  <c:pt idx="1">
                    <c:v>Open RDP</c:v>
                  </c:pt>
                  <c:pt idx="2">
                    <c:v>XSS</c:v>
                  </c:pt>
                  <c:pt idx="3">
                    <c:v>Unpatched Apache</c:v>
                  </c:pt>
                  <c:pt idx="4">
                    <c:v>Weak SSH</c:v>
                  </c:pt>
                </c:lvl>
              </c:multiLvlStrCache>
            </c:multiLvlStrRef>
          </c:cat>
          <c:val>
            <c:numRef>
              <c:f>Sheet1!$B$2:$B$6</c:f>
              <c:numCache>
                <c:formatCode>General</c:formatCode>
                <c:ptCount val="5"/>
                <c:pt idx="0">
                  <c:v>18.5</c:v>
                </c:pt>
                <c:pt idx="1">
                  <c:v>14.2</c:v>
                </c:pt>
                <c:pt idx="2">
                  <c:v>8.4</c:v>
                </c:pt>
                <c:pt idx="3">
                  <c:v>11</c:v>
                </c:pt>
                <c:pt idx="4">
                  <c:v>6.8</c:v>
                </c:pt>
              </c:numCache>
            </c:numRef>
          </c:val>
        </c:ser>
        <c:dLbls>
          <c:numFmt formatCode="#,##0" sourceLinked="0"/>
          <c:txPr>
            <a:bodyPr/>
            <a:lstStyle/>
            <a:p>
              <a:pPr>
                <a:defRPr b="0" i="0" strike="noStrike" sz="9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000" b="0" i="0" u="none" strike="noStrike">
                <a:solidFill>
                  <a:srgbClr val="0F172A"/>
                </a:solidFill>
                <a:latin typeface="Arial"/>
              </a:defRPr>
            </a:pPr>
            <a:r>
              <a:rPr sz="1000" b="0" i="0" u="none" strike="noStrike">
                <a:solidFill>
                  <a:srgbClr val="0F172A"/>
                </a:solidFill>
                <a:latin typeface="Arial"/>
              </a:rPr>
              <a:t>Minutes: Manual Pentest vs Found 404</a:t>
            </a:r>
          </a:p>
        </c:rich>
      </c:tx>
      <c:layout/>
      <c:overlay val="0"/>
    </c:title>
    <c:autoTitleDeleted val="0"/>
    <c:plotArea>
      <c:layout/>
      <c:barChart>
        <c:barDir val="col"/>
        <c:grouping val="clustered"/>
        <c:varyColors val="0"/>
        <c:ser>
          <c:idx val="0"/>
          <c:order val="0"/>
          <c:tx>
            <c:strRef>
              <c:f>Sheet1!$B$1</c:f>
              <c:strCache>
                <c:ptCount val="1"/>
                <c:pt idx="0">
                  <c:v>Manual Pentest</c:v>
                </c:pt>
              </c:strCache>
            </c:strRef>
          </c:tx>
          <c:spPr>
            <a:solidFill>
              <a:srgbClr val="94A3B8"/>
            </a:solidFill>
            <a:effectLst/>
          </c:spPr>
          <c:invertIfNegative val="0"/>
          <c:dLbls>
            <c:numFmt formatCode="#,##0" sourceLinked="0"/>
            <c:txPr>
              <a:bodyPr/>
              <a:lstStyle/>
              <a:p>
                <a:pPr>
                  <a:defRPr b="0" i="0" strike="noStrike" sz="800" u="none">
                    <a:solidFill>
                      <a:srgbClr val="0F172A"/>
                    </a:solidFill>
                    <a:latin typeface="Arial"/>
                  </a:defRPr>
                </a:pPr>
              </a:p>
            </c:txPr>
            <c:showLegendKey val="0"/>
            <c:showVal val="1"/>
            <c:showCatName val="0"/>
            <c:showSerName val="0"/>
            <c:showPercent val="0"/>
            <c:showBubbleSize val="0"/>
            <c:showLeaderLines val="0"/>
          </c:dLbls>
          <c:cat>
            <c:multiLvlStrRef>
              <c:f>Sheet1!$A$2:$A$5</c:f>
              <c:multiLvlStrCache>
                <c:ptCount val="4"/>
                <c:lvl>
                  <c:pt idx="0">
                    <c:v>Discovery</c:v>
                  </c:pt>
                  <c:pt idx="1">
                    <c:v>Scanning</c:v>
                  </c:pt>
                  <c:pt idx="2">
                    <c:v>Reporting</c:v>
                  </c:pt>
                  <c:pt idx="3">
                    <c:v>Remediation Plan</c:v>
                  </c:pt>
                </c:lvl>
              </c:multiLvlStrCache>
            </c:multiLvlStrRef>
          </c:cat>
          <c:val>
            <c:numRef>
              <c:f>Sheet1!$B$2:$B$5</c:f>
              <c:numCache>
                <c:formatCode>General</c:formatCode>
                <c:ptCount val="4"/>
                <c:pt idx="0">
                  <c:v>14</c:v>
                </c:pt>
                <c:pt idx="1">
                  <c:v>10080</c:v>
                </c:pt>
                <c:pt idx="2">
                  <c:v>2880</c:v>
                </c:pt>
                <c:pt idx="3">
                  <c:v>720</c:v>
                </c:pt>
              </c:numCache>
            </c:numRef>
          </c:val>
        </c:ser>
        <c:ser>
          <c:idx val="1"/>
          <c:order val="1"/>
          <c:tx>
            <c:strRef>
              <c:f>Sheet1!$C$1</c:f>
              <c:strCache>
                <c:ptCount val="1"/>
                <c:pt idx="0">
                  <c:v>Found 404</c:v>
                </c:pt>
              </c:strCache>
            </c:strRef>
          </c:tx>
          <c:spPr>
            <a:solidFill>
              <a:srgbClr val="06B6D4"/>
            </a:solidFill>
            <a:effectLst/>
          </c:spPr>
          <c:invertIfNegative val="0"/>
          <c:dLbls>
            <c:numFmt formatCode="#,##0" sourceLinked="0"/>
            <c:txPr>
              <a:bodyPr/>
              <a:lstStyle/>
              <a:p>
                <a:pPr>
                  <a:defRPr b="0" i="0" strike="noStrike" sz="800" u="none">
                    <a:solidFill>
                      <a:srgbClr val="0F172A"/>
                    </a:solidFill>
                    <a:latin typeface="Arial"/>
                  </a:defRPr>
                </a:pPr>
              </a:p>
            </c:txPr>
            <c:showLegendKey val="0"/>
            <c:showVal val="1"/>
            <c:showCatName val="0"/>
            <c:showSerName val="0"/>
            <c:showPercent val="0"/>
            <c:showBubbleSize val="0"/>
            <c:showLeaderLines val="0"/>
          </c:dLbls>
          <c:cat>
            <c:multiLvlStrRef>
              <c:f>Sheet1!$A$2:$A$5</c:f>
              <c:multiLvlStrCache>
                <c:ptCount val="4"/>
                <c:lvl>
                  <c:pt idx="0">
                    <c:v>Discovery</c:v>
                  </c:pt>
                  <c:pt idx="1">
                    <c:v>Scanning</c:v>
                  </c:pt>
                  <c:pt idx="2">
                    <c:v>Reporting</c:v>
                  </c:pt>
                  <c:pt idx="3">
                    <c:v>Remediation Plan</c:v>
                  </c:pt>
                </c:lvl>
              </c:multiLvlStrCache>
            </c:multiLvlStrRef>
          </c:cat>
          <c:val>
            <c:numRef>
              <c:f>Sheet1!$C$2:$C$5</c:f>
              <c:numCache>
                <c:formatCode>General</c:formatCode>
                <c:ptCount val="4"/>
                <c:pt idx="0">
                  <c:v>0.5</c:v>
                </c:pt>
                <c:pt idx="1">
                  <c:v>8</c:v>
                </c:pt>
                <c:pt idx="2">
                  <c:v>2</c:v>
                </c:pt>
                <c:pt idx="3">
                  <c:v>1</c:v>
                </c:pt>
              </c:numCache>
            </c:numRef>
          </c:val>
        </c:ser>
        <c:dLbls>
          <c:numFmt formatCode="#,##0" sourceLinked="0"/>
          <c:txPr>
            <a:bodyPr/>
            <a:lstStyle/>
            <a:p>
              <a:pPr>
                <a:defRPr b="0" i="0" strike="noStrike" sz="8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Omar Kapil - Team Leader]</a:t>
            </a:r>
            <a:br>
              <a:rPr lang="en-US"/>
            </a:br>
            <a:r>
              <a:rPr lang="en-US"/>
              <a:t>بسم الله الرحمن الرحيم. أهلاً بحضراتكم في مناقشة مشروع تخرجنا '</a:t>
            </a:r>
            <a:r>
              <a:rPr lang="en-US"/>
              <a:t>SECURITY ORCHESTRATION CENTER</a:t>
            </a:r>
            <a:r>
              <a:rPr lang="en-US"/>
              <a:t>'. المشروع ده عبارة عن منصة أمن سيبراني متكاملة مصممة مخصوص للشركات الصغيرة والمتوسطة (SMEs). هنعرض النهارده رحلة كاملة من تحديد المشكلة وصولاً للحل التقني الاحترافي اللي بنيناه على مدار السنة دي. أنا عمر قابيل، قائد الفريق، وهيكمل زملائي من هنا.</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Omar Kapil - Team Leader]</a:t>
            </a:r>
            <a:br>
              <a:rPr lang="en-US"/>
            </a:br>
            <a:r>
              <a:rPr lang="en-US"/>
              <a:t>المشروع نتاج جهد فريق متكامل مكوّن من 11 أعضاء متقسمين لـ 4 فرق تخصصية. الفريق الأول مسؤول عن الـ Backend والذكاء الاصطناعي، والفريق التاني عن واجهة المستخدم، والفريق التالت عن عمليات الأمن، والفريق الرابع عن الـ DevOps والجودة. التخصص ده خلانا نغطي كل جانب من جوانب المشروع باحترافية.</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2d178f3e5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9" name="Google Shape;79;g3d2d178f3e5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g3d2d178f3e5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Omar Tarek - Documentation &amp; Presentation]</a:t>
            </a:r>
            <a:br>
              <a:rPr lang="en-US"/>
            </a:br>
            <a:r>
              <a:rPr lang="en-US"/>
              <a:t>المشكلة الأساسية اللي بنحلها إن الشركات الصغيرة بتتعرض لنسبة 43% من الهجمات الإلكترونية العالمية، مع إن معظمهم معندهمش ميزانية أو كوادر أمنية. والأخطر من كده إن 60% من الشركات الصغيرة اللي بتتعرض لاختراق بتقفل في غضون 6 شهور. يعني المشكلة دي مش رفاهية، دي مسألة بقاء.</a:t>
            </a:r>
            <a:endParaRPr/>
          </a:p>
        </p:txBody>
      </p:sp>
      <p:sp>
        <p:nvSpPr>
          <p:cNvPr id="86" name="Google Shape;8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Omar Tarek - Documentation &amp; Presentation]</a:t>
            </a:r>
            <a:br>
              <a:rPr lang="en-US"/>
            </a:br>
            <a:r>
              <a:rPr lang="en-US"/>
              <a:t>الحلول التقليدية الموجودة في السوق معقدة، وتلاقي أدوات كتير جداً مش متوصلة ببعض. كل أداة بتطلع مخرجاتها بشكل مختلف، وبتحتاج خبير يفهم ويجمع كل ده. فضلاً عن إن الـ Pentest اليدوي الواحد ممكن يكلف عشرات الآلاف من الدولارات. ده مش حل مناسب للشركات الصغيرة.</a:t>
            </a:r>
            <a:endParaRPr/>
          </a:p>
        </p:txBody>
      </p:sp>
      <p:sp>
        <p:nvSpPr>
          <p:cNvPr id="112" name="Google Shape;11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2d178f3e5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d2d178f3e5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d2d178f3e5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Omar Tarek - Documentation &amp; Presentation]</a:t>
            </a:r>
            <a:br>
              <a:rPr lang="en-US"/>
            </a:br>
            <a:r>
              <a:rPr lang="en-US"/>
              <a:t>من هنا جت فكرة '</a:t>
            </a:r>
            <a:r>
              <a:rPr lang="en-US"/>
              <a:t>the security orchestration center</a:t>
            </a:r>
            <a:r>
              <a:rPr lang="en-US"/>
              <a:t>'. إحنا بنبني منصة DAST أوتوماتيكية بالكامل، هدفها تبسط السيكيوريتي المعقد وتدي أصحاب الشغل تقارير مرئية ونصايح واضحة يقدروا ينفذوها. بدل ما صاحب الشركة يدفع آلاف الدولارات لـ Pentest كل سنة، المنصة دي بتعمل ده بشكل تلقائي ومستمر.</a:t>
            </a:r>
            <a:endParaRPr/>
          </a:p>
        </p:txBody>
      </p:sp>
      <p:sp>
        <p:nvSpPr>
          <p:cNvPr id="148" name="Google Shape;14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Reem Amin - Backend &amp; API]</a:t>
            </a:r>
            <a:br>
              <a:rPr lang="en-US"/>
            </a:br>
            <a:r>
              <a:rPr lang="en-US"/>
              <a:t>روح النظام بتاعنا قايم على حاجة سميناها 'Deterministic Hybrid Model'. يعني التنفيذ بيتم بقواعد ثابتة مش ذكاء اصطناعي، والتقييم برضه رياضي بحت. لكن الذكاء الاصطناعي دوره 'استشاري' بس في الآخر. التقسيم ده بيضمن دقة النتائج الأمنية مع سهولة الفهم للمستخدم.</a:t>
            </a:r>
            <a:endParaRPr/>
          </a:p>
        </p:txBody>
      </p:sp>
      <p:sp>
        <p:nvSpPr>
          <p:cNvPr id="186" name="Google Shape;18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Yousef Abdel Hady - Risk Engine &amp; AI]</a:t>
            </a:r>
            <a:br>
              <a:rPr lang="en-US"/>
            </a:br>
            <a:r>
              <a:rPr lang="en-US"/>
              <a:t>ليه معتمدناش على الـ AI بنسبة 100%؟ عشان المشكلة الكبيرة اللي اسمها 'Hallucination'. الـ AI ممكن يهلوس ويألف ثغرات مش موجودة. وفي السيكيوريتي إحنا محتاجين 'حقائق قاطعة' مش توقعات احتمالية. غلطة في تقرير أمني ممكن تسبب إن الشركة تتجاهل ثغرة حقيقية أو تضيع وقتها في ثغرة وهمية.</a:t>
            </a:r>
            <a:endParaRPr/>
          </a:p>
        </p:txBody>
      </p:sp>
      <p:sp>
        <p:nvSpPr>
          <p:cNvPr id="209" name="Google Shape;20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Yousef Abdel Hady - Risk Engine &amp; AI]</a:t>
            </a:r>
            <a:br>
              <a:rPr lang="en-US"/>
            </a:br>
            <a:r>
              <a:rPr lang="en-US"/>
              <a:t>عشان نحل مشكلة الـ Hallucination، إحنا بنخلي الـ AI يشتغل بس كمترجم في الآخر. الأدوات الحقيقية زي Nmap و Nuclei هي اللي بتعمل الـ Scan وتجيب الداتا الحقيقية، والـ AI ياخد الداتا دي ويترجمها لنصايح للبزنس. بالشكل ده إحنا ضمنا إن النتيجة النهائية مبنية على حقائق مش توقعات.</a:t>
            </a:r>
            <a:endParaRPr/>
          </a:p>
        </p:txBody>
      </p:sp>
      <p:sp>
        <p:nvSpPr>
          <p:cNvPr id="232" name="Google Shape;23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Shahd baher - SecOps &amp; Scanners]</a:t>
            </a:r>
            <a:br>
              <a:rPr lang="en-US"/>
            </a:br>
            <a:r>
              <a:rPr lang="en-US"/>
              <a:t>أدوات السيكيوريتي زي Nmap و Nuclei بتطلع مخرجاتها بأشكال مختلفة جداً ومابتعرفش تتكلم مع بعض. Nmap بيطلع XML، Nuclei بيطلع JSONL، وكل أداة عندها مقياس تاني للخطورة. ده كان عقبة كبيرة قدامنا محتاجين نحلها عشان يبقى عندنا صورة موحدة للأمن.</a:t>
            </a:r>
            <a:endParaRPr/>
          </a:p>
        </p:txBody>
      </p:sp>
      <p:sp>
        <p:nvSpPr>
          <p:cNvPr id="268" name="Google Shape;26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Mohamed Shaban - Task Queue &amp; Docker Orch]</a:t>
            </a:r>
            <a:br>
              <a:rPr lang="en-US"/>
            </a:br>
            <a:r>
              <a:rPr lang="en-US"/>
              <a:t>الحل بتاعنا كان في الـ Orchestration أو التنسيق بين الأدوات. عملنا 'Pipeline' بيشغل الأدوات دي في الخلفية بشكل 'Asynchronous' بدون ما يعطل اليوزر. بمجرد ما تطلب Scan، الـ API بيرد فوراً بـ Task ID، وكل حاجة بتتنفذ في الخلفية وبتتخزن في داتا بيز موحدة.</a:t>
            </a:r>
            <a:endParaRPr/>
          </a:p>
        </p:txBody>
      </p:sp>
      <p:sp>
        <p:nvSpPr>
          <p:cNvPr id="297" name="Google Shape;29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d2d178f3e5_5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g3d2d178f3e5_5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Welcome everyone. Today's presentation is a comprehensive look at the frontend technology stack we chose for this project. We have seven key technologies, each selected for a specific engineering reason. By the end of the session, you'll understand not just what each tool does, but why it was chosen over alternatives and how they compose together to form a cohesive, production-grade frontend architecture.</a:t>
            </a:r>
            <a:endParaRPr/>
          </a:p>
        </p:txBody>
      </p:sp>
      <p:sp>
        <p:nvSpPr>
          <p:cNvPr id="339" name="Google Shape;339;g3d2d178f3e5_5_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Rahma Ebrahem - Frontend Lead]</a:t>
            </a:r>
            <a:br>
              <a:rPr lang="en-US"/>
            </a:br>
            <a:r>
              <a:rPr lang="en-US"/>
              <a:t>بالنسبة للـ Frontend، كان هدفنا نبني واجهة سريعة وخفيفة باستخدام Component Architecture قوية. استخدمنا React 18 مع Vite عشان يستحمل البيانات الكتير اللي بتيجي من الـ Scans من غير ما الواجهة تتباطأ. وـ React Query بيخلي الداتا بتتحدث تلقائياً في الخلفية.</a:t>
            </a:r>
            <a:endParaRPr/>
          </a:p>
        </p:txBody>
      </p:sp>
      <p:sp>
        <p:nvSpPr>
          <p:cNvPr id="368" name="Google Shape;36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Rahma Ebrahem - Frontend Lead]</a:t>
            </a:r>
            <a:br>
              <a:rPr lang="en-US"/>
            </a:br>
            <a:r>
              <a:rPr lang="en-US"/>
              <a:t>عشان ندير الـ State بتاعة البروجكت كله والسكانز الشغالة، استخدمنا Zustand بدال Redux لأنه أسرع وأخف بكتير. Zustand بياخد 2 كيلوبايت بس بدال ما Redux بياخد عشرات الـ كيلوبايتات. وربطناه بـ React Query عشان نجيب الداتا من الـ API لحظياً ونحدث الشاشة أوتوماتيكي.</a:t>
            </a:r>
            <a:endParaRPr/>
          </a:p>
        </p:txBody>
      </p:sp>
      <p:sp>
        <p:nvSpPr>
          <p:cNvPr id="397" name="Google Shape;39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Rahma Ebrahem - Frontend Lead]</a:t>
            </a:r>
            <a:br>
              <a:rPr lang="en-US"/>
            </a:br>
            <a:r>
              <a:rPr lang="en-US"/>
              <a:t>التصميم اتعمل بـ Tailwind CSS وطورنا شكل الواجهة بالذكاء الاصطناعي عشان نطلع الـ UI بنظام الـ Iris Theme اللي شايفينه ده: أبيض، نضيف، وبيدقق على تفاصيل الثغرات بـ UX ممتاز. الهدف إن صاحب الشركة يفتح الـ Dashboard ويفهم حالته الأمنية في ثواني بدون ما يكون خبير.</a:t>
            </a:r>
            <a:endParaRPr/>
          </a:p>
        </p:txBody>
      </p:sp>
      <p:sp>
        <p:nvSpPr>
          <p:cNvPr id="424" name="Google Shape;42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Omnia Helmy - D3.js &amp; Network Topology]</a:t>
            </a:r>
            <a:br>
              <a:rPr lang="en-US"/>
            </a:br>
            <a:r>
              <a:rPr lang="en-US"/>
              <a:t>في البداية كان عندنا مشكلة كبيرة في طريقة عرض البيانات، وهي إننا كنا بنعرض الثغرات الأمنية في شكل جدول عادي (Static Table)، زي ما إحنا شايفين على الشمال.</a:t>
            </a:r>
            <a:endParaRPr/>
          </a:p>
          <a:p>
            <a:pPr indent="0" lvl="0" marL="0" rtl="1" algn="r">
              <a:lnSpc>
                <a:spcPct val="115000"/>
              </a:lnSpc>
              <a:spcBef>
                <a:spcPts val="1200"/>
              </a:spcBef>
              <a:spcAft>
                <a:spcPts val="0"/>
              </a:spcAft>
              <a:buClr>
                <a:schemeClr val="dk1"/>
              </a:buClr>
              <a:buSzPts val="1100"/>
              <a:buFont typeface="Arial"/>
              <a:buNone/>
            </a:pPr>
            <a:r>
              <a:rPr lang="en-US"/>
              <a:t>الجدول ده بيحتوي على معلومات زي:</a:t>
            </a:r>
            <a:endParaRPr/>
          </a:p>
          <a:p>
            <a:pPr indent="-298450" lvl="0" marL="457200" rtl="1" algn="r">
              <a:lnSpc>
                <a:spcPct val="115000"/>
              </a:lnSpc>
              <a:spcBef>
                <a:spcPts val="1200"/>
              </a:spcBef>
              <a:spcAft>
                <a:spcPts val="0"/>
              </a:spcAft>
              <a:buClr>
                <a:schemeClr val="dk1"/>
              </a:buClr>
              <a:buSzPts val="1100"/>
              <a:buChar char="●"/>
            </a:pPr>
            <a:r>
              <a:rPr lang="en-US"/>
              <a:t>الـ IP Address</a:t>
            </a:r>
            <a:endParaRPr/>
          </a:p>
          <a:p>
            <a:pPr indent="-298450" lvl="0" marL="457200" rtl="1" algn="r">
              <a:lnSpc>
                <a:spcPct val="115000"/>
              </a:lnSpc>
              <a:spcBef>
                <a:spcPts val="0"/>
              </a:spcBef>
              <a:spcAft>
                <a:spcPts val="0"/>
              </a:spcAft>
              <a:buClr>
                <a:schemeClr val="dk1"/>
              </a:buClr>
              <a:buSzPts val="1100"/>
              <a:buChar char="●"/>
            </a:pPr>
            <a:r>
              <a:rPr lang="en-US"/>
              <a:t>الـ Port</a:t>
            </a:r>
            <a:endParaRPr/>
          </a:p>
          <a:p>
            <a:pPr indent="-298450" lvl="0" marL="457200" rtl="1" algn="r">
              <a:lnSpc>
                <a:spcPct val="115000"/>
              </a:lnSpc>
              <a:spcBef>
                <a:spcPts val="0"/>
              </a:spcBef>
              <a:spcAft>
                <a:spcPts val="0"/>
              </a:spcAft>
              <a:buClr>
                <a:schemeClr val="dk1"/>
              </a:buClr>
              <a:buSzPts val="1100"/>
              <a:buChar char="●"/>
            </a:pPr>
            <a:r>
              <a:rPr lang="en-US"/>
              <a:t>رقم الـ CVE</a:t>
            </a:r>
            <a:endParaRPr/>
          </a:p>
          <a:p>
            <a:pPr indent="-298450" lvl="0" marL="457200" rtl="1" algn="r">
              <a:lnSpc>
                <a:spcPct val="115000"/>
              </a:lnSpc>
              <a:spcBef>
                <a:spcPts val="0"/>
              </a:spcBef>
              <a:spcAft>
                <a:spcPts val="0"/>
              </a:spcAft>
              <a:buClr>
                <a:schemeClr val="dk1"/>
              </a:buClr>
              <a:buSzPts val="1100"/>
              <a:buChar char="●"/>
            </a:pPr>
            <a:r>
              <a:rPr lang="en-US"/>
              <a:t>ودرجة الخطورة (Score)</a:t>
            </a:r>
            <a:endParaRPr/>
          </a:p>
          <a:p>
            <a:pPr indent="0" lvl="0" marL="0" rtl="1" algn="r">
              <a:lnSpc>
                <a:spcPct val="115000"/>
              </a:lnSpc>
              <a:spcBef>
                <a:spcPts val="1200"/>
              </a:spcBef>
              <a:spcAft>
                <a:spcPts val="0"/>
              </a:spcAft>
              <a:buClr>
                <a:schemeClr val="dk1"/>
              </a:buClr>
              <a:buSzPts val="1100"/>
              <a:buFont typeface="Arial"/>
              <a:buNone/>
            </a:pPr>
            <a:r>
              <a:rPr lang="en-US"/>
              <a:t>المشكلة هنا إن لما عدد الأجهزة أو الثغرات يكبر، زي مثلاً 50 أو 100 سطر، بيبقى صعب جدًا على أي حد يفهم الصورة الكاملة أو يحدد بسرعة إيه أخطر جهاز.</a:t>
            </a:r>
            <a:endParaRPr/>
          </a:p>
          <a:p>
            <a:pPr indent="0" lvl="0" marL="0" rtl="1" algn="r">
              <a:lnSpc>
                <a:spcPct val="115000"/>
              </a:lnSpc>
              <a:spcBef>
                <a:spcPts val="1200"/>
              </a:spcBef>
              <a:spcAft>
                <a:spcPts val="0"/>
              </a:spcAft>
              <a:buClr>
                <a:schemeClr val="dk1"/>
              </a:buClr>
              <a:buSzPts val="1100"/>
              <a:buFont typeface="Arial"/>
              <a:buNone/>
            </a:pPr>
            <a:r>
              <a:rPr lang="en-US"/>
              <a:t>كمان الجدول مش بيوضح العلاقات بين الأجهزة، يعني مش باين مين متوصل بمين، أو هل في جهاز معين ممكن يكون نقطة خطر على باقي الشبكة.</a:t>
            </a:r>
            <a:endParaRPr/>
          </a:p>
          <a:p>
            <a:pPr indent="0" lvl="0" marL="0" rtl="1" algn="r">
              <a:lnSpc>
                <a:spcPct val="115000"/>
              </a:lnSpc>
              <a:spcBef>
                <a:spcPts val="1200"/>
              </a:spcBef>
              <a:spcAft>
                <a:spcPts val="0"/>
              </a:spcAft>
              <a:buClr>
                <a:schemeClr val="dk1"/>
              </a:buClr>
              <a:buSzPts val="1100"/>
              <a:buFont typeface="Arial"/>
              <a:buNone/>
            </a:pPr>
            <a:r>
              <a:rPr lang="en-US"/>
              <a:t>علشان كده احتجنا نغير طريقة العرض تمامًا، وبدل ما نعتمد على جدول ثابت، فكرنا نستخدم Visualization تفاعلي.</a:t>
            </a:r>
            <a:endParaRPr/>
          </a:p>
          <a:p>
            <a:pPr indent="0" lvl="0" marL="0" rtl="1" algn="r">
              <a:lnSpc>
                <a:spcPct val="115000"/>
              </a:lnSpc>
              <a:spcBef>
                <a:spcPts val="1200"/>
              </a:spcBef>
              <a:spcAft>
                <a:spcPts val="0"/>
              </a:spcAft>
              <a:buClr>
                <a:schemeClr val="dk1"/>
              </a:buClr>
              <a:buSzPts val="1100"/>
              <a:buFont typeface="Arial"/>
              <a:buNone/>
            </a:pPr>
            <a:r>
              <a:rPr lang="en-US"/>
              <a:t>فالحل كان إننا نحول البيانات دي إلى Graph، بحيث:</a:t>
            </a:r>
            <a:endParaRPr/>
          </a:p>
          <a:p>
            <a:pPr indent="-298450" lvl="0" marL="457200" rtl="1" algn="r">
              <a:lnSpc>
                <a:spcPct val="115000"/>
              </a:lnSpc>
              <a:spcBef>
                <a:spcPts val="1200"/>
              </a:spcBef>
              <a:spcAft>
                <a:spcPts val="0"/>
              </a:spcAft>
              <a:buClr>
                <a:schemeClr val="dk1"/>
              </a:buClr>
              <a:buSzPts val="1100"/>
              <a:buChar char="●"/>
            </a:pPr>
            <a:r>
              <a:rPr lang="en-US"/>
              <a:t>كل جهاز يظهر كـ Node</a:t>
            </a:r>
            <a:endParaRPr/>
          </a:p>
          <a:p>
            <a:pPr indent="-298450" lvl="0" marL="457200" rtl="1" algn="r">
              <a:lnSpc>
                <a:spcPct val="115000"/>
              </a:lnSpc>
              <a:spcBef>
                <a:spcPts val="0"/>
              </a:spcBef>
              <a:spcAft>
                <a:spcPts val="0"/>
              </a:spcAft>
              <a:buClr>
                <a:schemeClr val="dk1"/>
              </a:buClr>
              <a:buSzPts val="1100"/>
              <a:buChar char="●"/>
            </a:pPr>
            <a:r>
              <a:rPr lang="en-US"/>
              <a:t>والعلاقات بينهم تظهر كـ Links</a:t>
            </a:r>
            <a:endParaRPr/>
          </a:p>
          <a:p>
            <a:pPr indent="0" lvl="0" marL="0" rtl="1" algn="r">
              <a:lnSpc>
                <a:spcPct val="115000"/>
              </a:lnSpc>
              <a:spcBef>
                <a:spcPts val="1200"/>
              </a:spcBef>
              <a:spcAft>
                <a:spcPts val="0"/>
              </a:spcAft>
              <a:buClr>
                <a:schemeClr val="dk1"/>
              </a:buClr>
              <a:buSzPts val="1100"/>
              <a:buFont typeface="Arial"/>
              <a:buNone/>
            </a:pPr>
            <a:r>
              <a:rPr lang="en-US"/>
              <a:t>وبكده المستخدم يقدر يشوف الشبكة بشكل بصري واضح، ويفهم بسرعة الأجهزة المتصلة ببعض، ويحدد أماكن الخطر بسهولة.</a:t>
            </a:r>
            <a:endParaRPr/>
          </a:p>
          <a:p>
            <a:pPr indent="0" lvl="0" marL="0" rtl="1" algn="r">
              <a:lnSpc>
                <a:spcPct val="115000"/>
              </a:lnSpc>
              <a:spcBef>
                <a:spcPts val="1200"/>
              </a:spcBef>
              <a:spcAft>
                <a:spcPts val="0"/>
              </a:spcAft>
              <a:buClr>
                <a:schemeClr val="dk1"/>
              </a:buClr>
              <a:buSzPts val="1100"/>
              <a:buFont typeface="Arial"/>
              <a:buNone/>
            </a:pPr>
            <a:r>
              <a:rPr lang="en-US"/>
              <a:t>الميزة كمان إن الشكل ده مش بس أوضح، لكنه تفاعلي، يعني نقدر نتعامل معاه ونستكشف البيانات بدل ما نقرأها بس.</a:t>
            </a:r>
            <a:endParaRPr/>
          </a:p>
          <a:p>
            <a:pPr indent="0" lvl="0" marL="0" rtl="1" algn="r">
              <a:lnSpc>
                <a:spcPct val="115000"/>
              </a:lnSpc>
              <a:spcBef>
                <a:spcPts val="1200"/>
              </a:spcBef>
              <a:spcAft>
                <a:spcPts val="1200"/>
              </a:spcAft>
              <a:buSzPts val="1100"/>
              <a:buNone/>
            </a:pPr>
            <a:r>
              <a:rPr lang="en-US"/>
              <a:t>فبالتالي قدرنا نحول البيانات من شكل تقليدي صعب الفهم إلى شكل بصري ذكي بيساعد في اتخاذ القرار بشكل أسرع.</a:t>
            </a:r>
            <a:endParaRPr/>
          </a:p>
        </p:txBody>
      </p:sp>
      <p:sp>
        <p:nvSpPr>
          <p:cNvPr id="459" name="Google Shape;45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Omnia Helmy - D3.js &amp; Network Topology]</a:t>
            </a:r>
            <a:br>
              <a:rPr lang="en-US"/>
            </a:br>
            <a:r>
              <a:rPr lang="en-US"/>
              <a:t>علشان كده استخدمنا React Force Graph عشان نحول الأجهزة اللي بنعملها Scan لشبكة تفاعلية من Nodes، بحيث كل جهاز يظهر قدامنا كـ node ونقدر نشوف هو متوصل بإيه بالظبط.</a:t>
            </a:r>
            <a:endParaRPr/>
          </a:p>
          <a:p>
            <a:pPr indent="0" lvl="0" marL="0" rtl="1" algn="r">
              <a:lnSpc>
                <a:spcPct val="115000"/>
              </a:lnSpc>
              <a:spcBef>
                <a:spcPts val="1200"/>
              </a:spcBef>
              <a:spcAft>
                <a:spcPts val="0"/>
              </a:spcAft>
              <a:buClr>
                <a:schemeClr val="dk1"/>
              </a:buClr>
              <a:buSzPts val="1100"/>
              <a:buFont typeface="Arial"/>
              <a:buNone/>
            </a:pPr>
            <a:r>
              <a:rPr lang="en-US"/>
              <a:t>الشبكة دي بتتحدث بشكل real-time، يعني أول ما ReconAgent يكتشف جهاز جديد بيظهر مباشرة على الشاشة من غير ما نعمل refresh.</a:t>
            </a:r>
            <a:endParaRPr/>
          </a:p>
          <a:p>
            <a:pPr indent="0" lvl="0" marL="0" rtl="1" algn="r">
              <a:lnSpc>
                <a:spcPct val="115000"/>
              </a:lnSpc>
              <a:spcBef>
                <a:spcPts val="1200"/>
              </a:spcBef>
              <a:spcAft>
                <a:spcPts val="0"/>
              </a:spcAft>
              <a:buClr>
                <a:schemeClr val="dk1"/>
              </a:buClr>
              <a:buSzPts val="1100"/>
              <a:buFont typeface="Arial"/>
              <a:buNone/>
            </a:pPr>
            <a:r>
              <a:rPr lang="en-US"/>
              <a:t>كمان استخدمنا ألوان علشان نوضح درجة الخطورة، بحيث إن:</a:t>
            </a:r>
            <a:endParaRPr/>
          </a:p>
          <a:p>
            <a:pPr indent="-298450" lvl="0" marL="457200" rtl="1" algn="r">
              <a:lnSpc>
                <a:spcPct val="115000"/>
              </a:lnSpc>
              <a:spcBef>
                <a:spcPts val="1200"/>
              </a:spcBef>
              <a:spcAft>
                <a:spcPts val="0"/>
              </a:spcAft>
              <a:buClr>
                <a:schemeClr val="dk1"/>
              </a:buClr>
              <a:buSzPts val="1100"/>
              <a:buChar char="●"/>
            </a:pPr>
            <a:r>
              <a:rPr lang="en-US"/>
              <a:t>اللون الأحمر بيمثل الأجهزة الخطيرة جدًا (Critical)</a:t>
            </a:r>
            <a:endParaRPr/>
          </a:p>
          <a:p>
            <a:pPr indent="-298450" lvl="0" marL="457200" rtl="1" algn="r">
              <a:lnSpc>
                <a:spcPct val="115000"/>
              </a:lnSpc>
              <a:spcBef>
                <a:spcPts val="0"/>
              </a:spcBef>
              <a:spcAft>
                <a:spcPts val="0"/>
              </a:spcAft>
              <a:buClr>
                <a:schemeClr val="dk1"/>
              </a:buClr>
              <a:buSzPts val="1100"/>
              <a:buChar char="●"/>
            </a:pPr>
            <a:r>
              <a:rPr lang="en-US"/>
              <a:t>البرتقالي يمثل خطر متوسط</a:t>
            </a:r>
            <a:endParaRPr/>
          </a:p>
          <a:p>
            <a:pPr indent="-298450" lvl="0" marL="457200" rtl="1" algn="r">
              <a:lnSpc>
                <a:spcPct val="115000"/>
              </a:lnSpc>
              <a:spcBef>
                <a:spcPts val="0"/>
              </a:spcBef>
              <a:spcAft>
                <a:spcPts val="0"/>
              </a:spcAft>
              <a:buClr>
                <a:schemeClr val="dk1"/>
              </a:buClr>
              <a:buSzPts val="1100"/>
              <a:buChar char="●"/>
            </a:pPr>
            <a:r>
              <a:rPr lang="en-US"/>
              <a:t>الأخضر يمثل الأجهزة السليمة</a:t>
            </a:r>
            <a:endParaRPr/>
          </a:p>
          <a:p>
            <a:pPr indent="0" lvl="0" marL="0" rtl="1" algn="r">
              <a:lnSpc>
                <a:spcPct val="115000"/>
              </a:lnSpc>
              <a:spcBef>
                <a:spcPts val="1200"/>
              </a:spcBef>
              <a:spcAft>
                <a:spcPts val="0"/>
              </a:spcAft>
              <a:buClr>
                <a:schemeClr val="dk1"/>
              </a:buClr>
              <a:buSzPts val="1100"/>
              <a:buFont typeface="Arial"/>
              <a:buNone/>
            </a:pPr>
            <a:r>
              <a:rPr lang="en-US"/>
              <a:t>وده بيساعدنا إننا نعمل تقييم سريع جدًا ونحدد أخطر جهاز بمجرد النظر بس من غير ما نقرأ بيانات كتير.</a:t>
            </a:r>
            <a:endParaRPr/>
          </a:p>
          <a:p>
            <a:pPr indent="0" lvl="0" marL="0" rtl="1" algn="r">
              <a:lnSpc>
                <a:spcPct val="115000"/>
              </a:lnSpc>
              <a:spcBef>
                <a:spcPts val="1200"/>
              </a:spcBef>
              <a:spcAft>
                <a:spcPts val="0"/>
              </a:spcAft>
              <a:buClr>
                <a:schemeClr val="dk1"/>
              </a:buClr>
              <a:buSzPts val="1100"/>
              <a:buFont typeface="Arial"/>
              <a:buNone/>
            </a:pPr>
            <a:r>
              <a:rPr lang="en-US"/>
              <a:t>وكمان عندنا ميزة مهمة وهي إننا نقدر نضغط على أي node (Click-through)، وساعتها يفتح Panel فيه كل التفاصيل الخاصة بالجهاز ده زي CVE والـ vulnerabilities بشكل كامل.</a:t>
            </a:r>
            <a:endParaRPr/>
          </a:p>
          <a:p>
            <a:pPr indent="0" lvl="0" marL="0" rtl="1" algn="r">
              <a:lnSpc>
                <a:spcPct val="115000"/>
              </a:lnSpc>
              <a:spcBef>
                <a:spcPts val="1200"/>
              </a:spcBef>
              <a:spcAft>
                <a:spcPts val="0"/>
              </a:spcAft>
              <a:buClr>
                <a:schemeClr val="dk1"/>
              </a:buClr>
              <a:buSzPts val="1100"/>
              <a:buFont typeface="Arial"/>
              <a:buNone/>
            </a:pPr>
            <a:r>
              <a:rPr lang="en-US"/>
              <a:t>غير كده، نقدر نتحكم في الجراف زي إننا نسحب النودز بإيدنا (Drag)، أو نعمل Zoom ونقرب ونبعد، وده بيسهل استكشاف الشبكة بشكل كبير.</a:t>
            </a:r>
            <a:endParaRPr/>
          </a:p>
          <a:p>
            <a:pPr indent="0" lvl="0" marL="0" rtl="1" algn="r">
              <a:lnSpc>
                <a:spcPct val="115000"/>
              </a:lnSpc>
              <a:spcBef>
                <a:spcPts val="1200"/>
              </a:spcBef>
              <a:spcAft>
                <a:spcPts val="0"/>
              </a:spcAft>
              <a:buClr>
                <a:schemeClr val="dk1"/>
              </a:buClr>
              <a:buSzPts val="1100"/>
              <a:buFont typeface="Arial"/>
              <a:buNone/>
            </a:pPr>
            <a:r>
              <a:rPr lang="en-US"/>
              <a:t>فبكده قدرنا نحول الداتا من مجرد جدول صعب الفهم لشكل بصري واضح وتفاعلي بيسهل اتخاذ القرار بسرعة.</a:t>
            </a:r>
            <a:endParaRPr/>
          </a:p>
          <a:p>
            <a:pPr indent="0" lvl="0" marL="0" rtl="1" algn="r">
              <a:spcBef>
                <a:spcPts val="1200"/>
              </a:spcBef>
              <a:spcAft>
                <a:spcPts val="0"/>
              </a:spcAft>
              <a:buNone/>
            </a:pPr>
            <a:r>
              <a:t/>
            </a:r>
            <a:endParaRPr/>
          </a:p>
        </p:txBody>
      </p:sp>
      <p:sp>
        <p:nvSpPr>
          <p:cNvPr id="492" name="Google Shape;49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Omnia Helmy - D3.js &amp; Network Topology]</a:t>
            </a:r>
            <a:br>
              <a:rPr lang="en-US"/>
            </a:br>
            <a:r>
              <a:rPr lang="en-US"/>
              <a:t>الشبكة دي مبنية على D3 Physics Engine، وده محرك بيخلي النودز تتحرك وتتوزع بشكل تلقائي بناءً على علاقاتها ببعض، من غير ما نحدد أماكنها بإيدنا.</a:t>
            </a:r>
            <a:endParaRPr/>
          </a:p>
          <a:p>
            <a:pPr indent="0" lvl="0" marL="0" rtl="1" algn="r">
              <a:lnSpc>
                <a:spcPct val="115000"/>
              </a:lnSpc>
              <a:spcBef>
                <a:spcPts val="1200"/>
              </a:spcBef>
              <a:spcAft>
                <a:spcPts val="0"/>
              </a:spcAft>
              <a:buClr>
                <a:schemeClr val="dk1"/>
              </a:buClr>
              <a:buSzPts val="1100"/>
              <a:buFont typeface="Arial"/>
              <a:buNone/>
            </a:pPr>
            <a:r>
              <a:rPr lang="en-US"/>
              <a:t>إحنا استخدمنا حاجة اسمها forceSimulation، ودي المسؤولة عن تشغيل المحاكاة، ومعاها شوية Forces مهمة زي:</a:t>
            </a:r>
            <a:endParaRPr/>
          </a:p>
          <a:p>
            <a:pPr indent="-298450" lvl="0" marL="457200" rtl="1" algn="r">
              <a:lnSpc>
                <a:spcPct val="115000"/>
              </a:lnSpc>
              <a:spcBef>
                <a:spcPts val="1200"/>
              </a:spcBef>
              <a:spcAft>
                <a:spcPts val="0"/>
              </a:spcAft>
              <a:buClr>
                <a:schemeClr val="dk1"/>
              </a:buClr>
              <a:buSzPts val="1100"/>
              <a:buChar char="●"/>
            </a:pPr>
            <a:r>
              <a:rPr lang="en-US"/>
              <a:t>forceLink: ودي بتخلي الأجهزة المرتبطة قريبة من بعض</a:t>
            </a:r>
            <a:endParaRPr/>
          </a:p>
          <a:p>
            <a:pPr indent="-298450" lvl="0" marL="457200" rtl="1" algn="r">
              <a:lnSpc>
                <a:spcPct val="115000"/>
              </a:lnSpc>
              <a:spcBef>
                <a:spcPts val="0"/>
              </a:spcBef>
              <a:spcAft>
                <a:spcPts val="0"/>
              </a:spcAft>
              <a:buClr>
                <a:schemeClr val="dk1"/>
              </a:buClr>
              <a:buSzPts val="1100"/>
              <a:buChar char="●"/>
            </a:pPr>
            <a:r>
              <a:rPr lang="en-US"/>
              <a:t>forceManyBody: ودي بتخلي النودز تبعد عن بعض علشان متتزاحمش</a:t>
            </a:r>
            <a:endParaRPr/>
          </a:p>
          <a:p>
            <a:pPr indent="-298450" lvl="0" marL="457200" rtl="1" algn="r">
              <a:lnSpc>
                <a:spcPct val="115000"/>
              </a:lnSpc>
              <a:spcBef>
                <a:spcPts val="0"/>
              </a:spcBef>
              <a:spcAft>
                <a:spcPts val="0"/>
              </a:spcAft>
              <a:buClr>
                <a:schemeClr val="dk1"/>
              </a:buClr>
              <a:buSzPts val="1100"/>
              <a:buChar char="●"/>
            </a:pPr>
            <a:r>
              <a:rPr lang="en-US"/>
              <a:t>forceCenter: ودي بتسحب الجراف كله ناحية المنتصف</a:t>
            </a:r>
            <a:endParaRPr/>
          </a:p>
          <a:p>
            <a:pPr indent="0" lvl="0" marL="0" rtl="1" algn="r">
              <a:lnSpc>
                <a:spcPct val="115000"/>
              </a:lnSpc>
              <a:spcBef>
                <a:spcPts val="1200"/>
              </a:spcBef>
              <a:spcAft>
                <a:spcPts val="0"/>
              </a:spcAft>
              <a:buClr>
                <a:schemeClr val="dk1"/>
              </a:buClr>
              <a:buSzPts val="1100"/>
              <a:buFont typeface="Arial"/>
              <a:buNone/>
            </a:pPr>
            <a:r>
              <a:rPr lang="en-US"/>
              <a:t>كمان عندنا Collision Detection، ودي بتمنع النودز إنها تدخل في بعضها أو تتداخل، فكل node بيبقى ليه مساحة واضحة.</a:t>
            </a:r>
            <a:endParaRPr/>
          </a:p>
          <a:p>
            <a:pPr indent="0" lvl="0" marL="0" rtl="1" algn="r">
              <a:lnSpc>
                <a:spcPct val="115000"/>
              </a:lnSpc>
              <a:spcBef>
                <a:spcPts val="1200"/>
              </a:spcBef>
              <a:spcAft>
                <a:spcPts val="0"/>
              </a:spcAft>
              <a:buClr>
                <a:schemeClr val="dk1"/>
              </a:buClr>
              <a:buSzPts val="1100"/>
              <a:buFont typeface="Arial"/>
              <a:buNone/>
            </a:pPr>
            <a:r>
              <a:rPr lang="en-US"/>
              <a:t>بالنسبة للمسافات بين الأجهزة (Link Distance)، فهي بتتحدد على حسب قرب أو علاقة الأجهزة ببعض في الشبكة، فالأجهزة القريبة في الواقع بتظهر قريبة في الجراف.</a:t>
            </a:r>
            <a:endParaRPr/>
          </a:p>
          <a:p>
            <a:pPr indent="0" lvl="0" marL="0" rtl="1" algn="r">
              <a:lnSpc>
                <a:spcPct val="115000"/>
              </a:lnSpc>
              <a:spcBef>
                <a:spcPts val="1200"/>
              </a:spcBef>
              <a:spcAft>
                <a:spcPts val="0"/>
              </a:spcAft>
              <a:buClr>
                <a:schemeClr val="dk1"/>
              </a:buClr>
              <a:buSzPts val="1100"/>
              <a:buFont typeface="Arial"/>
              <a:buNone/>
            </a:pPr>
            <a:r>
              <a:rPr lang="en-US"/>
              <a:t>الميزة المهمة جدًا كمان إن في Live Updates أثناء عملية الـ scanning، يعني أول ما يتم اكتشاف جهاز جديد بيتم إضافته فورًا في الـ simulation ويظهر قدامنا في نفس اللحظة، وده بيحصل باستخدام WebSocket أو Polling.</a:t>
            </a:r>
            <a:endParaRPr/>
          </a:p>
          <a:p>
            <a:pPr indent="0" lvl="0" marL="0" rtl="1" algn="r">
              <a:lnSpc>
                <a:spcPct val="115000"/>
              </a:lnSpc>
              <a:spcBef>
                <a:spcPts val="1200"/>
              </a:spcBef>
              <a:spcAft>
                <a:spcPts val="0"/>
              </a:spcAft>
              <a:buClr>
                <a:schemeClr val="dk1"/>
              </a:buClr>
              <a:buSzPts val="1100"/>
              <a:buFont typeface="Arial"/>
              <a:buNone/>
            </a:pPr>
            <a:r>
              <a:rPr lang="en-US"/>
              <a:t>وفي حاجة اسمها Alpha Decay، ودي معناها إن الحركة بتاعة الجراف بتقل تدريجيًا لحد ما النودز تستقر في شكل نهائي ثابت بعد ما الـ scan يخلص.</a:t>
            </a:r>
            <a:endParaRPr/>
          </a:p>
          <a:p>
            <a:pPr indent="0" lvl="0" marL="0" rtl="1" algn="r">
              <a:lnSpc>
                <a:spcPct val="115000"/>
              </a:lnSpc>
              <a:spcBef>
                <a:spcPts val="1200"/>
              </a:spcBef>
              <a:spcAft>
                <a:spcPts val="0"/>
              </a:spcAft>
              <a:buClr>
                <a:schemeClr val="dk1"/>
              </a:buClr>
              <a:buSzPts val="1100"/>
              <a:buFont typeface="Arial"/>
              <a:buNone/>
            </a:pPr>
            <a:r>
              <a:rPr lang="en-US"/>
              <a:t>ففي النهاية، النظام بيعمل self-organizing network، يعني الشبكة بترتب نفسها تلقائيًا بشكل واضح ومنظم من غير تدخل يدوي.</a:t>
            </a:r>
            <a:endParaRPr/>
          </a:p>
          <a:p>
            <a:pPr indent="0" lvl="0" marL="0" rtl="1" algn="r">
              <a:spcBef>
                <a:spcPts val="1200"/>
              </a:spcBef>
              <a:spcAft>
                <a:spcPts val="0"/>
              </a:spcAft>
              <a:buNone/>
            </a:pPr>
            <a:r>
              <a:t/>
            </a:r>
            <a:endParaRPr/>
          </a:p>
        </p:txBody>
      </p:sp>
      <p:sp>
        <p:nvSpPr>
          <p:cNvPr id="511" name="Google Shape;51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d2d178f3e5_5_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6" name="Google Shape;546;g3d2d178f3e5_5_1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g3d2d178f3e5_5_1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Reem Amin - Backend &amp; API]</a:t>
            </a:r>
            <a:br>
              <a:rPr lang="en-US"/>
            </a:br>
            <a:r>
              <a:rPr lang="en-US"/>
              <a:t>نرجع نبص على الـ Architecture ككل. عندنا 5 طبقات أساسية متراصة فوق بعض. الـ Frontend بيكلم الـ Backend عن طريق REST API. الـ Backend بيبعت الشغل التقيل لـ Redis Queue، والـ Celery Workers هي اللي بتنفذه. والـ Agents هي اللي بتشغل الأدوات الأمنية. وكل النتائج بتتخزن في PostgreSQL.</a:t>
            </a:r>
            <a:endParaRPr/>
          </a:p>
        </p:txBody>
      </p:sp>
      <p:sp>
        <p:nvSpPr>
          <p:cNvPr id="557" name="Google Shape;55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Reem Amin - Backend &amp; API]</a:t>
            </a:r>
            <a:br>
              <a:rPr lang="en-US"/>
            </a:br>
            <a:r>
              <a:rPr lang="en-US"/>
              <a:t>اخترنا FastAPI للـ Backend لأن الـ Framework ده مبني أساساً على الـ Async، وده بيدينا سرعة عالية جداً في استقبال عشرات الـ Requests في نفس الوقت بدون تأخير. كل endpoint عندنا هو async function، يعني الـ event loop مش بيتبلوك أبداً. وبنستخدم Pydantic لضمان صحة الـ data في كل request.</a:t>
            </a:r>
            <a:endParaRPr/>
          </a:p>
        </p:txBody>
      </p:sp>
      <p:sp>
        <p:nvSpPr>
          <p:cNvPr id="591" name="Google Shape;59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Mohamed Shaban - Task Queue &amp; Docker Orch]</a:t>
            </a:r>
            <a:br>
              <a:rPr lang="en-US"/>
            </a:br>
            <a:r>
              <a:rPr lang="en-US"/>
              <a:t>ظهرلنا تحدي كبير. الـ Nmap Scan ممكن ياخد دقايق أو ساعات. لو الـ FastAPI فضل مستنيه يخلص، هيحصل HTTP Timeout والسيستم كله هيقع لو حد تاني فتح الموقع. الحل كان فصل الـ API عن الشغل التقيل باستخدام Celery وRedis. بمجرد ما تطلب Scan، الـ Backend بيرد فوراً بـ Task ID.</a:t>
            </a:r>
            <a:endParaRPr/>
          </a:p>
        </p:txBody>
      </p:sp>
      <p:sp>
        <p:nvSpPr>
          <p:cNvPr id="610" name="Google Shape;61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Mohamed Shaban - Task Queue &amp; Docker Orch]</a:t>
            </a:r>
            <a:br>
              <a:rPr lang="en-US"/>
            </a:br>
            <a:r>
              <a:rPr lang="en-US"/>
              <a:t>الحل كان فصل الـ API عن الشغل التقيل. بمجرد ما تطلب Scan، الـ Backend بيرد عليك فوراً بـ Task ID ويسيب الشغل التقيل يتنفذ في الـ Celery في الخلفية. الـ Frontend بعد كده بيعمل Polling كل 3 ثواني يسأل 'إيه حصل في المهمة دي؟' ولما تخلص بيعرض النتيجة.</a:t>
            </a:r>
            <a:endParaRPr/>
          </a:p>
        </p:txBody>
      </p:sp>
      <p:sp>
        <p:nvSpPr>
          <p:cNvPr id="649" name="Google Shape;64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Mohamed Shaban - Task Queue &amp; Docker Orch]</a:t>
            </a:r>
            <a:br>
              <a:rPr lang="en-US"/>
            </a:br>
            <a:r>
              <a:rPr lang="en-US"/>
              <a:t>هنا بيجي دور Celery المربوط بـ Redis. الـ Redis بياخد المهمة يحطها في طابور سريع جداً في الذاكرة، والـ Celery ده عمال 'Workers' بيسحبوا الأوامر دي وينفذوها في الخلفية تماماً. الجميل إن لو محتاجين نسرع نزود Workers من غير ما نغير سطر واحد في الكود.</a:t>
            </a:r>
            <a:endParaRPr/>
          </a:p>
        </p:txBody>
      </p:sp>
      <p:sp>
        <p:nvSpPr>
          <p:cNvPr id="685" name="Google Shape;68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Mohamed Shaban - Task Queue &amp; Docker Orch]</a:t>
            </a:r>
            <a:br>
              <a:rPr lang="en-US"/>
            </a:br>
            <a:r>
              <a:rPr lang="en-US"/>
              <a:t>بنينا كلاس مركزي جوه الـ Celery اسمه الـ 'AgentOrchestrator'. ده عقل السيستم اللي بينظم الشغل. الـ BaseAgent هو كلاس abstract محدد فيه interface موحد لكل العملاء. الـ Orchestrator بيشغل الاستطلاع الأول، ولما يخلص بيسلم الداتا للهجوم. وكل Agent عنده Fault isolation خاص بيه.</a:t>
            </a:r>
            <a:endParaRPr/>
          </a:p>
        </p:txBody>
      </p:sp>
      <p:sp>
        <p:nvSpPr>
          <p:cNvPr id="723" name="Google Shape;72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d2d178f3e5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9" name="Google Shape;759;g3d2d178f3e5_7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بسم الله الرحمن الرحيم. أهلاً بحضراتكم في مناقشة مشروع تخرجنا 'Found 404'. المشروع ده عبارة عن منصة أمن سيبراني متكاملة مصممة مخصوص للشركات الصغيرة والمتوسطة. هنمشي معاكم خطوة بخطوة في كل جزء من المشروع ده.</a:t>
            </a:r>
            <a:endParaRPr/>
          </a:p>
        </p:txBody>
      </p:sp>
      <p:sp>
        <p:nvSpPr>
          <p:cNvPr id="760" name="Google Shape;760;g3d2d178f3e5_7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0" name="Google Shape;77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Shahd Baher - SecOps &amp; Scanners]</a:t>
            </a:r>
            <a:br>
              <a:rPr lang="en-US"/>
            </a:br>
            <a:r>
              <a:rPr lang="en-US"/>
              <a:t>أول عميل بيشتغل هو الـ Recon Agent. بيعمل مسح بـ Nmap على كل البورتات من 0 لـ 65535. وبيستخدم الـ -sV و -O flags عشان يعرف إيه الـ Services الشغالة على كل بورت وإيه نظام التشغيل. النتيجة بتتحول من XML لـ Python dataclasses منظمة يقدر النظام يستخدمها في الخطوة الجاية.</a:t>
            </a:r>
            <a:endParaRPr/>
          </a:p>
        </p:txBody>
      </p:sp>
      <p:sp>
        <p:nvSpPr>
          <p:cNvPr id="771" name="Google Shape;77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Mariz Ehap - Security &amp; EDR]</a:t>
            </a:r>
            <a:br>
              <a:rPr lang="en-US"/>
            </a:br>
            <a:r>
              <a:rPr lang="en-US"/>
              <a:t>استكمالاً للاستطلاع، إحنا بنعمل DOM Footprinting باستخدام Playwright Headless Browser. بنفتح المواقع دي ونستخرج اللينكات والفورمز والـ inputs المخفية جوه التطبيقات. ده بيكشف الـ Attack Surface الكاملة: كل فورم بيقدر يكون entry point لـ SQL Injection أو XSS.</a:t>
            </a:r>
            <a:endParaRPr/>
          </a:p>
        </p:txBody>
      </p:sp>
      <p:sp>
        <p:nvSpPr>
          <p:cNvPr id="800" name="Google Shape;80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3" name="Google Shape;83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Shahd Baher - SecOps &amp; Scanners]</a:t>
            </a:r>
            <a:br>
              <a:rPr lang="en-US"/>
            </a:br>
            <a:r>
              <a:rPr lang="en-US"/>
              <a:t>بعد جمع الداتا، بيجي دور الـ Attack Agent. هياخد البورتات ومعلومات الشبكة دي كلها، ويوجه أدوات الاختراق عشان تتدخل وتختبر الثغرات دي بشكل حقيقي. الميزة إن كل الـ routing ده محدد مسبقاً، مش AI بيقرر. يعني بورت 3306 MySQL دايماً هيتفحص بـ Nuclei templates خاصة بالـ MySQL.</a:t>
            </a:r>
            <a:endParaRPr/>
          </a:p>
        </p:txBody>
      </p:sp>
      <p:sp>
        <p:nvSpPr>
          <p:cNvPr id="834" name="Google Shape;834;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6" name="Google Shape;86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Shahd Baher - SecOps &amp; Scanners]</a:t>
            </a:r>
            <a:br>
              <a:rPr lang="en-US"/>
            </a:br>
            <a:r>
              <a:rPr lang="en-US"/>
              <a:t>الإسكان بيتم بشكل ذكي لأننا ربطناه بـ Nuclei. يعني لو النظام لاقى بورت MySQL على 3306، هيشغل الـ templates الخاصة بالـ MySQL بس وده بيوفر وقت طويل جداً ويمنع العشوائية. من 50,000 template موجودة في Nuclei، بنشغل بس اللي متعلق بالسيرفيس اللي لقيناه.</a:t>
            </a:r>
            <a:endParaRPr/>
          </a:p>
        </p:txBody>
      </p:sp>
      <p:sp>
        <p:nvSpPr>
          <p:cNvPr id="867" name="Google Shape;867;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7" name="Google Shape;90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Yousef Abdel Hady - Risk Engine &amp; AI]</a:t>
            </a:r>
            <a:br>
              <a:rPr lang="en-US"/>
            </a:br>
            <a:r>
              <a:rPr lang="en-US"/>
              <a:t>أهم Logic بنيناه هو الـ '</a:t>
            </a:r>
            <a:r>
              <a:rPr lang="en-US"/>
              <a:t>Unified Risk Engine</a:t>
            </a:r>
            <a:r>
              <a:rPr lang="en-US"/>
              <a:t>'. ده المحرك الرياضي اللي بيحسب خطورة الثغرات اللي الأدوات لقتها بمعادلات ثابتة بعيدة عن الذكاء الاصطناعي لضمان الدقة الكاملة. المعادلة بسيطة: نضرب الـ CVSS Score في أهمية الأصل بالنسبة للشركة.</a:t>
            </a:r>
            <a:endParaRPr/>
          </a:p>
        </p:txBody>
      </p:sp>
      <p:sp>
        <p:nvSpPr>
          <p:cNvPr id="908" name="Google Shape;90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3" name="Google Shape;93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Yousef Abdel Hady - Risk Engine &amp; AI]</a:t>
            </a:r>
            <a:br>
              <a:rPr lang="en-US"/>
            </a:br>
            <a:r>
              <a:rPr lang="en-US"/>
              <a:t>المعادلة القوية دي معتمدة على الـ CVSS، وده المعيار العالمي لتقييم الثغرات. الـ Score بيتكون من عوامل زي: هل الهجوم محتاج Access للشبكة؟ هل محتاج صلاحيات؟ هل محتاج تدخل مستخدم؟ إحنا بناخد الرقم النهائي بتاعه ونعمله تحويل خاص بينا لنسبة تأثير جوه نظام الـ SME.</a:t>
            </a:r>
            <a:endParaRPr/>
          </a:p>
        </p:txBody>
      </p:sp>
      <p:sp>
        <p:nvSpPr>
          <p:cNvPr id="934" name="Google Shape;934;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6" name="Google Shape;97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Yousef Abdel Hady - Risk Engine &amp; AI]</a:t>
            </a:r>
            <a:br>
              <a:rPr lang="en-US"/>
            </a:br>
            <a:r>
              <a:rPr lang="en-US"/>
              <a:t>النتيجة النهائية بتطلع كـ 'SME Health Score'. رقم واضح من 100 بيعرف صاحب الشركة حالته الأمنية ببساطة من غير ما يدخل في تفاصيل الثغرات التقنية. زي ما الدكتور بيقولك نسبة السكر في دمك 120، مش بيقولك الـ Biochemistry كلها. الرقم ده بيترجم التقنية لبيزنس.</a:t>
            </a:r>
            <a:endParaRPr/>
          </a:p>
        </p:txBody>
      </p:sp>
      <p:sp>
        <p:nvSpPr>
          <p:cNvPr id="977" name="Google Shape;97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6" name="Google Shape;100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Yousef Abdel Hady - Risk Engine &amp; AI]</a:t>
            </a:r>
            <a:br>
              <a:rPr lang="en-US"/>
            </a:br>
            <a:r>
              <a:rPr lang="en-US"/>
              <a:t>وهنا دور الـ AI. بندي لـ Gemini 1.5 Flash الداتا المؤكدة اللي اكتشفناها من الـ Scanners، ونطلب منه يكتب تقرير يُشرح بيه الثغرة وطريقة إصلاحها بكلام بيزنس بسيط لصاحب الشركة. Gemini بياخد ثغرة زي CVE-2021-41773 ويترجمها لـ: 'سيرفر الويب بتاعك محتاج تحديث عشان حد ممكن يوصل للملفات السرية'.</a:t>
            </a:r>
            <a:endParaRPr/>
          </a:p>
        </p:txBody>
      </p:sp>
      <p:sp>
        <p:nvSpPr>
          <p:cNvPr id="1007" name="Google Shape;100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1" name="Google Shape;103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Mariz Ehap - Security &amp; EDR]</a:t>
            </a:r>
            <a:br>
              <a:rPr lang="en-US"/>
            </a:br>
            <a:r>
              <a:rPr lang="en-US"/>
              <a:t>بجانب الإسكان الخارجي، إحنا دمجنا النظام مع Wazuh اللي هو SIEM مفتوح المصدر. ده بيخلينا نجمع اللوجات الداخلية من السيرفرات عشان نقدر نكتشف الحركات المريبة من جوه الشركة نفسها. Wazuh بيراقب الـ File Integrity والـ Login attempts والـ Network connections ويطلع تنبيهات بناءً على قواعد MITRE ATT&amp;CK.</a:t>
            </a:r>
            <a:endParaRPr/>
          </a:p>
        </p:txBody>
      </p:sp>
      <p:sp>
        <p:nvSpPr>
          <p:cNvPr id="1032" name="Google Shape;103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Mariz Ehap - Security &amp; EDR]</a:t>
            </a:r>
            <a:br>
              <a:rPr lang="en-US"/>
            </a:br>
            <a:r>
              <a:rPr lang="en-US"/>
              <a:t>الميزة دي بتسمحلنا نعمل تداخل بين اللي لقيناه من بره واللوجات اللي حاصلة من جوه الشركة. فنوصل لدقة كبيرة في تحديد إن كان الهجوم نجح بالفعل ولا اتصد. مثلاً لو Nuclei لاقى ثغرة في SSH، وفي نفس الوقت Wazuh بيقول في login جديد من IP غريب، ده بيؤكد إن في اختراق حقيقي.</a:t>
            </a:r>
            <a:endParaRPr/>
          </a:p>
        </p:txBody>
      </p:sp>
      <p:sp>
        <p:nvSpPr>
          <p:cNvPr id="1060" name="Google Shape;106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d2d178f3e5_2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3d2d178f3e5_2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6" name="Google Shape;1086;g3d2d178f3e5_2_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1" name="Google Shape;109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Reem Amin - Backend &amp; API]</a:t>
            </a:r>
            <a:br>
              <a:rPr lang="en-US"/>
            </a:br>
            <a:r>
              <a:rPr lang="en-US"/>
              <a:t>عشان نحفظ بحر البيانات ده، استخدمنا PostgreSQL لصلابتها وقوتها، وربطناها بـ SQLAlchemy كـ ORM عشان نتعامل مع قواعد البيانات بأمان ونمنع هجمات الـ SQL Injection على سيستمنا نفسه. الـ Schema مصممة بعناية: Target → Scan → Vulnerability → AIReport.</a:t>
            </a:r>
            <a:endParaRPr/>
          </a:p>
        </p:txBody>
      </p:sp>
      <p:sp>
        <p:nvSpPr>
          <p:cNvPr id="1092" name="Google Shape;109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1" name="Google Shape;1131;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Reem Amin - Backend &amp; API]</a:t>
            </a:r>
            <a:br>
              <a:rPr lang="en-US"/>
            </a:br>
            <a:r>
              <a:rPr lang="en-US"/>
              <a:t>التحدي التقني الخطير هنا كان إن SQLAlchemy الـ default بيشتغل Synchronous، وده بيجمد الـ Async FastAPI. قدرنا نعالج ده بشكل هندسي عن طريق استخدام الـ async_sessionmaker مع الـ asyncpg driver. وكمان استخدمنا الـ Dependency Injection للتحكم في الـ Database Sessions بحيث كل Request بياخد Session خاصة بيه.</a:t>
            </a:r>
            <a:endParaRPr/>
          </a:p>
        </p:txBody>
      </p:sp>
      <p:sp>
        <p:nvSpPr>
          <p:cNvPr id="1132" name="Google Shape;1132;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4" name="Google Shape;1154;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Omar Kapil - Team Leader / DevOps]</a:t>
            </a:r>
            <a:br>
              <a:rPr lang="en-US"/>
            </a:br>
            <a:r>
              <a:rPr lang="en-US"/>
              <a:t>بالنسبة للـ DevOps، المشروع بالكامل بيترفع جواه 5 خدمات أساسية: Backend, Database, Redis, Celery, Frontend. استخدمنا Docker Compose عشان الشركة ترن المنصة كلها بأمر واحد بس بدون مشاكل Environment. في أي ماكينة عندها Docker، بنكتب 'docker compose up' والكل بيشتغل في 90 ثانية.</a:t>
            </a:r>
            <a:endParaRPr/>
          </a:p>
        </p:txBody>
      </p:sp>
      <p:sp>
        <p:nvSpPr>
          <p:cNvPr id="1155" name="Google Shape;1155;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d2d178f3e5_2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6" name="Google Shape;1196;g3d2d178f3e5_2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Welcome everyone. Today I'll be presenting the Docker and Container Orchestration module of our Found 404 SME Security Dashboard. This module is what makes our entire platform deployable, repeatable, and resilient — all with a single command. We'll cover what Docker is, why we chose it, how Docker Compose orchestrates our 11 services, and the architectural decisions we made along the way.</a:t>
            </a:r>
            <a:endParaRPr/>
          </a:p>
        </p:txBody>
      </p:sp>
      <p:sp>
        <p:nvSpPr>
          <p:cNvPr id="1197" name="Google Shape;1197;g3d2d178f3e5_2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3d2d178f3e5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5" name="Google Shape;1215;g3d2d178f3e5_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Here is our full architecture. We have 11 services organized into 5 logical layers. At the top, the React and Vite frontend serves our dashboard UI. Below that, the FastAPI backend handles all API requests and business logic. The State and Queue layer holds Postgres for relational data storage, Redis as a message broker, and two Celery processes — the Worker for executing async scan jobs, and Beat for scheduling recurring tasks. The Security layer has OpenVAS for active vulnerability scanning, Wazuh as our Endpoint Detection and Response manager, and n8n for SOAR automation webhooks. Finally, the Observability layer has Elasticsearch ingesting all telemetry and Kibana providing our SIEM dashboards. All 11 containers sit on a single isolated Docker bridge network called lab_network — none of them are directly exposed to the outside world except through controlled port mappings.</a:t>
            </a:r>
            <a:endParaRPr/>
          </a:p>
        </p:txBody>
      </p:sp>
      <p:sp>
        <p:nvSpPr>
          <p:cNvPr id="1216" name="Google Shape;1216;g3d2d178f3e5_5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3" name="Google Shape;1263;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Omar Kapil - Team Leader / DevOps]</a:t>
            </a:r>
            <a:br>
              <a:rPr lang="en-US"/>
            </a:br>
            <a:r>
              <a:rPr lang="en-US"/>
              <a:t>عشان نختبر ونضمن تجربة أمان ومصداقية للنظام، عملنا سكريبتات أوتوماتيكية بتبني بيئة Lab وهمية فيها سيرفرات ضعيفة متعمدة زي DVWA وMetasploitable. السكان بيتم جوه الـ Lab بس </a:t>
            </a:r>
            <a:r>
              <a:rPr lang="en-US"/>
              <a:t>عمره</a:t>
            </a:r>
            <a:r>
              <a:rPr lang="en-US"/>
              <a:t> ما بيخرج للانترنت الحقيقي، وده بيضمن إننا نقدر نعمل الـ Demo بأمان تام.</a:t>
            </a:r>
            <a:endParaRPr/>
          </a:p>
        </p:txBody>
      </p:sp>
      <p:sp>
        <p:nvSpPr>
          <p:cNvPr id="1264" name="Google Shape;1264;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3d2d178f3e5_5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95" name="Google Shape;1295;g3d2d178f3e5_5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6" name="Google Shape;1296;g3d2d178f3e5_5_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1" name="Google Shape;130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Yosef Ali - Testing &amp; QA]</a:t>
            </a:r>
            <a:br>
              <a:rPr lang="en-US"/>
            </a:br>
            <a:r>
              <a:rPr lang="en-US"/>
              <a:t>في شغلنا كله اعتمدنا على تطبيق مبادئ الـ CI/CD. عملنا GitHub Actions بتشغل أوامر Pytest أوتوماتيكياً مع كل تعديل برمجي عشان تختبر الـ Backend API بشكل كامل وتتأكد إن الكود سليم. عندنا 47 unit test بتغطي كل الـ endpoints والـ risk engine functions. لو في Test بيفشل، الـ PR مش بيتقبل.</a:t>
            </a:r>
            <a:br>
              <a:rPr lang="en-US"/>
            </a:br>
            <a:br>
              <a:rPr lang="en-US"/>
            </a:br>
            <a:r>
              <a:rPr lang="en-US" sz="1100">
                <a:latin typeface="Arial"/>
                <a:ea typeface="Arial"/>
                <a:cs typeface="Arial"/>
                <a:sym typeface="Arial"/>
              </a:rPr>
              <a:t>في الجزء ده أنا بتكلم عن </a:t>
            </a:r>
            <a:r>
              <a:rPr b="1" lang="en-US" sz="1100">
                <a:latin typeface="Arial"/>
                <a:ea typeface="Arial"/>
                <a:cs typeface="Arial"/>
                <a:sym typeface="Arial"/>
              </a:rPr>
              <a:t>Continuous Integration &amp; Backend API Testing</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أنا عامل pipeline باستخدام </a:t>
            </a:r>
            <a:r>
              <a:rPr b="1" lang="en-US" sz="1100">
                <a:latin typeface="Arial"/>
                <a:ea typeface="Arial"/>
                <a:cs typeface="Arial"/>
                <a:sym typeface="Arial"/>
              </a:rPr>
              <a:t>GitHub Actions</a:t>
            </a:r>
            <a:r>
              <a:rPr lang="en-US" sz="1100">
                <a:latin typeface="Arial"/>
                <a:ea typeface="Arial"/>
                <a:cs typeface="Arial"/>
                <a:sym typeface="Arial"/>
              </a:rPr>
              <a:t> بحيث أي </a:t>
            </a:r>
            <a:r>
              <a:rPr lang="en-US" sz="1100">
                <a:solidFill>
                  <a:srgbClr val="188038"/>
                </a:solidFill>
                <a:latin typeface="Roboto Mono"/>
                <a:ea typeface="Roboto Mono"/>
                <a:cs typeface="Roboto Mono"/>
                <a:sym typeface="Roboto Mono"/>
              </a:rPr>
              <a:t>push</a:t>
            </a:r>
            <a:r>
              <a:rPr lang="en-US" sz="1100">
                <a:latin typeface="Arial"/>
                <a:ea typeface="Arial"/>
                <a:cs typeface="Arial"/>
                <a:sym typeface="Arial"/>
              </a:rPr>
              <a:t> أو </a:t>
            </a:r>
            <a:r>
              <a:rPr lang="en-US" sz="1100">
                <a:solidFill>
                  <a:srgbClr val="188038"/>
                </a:solidFill>
                <a:latin typeface="Roboto Mono"/>
                <a:ea typeface="Roboto Mono"/>
                <a:cs typeface="Roboto Mono"/>
                <a:sym typeface="Roboto Mono"/>
              </a:rPr>
              <a:t>pull request</a:t>
            </a:r>
            <a:r>
              <a:rPr lang="en-US" sz="1100">
                <a:latin typeface="Arial"/>
                <a:ea typeface="Arial"/>
                <a:cs typeface="Arial"/>
                <a:sym typeface="Arial"/>
              </a:rPr>
              <a:t> على الـ main branch بيشغّل الـ CI أوتوماتيك.</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بعد كده:</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بيتم تشغيل </a:t>
            </a:r>
            <a:r>
              <a:rPr b="1" lang="en-US" sz="1100">
                <a:latin typeface="Arial"/>
                <a:ea typeface="Arial"/>
                <a:cs typeface="Arial"/>
                <a:sym typeface="Arial"/>
              </a:rPr>
              <a:t>pytest framework</a:t>
            </a:r>
            <a:r>
              <a:rPr lang="en-US" sz="1100">
                <a:latin typeface="Arial"/>
                <a:ea typeface="Arial"/>
                <a:cs typeface="Arial"/>
                <a:sym typeface="Arial"/>
              </a:rPr>
              <a:t> وفيه حوالي </a:t>
            </a:r>
            <a:r>
              <a:rPr b="1" lang="en-US" sz="1100">
                <a:latin typeface="Arial"/>
                <a:ea typeface="Arial"/>
                <a:cs typeface="Arial"/>
                <a:sym typeface="Arial"/>
              </a:rPr>
              <a:t>47 test cases</a:t>
            </a:r>
            <a:r>
              <a:rPr lang="en-US" sz="1100">
                <a:latin typeface="Arial"/>
                <a:ea typeface="Arial"/>
                <a:cs typeface="Arial"/>
                <a:sym typeface="Arial"/>
              </a:rPr>
              <a:t>، دول بيغطّوا كل الـ API endpoints وكمان الـ business logic زي الـ risk engine والـ parsers.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بالنسبة للـ API testing، استخدمت </a:t>
            </a:r>
            <a:r>
              <a:rPr b="1" lang="en-US" sz="1100">
                <a:latin typeface="Arial"/>
                <a:ea typeface="Arial"/>
                <a:cs typeface="Arial"/>
                <a:sym typeface="Arial"/>
              </a:rPr>
              <a:t>httpx</a:t>
            </a:r>
            <a:r>
              <a:rPr lang="en-US" sz="1100">
                <a:latin typeface="Arial"/>
                <a:ea typeface="Arial"/>
                <a:cs typeface="Arial"/>
                <a:sym typeface="Arial"/>
              </a:rPr>
              <a:t> كـ async client علشان أحاكي real client behavior، وباختبر الـ FastAPI app كأنه شغال فعلاً في production.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كمان عامل </a:t>
            </a:r>
            <a:r>
              <a:rPr b="1" lang="en-US" sz="1100">
                <a:latin typeface="Arial"/>
                <a:ea typeface="Arial"/>
                <a:cs typeface="Arial"/>
                <a:sym typeface="Arial"/>
              </a:rPr>
              <a:t>test database منفصلة</a:t>
            </a:r>
            <a:r>
              <a:rPr lang="en-US" sz="1100">
                <a:latin typeface="Arial"/>
                <a:ea typeface="Arial"/>
                <a:cs typeface="Arial"/>
                <a:sym typeface="Arial"/>
              </a:rPr>
              <a:t> باستخدام SQLite in-memory، وده مهم جداً علشان التستات متأثرش على الـ production database.</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بعد ما التستات تخلص، بيطلع </a:t>
            </a:r>
            <a:r>
              <a:rPr b="1" lang="en-US" sz="1100">
                <a:latin typeface="Arial"/>
                <a:ea typeface="Arial"/>
                <a:cs typeface="Arial"/>
                <a:sym typeface="Arial"/>
              </a:rPr>
              <a:t>coverage report</a:t>
            </a:r>
            <a:r>
              <a:rPr lang="en-US" sz="1100">
                <a:latin typeface="Arial"/>
                <a:ea typeface="Arial"/>
                <a:cs typeface="Arial"/>
                <a:sym typeface="Arial"/>
              </a:rPr>
              <a:t> باستخدام pytest-cov، وأنا محدد minimum coverage 80%، ولو أقل من كده الـ PR بيترفض أوتوماتيك.</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وفي الآخر:</a:t>
            </a:r>
            <a:br>
              <a:rPr lang="en-US" sz="1100">
                <a:latin typeface="Arial"/>
                <a:ea typeface="Arial"/>
                <a:cs typeface="Arial"/>
                <a:sym typeface="Arial"/>
              </a:rPr>
            </a:br>
            <a:r>
              <a:rPr lang="en-US" sz="1100">
                <a:latin typeface="Arial"/>
                <a:ea typeface="Arial"/>
                <a:cs typeface="Arial"/>
                <a:sym typeface="Arial"/>
              </a:rPr>
              <a:t> لو كل حاجة عدت بنجاح، الـ </a:t>
            </a:r>
            <a:r>
              <a:rPr b="1" lang="en-US" sz="1100">
                <a:latin typeface="Arial"/>
                <a:ea typeface="Arial"/>
                <a:cs typeface="Arial"/>
                <a:sym typeface="Arial"/>
              </a:rPr>
              <a:t>PR بيتوافق عليه (approved)</a:t>
            </a:r>
            <a:r>
              <a:rPr lang="en-US" sz="1100">
                <a:latin typeface="Arial"/>
                <a:ea typeface="Arial"/>
                <a:cs typeface="Arial"/>
                <a:sym typeface="Arial"/>
              </a:rPr>
              <a:t>.</a:t>
            </a:r>
            <a:endParaRPr sz="1100">
              <a:latin typeface="Arial"/>
              <a:ea typeface="Arial"/>
              <a:cs typeface="Arial"/>
              <a:sym typeface="Arial"/>
            </a:endParaRPr>
          </a:p>
          <a:p>
            <a:pPr indent="0" lvl="0" marL="0" rtl="1" algn="r">
              <a:spcBef>
                <a:spcPts val="1200"/>
              </a:spcBef>
              <a:spcAft>
                <a:spcPts val="0"/>
              </a:spcAft>
              <a:buNone/>
            </a:pPr>
            <a:r>
              <a:t/>
            </a:r>
            <a:endParaRPr/>
          </a:p>
        </p:txBody>
      </p:sp>
      <p:sp>
        <p:nvSpPr>
          <p:cNvPr id="1302" name="Google Shape;1302;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2" name="Google Shape;1332;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Mazen Alaa - Testing &amp; QA]</a:t>
            </a:r>
            <a:br>
              <a:rPr lang="en-US"/>
            </a:br>
            <a:r>
              <a:rPr lang="en-US"/>
              <a:t>وبالنسبة للواجهة، عملنا End-to-End Testing باستخدام مكتبة Playwright. ده بيفتح متصفح مخفي ويجرب الأزرار ويحاكي مستخدم حقيقي. بيدخل الداشبورد، بينشئ Target، بيطلب Scan، وبيستنى النتيجة. لو أي حاجة غلط ولو في خطوة واحدة هيفشل الـ Test ويبعت Screenshot للمشكلة فوراً.</a:t>
            </a:r>
            <a:endParaRPr/>
          </a:p>
        </p:txBody>
      </p:sp>
      <p:sp>
        <p:nvSpPr>
          <p:cNvPr id="1333" name="Google Shape;1333;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3" name="Google Shape;136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Omar Tarek - Documentation &amp; Presentation]</a:t>
            </a:r>
            <a:br>
              <a:rPr lang="en-US"/>
            </a:br>
            <a:r>
              <a:rPr lang="en-US"/>
              <a:t>خلاصة الشغل ده إن الـ Pentest اللي كان بياخد أسابيع وآلاف الدولارات، إحنا خليناه Continuous وفي دقايق معدودة. مرحلة الـ Scanning اللي كانت بتاخد أسبوع كامل، دلوقتي بتخلص في 8 دقايق. والمشروع أدير بدقة بـ Agile Master Plan لتقديم منتج بمواصفات سوقية عالمية.</a:t>
            </a:r>
            <a:endParaRPr/>
          </a:p>
        </p:txBody>
      </p:sp>
      <p:sp>
        <p:nvSpPr>
          <p:cNvPr id="1364" name="Google Shape;1364;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5" name="Google Shape;1395;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[Speaker: Omar Kapil - Team Leader]</a:t>
            </a:r>
            <a:br>
              <a:rPr lang="en-US"/>
            </a:br>
            <a:r>
              <a:rPr lang="en-US"/>
              <a:t>في الختام، إحنا فخورين إننا قدرنا نحول أمن المعلومات المعقد لشيء ملموس وبسيط لأصحاب الأعمال. المشروع ده مش بس مشروع تخرج، ده منتج حقيقي قادر يحمي الشركات الصغيرة. شكراً لحضراتكم على وقتكم ومتابعتكم. دلوقتي هنعرض لحضراتكم الـ Live Demo العملي للبروجكت. يتفضل حضراتكم بالأسئلة.</a:t>
            </a:r>
            <a:endParaRPr/>
          </a:p>
        </p:txBody>
      </p:sp>
      <p:sp>
        <p:nvSpPr>
          <p:cNvPr id="1396" name="Google Shape;1396;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3d2d178f3e5_5_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4" name="Google Shape;1424;g3d2d178f3e5_5_1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1" algn="r">
              <a:spcBef>
                <a:spcPts val="0"/>
              </a:spcBef>
              <a:spcAft>
                <a:spcPts val="0"/>
              </a:spcAft>
              <a:buNone/>
            </a:pPr>
            <a:r>
              <a:rPr lang="en-US"/>
              <a:t>بالنسبة للاستدامة، المشروع قابل للتطوير بشكل كبير. بنخطط نضيف صلاحيات أدوار المستخدمين RBAC، </a:t>
            </a:r>
            <a:r>
              <a:rPr lang="en-US"/>
              <a:t>وتقارير PDF بضغطة زرار للشركات، </a:t>
            </a:r>
            <a:r>
              <a:rPr lang="en-US"/>
              <a:t>وربط لردع الهجمات أوتوماتيك SOAR.</a:t>
            </a:r>
            <a:endParaRPr/>
          </a:p>
        </p:txBody>
      </p:sp>
      <p:sp>
        <p:nvSpPr>
          <p:cNvPr id="1425" name="Google Shape;1425;g3d2d178f3e5_5_1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3968b1e942d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40" name="Google Shape;1440;g3968b1e942d_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1" name="Google Shape;1441;g3968b1e942d_3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chart" Target="../charts/char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chart" Target="../charts/char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155448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6949440" y="-822960"/>
            <a:ext cx="2926080" cy="2926080"/>
          </a:xfrm>
          <a:prstGeom prst="ellipse">
            <a:avLst/>
          </a:prstGeom>
          <a:solidFill>
            <a:srgbClr val="0891B2">
              <a:alpha val="45098"/>
            </a:srgbClr>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7772400" y="274320"/>
            <a:ext cx="1645920" cy="1645920"/>
          </a:xfrm>
          <a:prstGeom prst="ellipse">
            <a:avLst/>
          </a:prstGeom>
          <a:solidFill>
            <a:srgbClr val="22D3EE">
              <a:alpha val="34901"/>
            </a:srgbClr>
          </a:solidFill>
          <a:ln cap="flat" cmpd="sng" w="12700">
            <a:solidFill>
              <a:srgbClr val="22D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457200" y="91460"/>
            <a:ext cx="6435300" cy="141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600"/>
              <a:buFont typeface="Merriweather"/>
              <a:buNone/>
            </a:pPr>
            <a:r>
              <a:rPr b="1" lang="en-US" sz="3300">
                <a:solidFill>
                  <a:srgbClr val="FFFFFF"/>
                </a:solidFill>
                <a:latin typeface="Merriweather"/>
                <a:ea typeface="Merriweather"/>
                <a:cs typeface="Merriweather"/>
                <a:sym typeface="Merriweather"/>
              </a:rPr>
              <a:t>SMEs </a:t>
            </a:r>
            <a:r>
              <a:rPr b="1" lang="en-US" sz="3300">
                <a:solidFill>
                  <a:srgbClr val="FFFFFF"/>
                </a:solidFill>
                <a:latin typeface="Merriweather"/>
                <a:ea typeface="Merriweather"/>
                <a:cs typeface="Merriweather"/>
                <a:sym typeface="Merriweather"/>
              </a:rPr>
              <a:t>SECURITY</a:t>
            </a:r>
            <a:r>
              <a:rPr b="1" lang="en-US" sz="3300">
                <a:solidFill>
                  <a:srgbClr val="FFFFFF"/>
                </a:solidFill>
                <a:latin typeface="Merriweather"/>
                <a:ea typeface="Merriweather"/>
                <a:cs typeface="Merriweather"/>
                <a:sym typeface="Merriweather"/>
              </a:rPr>
              <a:t> ORCHESTRATION CENTER</a:t>
            </a:r>
            <a:endParaRPr b="1" sz="3300">
              <a:solidFill>
                <a:srgbClr val="FFFFFF"/>
              </a:solidFill>
              <a:latin typeface="Merriweather"/>
              <a:ea typeface="Merriweather"/>
              <a:cs typeface="Merriweather"/>
              <a:sym typeface="Merriweather"/>
            </a:endParaRPr>
          </a:p>
        </p:txBody>
      </p:sp>
      <p:sp>
        <p:nvSpPr>
          <p:cNvPr id="20" name="Google Shape;20;p1"/>
          <p:cNvSpPr/>
          <p:nvPr/>
        </p:nvSpPr>
        <p:spPr>
          <a:xfrm>
            <a:off x="457200" y="1828800"/>
            <a:ext cx="8229600" cy="2377500"/>
          </a:xfrm>
          <a:prstGeom prst="rect">
            <a:avLst/>
          </a:prstGeom>
          <a:solidFill>
            <a:srgbClr val="E8F9FD"/>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731520" y="1965960"/>
            <a:ext cx="768096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2400"/>
              <a:buFont typeface="Merriweather"/>
              <a:buNone/>
            </a:pPr>
            <a:r>
              <a:rPr b="1" i="0" lang="en-US" sz="2400" u="none" cap="none" strike="noStrike">
                <a:solidFill>
                  <a:srgbClr val="0E7490"/>
                </a:solidFill>
                <a:latin typeface="Merriweather"/>
                <a:ea typeface="Merriweather"/>
                <a:cs typeface="Merriweather"/>
                <a:sym typeface="Merriweather"/>
              </a:rPr>
              <a:t>Deterministic Hybrid Model for SMEs</a:t>
            </a:r>
            <a:endParaRPr b="0" i="0" sz="2400" u="none" cap="none" strike="noStrike">
              <a:solidFill>
                <a:schemeClr val="dk1"/>
              </a:solidFill>
              <a:latin typeface="Calibri"/>
              <a:ea typeface="Calibri"/>
              <a:cs typeface="Calibri"/>
              <a:sym typeface="Calibri"/>
            </a:endParaRPr>
          </a:p>
        </p:txBody>
      </p:sp>
      <p:sp>
        <p:nvSpPr>
          <p:cNvPr id="22" name="Google Shape;22;p1"/>
          <p:cNvSpPr/>
          <p:nvPr/>
        </p:nvSpPr>
        <p:spPr>
          <a:xfrm>
            <a:off x="731525" y="2601350"/>
            <a:ext cx="76809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50"/>
              <a:buFont typeface="Merriweather"/>
              <a:buNone/>
            </a:pPr>
            <a:r>
              <a:rPr b="0" i="0" lang="en-US" sz="1350" u="none" cap="none" strike="noStrike">
                <a:solidFill>
                  <a:srgbClr val="64748B"/>
                </a:solidFill>
                <a:latin typeface="Merriweather"/>
                <a:ea typeface="Merriweather"/>
                <a:cs typeface="Merriweather"/>
                <a:sym typeface="Merriweather"/>
              </a:rPr>
              <a:t>Helwan </a:t>
            </a:r>
            <a:r>
              <a:rPr lang="en-US" sz="1350">
                <a:solidFill>
                  <a:srgbClr val="64748B"/>
                </a:solidFill>
                <a:latin typeface="Merriweather"/>
                <a:ea typeface="Merriweather"/>
                <a:cs typeface="Merriweather"/>
                <a:sym typeface="Merriweather"/>
              </a:rPr>
              <a:t>international </a:t>
            </a:r>
            <a:r>
              <a:rPr lang="en-US" sz="1350">
                <a:solidFill>
                  <a:srgbClr val="64748B"/>
                </a:solidFill>
                <a:latin typeface="Merriweather"/>
                <a:ea typeface="Merriweather"/>
                <a:cs typeface="Merriweather"/>
                <a:sym typeface="Merriweather"/>
              </a:rPr>
              <a:t>technology</a:t>
            </a:r>
            <a:r>
              <a:rPr lang="en-US" sz="1350">
                <a:solidFill>
                  <a:srgbClr val="64748B"/>
                </a:solidFill>
                <a:latin typeface="Merriweather"/>
                <a:ea typeface="Merriweather"/>
                <a:cs typeface="Merriweather"/>
                <a:sym typeface="Merriweather"/>
              </a:rPr>
              <a:t> university</a:t>
            </a:r>
            <a:endParaRPr sz="1350">
              <a:solidFill>
                <a:srgbClr val="64748B"/>
              </a:solidFill>
              <a:latin typeface="Merriweather"/>
              <a:ea typeface="Merriweather"/>
              <a:cs typeface="Merriweather"/>
              <a:sym typeface="Merriweather"/>
            </a:endParaRPr>
          </a:p>
          <a:p>
            <a:pPr indent="0" lvl="0" marL="0" marR="0" rtl="0" algn="ctr">
              <a:spcBef>
                <a:spcPts val="0"/>
              </a:spcBef>
              <a:spcAft>
                <a:spcPts val="0"/>
              </a:spcAft>
              <a:buClr>
                <a:srgbClr val="64748B"/>
              </a:buClr>
              <a:buSzPts val="1250"/>
              <a:buFont typeface="Merriweather"/>
              <a:buNone/>
            </a:pPr>
            <a:r>
              <a:rPr b="0" i="0" lang="en-US" sz="1350" u="none" cap="none" strike="noStrike">
                <a:solidFill>
                  <a:srgbClr val="64748B"/>
                </a:solidFill>
                <a:latin typeface="Merriweather"/>
                <a:ea typeface="Merriweather"/>
                <a:cs typeface="Merriweather"/>
                <a:sym typeface="Merriweather"/>
              </a:rPr>
              <a:t> Faculty of </a:t>
            </a:r>
            <a:r>
              <a:rPr lang="en-US" sz="1350">
                <a:solidFill>
                  <a:srgbClr val="64748B"/>
                </a:solidFill>
                <a:latin typeface="Merriweather"/>
                <a:ea typeface="Merriweather"/>
                <a:cs typeface="Merriweather"/>
                <a:sym typeface="Merriweather"/>
              </a:rPr>
              <a:t>Information Technology</a:t>
            </a:r>
            <a:endParaRPr sz="1350">
              <a:solidFill>
                <a:srgbClr val="64748B"/>
              </a:solidFill>
              <a:latin typeface="Merriweather"/>
              <a:ea typeface="Merriweather"/>
              <a:cs typeface="Merriweather"/>
              <a:sym typeface="Merriweather"/>
            </a:endParaRPr>
          </a:p>
          <a:p>
            <a:pPr indent="0" lvl="0" marL="0" marR="0" rtl="0" algn="ctr">
              <a:spcBef>
                <a:spcPts val="0"/>
              </a:spcBef>
              <a:spcAft>
                <a:spcPts val="0"/>
              </a:spcAft>
              <a:buClr>
                <a:srgbClr val="64748B"/>
              </a:buClr>
              <a:buSzPts val="1250"/>
              <a:buFont typeface="Merriweather"/>
              <a:buNone/>
            </a:pPr>
            <a:r>
              <a:rPr lang="en-US" sz="1350">
                <a:solidFill>
                  <a:srgbClr val="64748B"/>
                </a:solidFill>
                <a:latin typeface="Merriweather"/>
                <a:ea typeface="Merriweather"/>
                <a:cs typeface="Merriweather"/>
                <a:sym typeface="Merriweather"/>
              </a:rPr>
              <a:t>Cyber Security Department</a:t>
            </a:r>
            <a:endParaRPr sz="1350">
              <a:solidFill>
                <a:srgbClr val="64748B"/>
              </a:solidFill>
              <a:latin typeface="Merriweather"/>
              <a:ea typeface="Merriweather"/>
              <a:cs typeface="Merriweather"/>
              <a:sym typeface="Merriweather"/>
            </a:endParaRPr>
          </a:p>
        </p:txBody>
      </p:sp>
      <p:sp>
        <p:nvSpPr>
          <p:cNvPr id="23" name="Google Shape;23;p1"/>
          <p:cNvSpPr/>
          <p:nvPr/>
        </p:nvSpPr>
        <p:spPr>
          <a:xfrm>
            <a:off x="731520" y="3378750"/>
            <a:ext cx="76809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Merriweather"/>
              <a:buNone/>
            </a:pPr>
            <a:r>
              <a:rPr b="0" i="0" lang="en-US" sz="1250" u="none" cap="none" strike="noStrike">
                <a:solidFill>
                  <a:srgbClr val="94A3B8"/>
                </a:solidFill>
                <a:latin typeface="Merriweather"/>
                <a:ea typeface="Merriweather"/>
                <a:cs typeface="Merriweather"/>
                <a:sym typeface="Merriweather"/>
              </a:rPr>
              <a:t>Supervised </a:t>
            </a:r>
            <a:r>
              <a:rPr lang="en-US" sz="1250">
                <a:solidFill>
                  <a:srgbClr val="94A3B8"/>
                </a:solidFill>
                <a:latin typeface="Merriweather"/>
                <a:ea typeface="Merriweather"/>
                <a:cs typeface="Merriweather"/>
                <a:sym typeface="Merriweather"/>
              </a:rPr>
              <a:t>by Dr. Amr Muhmmad Abd-Elwahed</a:t>
            </a:r>
            <a:endParaRPr b="0" i="0" sz="1250" u="none" cap="none" strike="noStrike">
              <a:solidFill>
                <a:schemeClr val="dk1"/>
              </a:solidFill>
              <a:latin typeface="Calibri"/>
              <a:ea typeface="Calibri"/>
              <a:cs typeface="Calibri"/>
              <a:sym typeface="Calibri"/>
            </a:endParaRPr>
          </a:p>
        </p:txBody>
      </p:sp>
      <p:sp>
        <p:nvSpPr>
          <p:cNvPr id="24" name="Google Shape;24;p1"/>
          <p:cNvSpPr/>
          <p:nvPr/>
        </p:nvSpPr>
        <p:spPr>
          <a:xfrm>
            <a:off x="0" y="5001768"/>
            <a:ext cx="9144000" cy="73152"/>
          </a:xfrm>
          <a:prstGeom prst="rect">
            <a:avLst/>
          </a:prstGeom>
          <a:solidFill>
            <a:srgbClr val="CFFAFE"/>
          </a:solidFill>
          <a:ln cap="flat" cmpd="sng" w="12700">
            <a:solidFill>
              <a:srgbClr val="CFFA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0" y="5074920"/>
            <a:ext cx="9144000" cy="6858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731520" y="3653063"/>
            <a:ext cx="76809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050"/>
              <a:buFont typeface="Merriweather"/>
              <a:buNone/>
            </a:pPr>
            <a:r>
              <a:rPr b="0" i="0" lang="en-US" sz="1250" u="none" cap="none" strike="noStrike">
                <a:solidFill>
                  <a:srgbClr val="94A3B8"/>
                </a:solidFill>
                <a:latin typeface="Merriweather"/>
                <a:ea typeface="Merriweather"/>
                <a:cs typeface="Merriweather"/>
                <a:sym typeface="Merriweather"/>
              </a:rPr>
              <a:t> (Academic Year 202</a:t>
            </a:r>
            <a:r>
              <a:rPr lang="en-US" sz="1250">
                <a:solidFill>
                  <a:srgbClr val="94A3B8"/>
                </a:solidFill>
                <a:latin typeface="Merriweather"/>
                <a:ea typeface="Merriweather"/>
                <a:cs typeface="Merriweather"/>
                <a:sym typeface="Merriweather"/>
              </a:rPr>
              <a:t>5</a:t>
            </a:r>
            <a:r>
              <a:rPr b="0" i="0" lang="en-US" sz="1250" u="none" cap="none" strike="noStrike">
                <a:solidFill>
                  <a:srgbClr val="94A3B8"/>
                </a:solidFill>
                <a:latin typeface="Merriweather"/>
                <a:ea typeface="Merriweather"/>
                <a:cs typeface="Merriweather"/>
                <a:sym typeface="Merriweather"/>
              </a:rPr>
              <a:t> / 202</a:t>
            </a:r>
            <a:r>
              <a:rPr lang="en-US" sz="1250">
                <a:solidFill>
                  <a:srgbClr val="94A3B8"/>
                </a:solidFill>
                <a:latin typeface="Merriweather"/>
                <a:ea typeface="Merriweather"/>
                <a:cs typeface="Merriweather"/>
                <a:sym typeface="Merriweather"/>
              </a:rPr>
              <a:t>6)</a:t>
            </a:r>
            <a:endParaRPr b="0" i="0" sz="1250" u="none" cap="none" strike="noStrike">
              <a:solidFill>
                <a:schemeClr val="dk1"/>
              </a:solidFill>
              <a:latin typeface="Calibri"/>
              <a:ea typeface="Calibri"/>
              <a:cs typeface="Calibri"/>
              <a:sym typeface="Calibri"/>
            </a:endParaRPr>
          </a:p>
        </p:txBody>
      </p:sp>
      <p:cxnSp>
        <p:nvCxnSpPr>
          <p:cNvPr id="27" name="Google Shape;27;p1"/>
          <p:cNvCxnSpPr/>
          <p:nvPr/>
        </p:nvCxnSpPr>
        <p:spPr>
          <a:xfrm>
            <a:off x="3200400" y="3347260"/>
            <a:ext cx="2743200" cy="0"/>
          </a:xfrm>
          <a:prstGeom prst="straightConnector1">
            <a:avLst/>
          </a:prstGeom>
          <a:noFill/>
          <a:ln cap="flat" cmpd="sng" w="25400">
            <a:solidFill>
              <a:srgbClr val="06B6D4"/>
            </a:solidFill>
            <a:prstDash val="solid"/>
            <a:round/>
            <a:headEnd len="sm" w="sm" type="none"/>
            <a:tailEnd len="sm" w="sm" type="none"/>
          </a:ln>
        </p:spPr>
      </p:cxnSp>
      <p:pic>
        <p:nvPicPr>
          <p:cNvPr id="28" name="Google Shape;28;p1"/>
          <p:cNvPicPr preferRelativeResize="0"/>
          <p:nvPr/>
        </p:nvPicPr>
        <p:blipFill>
          <a:blip r:embed="rId3">
            <a:alphaModFix/>
          </a:blip>
          <a:stretch>
            <a:fillRect/>
          </a:stretch>
        </p:blipFill>
        <p:spPr>
          <a:xfrm>
            <a:off x="7952063" y="4236663"/>
            <a:ext cx="734738" cy="734738"/>
          </a:xfrm>
          <a:prstGeom prst="rect">
            <a:avLst/>
          </a:prstGeom>
          <a:noFill/>
          <a:ln>
            <a:noFill/>
          </a:ln>
        </p:spPr>
      </p:pic>
      <p:pic>
        <p:nvPicPr>
          <p:cNvPr id="29" name="Google Shape;29;p1"/>
          <p:cNvPicPr preferRelativeResize="0"/>
          <p:nvPr/>
        </p:nvPicPr>
        <p:blipFill>
          <a:blip r:embed="rId4">
            <a:alphaModFix/>
          </a:blip>
          <a:stretch>
            <a:fillRect/>
          </a:stretch>
        </p:blipFill>
        <p:spPr>
          <a:xfrm>
            <a:off x="457193" y="4242868"/>
            <a:ext cx="811793" cy="795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 name="Shape 34"/>
        <p:cNvGrpSpPr/>
        <p:nvPr/>
      </p:nvGrpSpPr>
      <p:grpSpPr>
        <a:xfrm>
          <a:off x="0" y="0"/>
          <a:ext cx="0" cy="0"/>
          <a:chOff x="0" y="0"/>
          <a:chExt cx="0" cy="0"/>
        </a:xfrm>
      </p:grpSpPr>
      <p:sp>
        <p:nvSpPr>
          <p:cNvPr id="35" name="Google Shape;35;p2"/>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The Found 404 Team</a:t>
            </a:r>
            <a:endParaRPr b="0" i="0" sz="2200" u="none" cap="none" strike="noStrike">
              <a:solidFill>
                <a:schemeClr val="dk1"/>
              </a:solidFill>
              <a:latin typeface="Calibri"/>
              <a:ea typeface="Calibri"/>
              <a:cs typeface="Calibri"/>
              <a:sym typeface="Calibri"/>
            </a:endParaRPr>
          </a:p>
        </p:txBody>
      </p:sp>
      <p:sp>
        <p:nvSpPr>
          <p:cNvPr id="38" name="Google Shape;38;p2"/>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2/40</a:t>
            </a:r>
            <a:endParaRPr b="0" i="0" sz="800" u="none" cap="none" strike="noStrike">
              <a:solidFill>
                <a:schemeClr val="dk1"/>
              </a:solidFill>
              <a:latin typeface="Calibri"/>
              <a:ea typeface="Calibri"/>
              <a:cs typeface="Calibri"/>
              <a:sym typeface="Calibri"/>
            </a:endParaRPr>
          </a:p>
        </p:txBody>
      </p:sp>
      <p:cxnSp>
        <p:nvCxnSpPr>
          <p:cNvPr id="40" name="Google Shape;40;p2"/>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41" name="Google Shape;41;p2"/>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42" name="Google Shape;42;p2"/>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2745010" y="830608"/>
            <a:ext cx="3654000" cy="309300"/>
          </a:xfrm>
          <a:prstGeom prst="rect">
            <a:avLst/>
          </a:prstGeom>
          <a:solidFill>
            <a:srgbClr val="CFFAFE"/>
          </a:solidFill>
          <a:ln cap="flat" cmpd="sng" w="19525">
            <a:solidFill>
              <a:srgbClr val="BAE6FD"/>
            </a:solidFill>
            <a:prstDash val="solid"/>
            <a:round/>
            <a:headEnd len="sm" w="sm" type="none"/>
            <a:tailEnd len="sm" w="sm" type="none"/>
          </a:ln>
        </p:spPr>
        <p:txBody>
          <a:bodyPr anchorCtr="0" anchor="ctr" bIns="140525" lIns="140525" spcFirstLastPara="1" rIns="140525" wrap="square" tIns="140525">
            <a:noAutofit/>
          </a:bodyPr>
          <a:lstStyle/>
          <a:p>
            <a:pPr indent="0" lvl="0" marL="0" rtl="0" algn="l">
              <a:spcBef>
                <a:spcPts val="0"/>
              </a:spcBef>
              <a:spcAft>
                <a:spcPts val="0"/>
              </a:spcAft>
              <a:buNone/>
            </a:pPr>
            <a:r>
              <a:t/>
            </a:r>
            <a:endParaRPr/>
          </a:p>
        </p:txBody>
      </p:sp>
      <p:sp>
        <p:nvSpPr>
          <p:cNvPr id="44" name="Google Shape;44;p2"/>
          <p:cNvSpPr/>
          <p:nvPr/>
        </p:nvSpPr>
        <p:spPr>
          <a:xfrm>
            <a:off x="2745010" y="830608"/>
            <a:ext cx="3654000" cy="309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1230"/>
              <a:buFont typeface="Merriweather"/>
              <a:buNone/>
            </a:pPr>
            <a:r>
              <a:rPr b="1" i="0" lang="en-US" sz="1336" u="none" cap="none" strike="noStrike">
                <a:solidFill>
                  <a:srgbClr val="0E7490"/>
                </a:solidFill>
                <a:latin typeface="Merriweather"/>
                <a:ea typeface="Merriweather"/>
                <a:cs typeface="Merriweather"/>
                <a:sym typeface="Merriweather"/>
              </a:rPr>
              <a:t>Team Structure</a:t>
            </a:r>
            <a:endParaRPr b="0" i="0" sz="1336" u="none" cap="none" strike="noStrike">
              <a:solidFill>
                <a:schemeClr val="dk1"/>
              </a:solidFill>
              <a:latin typeface="Calibri"/>
              <a:ea typeface="Calibri"/>
              <a:cs typeface="Calibri"/>
              <a:sym typeface="Calibri"/>
            </a:endParaRPr>
          </a:p>
        </p:txBody>
      </p:sp>
      <p:sp>
        <p:nvSpPr>
          <p:cNvPr id="45" name="Google Shape;45;p2"/>
          <p:cNvSpPr/>
          <p:nvPr/>
        </p:nvSpPr>
        <p:spPr>
          <a:xfrm>
            <a:off x="347475" y="1293875"/>
            <a:ext cx="1993500" cy="3461100"/>
          </a:xfrm>
          <a:prstGeom prst="rect">
            <a:avLst/>
          </a:prstGeom>
          <a:solidFill>
            <a:srgbClr val="E8F9FD"/>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latin typeface="Merriweather"/>
              <a:ea typeface="Merriweather"/>
              <a:cs typeface="Merriweather"/>
              <a:sym typeface="Merriweather"/>
            </a:endParaRPr>
          </a:p>
        </p:txBody>
      </p:sp>
      <p:sp>
        <p:nvSpPr>
          <p:cNvPr id="46" name="Google Shape;46;p2"/>
          <p:cNvSpPr/>
          <p:nvPr/>
        </p:nvSpPr>
        <p:spPr>
          <a:xfrm>
            <a:off x="347475" y="1293875"/>
            <a:ext cx="1993500" cy="3798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347475" y="1293875"/>
            <a:ext cx="1993500" cy="37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Merriweather"/>
              <a:buNone/>
            </a:pPr>
            <a:r>
              <a:rPr b="1" i="0" lang="en-US" sz="1400" u="none" cap="none" strike="noStrike">
                <a:solidFill>
                  <a:srgbClr val="FFFFFF"/>
                </a:solidFill>
                <a:latin typeface="Merriweather"/>
                <a:ea typeface="Merriweather"/>
                <a:cs typeface="Merriweather"/>
                <a:sym typeface="Merriweather"/>
              </a:rPr>
              <a:t>ST1</a:t>
            </a:r>
            <a:endParaRPr b="0" i="0" sz="1400" u="none" cap="none" strike="noStrike">
              <a:solidFill>
                <a:schemeClr val="dk1"/>
              </a:solidFill>
              <a:latin typeface="Calibri"/>
              <a:ea typeface="Calibri"/>
              <a:cs typeface="Calibri"/>
              <a:sym typeface="Calibri"/>
            </a:endParaRPr>
          </a:p>
        </p:txBody>
      </p:sp>
      <p:sp>
        <p:nvSpPr>
          <p:cNvPr id="48" name="Google Shape;48;p2"/>
          <p:cNvSpPr/>
          <p:nvPr/>
        </p:nvSpPr>
        <p:spPr>
          <a:xfrm>
            <a:off x="438915" y="1715949"/>
            <a:ext cx="1810500" cy="46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900"/>
              <a:buFont typeface="Merriweather"/>
              <a:buNone/>
            </a:pPr>
            <a:r>
              <a:rPr b="1" i="0" lang="en-US" sz="1100" u="none" cap="none" strike="noStrike">
                <a:solidFill>
                  <a:srgbClr val="0F172A"/>
                </a:solidFill>
                <a:latin typeface="Merriweather"/>
                <a:ea typeface="Merriweather"/>
                <a:cs typeface="Merriweather"/>
                <a:sym typeface="Merriweather"/>
              </a:rPr>
              <a:t>Sub-Team 1 — Backend &amp; AI</a:t>
            </a:r>
            <a:endParaRPr b="1" i="0" sz="1100" u="none" cap="none" strike="noStrike">
              <a:solidFill>
                <a:schemeClr val="dk1"/>
              </a:solidFill>
              <a:latin typeface="Merriweather"/>
              <a:ea typeface="Merriweather"/>
              <a:cs typeface="Merriweather"/>
              <a:sym typeface="Merriweather"/>
            </a:endParaRPr>
          </a:p>
        </p:txBody>
      </p:sp>
      <p:cxnSp>
        <p:nvCxnSpPr>
          <p:cNvPr id="49" name="Google Shape;49;p2"/>
          <p:cNvCxnSpPr/>
          <p:nvPr/>
        </p:nvCxnSpPr>
        <p:spPr>
          <a:xfrm>
            <a:off x="484635" y="2222436"/>
            <a:ext cx="1719000" cy="0"/>
          </a:xfrm>
          <a:prstGeom prst="straightConnector1">
            <a:avLst/>
          </a:prstGeom>
          <a:noFill/>
          <a:ln cap="flat" cmpd="sng" w="12700">
            <a:solidFill>
              <a:srgbClr val="BAE6FD"/>
            </a:solidFill>
            <a:prstDash val="solid"/>
            <a:round/>
            <a:headEnd len="sm" w="sm" type="none"/>
            <a:tailEnd len="sm" w="sm" type="none"/>
          </a:ln>
        </p:spPr>
      </p:cxnSp>
      <p:sp>
        <p:nvSpPr>
          <p:cNvPr id="50" name="Google Shape;50;p2"/>
          <p:cNvSpPr/>
          <p:nvPr/>
        </p:nvSpPr>
        <p:spPr>
          <a:xfrm>
            <a:off x="438925" y="2395450"/>
            <a:ext cx="1810500" cy="1050900"/>
          </a:xfrm>
          <a:prstGeom prst="rect">
            <a:avLst/>
          </a:prstGeom>
          <a:noFill/>
          <a:ln>
            <a:noFill/>
          </a:ln>
        </p:spPr>
        <p:txBody>
          <a:bodyPr anchorCtr="0" anchor="t" bIns="0" lIns="0" spcFirstLastPara="1" rIns="0" wrap="square" tIns="0">
            <a:noAutofit/>
          </a:bodyPr>
          <a:lstStyle/>
          <a:p>
            <a:pPr indent="-301625" lvl="0" marL="457200" marR="0" rtl="0" algn="l">
              <a:lnSpc>
                <a:spcPct val="200000"/>
              </a:lnSpc>
              <a:spcBef>
                <a:spcPts val="0"/>
              </a:spcBef>
              <a:spcAft>
                <a:spcPts val="0"/>
              </a:spcAft>
              <a:buClr>
                <a:srgbClr val="1E293B"/>
              </a:buClr>
              <a:buSzPts val="1150"/>
              <a:buFont typeface="Merriweather"/>
              <a:buChar char="●"/>
            </a:pPr>
            <a:r>
              <a:rPr b="1" i="0" lang="en-US" sz="1150" u="none" cap="none" strike="noStrike">
                <a:solidFill>
                  <a:srgbClr val="1E293B"/>
                </a:solidFill>
                <a:latin typeface="Merriweather"/>
                <a:ea typeface="Merriweather"/>
                <a:cs typeface="Merriweather"/>
                <a:sym typeface="Merriweather"/>
              </a:rPr>
              <a:t>Reem Amin</a:t>
            </a:r>
            <a:endParaRPr b="1" i="0" sz="1150" u="none" cap="none" strike="noStrike">
              <a:solidFill>
                <a:schemeClr val="dk1"/>
              </a:solidFill>
              <a:latin typeface="Merriweather"/>
              <a:ea typeface="Merriweather"/>
              <a:cs typeface="Merriweather"/>
              <a:sym typeface="Merriweather"/>
            </a:endParaRPr>
          </a:p>
          <a:p>
            <a:pPr indent="-301625" lvl="0" marL="457200" marR="0" rtl="0" algn="l">
              <a:lnSpc>
                <a:spcPct val="200000"/>
              </a:lnSpc>
              <a:spcBef>
                <a:spcPts val="0"/>
              </a:spcBef>
              <a:spcAft>
                <a:spcPts val="0"/>
              </a:spcAft>
              <a:buClr>
                <a:srgbClr val="1E293B"/>
              </a:buClr>
              <a:buSzPts val="1150"/>
              <a:buFont typeface="Merriweather"/>
              <a:buChar char="●"/>
            </a:pPr>
            <a:r>
              <a:rPr b="1" i="0" lang="en-US" sz="1150" u="none" cap="none" strike="noStrike">
                <a:solidFill>
                  <a:srgbClr val="1E293B"/>
                </a:solidFill>
                <a:latin typeface="Merriweather"/>
                <a:ea typeface="Merriweather"/>
                <a:cs typeface="Merriweather"/>
                <a:sym typeface="Merriweather"/>
              </a:rPr>
              <a:t>Yousef Abdel Hady</a:t>
            </a:r>
            <a:endParaRPr b="1" i="0" sz="1150" u="none" cap="none" strike="noStrike">
              <a:solidFill>
                <a:schemeClr val="dk1"/>
              </a:solidFill>
              <a:latin typeface="Merriweather"/>
              <a:ea typeface="Merriweather"/>
              <a:cs typeface="Merriweather"/>
              <a:sym typeface="Merriweather"/>
            </a:endParaRPr>
          </a:p>
          <a:p>
            <a:pPr indent="-301625" lvl="0" marL="457200" marR="0" rtl="0" algn="l">
              <a:lnSpc>
                <a:spcPct val="200000"/>
              </a:lnSpc>
              <a:spcBef>
                <a:spcPts val="0"/>
              </a:spcBef>
              <a:spcAft>
                <a:spcPts val="0"/>
              </a:spcAft>
              <a:buClr>
                <a:srgbClr val="1E293B"/>
              </a:buClr>
              <a:buSzPts val="1150"/>
              <a:buFont typeface="Merriweather"/>
              <a:buChar char="●"/>
            </a:pPr>
            <a:r>
              <a:rPr b="1" i="0" lang="en-US" sz="1150" u="none" cap="none" strike="noStrike">
                <a:solidFill>
                  <a:srgbClr val="1E293B"/>
                </a:solidFill>
                <a:latin typeface="Merriweather"/>
                <a:ea typeface="Merriweather"/>
                <a:cs typeface="Merriweather"/>
                <a:sym typeface="Merriweather"/>
              </a:rPr>
              <a:t>Mohamed Shaban</a:t>
            </a:r>
            <a:endParaRPr b="1" i="0" sz="1150" u="none" cap="none" strike="noStrike">
              <a:solidFill>
                <a:schemeClr val="dk1"/>
              </a:solidFill>
              <a:latin typeface="Merriweather"/>
              <a:ea typeface="Merriweather"/>
              <a:cs typeface="Merriweather"/>
              <a:sym typeface="Merriweather"/>
            </a:endParaRPr>
          </a:p>
        </p:txBody>
      </p:sp>
      <p:cxnSp>
        <p:nvCxnSpPr>
          <p:cNvPr id="51" name="Google Shape;51;p2"/>
          <p:cNvCxnSpPr/>
          <p:nvPr/>
        </p:nvCxnSpPr>
        <p:spPr>
          <a:xfrm>
            <a:off x="484735" y="3760263"/>
            <a:ext cx="1719000" cy="0"/>
          </a:xfrm>
          <a:prstGeom prst="straightConnector1">
            <a:avLst/>
          </a:prstGeom>
          <a:noFill/>
          <a:ln cap="flat" cmpd="sng" w="12700">
            <a:solidFill>
              <a:srgbClr val="BAE6FD"/>
            </a:solidFill>
            <a:prstDash val="solid"/>
            <a:round/>
            <a:headEnd len="sm" w="sm" type="none"/>
            <a:tailEnd len="sm" w="sm" type="none"/>
          </a:ln>
        </p:spPr>
      </p:cxnSp>
      <p:sp>
        <p:nvSpPr>
          <p:cNvPr id="52" name="Google Shape;52;p2"/>
          <p:cNvSpPr/>
          <p:nvPr/>
        </p:nvSpPr>
        <p:spPr>
          <a:xfrm>
            <a:off x="429900" y="3955100"/>
            <a:ext cx="1911000" cy="309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4748B"/>
              </a:buClr>
              <a:buSzPts val="850"/>
              <a:buFont typeface="Merriweather"/>
              <a:buNone/>
            </a:pPr>
            <a:r>
              <a:rPr b="1" i="1" lang="en-US" sz="1150">
                <a:solidFill>
                  <a:srgbClr val="64748B"/>
                </a:solidFill>
                <a:latin typeface="Merriweather"/>
                <a:ea typeface="Merriweather"/>
                <a:cs typeface="Merriweather"/>
                <a:sym typeface="Merriweather"/>
              </a:rPr>
              <a:t>(</a:t>
            </a:r>
            <a:r>
              <a:rPr b="1" i="1" lang="en-US" sz="1150" u="none" cap="none" strike="noStrike">
                <a:solidFill>
                  <a:srgbClr val="64748B"/>
                </a:solidFill>
                <a:latin typeface="Merriweather"/>
                <a:ea typeface="Merriweather"/>
                <a:cs typeface="Merriweather"/>
                <a:sym typeface="Merriweather"/>
              </a:rPr>
              <a:t>FastAPI · Celery · Risk Engine)</a:t>
            </a:r>
            <a:endParaRPr b="1" i="0" sz="1150" u="none" cap="none" strike="noStrike">
              <a:solidFill>
                <a:schemeClr val="dk1"/>
              </a:solidFill>
              <a:latin typeface="Merriweather"/>
              <a:ea typeface="Merriweather"/>
              <a:cs typeface="Merriweather"/>
              <a:sym typeface="Merriweather"/>
            </a:endParaRPr>
          </a:p>
        </p:txBody>
      </p:sp>
      <p:sp>
        <p:nvSpPr>
          <p:cNvPr id="53" name="Google Shape;53;p2"/>
          <p:cNvSpPr/>
          <p:nvPr/>
        </p:nvSpPr>
        <p:spPr>
          <a:xfrm>
            <a:off x="2487171" y="1293875"/>
            <a:ext cx="1993500" cy="3461100"/>
          </a:xfrm>
          <a:prstGeom prst="rect">
            <a:avLst/>
          </a:prstGeom>
          <a:solidFill>
            <a:srgbClr val="E0F2FE"/>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latin typeface="Merriweather"/>
              <a:ea typeface="Merriweather"/>
              <a:cs typeface="Merriweather"/>
              <a:sym typeface="Merriweather"/>
            </a:endParaRPr>
          </a:p>
        </p:txBody>
      </p:sp>
      <p:sp>
        <p:nvSpPr>
          <p:cNvPr id="54" name="Google Shape;54;p2"/>
          <p:cNvSpPr/>
          <p:nvPr/>
        </p:nvSpPr>
        <p:spPr>
          <a:xfrm>
            <a:off x="2487171" y="1293875"/>
            <a:ext cx="1993500" cy="3798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2487171" y="1293875"/>
            <a:ext cx="1993500" cy="37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Merriweather"/>
              <a:buNone/>
            </a:pPr>
            <a:r>
              <a:rPr b="1" i="0" lang="en-US" sz="1400" u="none" cap="none" strike="noStrike">
                <a:solidFill>
                  <a:srgbClr val="FFFFFF"/>
                </a:solidFill>
                <a:latin typeface="Merriweather"/>
                <a:ea typeface="Merriweather"/>
                <a:cs typeface="Merriweather"/>
                <a:sym typeface="Merriweather"/>
              </a:rPr>
              <a:t>ST2</a:t>
            </a:r>
            <a:endParaRPr b="0" i="0" sz="1400" u="none" cap="none" strike="noStrike">
              <a:solidFill>
                <a:schemeClr val="dk1"/>
              </a:solidFill>
              <a:latin typeface="Calibri"/>
              <a:ea typeface="Calibri"/>
              <a:cs typeface="Calibri"/>
              <a:sym typeface="Calibri"/>
            </a:endParaRPr>
          </a:p>
        </p:txBody>
      </p:sp>
      <p:sp>
        <p:nvSpPr>
          <p:cNvPr id="56" name="Google Shape;56;p2"/>
          <p:cNvSpPr/>
          <p:nvPr/>
        </p:nvSpPr>
        <p:spPr>
          <a:xfrm>
            <a:off x="2578611" y="1715949"/>
            <a:ext cx="1810500" cy="46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900"/>
              <a:buFont typeface="Merriweather"/>
              <a:buNone/>
            </a:pPr>
            <a:r>
              <a:rPr b="1" i="0" lang="en-US" sz="1100" u="none" cap="none" strike="noStrike">
                <a:solidFill>
                  <a:srgbClr val="0F172A"/>
                </a:solidFill>
                <a:latin typeface="Merriweather"/>
                <a:ea typeface="Merriweather"/>
                <a:cs typeface="Merriweather"/>
                <a:sym typeface="Merriweather"/>
              </a:rPr>
              <a:t>Sub-Team 2 — Frontend &amp; Vis</a:t>
            </a:r>
            <a:endParaRPr b="1" i="0" sz="1100" u="none" cap="none" strike="noStrike">
              <a:solidFill>
                <a:schemeClr val="dk1"/>
              </a:solidFill>
              <a:latin typeface="Merriweather"/>
              <a:ea typeface="Merriweather"/>
              <a:cs typeface="Merriweather"/>
              <a:sym typeface="Merriweather"/>
            </a:endParaRPr>
          </a:p>
        </p:txBody>
      </p:sp>
      <p:cxnSp>
        <p:nvCxnSpPr>
          <p:cNvPr id="57" name="Google Shape;57;p2"/>
          <p:cNvCxnSpPr/>
          <p:nvPr/>
        </p:nvCxnSpPr>
        <p:spPr>
          <a:xfrm>
            <a:off x="2624331" y="2222436"/>
            <a:ext cx="1719000" cy="0"/>
          </a:xfrm>
          <a:prstGeom prst="straightConnector1">
            <a:avLst/>
          </a:prstGeom>
          <a:noFill/>
          <a:ln cap="flat" cmpd="sng" w="12700">
            <a:solidFill>
              <a:srgbClr val="BAE6FD"/>
            </a:solidFill>
            <a:prstDash val="solid"/>
            <a:round/>
            <a:headEnd len="sm" w="sm" type="none"/>
            <a:tailEnd len="sm" w="sm" type="none"/>
          </a:ln>
        </p:spPr>
      </p:cxnSp>
      <p:sp>
        <p:nvSpPr>
          <p:cNvPr id="58" name="Google Shape;58;p2"/>
          <p:cNvSpPr/>
          <p:nvPr/>
        </p:nvSpPr>
        <p:spPr>
          <a:xfrm>
            <a:off x="2578600" y="2395449"/>
            <a:ext cx="1810500" cy="1050900"/>
          </a:xfrm>
          <a:prstGeom prst="rect">
            <a:avLst/>
          </a:prstGeom>
          <a:noFill/>
          <a:ln>
            <a:noFill/>
          </a:ln>
        </p:spPr>
        <p:txBody>
          <a:bodyPr anchorCtr="0" anchor="t" bIns="0" lIns="0" spcFirstLastPara="1" rIns="0" wrap="square" tIns="0">
            <a:noAutofit/>
          </a:bodyPr>
          <a:lstStyle/>
          <a:p>
            <a:pPr indent="-301625" lvl="0" marL="457200" marR="0" rtl="0" algn="l">
              <a:lnSpc>
                <a:spcPct val="200000"/>
              </a:lnSpc>
              <a:spcBef>
                <a:spcPts val="0"/>
              </a:spcBef>
              <a:spcAft>
                <a:spcPts val="0"/>
              </a:spcAft>
              <a:buClr>
                <a:srgbClr val="1E293B"/>
              </a:buClr>
              <a:buSzPts val="1150"/>
              <a:buFont typeface="Merriweather"/>
              <a:buChar char="●"/>
            </a:pPr>
            <a:r>
              <a:rPr b="1" i="0" lang="en-US" sz="1150" u="none" cap="none" strike="noStrike">
                <a:solidFill>
                  <a:srgbClr val="1E293B"/>
                </a:solidFill>
                <a:latin typeface="Merriweather"/>
                <a:ea typeface="Merriweather"/>
                <a:cs typeface="Merriweather"/>
                <a:sym typeface="Merriweather"/>
              </a:rPr>
              <a:t>Rahma Ebrah</a:t>
            </a:r>
            <a:r>
              <a:rPr b="1" lang="en-US" sz="1150">
                <a:solidFill>
                  <a:srgbClr val="1E293B"/>
                </a:solidFill>
                <a:latin typeface="Merriweather"/>
                <a:ea typeface="Merriweather"/>
                <a:cs typeface="Merriweather"/>
                <a:sym typeface="Merriweather"/>
              </a:rPr>
              <a:t>i</a:t>
            </a:r>
            <a:r>
              <a:rPr b="1" i="0" lang="en-US" sz="1150" u="none" cap="none" strike="noStrike">
                <a:solidFill>
                  <a:srgbClr val="1E293B"/>
                </a:solidFill>
                <a:latin typeface="Merriweather"/>
                <a:ea typeface="Merriweather"/>
                <a:cs typeface="Merriweather"/>
                <a:sym typeface="Merriweather"/>
              </a:rPr>
              <a:t>m</a:t>
            </a:r>
            <a:endParaRPr b="1" i="0" sz="1150" u="none" cap="none" strike="noStrike">
              <a:solidFill>
                <a:schemeClr val="dk1"/>
              </a:solidFill>
              <a:latin typeface="Merriweather"/>
              <a:ea typeface="Merriweather"/>
              <a:cs typeface="Merriweather"/>
              <a:sym typeface="Merriweather"/>
            </a:endParaRPr>
          </a:p>
          <a:p>
            <a:pPr indent="-301625" lvl="0" marL="457200" marR="0" rtl="0" algn="l">
              <a:lnSpc>
                <a:spcPct val="200000"/>
              </a:lnSpc>
              <a:spcBef>
                <a:spcPts val="0"/>
              </a:spcBef>
              <a:spcAft>
                <a:spcPts val="0"/>
              </a:spcAft>
              <a:buClr>
                <a:srgbClr val="1E293B"/>
              </a:buClr>
              <a:buSzPts val="1150"/>
              <a:buFont typeface="Merriweather"/>
              <a:buChar char="●"/>
            </a:pPr>
            <a:r>
              <a:rPr b="1" i="0" lang="en-US" sz="1150" u="none" cap="none" strike="noStrike">
                <a:solidFill>
                  <a:srgbClr val="1E293B"/>
                </a:solidFill>
                <a:latin typeface="Merriweather"/>
                <a:ea typeface="Merriweather"/>
                <a:cs typeface="Merriweather"/>
                <a:sym typeface="Merriweather"/>
              </a:rPr>
              <a:t>Omnia Helmy</a:t>
            </a:r>
            <a:endParaRPr b="1" i="0" sz="1150" u="none" cap="none" strike="noStrike">
              <a:solidFill>
                <a:schemeClr val="dk1"/>
              </a:solidFill>
              <a:latin typeface="Merriweather"/>
              <a:ea typeface="Merriweather"/>
              <a:cs typeface="Merriweather"/>
              <a:sym typeface="Merriweather"/>
            </a:endParaRPr>
          </a:p>
        </p:txBody>
      </p:sp>
      <p:cxnSp>
        <p:nvCxnSpPr>
          <p:cNvPr id="59" name="Google Shape;59;p2"/>
          <p:cNvCxnSpPr/>
          <p:nvPr/>
        </p:nvCxnSpPr>
        <p:spPr>
          <a:xfrm>
            <a:off x="2628981" y="3760263"/>
            <a:ext cx="1719000" cy="0"/>
          </a:xfrm>
          <a:prstGeom prst="straightConnector1">
            <a:avLst/>
          </a:prstGeom>
          <a:noFill/>
          <a:ln cap="flat" cmpd="sng" w="12700">
            <a:solidFill>
              <a:srgbClr val="BAE6FD"/>
            </a:solidFill>
            <a:prstDash val="solid"/>
            <a:round/>
            <a:headEnd len="sm" w="sm" type="none"/>
            <a:tailEnd len="sm" w="sm" type="none"/>
          </a:ln>
        </p:spPr>
      </p:cxnSp>
      <p:sp>
        <p:nvSpPr>
          <p:cNvPr id="60" name="Google Shape;60;p2"/>
          <p:cNvSpPr/>
          <p:nvPr/>
        </p:nvSpPr>
        <p:spPr>
          <a:xfrm>
            <a:off x="2578600" y="3941798"/>
            <a:ext cx="1810500" cy="475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4748B"/>
              </a:buClr>
              <a:buSzPts val="850"/>
              <a:buFont typeface="Merriweather"/>
              <a:buNone/>
            </a:pPr>
            <a:r>
              <a:rPr b="1" i="1" lang="en-US" sz="1150">
                <a:solidFill>
                  <a:srgbClr val="64748B"/>
                </a:solidFill>
                <a:latin typeface="Merriweather"/>
                <a:ea typeface="Merriweather"/>
                <a:cs typeface="Merriweather"/>
                <a:sym typeface="Merriweather"/>
              </a:rPr>
              <a:t>(</a:t>
            </a:r>
            <a:r>
              <a:rPr b="1" i="1" lang="en-US" sz="1150" u="none" cap="none" strike="noStrike">
                <a:solidFill>
                  <a:srgbClr val="64748B"/>
                </a:solidFill>
                <a:latin typeface="Merriweather"/>
                <a:ea typeface="Merriweather"/>
                <a:cs typeface="Merriweather"/>
                <a:sym typeface="Merriweather"/>
              </a:rPr>
              <a:t>React 18 · Zustand · D3.js)</a:t>
            </a:r>
            <a:endParaRPr b="1" i="0" sz="1150" u="none" cap="none" strike="noStrike">
              <a:solidFill>
                <a:schemeClr val="dk1"/>
              </a:solidFill>
              <a:latin typeface="Merriweather"/>
              <a:ea typeface="Merriweather"/>
              <a:cs typeface="Merriweather"/>
              <a:sym typeface="Merriweather"/>
            </a:endParaRPr>
          </a:p>
        </p:txBody>
      </p:sp>
      <p:sp>
        <p:nvSpPr>
          <p:cNvPr id="61" name="Google Shape;61;p2"/>
          <p:cNvSpPr/>
          <p:nvPr/>
        </p:nvSpPr>
        <p:spPr>
          <a:xfrm>
            <a:off x="4636012" y="1293875"/>
            <a:ext cx="1993500" cy="3461100"/>
          </a:xfrm>
          <a:prstGeom prst="rect">
            <a:avLst/>
          </a:prstGeom>
          <a:solidFill>
            <a:srgbClr val="F0FDF4"/>
          </a:solidFill>
          <a:ln cap="flat" cmpd="sng" w="19050">
            <a:solidFill>
              <a:srgbClr val="BBF7D0"/>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latin typeface="Merriweather"/>
              <a:ea typeface="Merriweather"/>
              <a:cs typeface="Merriweather"/>
              <a:sym typeface="Merriweather"/>
            </a:endParaRPr>
          </a:p>
        </p:txBody>
      </p:sp>
      <p:sp>
        <p:nvSpPr>
          <p:cNvPr id="62" name="Google Shape;62;p2"/>
          <p:cNvSpPr/>
          <p:nvPr/>
        </p:nvSpPr>
        <p:spPr>
          <a:xfrm>
            <a:off x="4636012" y="1293875"/>
            <a:ext cx="1993500" cy="3798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4636012" y="1293875"/>
            <a:ext cx="1993500" cy="37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Merriweather"/>
              <a:buNone/>
            </a:pPr>
            <a:r>
              <a:rPr b="1" i="0" lang="en-US" sz="1400" u="none" cap="none" strike="noStrike">
                <a:solidFill>
                  <a:srgbClr val="FFFFFF"/>
                </a:solidFill>
                <a:latin typeface="Merriweather"/>
                <a:ea typeface="Merriweather"/>
                <a:cs typeface="Merriweather"/>
                <a:sym typeface="Merriweather"/>
              </a:rPr>
              <a:t>ST3</a:t>
            </a:r>
            <a:endParaRPr b="0" i="0" sz="1400" u="none" cap="none" strike="noStrike">
              <a:solidFill>
                <a:schemeClr val="dk1"/>
              </a:solidFill>
              <a:latin typeface="Calibri"/>
              <a:ea typeface="Calibri"/>
              <a:cs typeface="Calibri"/>
              <a:sym typeface="Calibri"/>
            </a:endParaRPr>
          </a:p>
        </p:txBody>
      </p:sp>
      <p:sp>
        <p:nvSpPr>
          <p:cNvPr id="64" name="Google Shape;64;p2"/>
          <p:cNvSpPr/>
          <p:nvPr/>
        </p:nvSpPr>
        <p:spPr>
          <a:xfrm>
            <a:off x="4727452" y="1715949"/>
            <a:ext cx="1810500" cy="46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900"/>
              <a:buFont typeface="Merriweather"/>
              <a:buNone/>
            </a:pPr>
            <a:r>
              <a:rPr b="1" i="0" lang="en-US" sz="1100" u="none" cap="none" strike="noStrike">
                <a:solidFill>
                  <a:srgbClr val="0F172A"/>
                </a:solidFill>
                <a:latin typeface="Merriweather"/>
                <a:ea typeface="Merriweather"/>
                <a:cs typeface="Merriweather"/>
                <a:sym typeface="Merriweather"/>
              </a:rPr>
              <a:t>Sub-Team 3 — SecOps &amp; Engine</a:t>
            </a:r>
            <a:endParaRPr b="1" i="0" sz="1100" u="none" cap="none" strike="noStrike">
              <a:solidFill>
                <a:schemeClr val="dk1"/>
              </a:solidFill>
              <a:latin typeface="Merriweather"/>
              <a:ea typeface="Merriweather"/>
              <a:cs typeface="Merriweather"/>
              <a:sym typeface="Merriweather"/>
            </a:endParaRPr>
          </a:p>
        </p:txBody>
      </p:sp>
      <p:cxnSp>
        <p:nvCxnSpPr>
          <p:cNvPr id="65" name="Google Shape;65;p2"/>
          <p:cNvCxnSpPr/>
          <p:nvPr/>
        </p:nvCxnSpPr>
        <p:spPr>
          <a:xfrm>
            <a:off x="4773172" y="2222436"/>
            <a:ext cx="1719000" cy="0"/>
          </a:xfrm>
          <a:prstGeom prst="straightConnector1">
            <a:avLst/>
          </a:prstGeom>
          <a:noFill/>
          <a:ln cap="flat" cmpd="sng" w="12700">
            <a:solidFill>
              <a:srgbClr val="BBF7D0"/>
            </a:solidFill>
            <a:prstDash val="solid"/>
            <a:round/>
            <a:headEnd len="sm" w="sm" type="none"/>
            <a:tailEnd len="sm" w="sm" type="none"/>
          </a:ln>
        </p:spPr>
      </p:cxnSp>
      <p:sp>
        <p:nvSpPr>
          <p:cNvPr id="66" name="Google Shape;66;p2"/>
          <p:cNvSpPr/>
          <p:nvPr/>
        </p:nvSpPr>
        <p:spPr>
          <a:xfrm>
            <a:off x="4727450" y="2395387"/>
            <a:ext cx="1810500" cy="1050900"/>
          </a:xfrm>
          <a:prstGeom prst="rect">
            <a:avLst/>
          </a:prstGeom>
          <a:noFill/>
          <a:ln>
            <a:noFill/>
          </a:ln>
        </p:spPr>
        <p:txBody>
          <a:bodyPr anchorCtr="0" anchor="t" bIns="0" lIns="0" spcFirstLastPara="1" rIns="0" wrap="square" tIns="0">
            <a:noAutofit/>
          </a:bodyPr>
          <a:lstStyle/>
          <a:p>
            <a:pPr indent="-301625" lvl="0" marL="457200" marR="0" rtl="0" algn="l">
              <a:lnSpc>
                <a:spcPct val="200000"/>
              </a:lnSpc>
              <a:spcBef>
                <a:spcPts val="0"/>
              </a:spcBef>
              <a:spcAft>
                <a:spcPts val="0"/>
              </a:spcAft>
              <a:buClr>
                <a:srgbClr val="1E293B"/>
              </a:buClr>
              <a:buSzPts val="1150"/>
              <a:buFont typeface="Merriweather"/>
              <a:buChar char="●"/>
            </a:pPr>
            <a:r>
              <a:rPr b="1" i="0" lang="en-US" sz="1150" u="none" cap="none" strike="noStrike">
                <a:solidFill>
                  <a:srgbClr val="1E293B"/>
                </a:solidFill>
                <a:latin typeface="Merriweather"/>
                <a:ea typeface="Merriweather"/>
                <a:cs typeface="Merriweather"/>
                <a:sym typeface="Merriweather"/>
              </a:rPr>
              <a:t>Shahd </a:t>
            </a:r>
            <a:r>
              <a:rPr b="1" lang="en-US" sz="1150">
                <a:solidFill>
                  <a:srgbClr val="1E293B"/>
                </a:solidFill>
                <a:latin typeface="Merriweather"/>
                <a:ea typeface="Merriweather"/>
                <a:cs typeface="Merriweather"/>
                <a:sym typeface="Merriweather"/>
              </a:rPr>
              <a:t>B</a:t>
            </a:r>
            <a:r>
              <a:rPr b="1" i="0" lang="en-US" sz="1150" u="none" cap="none" strike="noStrike">
                <a:solidFill>
                  <a:srgbClr val="1E293B"/>
                </a:solidFill>
                <a:latin typeface="Merriweather"/>
                <a:ea typeface="Merriweather"/>
                <a:cs typeface="Merriweather"/>
                <a:sym typeface="Merriweather"/>
              </a:rPr>
              <a:t>aher</a:t>
            </a:r>
            <a:endParaRPr b="1" i="0" sz="1150" u="none" cap="none" strike="noStrike">
              <a:solidFill>
                <a:schemeClr val="dk1"/>
              </a:solidFill>
              <a:latin typeface="Merriweather"/>
              <a:ea typeface="Merriweather"/>
              <a:cs typeface="Merriweather"/>
              <a:sym typeface="Merriweather"/>
            </a:endParaRPr>
          </a:p>
          <a:p>
            <a:pPr indent="-301625" lvl="0" marL="457200" marR="0" rtl="0" algn="l">
              <a:lnSpc>
                <a:spcPct val="200000"/>
              </a:lnSpc>
              <a:spcBef>
                <a:spcPts val="0"/>
              </a:spcBef>
              <a:spcAft>
                <a:spcPts val="0"/>
              </a:spcAft>
              <a:buClr>
                <a:srgbClr val="1E293B"/>
              </a:buClr>
              <a:buSzPts val="1150"/>
              <a:buFont typeface="Merriweather"/>
              <a:buChar char="●"/>
            </a:pPr>
            <a:r>
              <a:rPr b="1" i="0" lang="en-US" sz="1150" u="none" cap="none" strike="noStrike">
                <a:solidFill>
                  <a:srgbClr val="1E293B"/>
                </a:solidFill>
                <a:latin typeface="Merriweather"/>
                <a:ea typeface="Merriweather"/>
                <a:cs typeface="Merriweather"/>
                <a:sym typeface="Merriweather"/>
              </a:rPr>
              <a:t>Mariz Eha</a:t>
            </a:r>
            <a:r>
              <a:rPr b="1" lang="en-US" sz="1150">
                <a:solidFill>
                  <a:srgbClr val="1E293B"/>
                </a:solidFill>
                <a:latin typeface="Merriweather"/>
                <a:ea typeface="Merriweather"/>
                <a:cs typeface="Merriweather"/>
                <a:sym typeface="Merriweather"/>
              </a:rPr>
              <a:t>b</a:t>
            </a:r>
            <a:endParaRPr b="1" i="0" sz="1150" u="none" cap="none" strike="noStrike">
              <a:solidFill>
                <a:schemeClr val="dk1"/>
              </a:solidFill>
              <a:latin typeface="Merriweather"/>
              <a:ea typeface="Merriweather"/>
              <a:cs typeface="Merriweather"/>
              <a:sym typeface="Merriweather"/>
            </a:endParaRPr>
          </a:p>
        </p:txBody>
      </p:sp>
      <p:cxnSp>
        <p:nvCxnSpPr>
          <p:cNvPr id="67" name="Google Shape;67;p2"/>
          <p:cNvCxnSpPr/>
          <p:nvPr/>
        </p:nvCxnSpPr>
        <p:spPr>
          <a:xfrm>
            <a:off x="4773247" y="3760263"/>
            <a:ext cx="1719000" cy="0"/>
          </a:xfrm>
          <a:prstGeom prst="straightConnector1">
            <a:avLst/>
          </a:prstGeom>
          <a:noFill/>
          <a:ln cap="flat" cmpd="sng" w="12700">
            <a:solidFill>
              <a:srgbClr val="BBF7D0"/>
            </a:solidFill>
            <a:prstDash val="solid"/>
            <a:round/>
            <a:headEnd len="sm" w="sm" type="none"/>
            <a:tailEnd len="sm" w="sm" type="none"/>
          </a:ln>
        </p:spPr>
      </p:cxnSp>
      <p:sp>
        <p:nvSpPr>
          <p:cNvPr id="68" name="Google Shape;68;p2"/>
          <p:cNvSpPr/>
          <p:nvPr/>
        </p:nvSpPr>
        <p:spPr>
          <a:xfrm>
            <a:off x="4727450" y="3941773"/>
            <a:ext cx="1810500" cy="475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4748B"/>
              </a:buClr>
              <a:buSzPts val="850"/>
              <a:buFont typeface="Merriweather"/>
              <a:buNone/>
            </a:pPr>
            <a:r>
              <a:rPr b="1" i="1" lang="en-US" sz="1150">
                <a:solidFill>
                  <a:srgbClr val="64748B"/>
                </a:solidFill>
                <a:latin typeface="Merriweather"/>
                <a:ea typeface="Merriweather"/>
                <a:cs typeface="Merriweather"/>
                <a:sym typeface="Merriweather"/>
              </a:rPr>
              <a:t>(</a:t>
            </a:r>
            <a:r>
              <a:rPr b="1" i="1" lang="en-US" sz="1150" u="none" cap="none" strike="noStrike">
                <a:solidFill>
                  <a:srgbClr val="64748B"/>
                </a:solidFill>
                <a:latin typeface="Merriweather"/>
                <a:ea typeface="Merriweather"/>
                <a:cs typeface="Merriweather"/>
                <a:sym typeface="Merriweather"/>
              </a:rPr>
              <a:t>Nmap · Nuclei · Wazuh · DOM)</a:t>
            </a:r>
            <a:endParaRPr b="1" i="0" sz="1150" u="none" cap="none" strike="noStrike">
              <a:solidFill>
                <a:schemeClr val="dk1"/>
              </a:solidFill>
              <a:latin typeface="Merriweather"/>
              <a:ea typeface="Merriweather"/>
              <a:cs typeface="Merriweather"/>
              <a:sym typeface="Merriweather"/>
            </a:endParaRPr>
          </a:p>
        </p:txBody>
      </p:sp>
      <p:sp>
        <p:nvSpPr>
          <p:cNvPr id="69" name="Google Shape;69;p2"/>
          <p:cNvSpPr/>
          <p:nvPr/>
        </p:nvSpPr>
        <p:spPr>
          <a:xfrm>
            <a:off x="6775708" y="1293875"/>
            <a:ext cx="1993500" cy="3461100"/>
          </a:xfrm>
          <a:prstGeom prst="rect">
            <a:avLst/>
          </a:prstGeom>
          <a:solidFill>
            <a:srgbClr val="FFF7ED"/>
          </a:solidFill>
          <a:ln cap="flat" cmpd="sng" w="19050">
            <a:solidFill>
              <a:srgbClr val="FED7AA"/>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latin typeface="Merriweather"/>
              <a:ea typeface="Merriweather"/>
              <a:cs typeface="Merriweather"/>
              <a:sym typeface="Merriweather"/>
            </a:endParaRPr>
          </a:p>
        </p:txBody>
      </p:sp>
      <p:sp>
        <p:nvSpPr>
          <p:cNvPr id="70" name="Google Shape;70;p2"/>
          <p:cNvSpPr/>
          <p:nvPr/>
        </p:nvSpPr>
        <p:spPr>
          <a:xfrm>
            <a:off x="6775708" y="1293875"/>
            <a:ext cx="1993500" cy="3798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6775708" y="1293875"/>
            <a:ext cx="1993500" cy="37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Merriweather"/>
              <a:buNone/>
            </a:pPr>
            <a:r>
              <a:rPr b="1" i="0" lang="en-US" sz="1400" u="none" cap="none" strike="noStrike">
                <a:solidFill>
                  <a:srgbClr val="FFFFFF"/>
                </a:solidFill>
                <a:latin typeface="Merriweather"/>
                <a:ea typeface="Merriweather"/>
                <a:cs typeface="Merriweather"/>
                <a:sym typeface="Merriweather"/>
              </a:rPr>
              <a:t>ST4</a:t>
            </a:r>
            <a:endParaRPr b="0" i="0" sz="1400" u="none" cap="none" strike="noStrike">
              <a:solidFill>
                <a:schemeClr val="dk1"/>
              </a:solidFill>
              <a:latin typeface="Calibri"/>
              <a:ea typeface="Calibri"/>
              <a:cs typeface="Calibri"/>
              <a:sym typeface="Calibri"/>
            </a:endParaRPr>
          </a:p>
        </p:txBody>
      </p:sp>
      <p:sp>
        <p:nvSpPr>
          <p:cNvPr id="72" name="Google Shape;72;p2"/>
          <p:cNvSpPr/>
          <p:nvPr/>
        </p:nvSpPr>
        <p:spPr>
          <a:xfrm>
            <a:off x="6867148" y="1715949"/>
            <a:ext cx="1810500" cy="46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900"/>
              <a:buFont typeface="Merriweather"/>
              <a:buNone/>
            </a:pPr>
            <a:r>
              <a:rPr b="1" i="0" lang="en-US" sz="1100" u="none" cap="none" strike="noStrike">
                <a:solidFill>
                  <a:srgbClr val="0F172A"/>
                </a:solidFill>
                <a:latin typeface="Merriweather"/>
                <a:ea typeface="Merriweather"/>
                <a:cs typeface="Merriweather"/>
                <a:sym typeface="Merriweather"/>
              </a:rPr>
              <a:t>Sub-Team 4 — DevOps &amp; QA</a:t>
            </a:r>
            <a:endParaRPr b="1" i="0" sz="1100" u="none" cap="none" strike="noStrike">
              <a:solidFill>
                <a:schemeClr val="dk1"/>
              </a:solidFill>
              <a:latin typeface="Merriweather"/>
              <a:ea typeface="Merriweather"/>
              <a:cs typeface="Merriweather"/>
              <a:sym typeface="Merriweather"/>
            </a:endParaRPr>
          </a:p>
        </p:txBody>
      </p:sp>
      <p:cxnSp>
        <p:nvCxnSpPr>
          <p:cNvPr id="73" name="Google Shape;73;p2"/>
          <p:cNvCxnSpPr/>
          <p:nvPr/>
        </p:nvCxnSpPr>
        <p:spPr>
          <a:xfrm>
            <a:off x="6912868" y="2222436"/>
            <a:ext cx="1719000" cy="0"/>
          </a:xfrm>
          <a:prstGeom prst="straightConnector1">
            <a:avLst/>
          </a:prstGeom>
          <a:noFill/>
          <a:ln cap="flat" cmpd="sng" w="12700">
            <a:solidFill>
              <a:srgbClr val="FED7AA"/>
            </a:solidFill>
            <a:prstDash val="solid"/>
            <a:round/>
            <a:headEnd len="sm" w="sm" type="none"/>
            <a:tailEnd len="sm" w="sm" type="none"/>
          </a:ln>
        </p:spPr>
      </p:cxnSp>
      <p:sp>
        <p:nvSpPr>
          <p:cNvPr id="74" name="Google Shape;74;p2"/>
          <p:cNvSpPr/>
          <p:nvPr/>
        </p:nvSpPr>
        <p:spPr>
          <a:xfrm>
            <a:off x="6867148" y="2264644"/>
            <a:ext cx="1810500" cy="1181700"/>
          </a:xfrm>
          <a:prstGeom prst="rect">
            <a:avLst/>
          </a:prstGeom>
          <a:noFill/>
          <a:ln>
            <a:noFill/>
          </a:ln>
        </p:spPr>
        <p:txBody>
          <a:bodyPr anchorCtr="0" anchor="t" bIns="0" lIns="0" spcFirstLastPara="1" rIns="0" wrap="square" tIns="0">
            <a:noAutofit/>
          </a:bodyPr>
          <a:lstStyle/>
          <a:p>
            <a:pPr indent="-301625" lvl="0" marL="457200" marR="0" rtl="0" algn="l">
              <a:lnSpc>
                <a:spcPct val="200000"/>
              </a:lnSpc>
              <a:spcBef>
                <a:spcPts val="0"/>
              </a:spcBef>
              <a:spcAft>
                <a:spcPts val="0"/>
              </a:spcAft>
              <a:buClr>
                <a:srgbClr val="1E293B"/>
              </a:buClr>
              <a:buSzPts val="1150"/>
              <a:buFont typeface="Merriweather"/>
              <a:buChar char="●"/>
            </a:pPr>
            <a:r>
              <a:rPr b="1" i="0" lang="en-US" sz="1150" u="none" cap="none" strike="noStrike">
                <a:solidFill>
                  <a:srgbClr val="1E293B"/>
                </a:solidFill>
                <a:latin typeface="Merriweather"/>
                <a:ea typeface="Merriweather"/>
                <a:cs typeface="Merriweather"/>
                <a:sym typeface="Merriweather"/>
              </a:rPr>
              <a:t>Omar Kapil </a:t>
            </a:r>
            <a:endParaRPr b="1" sz="1150">
              <a:solidFill>
                <a:srgbClr val="1E293B"/>
              </a:solidFill>
              <a:latin typeface="Merriweather"/>
              <a:ea typeface="Merriweather"/>
              <a:cs typeface="Merriweather"/>
              <a:sym typeface="Merriweather"/>
            </a:endParaRPr>
          </a:p>
          <a:p>
            <a:pPr indent="-301625" lvl="0" marL="457200" marR="0" rtl="0" algn="l">
              <a:lnSpc>
                <a:spcPct val="200000"/>
              </a:lnSpc>
              <a:spcBef>
                <a:spcPts val="0"/>
              </a:spcBef>
              <a:spcAft>
                <a:spcPts val="0"/>
              </a:spcAft>
              <a:buClr>
                <a:srgbClr val="1E293B"/>
              </a:buClr>
              <a:buSzPts val="1150"/>
              <a:buFont typeface="Merriweather"/>
              <a:buChar char="●"/>
            </a:pPr>
            <a:r>
              <a:rPr b="1" i="0" lang="en-US" sz="1150" u="none" cap="none" strike="noStrike">
                <a:solidFill>
                  <a:srgbClr val="1E293B"/>
                </a:solidFill>
                <a:latin typeface="Merriweather"/>
                <a:ea typeface="Merriweather"/>
                <a:cs typeface="Merriweather"/>
                <a:sym typeface="Merriweather"/>
              </a:rPr>
              <a:t>Yos</a:t>
            </a:r>
            <a:r>
              <a:rPr b="1" lang="en-US" sz="1150">
                <a:solidFill>
                  <a:srgbClr val="1E293B"/>
                </a:solidFill>
                <a:latin typeface="Merriweather"/>
                <a:ea typeface="Merriweather"/>
                <a:cs typeface="Merriweather"/>
                <a:sym typeface="Merriweather"/>
              </a:rPr>
              <a:t>s</a:t>
            </a:r>
            <a:r>
              <a:rPr b="1" i="0" lang="en-US" sz="1150" u="none" cap="none" strike="noStrike">
                <a:solidFill>
                  <a:srgbClr val="1E293B"/>
                </a:solidFill>
                <a:latin typeface="Merriweather"/>
                <a:ea typeface="Merriweather"/>
                <a:cs typeface="Merriweather"/>
                <a:sym typeface="Merriweather"/>
              </a:rPr>
              <a:t>ef Ali</a:t>
            </a:r>
            <a:endParaRPr b="1" i="0" sz="1150" u="none" cap="none" strike="noStrike">
              <a:solidFill>
                <a:schemeClr val="dk1"/>
              </a:solidFill>
              <a:latin typeface="Merriweather"/>
              <a:ea typeface="Merriweather"/>
              <a:cs typeface="Merriweather"/>
              <a:sym typeface="Merriweather"/>
            </a:endParaRPr>
          </a:p>
          <a:p>
            <a:pPr indent="-301625" lvl="0" marL="457200" marR="0" rtl="0" algn="l">
              <a:lnSpc>
                <a:spcPct val="200000"/>
              </a:lnSpc>
              <a:spcBef>
                <a:spcPts val="0"/>
              </a:spcBef>
              <a:spcAft>
                <a:spcPts val="0"/>
              </a:spcAft>
              <a:buClr>
                <a:srgbClr val="1E293B"/>
              </a:buClr>
              <a:buSzPts val="1150"/>
              <a:buFont typeface="Merriweather"/>
              <a:buChar char="●"/>
            </a:pPr>
            <a:r>
              <a:rPr b="1" i="0" lang="en-US" sz="1150" u="none" cap="none" strike="noStrike">
                <a:solidFill>
                  <a:srgbClr val="1E293B"/>
                </a:solidFill>
                <a:latin typeface="Merriweather"/>
                <a:ea typeface="Merriweather"/>
                <a:cs typeface="Merriweather"/>
                <a:sym typeface="Merriweather"/>
              </a:rPr>
              <a:t>Maz</a:t>
            </a:r>
            <a:r>
              <a:rPr b="1" lang="en-US" sz="1150">
                <a:solidFill>
                  <a:srgbClr val="1E293B"/>
                </a:solidFill>
                <a:latin typeface="Merriweather"/>
                <a:ea typeface="Merriweather"/>
                <a:cs typeface="Merriweather"/>
                <a:sym typeface="Merriweather"/>
              </a:rPr>
              <a:t>e</a:t>
            </a:r>
            <a:r>
              <a:rPr b="1" i="0" lang="en-US" sz="1150" u="none" cap="none" strike="noStrike">
                <a:solidFill>
                  <a:srgbClr val="1E293B"/>
                </a:solidFill>
                <a:latin typeface="Merriweather"/>
                <a:ea typeface="Merriweather"/>
                <a:cs typeface="Merriweather"/>
                <a:sym typeface="Merriweather"/>
              </a:rPr>
              <a:t>n Alla </a:t>
            </a:r>
            <a:endParaRPr b="1" sz="1150">
              <a:solidFill>
                <a:srgbClr val="1E293B"/>
              </a:solidFill>
              <a:latin typeface="Merriweather"/>
              <a:ea typeface="Merriweather"/>
              <a:cs typeface="Merriweather"/>
              <a:sym typeface="Merriweather"/>
            </a:endParaRPr>
          </a:p>
          <a:p>
            <a:pPr indent="-301625" lvl="0" marL="457200" marR="0" rtl="0" algn="l">
              <a:lnSpc>
                <a:spcPct val="200000"/>
              </a:lnSpc>
              <a:spcBef>
                <a:spcPts val="0"/>
              </a:spcBef>
              <a:spcAft>
                <a:spcPts val="0"/>
              </a:spcAft>
              <a:buClr>
                <a:srgbClr val="1E293B"/>
              </a:buClr>
              <a:buSzPts val="1150"/>
              <a:buFont typeface="Merriweather"/>
              <a:buChar char="●"/>
            </a:pPr>
            <a:r>
              <a:rPr b="1" i="0" lang="en-US" sz="1150" u="none" cap="none" strike="noStrike">
                <a:solidFill>
                  <a:srgbClr val="1E293B"/>
                </a:solidFill>
                <a:latin typeface="Merriweather"/>
                <a:ea typeface="Merriweather"/>
                <a:cs typeface="Merriweather"/>
                <a:sym typeface="Merriweather"/>
              </a:rPr>
              <a:t>Omar Tarek</a:t>
            </a:r>
            <a:endParaRPr b="1" i="0" sz="1150" u="none" cap="none" strike="noStrike">
              <a:solidFill>
                <a:schemeClr val="dk1"/>
              </a:solidFill>
              <a:latin typeface="Merriweather"/>
              <a:ea typeface="Merriweather"/>
              <a:cs typeface="Merriweather"/>
              <a:sym typeface="Merriweather"/>
            </a:endParaRPr>
          </a:p>
        </p:txBody>
      </p:sp>
      <p:cxnSp>
        <p:nvCxnSpPr>
          <p:cNvPr id="75" name="Google Shape;75;p2"/>
          <p:cNvCxnSpPr/>
          <p:nvPr/>
        </p:nvCxnSpPr>
        <p:spPr>
          <a:xfrm>
            <a:off x="6912943" y="3711963"/>
            <a:ext cx="1719000" cy="0"/>
          </a:xfrm>
          <a:prstGeom prst="straightConnector1">
            <a:avLst/>
          </a:prstGeom>
          <a:noFill/>
          <a:ln cap="flat" cmpd="sng" w="12700">
            <a:solidFill>
              <a:srgbClr val="FED7AA"/>
            </a:solidFill>
            <a:prstDash val="solid"/>
            <a:round/>
            <a:headEnd len="sm" w="sm" type="none"/>
            <a:tailEnd len="sm" w="sm" type="none"/>
          </a:ln>
        </p:spPr>
      </p:cxnSp>
      <p:sp>
        <p:nvSpPr>
          <p:cNvPr id="76" name="Google Shape;76;p2"/>
          <p:cNvSpPr/>
          <p:nvPr/>
        </p:nvSpPr>
        <p:spPr>
          <a:xfrm>
            <a:off x="6775625" y="3941775"/>
            <a:ext cx="1993500" cy="475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4748B"/>
              </a:buClr>
              <a:buSzPts val="850"/>
              <a:buFont typeface="Merriweather"/>
              <a:buNone/>
            </a:pPr>
            <a:r>
              <a:rPr b="1" i="1" lang="en-US" sz="1150">
                <a:solidFill>
                  <a:srgbClr val="64748B"/>
                </a:solidFill>
                <a:latin typeface="Merriweather"/>
                <a:ea typeface="Merriweather"/>
                <a:cs typeface="Merriweather"/>
                <a:sym typeface="Merriweather"/>
              </a:rPr>
              <a:t>(</a:t>
            </a:r>
            <a:r>
              <a:rPr b="1" i="1" lang="en-US" sz="1150" u="none" cap="none" strike="noStrike">
                <a:solidFill>
                  <a:srgbClr val="64748B"/>
                </a:solidFill>
                <a:latin typeface="Merriweather"/>
                <a:ea typeface="Merriweather"/>
                <a:cs typeface="Merriweather"/>
                <a:sym typeface="Merriweather"/>
              </a:rPr>
              <a:t>Docker · CI/CD · Playwright)</a:t>
            </a:r>
            <a:endParaRPr b="1" i="0" sz="1150" u="none" cap="none" strike="noStrike">
              <a:solidFill>
                <a:schemeClr val="dk1"/>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A5C4"/>
        </a:solidFill>
      </p:bgPr>
    </p:bg>
    <p:spTree>
      <p:nvGrpSpPr>
        <p:cNvPr id="81" name="Shape 81"/>
        <p:cNvGrpSpPr/>
        <p:nvPr/>
      </p:nvGrpSpPr>
      <p:grpSpPr>
        <a:xfrm>
          <a:off x="0" y="0"/>
          <a:ext cx="0" cy="0"/>
          <a:chOff x="0" y="0"/>
          <a:chExt cx="0" cy="0"/>
        </a:xfrm>
      </p:grpSpPr>
      <p:sp>
        <p:nvSpPr>
          <p:cNvPr id="82" name="Google Shape;82;g3d2d178f3e5_0_5"/>
          <p:cNvSpPr txBox="1"/>
          <p:nvPr/>
        </p:nvSpPr>
        <p:spPr>
          <a:xfrm>
            <a:off x="0" y="2233200"/>
            <a:ext cx="91440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500">
                <a:solidFill>
                  <a:schemeClr val="lt1"/>
                </a:solidFill>
                <a:latin typeface="Merriweather"/>
                <a:ea typeface="Merriweather"/>
                <a:cs typeface="Merriweather"/>
                <a:sym typeface="Merriweather"/>
              </a:rPr>
              <a:t>The Problem</a:t>
            </a:r>
            <a:endParaRPr sz="3500">
              <a:solidFill>
                <a:schemeClr val="lt1"/>
              </a:solidFill>
              <a:latin typeface="Merriweather"/>
              <a:ea typeface="Merriweather"/>
              <a:cs typeface="Merriweather"/>
              <a:sym typeface="Merriweath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3"/>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The SME Security Dilemma</a:t>
            </a:r>
            <a:endParaRPr b="0" i="0" sz="2200" u="none" cap="none" strike="noStrike">
              <a:solidFill>
                <a:schemeClr val="dk1"/>
              </a:solidFill>
              <a:latin typeface="Calibri"/>
              <a:ea typeface="Calibri"/>
              <a:cs typeface="Calibri"/>
              <a:sym typeface="Calibri"/>
            </a:endParaRPr>
          </a:p>
        </p:txBody>
      </p:sp>
      <p:sp>
        <p:nvSpPr>
          <p:cNvPr id="91" name="Google Shape;91;p3"/>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3/40</a:t>
            </a:r>
            <a:endParaRPr b="0" i="0" sz="800" u="none" cap="none" strike="noStrike">
              <a:solidFill>
                <a:schemeClr val="dk1"/>
              </a:solidFill>
              <a:latin typeface="Calibri"/>
              <a:ea typeface="Calibri"/>
              <a:cs typeface="Calibri"/>
              <a:sym typeface="Calibri"/>
            </a:endParaRPr>
          </a:p>
        </p:txBody>
      </p:sp>
      <p:cxnSp>
        <p:nvCxnSpPr>
          <p:cNvPr id="93" name="Google Shape;93;p3"/>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94" name="Google Shape;94;p3"/>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95" name="Google Shape;95;p3"/>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3419835" y="740596"/>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700"/>
          </a:p>
        </p:txBody>
      </p:sp>
      <p:sp>
        <p:nvSpPr>
          <p:cNvPr id="97" name="Google Shape;97;p3"/>
          <p:cNvSpPr/>
          <p:nvPr/>
        </p:nvSpPr>
        <p:spPr>
          <a:xfrm>
            <a:off x="3419835" y="740596"/>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Problem Statement</a:t>
            </a:r>
            <a:endParaRPr b="1" i="0" sz="1000" u="none" cap="none" strike="noStrike">
              <a:solidFill>
                <a:schemeClr val="dk1"/>
              </a:solidFill>
              <a:latin typeface="Calibri"/>
              <a:ea typeface="Calibri"/>
              <a:cs typeface="Calibri"/>
              <a:sym typeface="Calibri"/>
            </a:endParaRPr>
          </a:p>
        </p:txBody>
      </p:sp>
      <p:sp>
        <p:nvSpPr>
          <p:cNvPr id="98" name="Google Shape;98;p3"/>
          <p:cNvSpPr/>
          <p:nvPr/>
        </p:nvSpPr>
        <p:spPr>
          <a:xfrm>
            <a:off x="347472" y="1005840"/>
            <a:ext cx="2377440" cy="1371600"/>
          </a:xfrm>
          <a:prstGeom prst="rect">
            <a:avLst/>
          </a:prstGeom>
          <a:solidFill>
            <a:srgbClr val="E8F9FD"/>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500">
              <a:latin typeface="Merriweather"/>
              <a:ea typeface="Merriweather"/>
              <a:cs typeface="Merriweather"/>
              <a:sym typeface="Merriweather"/>
            </a:endParaRPr>
          </a:p>
        </p:txBody>
      </p:sp>
      <p:sp>
        <p:nvSpPr>
          <p:cNvPr id="99" name="Google Shape;99;p3"/>
          <p:cNvSpPr/>
          <p:nvPr/>
        </p:nvSpPr>
        <p:spPr>
          <a:xfrm>
            <a:off x="347472" y="1078992"/>
            <a:ext cx="23774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4000"/>
              <a:buFont typeface="Merriweather"/>
              <a:buNone/>
            </a:pPr>
            <a:r>
              <a:rPr b="1" i="0" lang="en-US" sz="4000" u="none" cap="none" strike="noStrike">
                <a:solidFill>
                  <a:srgbClr val="DC2626"/>
                </a:solidFill>
                <a:latin typeface="Merriweather"/>
                <a:ea typeface="Merriweather"/>
                <a:cs typeface="Merriweather"/>
                <a:sym typeface="Merriweather"/>
              </a:rPr>
              <a:t>43%</a:t>
            </a:r>
            <a:endParaRPr b="0" i="0" sz="4000" u="none" cap="none" strike="noStrike">
              <a:solidFill>
                <a:schemeClr val="dk1"/>
              </a:solidFill>
              <a:latin typeface="Calibri"/>
              <a:ea typeface="Calibri"/>
              <a:cs typeface="Calibri"/>
              <a:sym typeface="Calibri"/>
            </a:endParaRPr>
          </a:p>
        </p:txBody>
      </p:sp>
      <p:sp>
        <p:nvSpPr>
          <p:cNvPr id="100" name="Google Shape;100;p3"/>
          <p:cNvSpPr/>
          <p:nvPr/>
        </p:nvSpPr>
        <p:spPr>
          <a:xfrm>
            <a:off x="347472" y="1828800"/>
            <a:ext cx="2377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Merriweather"/>
              <a:buNone/>
            </a:pPr>
            <a:r>
              <a:rPr b="1" i="0" lang="en-US" sz="1100" u="none" cap="none" strike="noStrike">
                <a:solidFill>
                  <a:srgbClr val="64748B"/>
                </a:solidFill>
                <a:latin typeface="Merriweather"/>
                <a:ea typeface="Merriweather"/>
                <a:cs typeface="Merriweather"/>
                <a:sym typeface="Merriweather"/>
              </a:rPr>
              <a:t>of all cyberattacks</a:t>
            </a:r>
            <a:endParaRPr b="1" i="0" sz="1100" u="none" cap="none" strike="noStrike">
              <a:solidFill>
                <a:schemeClr val="dk1"/>
              </a:solidFill>
              <a:latin typeface="Merriweather"/>
              <a:ea typeface="Merriweather"/>
              <a:cs typeface="Merriweather"/>
              <a:sym typeface="Merriweather"/>
            </a:endParaRPr>
          </a:p>
          <a:p>
            <a:pPr indent="0" lvl="0" marL="0" marR="0" rtl="0" algn="ctr">
              <a:spcBef>
                <a:spcPts val="0"/>
              </a:spcBef>
              <a:spcAft>
                <a:spcPts val="0"/>
              </a:spcAft>
              <a:buClr>
                <a:srgbClr val="64748B"/>
              </a:buClr>
              <a:buSzPts val="1000"/>
              <a:buFont typeface="Merriweather"/>
              <a:buNone/>
            </a:pPr>
            <a:r>
              <a:rPr b="1" i="0" lang="en-US" sz="1100" u="none" cap="none" strike="noStrike">
                <a:solidFill>
                  <a:srgbClr val="64748B"/>
                </a:solidFill>
                <a:latin typeface="Merriweather"/>
                <a:ea typeface="Merriweather"/>
                <a:cs typeface="Merriweather"/>
                <a:sym typeface="Merriweather"/>
              </a:rPr>
              <a:t>target SMEs</a:t>
            </a:r>
            <a:endParaRPr b="1" i="0" sz="1100" u="none" cap="none" strike="noStrike">
              <a:solidFill>
                <a:schemeClr val="dk1"/>
              </a:solidFill>
              <a:latin typeface="Merriweather"/>
              <a:ea typeface="Merriweather"/>
              <a:cs typeface="Merriweather"/>
              <a:sym typeface="Merriweather"/>
            </a:endParaRPr>
          </a:p>
        </p:txBody>
      </p:sp>
      <p:sp>
        <p:nvSpPr>
          <p:cNvPr id="101" name="Google Shape;101;p3"/>
          <p:cNvSpPr/>
          <p:nvPr/>
        </p:nvSpPr>
        <p:spPr>
          <a:xfrm>
            <a:off x="3419856" y="1005840"/>
            <a:ext cx="2377440" cy="1371600"/>
          </a:xfrm>
          <a:prstGeom prst="rect">
            <a:avLst/>
          </a:prstGeom>
          <a:solidFill>
            <a:srgbClr val="E8F9FD"/>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500">
              <a:latin typeface="Merriweather"/>
              <a:ea typeface="Merriweather"/>
              <a:cs typeface="Merriweather"/>
              <a:sym typeface="Merriweather"/>
            </a:endParaRPr>
          </a:p>
        </p:txBody>
      </p:sp>
      <p:sp>
        <p:nvSpPr>
          <p:cNvPr id="102" name="Google Shape;102;p3"/>
          <p:cNvSpPr/>
          <p:nvPr/>
        </p:nvSpPr>
        <p:spPr>
          <a:xfrm>
            <a:off x="3419856" y="1078992"/>
            <a:ext cx="23774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4000"/>
              <a:buFont typeface="Merriweather"/>
              <a:buNone/>
            </a:pPr>
            <a:r>
              <a:rPr b="1" i="0" lang="en-US" sz="4000" u="none" cap="none" strike="noStrike">
                <a:solidFill>
                  <a:srgbClr val="D97706"/>
                </a:solidFill>
                <a:latin typeface="Merriweather"/>
                <a:ea typeface="Merriweather"/>
                <a:cs typeface="Merriweather"/>
                <a:sym typeface="Merriweather"/>
              </a:rPr>
              <a:t>60%</a:t>
            </a:r>
            <a:endParaRPr b="0" i="0" sz="4000" u="none" cap="none" strike="noStrike">
              <a:solidFill>
                <a:schemeClr val="dk1"/>
              </a:solidFill>
              <a:latin typeface="Calibri"/>
              <a:ea typeface="Calibri"/>
              <a:cs typeface="Calibri"/>
              <a:sym typeface="Calibri"/>
            </a:endParaRPr>
          </a:p>
        </p:txBody>
      </p:sp>
      <p:sp>
        <p:nvSpPr>
          <p:cNvPr id="103" name="Google Shape;103;p3"/>
          <p:cNvSpPr/>
          <p:nvPr/>
        </p:nvSpPr>
        <p:spPr>
          <a:xfrm>
            <a:off x="3419856" y="1828800"/>
            <a:ext cx="2377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Merriweather"/>
              <a:buNone/>
            </a:pPr>
            <a:r>
              <a:rPr b="1" i="0" lang="en-US" sz="1100" u="none" cap="none" strike="noStrike">
                <a:solidFill>
                  <a:srgbClr val="64748B"/>
                </a:solidFill>
                <a:latin typeface="Merriweather"/>
                <a:ea typeface="Merriweather"/>
                <a:cs typeface="Merriweather"/>
                <a:sym typeface="Merriweather"/>
              </a:rPr>
              <a:t>of attacked SMEs close</a:t>
            </a:r>
            <a:endParaRPr b="1" i="0" sz="1100" u="none" cap="none" strike="noStrike">
              <a:solidFill>
                <a:schemeClr val="dk1"/>
              </a:solidFill>
              <a:latin typeface="Merriweather"/>
              <a:ea typeface="Merriweather"/>
              <a:cs typeface="Merriweather"/>
              <a:sym typeface="Merriweather"/>
            </a:endParaRPr>
          </a:p>
          <a:p>
            <a:pPr indent="0" lvl="0" marL="0" marR="0" rtl="0" algn="ctr">
              <a:spcBef>
                <a:spcPts val="0"/>
              </a:spcBef>
              <a:spcAft>
                <a:spcPts val="0"/>
              </a:spcAft>
              <a:buClr>
                <a:srgbClr val="64748B"/>
              </a:buClr>
              <a:buSzPts val="1000"/>
              <a:buFont typeface="Merriweather"/>
              <a:buNone/>
            </a:pPr>
            <a:r>
              <a:rPr b="1" i="0" lang="en-US" sz="1100" u="none" cap="none" strike="noStrike">
                <a:solidFill>
                  <a:srgbClr val="64748B"/>
                </a:solidFill>
                <a:latin typeface="Merriweather"/>
                <a:ea typeface="Merriweather"/>
                <a:cs typeface="Merriweather"/>
                <a:sym typeface="Merriweather"/>
              </a:rPr>
              <a:t>within 6 months</a:t>
            </a:r>
            <a:endParaRPr b="1" i="0" sz="1100" u="none" cap="none" strike="noStrike">
              <a:solidFill>
                <a:schemeClr val="dk1"/>
              </a:solidFill>
              <a:latin typeface="Merriweather"/>
              <a:ea typeface="Merriweather"/>
              <a:cs typeface="Merriweather"/>
              <a:sym typeface="Merriweather"/>
            </a:endParaRPr>
          </a:p>
        </p:txBody>
      </p:sp>
      <p:sp>
        <p:nvSpPr>
          <p:cNvPr id="104" name="Google Shape;104;p3"/>
          <p:cNvSpPr/>
          <p:nvPr/>
        </p:nvSpPr>
        <p:spPr>
          <a:xfrm>
            <a:off x="6510528" y="1005840"/>
            <a:ext cx="2377440" cy="1371600"/>
          </a:xfrm>
          <a:prstGeom prst="rect">
            <a:avLst/>
          </a:prstGeom>
          <a:solidFill>
            <a:srgbClr val="E8F9FD"/>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500">
              <a:latin typeface="Merriweather"/>
              <a:ea typeface="Merriweather"/>
              <a:cs typeface="Merriweather"/>
              <a:sym typeface="Merriweather"/>
            </a:endParaRPr>
          </a:p>
        </p:txBody>
      </p:sp>
      <p:sp>
        <p:nvSpPr>
          <p:cNvPr id="105" name="Google Shape;105;p3"/>
          <p:cNvSpPr/>
          <p:nvPr/>
        </p:nvSpPr>
        <p:spPr>
          <a:xfrm>
            <a:off x="6510528" y="1078992"/>
            <a:ext cx="23774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4000"/>
              <a:buFont typeface="Merriweather"/>
              <a:buNone/>
            </a:pPr>
            <a:r>
              <a:rPr b="1" i="0" lang="en-US" sz="4000" u="none" cap="none" strike="noStrike">
                <a:solidFill>
                  <a:srgbClr val="64748B"/>
                </a:solidFill>
                <a:latin typeface="Merriweather"/>
                <a:ea typeface="Merriweather"/>
                <a:cs typeface="Merriweather"/>
                <a:sym typeface="Merriweather"/>
              </a:rPr>
              <a:t>$500</a:t>
            </a:r>
            <a:endParaRPr b="0" i="0" sz="4000" u="none" cap="none" strike="noStrike">
              <a:solidFill>
                <a:schemeClr val="dk1"/>
              </a:solidFill>
              <a:latin typeface="Calibri"/>
              <a:ea typeface="Calibri"/>
              <a:cs typeface="Calibri"/>
              <a:sym typeface="Calibri"/>
            </a:endParaRPr>
          </a:p>
        </p:txBody>
      </p:sp>
      <p:sp>
        <p:nvSpPr>
          <p:cNvPr id="106" name="Google Shape;106;p3"/>
          <p:cNvSpPr/>
          <p:nvPr/>
        </p:nvSpPr>
        <p:spPr>
          <a:xfrm>
            <a:off x="6510528" y="1828800"/>
            <a:ext cx="237744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Merriweather"/>
              <a:buNone/>
            </a:pPr>
            <a:r>
              <a:rPr b="1" i="0" lang="en-US" sz="1100" u="none" cap="none" strike="noStrike">
                <a:solidFill>
                  <a:srgbClr val="64748B"/>
                </a:solidFill>
                <a:latin typeface="Merriweather"/>
                <a:ea typeface="Merriweather"/>
                <a:cs typeface="Merriweather"/>
                <a:sym typeface="Merriweather"/>
              </a:rPr>
              <a:t>average annual SME</a:t>
            </a:r>
            <a:endParaRPr b="1" i="0" sz="1100" u="none" cap="none" strike="noStrike">
              <a:solidFill>
                <a:schemeClr val="dk1"/>
              </a:solidFill>
              <a:latin typeface="Merriweather"/>
              <a:ea typeface="Merriweather"/>
              <a:cs typeface="Merriweather"/>
              <a:sym typeface="Merriweather"/>
            </a:endParaRPr>
          </a:p>
          <a:p>
            <a:pPr indent="0" lvl="0" marL="0" marR="0" rtl="0" algn="ctr">
              <a:spcBef>
                <a:spcPts val="0"/>
              </a:spcBef>
              <a:spcAft>
                <a:spcPts val="0"/>
              </a:spcAft>
              <a:buClr>
                <a:srgbClr val="64748B"/>
              </a:buClr>
              <a:buSzPts val="1000"/>
              <a:buFont typeface="Merriweather"/>
              <a:buNone/>
            </a:pPr>
            <a:r>
              <a:rPr b="1" i="0" lang="en-US" sz="1100" u="none" cap="none" strike="noStrike">
                <a:solidFill>
                  <a:srgbClr val="64748B"/>
                </a:solidFill>
                <a:latin typeface="Merriweather"/>
                <a:ea typeface="Merriweather"/>
                <a:cs typeface="Merriweather"/>
                <a:sym typeface="Merriweather"/>
              </a:rPr>
              <a:t>security budget</a:t>
            </a:r>
            <a:endParaRPr b="1" i="0" sz="1100" u="none" cap="none" strike="noStrike">
              <a:solidFill>
                <a:schemeClr val="dk1"/>
              </a:solidFill>
              <a:latin typeface="Merriweather"/>
              <a:ea typeface="Merriweather"/>
              <a:cs typeface="Merriweather"/>
              <a:sym typeface="Merriweather"/>
            </a:endParaRPr>
          </a:p>
        </p:txBody>
      </p:sp>
      <p:sp>
        <p:nvSpPr>
          <p:cNvPr id="107" name="Google Shape;107;p3"/>
          <p:cNvSpPr/>
          <p:nvPr/>
        </p:nvSpPr>
        <p:spPr>
          <a:xfrm>
            <a:off x="347472" y="2514600"/>
            <a:ext cx="8449056" cy="20574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548640" y="2679192"/>
            <a:ext cx="8046720" cy="1764792"/>
          </a:xfrm>
          <a:prstGeom prst="rect">
            <a:avLst/>
          </a:prstGeom>
          <a:noFill/>
          <a:ln>
            <a:noFill/>
          </a:ln>
        </p:spPr>
        <p:txBody>
          <a:bodyPr anchorCtr="0" anchor="t" bIns="45700" lIns="91425" spcFirstLastPara="1" rIns="91425" wrap="square" tIns="45700">
            <a:noAutofit/>
          </a:bodyPr>
          <a:lstStyle/>
          <a:p>
            <a:pPr indent="-349250" lvl="0" marL="342900" marR="0" rtl="0" algn="l">
              <a:lnSpc>
                <a:spcPct val="115000"/>
              </a:lnSpc>
              <a:spcBef>
                <a:spcPts val="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High Target Density — SMEs now account for the majority of reported cybersecurity incidents globally.</a:t>
            </a:r>
            <a:endParaRPr b="1" i="0" sz="1250" u="none" cap="none" strike="noStrike">
              <a:solidFill>
                <a:schemeClr val="dk1"/>
              </a:solidFill>
              <a:latin typeface="Merriweather"/>
              <a:ea typeface="Merriweather"/>
              <a:cs typeface="Merriweather"/>
              <a:sym typeface="Merriweather"/>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Resource Scarcity — No dedicated security analysts, no SIEM, no penetration testing budget</a:t>
            </a:r>
            <a:endParaRPr b="1" i="0" sz="1250" u="none" cap="none" strike="noStrike">
              <a:solidFill>
                <a:schemeClr val="dk1"/>
              </a:solidFill>
              <a:latin typeface="Merriweather"/>
              <a:ea typeface="Merriweather"/>
              <a:cs typeface="Merriweather"/>
              <a:sym typeface="Merriweather"/>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Enterprise Tool Complexity — Existing solutions require specialist knowledge SMEs simply don't have.</a:t>
            </a:r>
            <a:endParaRPr b="1" i="0" sz="1250" u="none" cap="none" strike="noStrike">
              <a:solidFill>
                <a:schemeClr val="dk1"/>
              </a:solidFill>
              <a:latin typeface="Merriweather"/>
              <a:ea typeface="Merriweather"/>
              <a:cs typeface="Merriweather"/>
              <a:sym typeface="Merriweather"/>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Consequence — A single undetected breach can be existential for a small business.</a:t>
            </a:r>
            <a:endParaRPr b="1" i="0" sz="1250" u="none" cap="none" strike="noStrike">
              <a:solidFill>
                <a:schemeClr val="dk1"/>
              </a:solidFill>
              <a:latin typeface="Merriweather"/>
              <a:ea typeface="Merriweather"/>
              <a:cs typeface="Merriweather"/>
              <a:sym typeface="Merriweath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4"/>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Traditional Security Solutions — The Problem</a:t>
            </a:r>
            <a:endParaRPr b="0" i="0" sz="2200" u="none" cap="none" strike="noStrike">
              <a:solidFill>
                <a:schemeClr val="dk1"/>
              </a:solidFill>
              <a:latin typeface="Calibri"/>
              <a:ea typeface="Calibri"/>
              <a:cs typeface="Calibri"/>
              <a:sym typeface="Calibri"/>
            </a:endParaRPr>
          </a:p>
        </p:txBody>
      </p:sp>
      <p:sp>
        <p:nvSpPr>
          <p:cNvPr id="117" name="Google Shape;117;p4"/>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4/40</a:t>
            </a:r>
            <a:endParaRPr b="0" i="0" sz="800" u="none" cap="none" strike="noStrike">
              <a:solidFill>
                <a:schemeClr val="dk1"/>
              </a:solidFill>
              <a:latin typeface="Calibri"/>
              <a:ea typeface="Calibri"/>
              <a:cs typeface="Calibri"/>
              <a:sym typeface="Calibri"/>
            </a:endParaRPr>
          </a:p>
        </p:txBody>
      </p:sp>
      <p:cxnSp>
        <p:nvCxnSpPr>
          <p:cNvPr id="119" name="Google Shape;119;p4"/>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120" name="Google Shape;120;p4"/>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121" name="Google Shape;121;p4"/>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1339710" y="736021"/>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1339710" y="736021"/>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Problem Statement</a:t>
            </a:r>
            <a:endParaRPr b="0" i="0" sz="1000" u="none" cap="none" strike="noStrike">
              <a:solidFill>
                <a:schemeClr val="dk1"/>
              </a:solidFill>
              <a:latin typeface="Calibri"/>
              <a:ea typeface="Calibri"/>
              <a:cs typeface="Calibri"/>
              <a:sym typeface="Calibri"/>
            </a:endParaRPr>
          </a:p>
        </p:txBody>
      </p:sp>
      <p:sp>
        <p:nvSpPr>
          <p:cNvPr id="124" name="Google Shape;124;p4"/>
          <p:cNvSpPr/>
          <p:nvPr/>
        </p:nvSpPr>
        <p:spPr>
          <a:xfrm>
            <a:off x="411475" y="996550"/>
            <a:ext cx="4233900" cy="37401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580800" y="1143000"/>
            <a:ext cx="3991200" cy="3639300"/>
          </a:xfrm>
          <a:prstGeom prst="rect">
            <a:avLst/>
          </a:prstGeom>
          <a:noFill/>
          <a:ln>
            <a:noFill/>
          </a:ln>
        </p:spPr>
        <p:txBody>
          <a:bodyPr anchorCtr="0" anchor="t" bIns="45700" lIns="91425" spcFirstLastPara="1" rIns="91425" wrap="square" tIns="45700">
            <a:noAutofit/>
          </a:bodyPr>
          <a:lstStyle/>
          <a:p>
            <a:pPr indent="-349250" lvl="0" marL="342900" marR="0" rtl="0" algn="l">
              <a:lnSpc>
                <a:spcPct val="115000"/>
              </a:lnSpc>
              <a:spcBef>
                <a:spcPts val="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Fragmented Tooling</a:t>
            </a:r>
            <a:r>
              <a:rPr i="0" lang="en-US" sz="1250" u="none" cap="none" strike="noStrike">
                <a:solidFill>
                  <a:srgbClr val="334155"/>
                </a:solidFill>
                <a:latin typeface="Merriweather"/>
                <a:ea typeface="Merriweather"/>
                <a:cs typeface="Merriweather"/>
                <a:sym typeface="Merriweather"/>
              </a:rPr>
              <a:t> — Nmap, Nuclei, Wazuh, Burp Suite, Metasploit — no orchestration.</a:t>
            </a:r>
            <a:endParaRPr i="0" sz="1250" u="none" cap="none" strike="noStrike">
              <a:solidFill>
                <a:schemeClr val="dk1"/>
              </a:solidFill>
              <a:latin typeface="Merriweather"/>
              <a:ea typeface="Merriweather"/>
              <a:cs typeface="Merriweather"/>
              <a:sym typeface="Merriweather"/>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Data Overload</a:t>
            </a:r>
            <a:r>
              <a:rPr i="0" lang="en-US" sz="1250" u="none" cap="none" strike="noStrike">
                <a:solidFill>
                  <a:srgbClr val="334155"/>
                </a:solidFill>
                <a:latin typeface="Merriweather"/>
                <a:ea typeface="Merriweather"/>
                <a:cs typeface="Merriweather"/>
                <a:sym typeface="Merriweather"/>
              </a:rPr>
              <a:t> — Raw outputs in XML, JSON, and plain text with no unified view.</a:t>
            </a:r>
            <a:endParaRPr i="0" sz="1250" u="none" cap="none" strike="noStrike">
              <a:solidFill>
                <a:schemeClr val="dk1"/>
              </a:solidFill>
              <a:latin typeface="Merriweather"/>
              <a:ea typeface="Merriweather"/>
              <a:cs typeface="Merriweather"/>
              <a:sym typeface="Merriweather"/>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Expert Barrier</a:t>
            </a:r>
            <a:r>
              <a:rPr i="0" lang="en-US" sz="1250" u="none" cap="none" strike="noStrike">
                <a:solidFill>
                  <a:srgbClr val="334155"/>
                </a:solidFill>
                <a:latin typeface="Merriweather"/>
                <a:ea typeface="Merriweather"/>
                <a:cs typeface="Merriweather"/>
                <a:sym typeface="Merriweather"/>
              </a:rPr>
              <a:t> — Interpreting CVE scores, CVSS ratings, and port scan results requires deep expertise.</a:t>
            </a:r>
            <a:endParaRPr i="0" sz="1250" u="none" cap="none" strike="noStrike">
              <a:solidFill>
                <a:schemeClr val="dk1"/>
              </a:solidFill>
              <a:latin typeface="Merriweather"/>
              <a:ea typeface="Merriweather"/>
              <a:cs typeface="Merriweather"/>
              <a:sym typeface="Merriweather"/>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Cost Prohibitive</a:t>
            </a:r>
            <a:r>
              <a:rPr i="0" lang="en-US" sz="1250" u="none" cap="none" strike="noStrike">
                <a:solidFill>
                  <a:srgbClr val="334155"/>
                </a:solidFill>
                <a:latin typeface="Merriweather"/>
                <a:ea typeface="Merriweather"/>
                <a:cs typeface="Merriweather"/>
                <a:sym typeface="Merriweather"/>
              </a:rPr>
              <a:t> — Professional penetration testing costs $5,000–$30,000 per engagement.</a:t>
            </a:r>
            <a:endParaRPr i="0" sz="1250" u="none" cap="none" strike="noStrike">
              <a:solidFill>
                <a:schemeClr val="dk1"/>
              </a:solidFill>
              <a:latin typeface="Merriweather"/>
              <a:ea typeface="Merriweather"/>
              <a:cs typeface="Merriweather"/>
              <a:sym typeface="Merriweather"/>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No Continuity</a:t>
            </a:r>
            <a:r>
              <a:rPr i="0" lang="en-US" sz="1250" u="none" cap="none" strike="noStrike">
                <a:solidFill>
                  <a:srgbClr val="334155"/>
                </a:solidFill>
                <a:latin typeface="Merriweather"/>
                <a:ea typeface="Merriweather"/>
                <a:cs typeface="Merriweather"/>
                <a:sym typeface="Merriweather"/>
              </a:rPr>
              <a:t> — One-off snapshots instead of continuous, real-time threat monitoring.</a:t>
            </a:r>
            <a:endParaRPr i="0" sz="1250" u="none" cap="none" strike="noStrike">
              <a:solidFill>
                <a:schemeClr val="dk1"/>
              </a:solidFill>
              <a:latin typeface="Merriweather"/>
              <a:ea typeface="Merriweather"/>
              <a:cs typeface="Merriweather"/>
              <a:sym typeface="Merriweather"/>
            </a:endParaRPr>
          </a:p>
        </p:txBody>
      </p:sp>
      <p:sp>
        <p:nvSpPr>
          <p:cNvPr id="126" name="Google Shape;126;p4"/>
          <p:cNvSpPr/>
          <p:nvPr/>
        </p:nvSpPr>
        <p:spPr>
          <a:xfrm>
            <a:off x="5120640" y="914400"/>
            <a:ext cx="1600200" cy="548640"/>
          </a:xfrm>
          <a:prstGeom prst="rect">
            <a:avLst/>
          </a:prstGeom>
          <a:solidFill>
            <a:srgbClr val="FEE2E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5120640" y="914400"/>
            <a:ext cx="16002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1000"/>
              <a:buFont typeface="Merriweather"/>
              <a:buNone/>
            </a:pPr>
            <a:r>
              <a:rPr b="1" i="0" lang="en-US" sz="1000" u="none" cap="none" strike="noStrike">
                <a:solidFill>
                  <a:srgbClr val="DC2626"/>
                </a:solidFill>
                <a:latin typeface="Merriweather"/>
                <a:ea typeface="Merriweather"/>
                <a:cs typeface="Merriweather"/>
                <a:sym typeface="Merriweather"/>
              </a:rPr>
              <a:t>Nmap</a:t>
            </a:r>
            <a:endParaRPr b="0" i="0" sz="1000" u="none" cap="none" strike="noStrike">
              <a:solidFill>
                <a:schemeClr val="dk1"/>
              </a:solidFill>
              <a:latin typeface="Calibri"/>
              <a:ea typeface="Calibri"/>
              <a:cs typeface="Calibri"/>
              <a:sym typeface="Calibri"/>
            </a:endParaRPr>
          </a:p>
        </p:txBody>
      </p:sp>
      <p:sp>
        <p:nvSpPr>
          <p:cNvPr id="128" name="Google Shape;128;p4"/>
          <p:cNvSpPr/>
          <p:nvPr/>
        </p:nvSpPr>
        <p:spPr>
          <a:xfrm>
            <a:off x="6858000" y="868680"/>
            <a:ext cx="1600200" cy="548640"/>
          </a:xfrm>
          <a:prstGeom prst="rect">
            <a:avLst/>
          </a:prstGeom>
          <a:solidFill>
            <a:srgbClr val="FEF3C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6858000" y="868680"/>
            <a:ext cx="16002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000"/>
              <a:buFont typeface="Merriweather"/>
              <a:buNone/>
            </a:pPr>
            <a:r>
              <a:rPr b="1" i="0" lang="en-US" sz="1000" u="none" cap="none" strike="noStrike">
                <a:solidFill>
                  <a:srgbClr val="D97706"/>
                </a:solidFill>
                <a:latin typeface="Merriweather"/>
                <a:ea typeface="Merriweather"/>
                <a:cs typeface="Merriweather"/>
                <a:sym typeface="Merriweather"/>
              </a:rPr>
              <a:t>Nuclei</a:t>
            </a:r>
            <a:endParaRPr b="0" i="0" sz="1000" u="none" cap="none" strike="noStrike">
              <a:solidFill>
                <a:schemeClr val="dk1"/>
              </a:solidFill>
              <a:latin typeface="Calibri"/>
              <a:ea typeface="Calibri"/>
              <a:cs typeface="Calibri"/>
              <a:sym typeface="Calibri"/>
            </a:endParaRPr>
          </a:p>
        </p:txBody>
      </p:sp>
      <p:sp>
        <p:nvSpPr>
          <p:cNvPr id="130" name="Google Shape;130;p4"/>
          <p:cNvSpPr/>
          <p:nvPr/>
        </p:nvSpPr>
        <p:spPr>
          <a:xfrm>
            <a:off x="5852160" y="1783080"/>
            <a:ext cx="1600200" cy="548640"/>
          </a:xfrm>
          <a:prstGeom prst="rect">
            <a:avLst/>
          </a:prstGeom>
          <a:solidFill>
            <a:srgbClr val="EDE9F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5852160" y="1783080"/>
            <a:ext cx="16002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000"/>
              <a:buFont typeface="Merriweather"/>
              <a:buNone/>
            </a:pPr>
            <a:r>
              <a:rPr b="1" i="0" lang="en-US" sz="1000" u="none" cap="none" strike="noStrike">
                <a:solidFill>
                  <a:srgbClr val="7C3AED"/>
                </a:solidFill>
                <a:latin typeface="Merriweather"/>
                <a:ea typeface="Merriweather"/>
                <a:cs typeface="Merriweather"/>
                <a:sym typeface="Merriweather"/>
              </a:rPr>
              <a:t>Wazuh</a:t>
            </a:r>
            <a:endParaRPr b="0" i="0" sz="1000" u="none" cap="none" strike="noStrike">
              <a:solidFill>
                <a:schemeClr val="dk1"/>
              </a:solidFill>
              <a:latin typeface="Calibri"/>
              <a:ea typeface="Calibri"/>
              <a:cs typeface="Calibri"/>
              <a:sym typeface="Calibri"/>
            </a:endParaRPr>
          </a:p>
        </p:txBody>
      </p:sp>
      <p:sp>
        <p:nvSpPr>
          <p:cNvPr id="132" name="Google Shape;132;p4"/>
          <p:cNvSpPr/>
          <p:nvPr/>
        </p:nvSpPr>
        <p:spPr>
          <a:xfrm>
            <a:off x="5029200" y="2606040"/>
            <a:ext cx="1600200" cy="548640"/>
          </a:xfrm>
          <a:prstGeom prst="rect">
            <a:avLst/>
          </a:prstGeom>
          <a:solidFill>
            <a:srgbClr val="D1FAE5"/>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5029200" y="2606040"/>
            <a:ext cx="16002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000"/>
              <a:buFont typeface="Merriweather"/>
              <a:buNone/>
            </a:pPr>
            <a:r>
              <a:rPr b="1" i="0" lang="en-US" sz="1000" u="none" cap="none" strike="noStrike">
                <a:solidFill>
                  <a:srgbClr val="059669"/>
                </a:solidFill>
                <a:latin typeface="Merriweather"/>
                <a:ea typeface="Merriweather"/>
                <a:cs typeface="Merriweather"/>
                <a:sym typeface="Merriweather"/>
              </a:rPr>
              <a:t>Burp Suite</a:t>
            </a:r>
            <a:endParaRPr b="0" i="0" sz="1000" u="none" cap="none" strike="noStrike">
              <a:solidFill>
                <a:schemeClr val="dk1"/>
              </a:solidFill>
              <a:latin typeface="Calibri"/>
              <a:ea typeface="Calibri"/>
              <a:cs typeface="Calibri"/>
              <a:sym typeface="Calibri"/>
            </a:endParaRPr>
          </a:p>
        </p:txBody>
      </p:sp>
      <p:sp>
        <p:nvSpPr>
          <p:cNvPr id="134" name="Google Shape;134;p4"/>
          <p:cNvSpPr/>
          <p:nvPr/>
        </p:nvSpPr>
        <p:spPr>
          <a:xfrm>
            <a:off x="7086605" y="2606048"/>
            <a:ext cx="1600200" cy="548700"/>
          </a:xfrm>
          <a:prstGeom prst="rect">
            <a:avLst/>
          </a:prstGeom>
          <a:solidFill>
            <a:srgbClr val="CFFAF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7086605" y="2606048"/>
            <a:ext cx="16002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1000"/>
              <a:buFont typeface="Merriweather"/>
              <a:buNone/>
            </a:pPr>
            <a:r>
              <a:rPr b="1" i="0" lang="en-US" sz="1000" u="none" cap="none" strike="noStrike">
                <a:solidFill>
                  <a:srgbClr val="0E7490"/>
                </a:solidFill>
                <a:latin typeface="Merriweather"/>
                <a:ea typeface="Merriweather"/>
                <a:cs typeface="Merriweather"/>
                <a:sym typeface="Merriweather"/>
              </a:rPr>
              <a:t>Metasploit</a:t>
            </a:r>
            <a:endParaRPr b="0" i="0" sz="1000" u="none" cap="none" strike="noStrike">
              <a:solidFill>
                <a:schemeClr val="dk1"/>
              </a:solidFill>
              <a:latin typeface="Calibri"/>
              <a:ea typeface="Calibri"/>
              <a:cs typeface="Calibri"/>
              <a:sym typeface="Calibri"/>
            </a:endParaRPr>
          </a:p>
        </p:txBody>
      </p:sp>
      <p:sp>
        <p:nvSpPr>
          <p:cNvPr id="136" name="Google Shape;136;p4"/>
          <p:cNvSpPr/>
          <p:nvPr/>
        </p:nvSpPr>
        <p:spPr>
          <a:xfrm>
            <a:off x="5760720" y="3520440"/>
            <a:ext cx="1600200" cy="548640"/>
          </a:xfrm>
          <a:prstGeom prst="rect">
            <a:avLst/>
          </a:prstGeom>
          <a:solidFill>
            <a:srgbClr val="F8FAFC"/>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5760720" y="3520440"/>
            <a:ext cx="16002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Merriweather"/>
              <a:buNone/>
            </a:pPr>
            <a:r>
              <a:rPr b="1" i="0" lang="en-US" sz="1000" u="none" cap="none" strike="noStrike">
                <a:solidFill>
                  <a:srgbClr val="64748B"/>
                </a:solidFill>
                <a:latin typeface="Merriweather"/>
                <a:ea typeface="Merriweather"/>
                <a:cs typeface="Merriweather"/>
                <a:sym typeface="Merriweather"/>
              </a:rPr>
              <a:t>Manual</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000"/>
              <a:buFont typeface="Merriweather"/>
              <a:buNone/>
            </a:pPr>
            <a:r>
              <a:rPr b="1" i="0" lang="en-US" sz="1000" u="none" cap="none" strike="noStrike">
                <a:solidFill>
                  <a:srgbClr val="64748B"/>
                </a:solidFill>
                <a:latin typeface="Merriweather"/>
                <a:ea typeface="Merriweather"/>
                <a:cs typeface="Merriweather"/>
                <a:sym typeface="Merriweather"/>
              </a:rPr>
              <a:t>Reports</a:t>
            </a:r>
            <a:endParaRPr b="0" i="0" sz="1000" u="none" cap="none" strike="noStrike">
              <a:solidFill>
                <a:schemeClr val="dk1"/>
              </a:solidFill>
              <a:latin typeface="Calibri"/>
              <a:ea typeface="Calibri"/>
              <a:cs typeface="Calibri"/>
              <a:sym typeface="Calibri"/>
            </a:endParaRPr>
          </a:p>
        </p:txBody>
      </p:sp>
      <p:sp>
        <p:nvSpPr>
          <p:cNvPr id="138" name="Google Shape;138;p4"/>
          <p:cNvSpPr/>
          <p:nvPr/>
        </p:nvSpPr>
        <p:spPr>
          <a:xfrm>
            <a:off x="5029200" y="4343470"/>
            <a:ext cx="3657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900"/>
              <a:buFont typeface="Merriweather"/>
              <a:buNone/>
            </a:pPr>
            <a:r>
              <a:rPr b="1" i="0" lang="en-US" sz="1100" u="none" cap="none" strike="noStrike">
                <a:solidFill>
                  <a:srgbClr val="DC2626"/>
                </a:solidFill>
                <a:latin typeface="Merriweather"/>
                <a:ea typeface="Merriweather"/>
                <a:cs typeface="Merriweather"/>
                <a:sym typeface="Merriweather"/>
              </a:rPr>
              <a:t>No unified schema · No common risk score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A5C4"/>
        </a:solidFill>
      </p:bgPr>
    </p:bg>
    <p:spTree>
      <p:nvGrpSpPr>
        <p:cNvPr id="143" name="Shape 143"/>
        <p:cNvGrpSpPr/>
        <p:nvPr/>
      </p:nvGrpSpPr>
      <p:grpSpPr>
        <a:xfrm>
          <a:off x="0" y="0"/>
          <a:ext cx="0" cy="0"/>
          <a:chOff x="0" y="0"/>
          <a:chExt cx="0" cy="0"/>
        </a:xfrm>
      </p:grpSpPr>
      <p:sp>
        <p:nvSpPr>
          <p:cNvPr id="144" name="Google Shape;144;g3d2d178f3e5_0_10"/>
          <p:cNvSpPr txBox="1"/>
          <p:nvPr/>
        </p:nvSpPr>
        <p:spPr>
          <a:xfrm>
            <a:off x="0" y="2233200"/>
            <a:ext cx="91440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500">
                <a:solidFill>
                  <a:schemeClr val="lt1"/>
                </a:solidFill>
                <a:latin typeface="Merriweather"/>
                <a:ea typeface="Merriweather"/>
                <a:cs typeface="Merriweather"/>
                <a:sym typeface="Merriweather"/>
              </a:rPr>
              <a:t>O</a:t>
            </a:r>
            <a:r>
              <a:rPr lang="en-US" sz="3500">
                <a:solidFill>
                  <a:schemeClr val="lt1"/>
                </a:solidFill>
                <a:latin typeface="Merriweather"/>
                <a:ea typeface="Merriweather"/>
                <a:cs typeface="Merriweather"/>
                <a:sym typeface="Merriweather"/>
              </a:rPr>
              <a:t>verview &amp; Core Architecture</a:t>
            </a:r>
            <a:endParaRPr sz="3500">
              <a:solidFill>
                <a:schemeClr val="lt1"/>
              </a:solidFill>
              <a:latin typeface="Merriweather"/>
              <a:ea typeface="Merriweather"/>
              <a:cs typeface="Merriweather"/>
              <a:sym typeface="Merriweath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5"/>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Our Mission — </a:t>
            </a:r>
            <a:r>
              <a:rPr b="1" lang="en-US" sz="2200">
                <a:solidFill>
                  <a:srgbClr val="0F172A"/>
                </a:solidFill>
                <a:latin typeface="Merriweather"/>
                <a:ea typeface="Merriweather"/>
                <a:cs typeface="Merriweather"/>
                <a:sym typeface="Merriweather"/>
              </a:rPr>
              <a:t>the security </a:t>
            </a:r>
            <a:r>
              <a:rPr b="1" lang="en-US" sz="2200">
                <a:solidFill>
                  <a:srgbClr val="0F172A"/>
                </a:solidFill>
                <a:latin typeface="Merriweather"/>
                <a:ea typeface="Merriweather"/>
                <a:cs typeface="Merriweather"/>
                <a:sym typeface="Merriweather"/>
              </a:rPr>
              <a:t>orchestration</a:t>
            </a:r>
            <a:r>
              <a:rPr b="1" lang="en-US" sz="2200">
                <a:solidFill>
                  <a:srgbClr val="0F172A"/>
                </a:solidFill>
                <a:latin typeface="Merriweather"/>
                <a:ea typeface="Merriweather"/>
                <a:cs typeface="Merriweather"/>
                <a:sym typeface="Merriweather"/>
              </a:rPr>
              <a:t> center</a:t>
            </a:r>
            <a:endParaRPr b="0" i="0" sz="2200" u="none" cap="none" strike="noStrike">
              <a:solidFill>
                <a:schemeClr val="dk1"/>
              </a:solidFill>
              <a:latin typeface="Calibri"/>
              <a:ea typeface="Calibri"/>
              <a:cs typeface="Calibri"/>
              <a:sym typeface="Calibri"/>
            </a:endParaRPr>
          </a:p>
        </p:txBody>
      </p:sp>
      <p:sp>
        <p:nvSpPr>
          <p:cNvPr id="153" name="Google Shape;153;p5"/>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5/40</a:t>
            </a:r>
            <a:endParaRPr b="0" i="0" sz="800" u="none" cap="none" strike="noStrike">
              <a:solidFill>
                <a:schemeClr val="dk1"/>
              </a:solidFill>
              <a:latin typeface="Calibri"/>
              <a:ea typeface="Calibri"/>
              <a:cs typeface="Calibri"/>
              <a:sym typeface="Calibri"/>
            </a:endParaRPr>
          </a:p>
        </p:txBody>
      </p:sp>
      <p:cxnSp>
        <p:nvCxnSpPr>
          <p:cNvPr id="155" name="Google Shape;155;p5"/>
          <p:cNvCxnSpPr/>
          <p:nvPr/>
        </p:nvCxnSpPr>
        <p:spPr>
          <a:xfrm>
            <a:off x="347472" y="676656"/>
            <a:ext cx="8449200" cy="0"/>
          </a:xfrm>
          <a:prstGeom prst="straightConnector1">
            <a:avLst/>
          </a:prstGeom>
          <a:noFill/>
          <a:ln cap="flat" cmpd="sng" w="19050">
            <a:solidFill>
              <a:srgbClr val="CFFAFE"/>
            </a:solidFill>
            <a:prstDash val="solid"/>
            <a:round/>
            <a:headEnd len="sm" w="sm" type="none"/>
            <a:tailEnd len="sm" w="sm" type="none"/>
          </a:ln>
        </p:spPr>
      </p:cxnSp>
      <p:sp>
        <p:nvSpPr>
          <p:cNvPr id="156" name="Google Shape;156;p5"/>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157" name="Google Shape;157;p5"/>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3383247" y="722383"/>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3383247" y="722383"/>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Solution Overview</a:t>
            </a:r>
            <a:endParaRPr b="0" i="0" sz="1000" u="none" cap="none" strike="noStrike">
              <a:solidFill>
                <a:schemeClr val="dk1"/>
              </a:solidFill>
              <a:latin typeface="Calibri"/>
              <a:ea typeface="Calibri"/>
              <a:cs typeface="Calibri"/>
              <a:sym typeface="Calibri"/>
            </a:endParaRPr>
          </a:p>
        </p:txBody>
      </p:sp>
      <p:sp>
        <p:nvSpPr>
          <p:cNvPr id="160" name="Google Shape;160;p5"/>
          <p:cNvSpPr/>
          <p:nvPr/>
        </p:nvSpPr>
        <p:spPr>
          <a:xfrm>
            <a:off x="686425" y="1010400"/>
            <a:ext cx="2049900" cy="962700"/>
          </a:xfrm>
          <a:prstGeom prst="rect">
            <a:avLst/>
          </a:prstGeom>
          <a:solidFill>
            <a:srgbClr val="FEE2E2"/>
          </a:solidFill>
          <a:ln cap="flat" cmpd="sng" w="16600">
            <a:solidFill>
              <a:srgbClr val="000000"/>
            </a:solidFill>
            <a:prstDash val="solid"/>
            <a:round/>
            <a:headEnd len="sm" w="sm" type="none"/>
            <a:tailEnd len="sm" w="sm" type="none"/>
          </a:ln>
        </p:spPr>
        <p:txBody>
          <a:bodyPr anchorCtr="0" anchor="ctr" bIns="79675" lIns="79675" spcFirstLastPara="1" rIns="79675" wrap="square" tIns="79675">
            <a:noAutofit/>
          </a:bodyPr>
          <a:lstStyle/>
          <a:p>
            <a:pPr indent="0" lvl="0" marL="0" rtl="0" algn="l">
              <a:spcBef>
                <a:spcPts val="0"/>
              </a:spcBef>
              <a:spcAft>
                <a:spcPts val="0"/>
              </a:spcAft>
              <a:buNone/>
            </a:pPr>
            <a:r>
              <a:t/>
            </a:r>
            <a:endParaRPr/>
          </a:p>
        </p:txBody>
      </p:sp>
      <p:sp>
        <p:nvSpPr>
          <p:cNvPr id="161" name="Google Shape;161;p5"/>
          <p:cNvSpPr/>
          <p:nvPr/>
        </p:nvSpPr>
        <p:spPr>
          <a:xfrm>
            <a:off x="686425" y="1010400"/>
            <a:ext cx="2049900" cy="962700"/>
          </a:xfrm>
          <a:prstGeom prst="rect">
            <a:avLst/>
          </a:prstGeom>
          <a:noFill/>
          <a:ln>
            <a:noFill/>
          </a:ln>
        </p:spPr>
        <p:txBody>
          <a:bodyPr anchorCtr="0" anchor="ctr" bIns="55350" lIns="55350" spcFirstLastPara="1" rIns="55350" wrap="square" tIns="55350">
            <a:noAutofit/>
          </a:bodyPr>
          <a:lstStyle/>
          <a:p>
            <a:pPr indent="0" lvl="0" marL="0" marR="0" rtl="0" algn="ctr">
              <a:spcBef>
                <a:spcPts val="0"/>
              </a:spcBef>
              <a:spcAft>
                <a:spcPts val="0"/>
              </a:spcAft>
              <a:buClr>
                <a:srgbClr val="DC2626"/>
              </a:buClr>
              <a:buSzPts val="871"/>
              <a:buFont typeface="Merriweather"/>
              <a:buNone/>
            </a:pPr>
            <a:r>
              <a:rPr b="1" i="0" lang="en-US" sz="1045" u="none" cap="none" strike="noStrike">
                <a:solidFill>
                  <a:srgbClr val="DC2626"/>
                </a:solidFill>
                <a:latin typeface="Merriweather"/>
                <a:ea typeface="Merriweather"/>
                <a:cs typeface="Merriweather"/>
                <a:sym typeface="Merriweather"/>
              </a:rPr>
              <a:t>Complex Enterprise</a:t>
            </a:r>
            <a:endParaRPr b="1" i="0" sz="1045"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C2626"/>
              </a:buClr>
              <a:buSzPts val="871"/>
              <a:buFont typeface="Merriweather"/>
              <a:buNone/>
            </a:pPr>
            <a:r>
              <a:rPr b="1" i="0" lang="en-US" sz="1045" u="none" cap="none" strike="noStrike">
                <a:solidFill>
                  <a:srgbClr val="DC2626"/>
                </a:solidFill>
                <a:latin typeface="Merriweather"/>
                <a:ea typeface="Merriweather"/>
                <a:cs typeface="Merriweather"/>
                <a:sym typeface="Merriweather"/>
              </a:rPr>
              <a:t>Security Tools</a:t>
            </a:r>
            <a:endParaRPr b="1" i="0" sz="1045" u="none" cap="none" strike="noStrike">
              <a:solidFill>
                <a:schemeClr val="dk1"/>
              </a:solidFill>
              <a:latin typeface="Calibri"/>
              <a:ea typeface="Calibri"/>
              <a:cs typeface="Calibri"/>
              <a:sym typeface="Calibri"/>
            </a:endParaRPr>
          </a:p>
        </p:txBody>
      </p:sp>
      <p:cxnSp>
        <p:nvCxnSpPr>
          <p:cNvPr id="162" name="Google Shape;162;p5"/>
          <p:cNvCxnSpPr/>
          <p:nvPr/>
        </p:nvCxnSpPr>
        <p:spPr>
          <a:xfrm>
            <a:off x="2776357" y="1475205"/>
            <a:ext cx="841200" cy="0"/>
          </a:xfrm>
          <a:prstGeom prst="straightConnector1">
            <a:avLst/>
          </a:prstGeom>
          <a:noFill/>
          <a:ln cap="flat" cmpd="sng" w="38100">
            <a:solidFill>
              <a:srgbClr val="06B6D4"/>
            </a:solidFill>
            <a:prstDash val="solid"/>
            <a:round/>
            <a:headEnd len="sm" w="sm" type="none"/>
            <a:tailEnd len="med" w="med" type="stealth"/>
          </a:ln>
        </p:spPr>
      </p:cxnSp>
      <p:sp>
        <p:nvSpPr>
          <p:cNvPr id="163" name="Google Shape;163;p5"/>
          <p:cNvSpPr/>
          <p:nvPr/>
        </p:nvSpPr>
        <p:spPr>
          <a:xfrm>
            <a:off x="3657600" y="1010476"/>
            <a:ext cx="1828800" cy="962700"/>
          </a:xfrm>
          <a:prstGeom prst="rect">
            <a:avLst/>
          </a:prstGeom>
          <a:solidFill>
            <a:srgbClr val="06B6D4"/>
          </a:solidFill>
          <a:ln cap="flat" cmpd="sng" w="17325">
            <a:solidFill>
              <a:srgbClr val="0891B2"/>
            </a:solidFill>
            <a:prstDash val="solid"/>
            <a:round/>
            <a:headEnd len="sm" w="sm" type="none"/>
            <a:tailEnd len="sm" w="sm" type="none"/>
          </a:ln>
        </p:spPr>
        <p:txBody>
          <a:bodyPr anchorCtr="0" anchor="ctr" bIns="83100" lIns="83100" spcFirstLastPara="1" rIns="83100" wrap="square" tIns="83100">
            <a:noAutofit/>
          </a:bodyPr>
          <a:lstStyle/>
          <a:p>
            <a:pPr indent="0" lvl="0" marL="0" rtl="0" algn="l">
              <a:spcBef>
                <a:spcPts val="0"/>
              </a:spcBef>
              <a:spcAft>
                <a:spcPts val="0"/>
              </a:spcAft>
              <a:buNone/>
            </a:pPr>
            <a:r>
              <a:t/>
            </a:r>
            <a:endParaRPr/>
          </a:p>
        </p:txBody>
      </p:sp>
      <p:sp>
        <p:nvSpPr>
          <p:cNvPr id="164" name="Google Shape;164;p5"/>
          <p:cNvSpPr/>
          <p:nvPr/>
        </p:nvSpPr>
        <p:spPr>
          <a:xfrm>
            <a:off x="3657600" y="1010476"/>
            <a:ext cx="1828800" cy="962700"/>
          </a:xfrm>
          <a:prstGeom prst="rect">
            <a:avLst/>
          </a:prstGeom>
          <a:noFill/>
          <a:ln>
            <a:noFill/>
          </a:ln>
        </p:spPr>
        <p:txBody>
          <a:bodyPr anchorCtr="0" anchor="ctr" bIns="57725" lIns="57725" spcFirstLastPara="1" rIns="57725" wrap="square" tIns="57725">
            <a:noAutofit/>
          </a:bodyPr>
          <a:lstStyle/>
          <a:p>
            <a:pPr indent="0" lvl="0" marL="0" marR="0" rtl="0" algn="ctr">
              <a:spcBef>
                <a:spcPts val="0"/>
              </a:spcBef>
              <a:spcAft>
                <a:spcPts val="0"/>
              </a:spcAft>
              <a:buClr>
                <a:srgbClr val="FFFFFF"/>
              </a:buClr>
              <a:buSzPts val="954"/>
              <a:buFont typeface="Merriweather"/>
              <a:buNone/>
            </a:pPr>
            <a:r>
              <a:rPr b="1" i="0" lang="en-US" sz="1136" u="none" cap="none" strike="noStrike">
                <a:solidFill>
                  <a:srgbClr val="FFFFFF"/>
                </a:solidFill>
                <a:latin typeface="Merriweather"/>
                <a:ea typeface="Merriweather"/>
                <a:cs typeface="Merriweather"/>
                <a:sym typeface="Merriweather"/>
              </a:rPr>
              <a:t>Found 404</a:t>
            </a:r>
            <a:endParaRPr b="1" i="0" sz="1136"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54"/>
              <a:buFont typeface="Merriweather"/>
              <a:buNone/>
            </a:pPr>
            <a:r>
              <a:rPr b="1" i="0" lang="en-US" sz="1136" u="none" cap="none" strike="noStrike">
                <a:solidFill>
                  <a:srgbClr val="FFFFFF"/>
                </a:solidFill>
                <a:latin typeface="Merriweather"/>
                <a:ea typeface="Merriweather"/>
                <a:cs typeface="Merriweather"/>
                <a:sym typeface="Merriweather"/>
              </a:rPr>
              <a:t>Orchestration</a:t>
            </a:r>
            <a:endParaRPr b="1" i="0" sz="1136" u="none" cap="none" strike="noStrike">
              <a:solidFill>
                <a:schemeClr val="dk1"/>
              </a:solidFill>
              <a:latin typeface="Calibri"/>
              <a:ea typeface="Calibri"/>
              <a:cs typeface="Calibri"/>
              <a:sym typeface="Calibri"/>
            </a:endParaRPr>
          </a:p>
        </p:txBody>
      </p:sp>
      <p:cxnSp>
        <p:nvCxnSpPr>
          <p:cNvPr id="165" name="Google Shape;165;p5"/>
          <p:cNvCxnSpPr/>
          <p:nvPr/>
        </p:nvCxnSpPr>
        <p:spPr>
          <a:xfrm>
            <a:off x="5555003" y="1467760"/>
            <a:ext cx="731400" cy="0"/>
          </a:xfrm>
          <a:prstGeom prst="straightConnector1">
            <a:avLst/>
          </a:prstGeom>
          <a:noFill/>
          <a:ln cap="flat" cmpd="sng" w="38100">
            <a:solidFill>
              <a:srgbClr val="06B6D4"/>
            </a:solidFill>
            <a:prstDash val="solid"/>
            <a:round/>
            <a:headEnd len="sm" w="sm" type="none"/>
            <a:tailEnd len="med" w="med" type="stealth"/>
          </a:ln>
        </p:spPr>
      </p:cxnSp>
      <p:sp>
        <p:nvSpPr>
          <p:cNvPr id="166" name="Google Shape;166;p5"/>
          <p:cNvSpPr/>
          <p:nvPr/>
        </p:nvSpPr>
        <p:spPr>
          <a:xfrm>
            <a:off x="6355000" y="1011400"/>
            <a:ext cx="2030100" cy="962700"/>
          </a:xfrm>
          <a:prstGeom prst="rect">
            <a:avLst/>
          </a:prstGeom>
          <a:solidFill>
            <a:srgbClr val="D1FAE5"/>
          </a:solidFill>
          <a:ln cap="flat" cmpd="sng" w="18250">
            <a:solidFill>
              <a:srgbClr val="000000"/>
            </a:solidFill>
            <a:prstDash val="solid"/>
            <a:round/>
            <a:headEnd len="sm" w="sm" type="none"/>
            <a:tailEnd len="sm" w="sm" type="none"/>
          </a:ln>
        </p:spPr>
        <p:txBody>
          <a:bodyPr anchorCtr="0" anchor="ctr" bIns="87475" lIns="87475" spcFirstLastPara="1" rIns="87475" wrap="square" tIns="87475">
            <a:noAutofit/>
          </a:bodyPr>
          <a:lstStyle/>
          <a:p>
            <a:pPr indent="0" lvl="0" marL="0" rtl="0" algn="l">
              <a:spcBef>
                <a:spcPts val="0"/>
              </a:spcBef>
              <a:spcAft>
                <a:spcPts val="0"/>
              </a:spcAft>
              <a:buNone/>
            </a:pPr>
            <a:r>
              <a:t/>
            </a:r>
            <a:endParaRPr/>
          </a:p>
        </p:txBody>
      </p:sp>
      <p:sp>
        <p:nvSpPr>
          <p:cNvPr id="167" name="Google Shape;167;p5"/>
          <p:cNvSpPr/>
          <p:nvPr/>
        </p:nvSpPr>
        <p:spPr>
          <a:xfrm>
            <a:off x="6355000" y="1011400"/>
            <a:ext cx="2030100" cy="962700"/>
          </a:xfrm>
          <a:prstGeom prst="rect">
            <a:avLst/>
          </a:prstGeom>
          <a:noFill/>
          <a:ln>
            <a:noFill/>
          </a:ln>
        </p:spPr>
        <p:txBody>
          <a:bodyPr anchorCtr="0" anchor="ctr" bIns="60775" lIns="60775" spcFirstLastPara="1" rIns="60775" wrap="square" tIns="60775">
            <a:noAutofit/>
          </a:bodyPr>
          <a:lstStyle/>
          <a:p>
            <a:pPr indent="0" lvl="0" marL="0" marR="0" rtl="0" algn="ctr">
              <a:spcBef>
                <a:spcPts val="0"/>
              </a:spcBef>
              <a:spcAft>
                <a:spcPts val="0"/>
              </a:spcAft>
              <a:buClr>
                <a:srgbClr val="059669"/>
              </a:buClr>
              <a:buSzPts val="957"/>
              <a:buFont typeface="Merriweather"/>
              <a:buNone/>
            </a:pPr>
            <a:r>
              <a:rPr b="1" i="0" lang="en-US" sz="1148" u="none" cap="none" strike="noStrike">
                <a:solidFill>
                  <a:srgbClr val="059669"/>
                </a:solidFill>
                <a:latin typeface="Merriweather"/>
                <a:ea typeface="Merriweather"/>
                <a:cs typeface="Merriweather"/>
                <a:sym typeface="Merriweather"/>
              </a:rPr>
              <a:t>SME Business</a:t>
            </a:r>
            <a:endParaRPr b="1" i="0" sz="1148"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59669"/>
              </a:buClr>
              <a:buSzPts val="957"/>
              <a:buFont typeface="Merriweather"/>
              <a:buNone/>
            </a:pPr>
            <a:r>
              <a:rPr b="1" i="0" lang="en-US" sz="1148" u="none" cap="none" strike="noStrike">
                <a:solidFill>
                  <a:srgbClr val="059669"/>
                </a:solidFill>
                <a:latin typeface="Merriweather"/>
                <a:ea typeface="Merriweather"/>
                <a:cs typeface="Merriweather"/>
                <a:sym typeface="Merriweather"/>
              </a:rPr>
              <a:t>Context</a:t>
            </a:r>
            <a:endParaRPr b="1" i="0" sz="1148" u="none" cap="none" strike="noStrike">
              <a:solidFill>
                <a:schemeClr val="dk1"/>
              </a:solidFill>
              <a:latin typeface="Calibri"/>
              <a:ea typeface="Calibri"/>
              <a:cs typeface="Calibri"/>
              <a:sym typeface="Calibri"/>
            </a:endParaRPr>
          </a:p>
        </p:txBody>
      </p:sp>
      <p:sp>
        <p:nvSpPr>
          <p:cNvPr id="168" name="Google Shape;168;p5"/>
          <p:cNvSpPr/>
          <p:nvPr/>
        </p:nvSpPr>
        <p:spPr>
          <a:xfrm>
            <a:off x="347472" y="2011680"/>
            <a:ext cx="2633472" cy="2560320"/>
          </a:xfrm>
          <a:prstGeom prst="rect">
            <a:avLst/>
          </a:prstGeom>
          <a:solidFill>
            <a:srgbClr val="E8F9FD"/>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b="1" sz="1900">
              <a:latin typeface="Merriweather"/>
              <a:ea typeface="Merriweather"/>
              <a:cs typeface="Merriweather"/>
              <a:sym typeface="Merriweather"/>
            </a:endParaRPr>
          </a:p>
        </p:txBody>
      </p:sp>
      <p:sp>
        <p:nvSpPr>
          <p:cNvPr id="169" name="Google Shape;169;p5"/>
          <p:cNvSpPr/>
          <p:nvPr/>
        </p:nvSpPr>
        <p:spPr>
          <a:xfrm>
            <a:off x="347472" y="2011680"/>
            <a:ext cx="2633472" cy="36576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347472" y="2011680"/>
            <a:ext cx="26334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erriweather"/>
              <a:buNone/>
            </a:pPr>
            <a:r>
              <a:rPr b="1" i="0" lang="en-US" sz="1300" u="none" cap="none" strike="noStrike">
                <a:solidFill>
                  <a:srgbClr val="FFFFFF"/>
                </a:solidFill>
                <a:latin typeface="Merriweather"/>
                <a:ea typeface="Merriweather"/>
                <a:cs typeface="Merriweather"/>
                <a:sym typeface="Merriweather"/>
              </a:rPr>
              <a:t>01</a:t>
            </a:r>
            <a:endParaRPr b="0" i="0" sz="1300" u="none" cap="none" strike="noStrike">
              <a:solidFill>
                <a:schemeClr val="dk1"/>
              </a:solidFill>
              <a:latin typeface="Calibri"/>
              <a:ea typeface="Calibri"/>
              <a:cs typeface="Calibri"/>
              <a:sym typeface="Calibri"/>
            </a:endParaRPr>
          </a:p>
        </p:txBody>
      </p:sp>
      <p:sp>
        <p:nvSpPr>
          <p:cNvPr id="171" name="Google Shape;171;p5"/>
          <p:cNvSpPr/>
          <p:nvPr/>
        </p:nvSpPr>
        <p:spPr>
          <a:xfrm>
            <a:off x="484632" y="2450592"/>
            <a:ext cx="235915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100"/>
              <a:buFont typeface="Merriweather"/>
              <a:buNone/>
            </a:pPr>
            <a:r>
              <a:rPr b="1" i="0" lang="en-US" u="none" cap="none" strike="noStrike">
                <a:solidFill>
                  <a:srgbClr val="0F172A"/>
                </a:solidFill>
                <a:latin typeface="Merriweather"/>
                <a:ea typeface="Merriweather"/>
                <a:cs typeface="Merriweather"/>
                <a:sym typeface="Merriweather"/>
              </a:rPr>
              <a:t>Demystify Security</a:t>
            </a:r>
            <a:endParaRPr b="1" i="0" u="none" cap="none" strike="noStrike">
              <a:solidFill>
                <a:schemeClr val="dk1"/>
              </a:solidFill>
              <a:latin typeface="Calibri"/>
              <a:ea typeface="Calibri"/>
              <a:cs typeface="Calibri"/>
              <a:sym typeface="Calibri"/>
            </a:endParaRPr>
          </a:p>
        </p:txBody>
      </p:sp>
      <p:sp>
        <p:nvSpPr>
          <p:cNvPr id="172" name="Google Shape;172;p5"/>
          <p:cNvSpPr/>
          <p:nvPr/>
        </p:nvSpPr>
        <p:spPr>
          <a:xfrm>
            <a:off x="484632" y="2926080"/>
            <a:ext cx="2359152" cy="150876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34155"/>
              </a:buClr>
              <a:buSzPts val="1000"/>
              <a:buFont typeface="Merriweather"/>
              <a:buNone/>
            </a:pPr>
            <a:r>
              <a:rPr b="1" i="0" lang="en-US" sz="1200" u="none" cap="none" strike="noStrike">
                <a:solidFill>
                  <a:srgbClr val="334155"/>
                </a:solidFill>
                <a:latin typeface="Merriweather"/>
                <a:ea typeface="Merriweather"/>
                <a:cs typeface="Merriweather"/>
                <a:sym typeface="Merriweather"/>
              </a:rPr>
              <a:t>Translate technical CVEs into plain-language business risk guidance that any owner can act on.</a:t>
            </a:r>
            <a:endParaRPr b="1" i="0" sz="1200" u="none" cap="none" strike="noStrike">
              <a:solidFill>
                <a:schemeClr val="dk1"/>
              </a:solidFill>
              <a:latin typeface="Merriweather"/>
              <a:ea typeface="Merriweather"/>
              <a:cs typeface="Merriweather"/>
              <a:sym typeface="Merriweather"/>
            </a:endParaRPr>
          </a:p>
        </p:txBody>
      </p:sp>
      <p:sp>
        <p:nvSpPr>
          <p:cNvPr id="173" name="Google Shape;173;p5"/>
          <p:cNvSpPr/>
          <p:nvPr/>
        </p:nvSpPr>
        <p:spPr>
          <a:xfrm>
            <a:off x="3200400" y="2011680"/>
            <a:ext cx="2633472" cy="2560320"/>
          </a:xfrm>
          <a:prstGeom prst="rect">
            <a:avLst/>
          </a:prstGeom>
          <a:solidFill>
            <a:srgbClr val="F0FDF4"/>
          </a:solidFill>
          <a:ln cap="flat" cmpd="sng" w="19050">
            <a:solidFill>
              <a:srgbClr val="BBF7D0"/>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b="1" sz="1900">
              <a:latin typeface="Merriweather"/>
              <a:ea typeface="Merriweather"/>
              <a:cs typeface="Merriweather"/>
              <a:sym typeface="Merriweather"/>
            </a:endParaRPr>
          </a:p>
        </p:txBody>
      </p:sp>
      <p:sp>
        <p:nvSpPr>
          <p:cNvPr id="174" name="Google Shape;174;p5"/>
          <p:cNvSpPr/>
          <p:nvPr/>
        </p:nvSpPr>
        <p:spPr>
          <a:xfrm>
            <a:off x="3200400" y="2011680"/>
            <a:ext cx="2633472" cy="36576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3200400" y="2011680"/>
            <a:ext cx="26334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erriweather"/>
              <a:buNone/>
            </a:pPr>
            <a:r>
              <a:rPr b="1" i="0" lang="en-US" sz="1300" u="none" cap="none" strike="noStrike">
                <a:solidFill>
                  <a:srgbClr val="FFFFFF"/>
                </a:solidFill>
                <a:latin typeface="Merriweather"/>
                <a:ea typeface="Merriweather"/>
                <a:cs typeface="Merriweather"/>
                <a:sym typeface="Merriweather"/>
              </a:rPr>
              <a:t>02</a:t>
            </a:r>
            <a:endParaRPr b="0" i="0" sz="1300" u="none" cap="none" strike="noStrike">
              <a:solidFill>
                <a:schemeClr val="dk1"/>
              </a:solidFill>
              <a:latin typeface="Calibri"/>
              <a:ea typeface="Calibri"/>
              <a:cs typeface="Calibri"/>
              <a:sym typeface="Calibri"/>
            </a:endParaRPr>
          </a:p>
        </p:txBody>
      </p:sp>
      <p:sp>
        <p:nvSpPr>
          <p:cNvPr id="176" name="Google Shape;176;p5"/>
          <p:cNvSpPr/>
          <p:nvPr/>
        </p:nvSpPr>
        <p:spPr>
          <a:xfrm>
            <a:off x="3337560" y="2450592"/>
            <a:ext cx="235915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100"/>
              <a:buFont typeface="Merriweather"/>
              <a:buNone/>
            </a:pPr>
            <a:r>
              <a:rPr b="1" i="0" lang="en-US" u="none" cap="none" strike="noStrike">
                <a:solidFill>
                  <a:srgbClr val="0F172A"/>
                </a:solidFill>
                <a:latin typeface="Merriweather"/>
                <a:ea typeface="Merriweather"/>
                <a:cs typeface="Merriweather"/>
                <a:sym typeface="Merriweather"/>
              </a:rPr>
              <a:t>Autonomous DAST</a:t>
            </a:r>
            <a:endParaRPr b="1" i="0" u="none" cap="none" strike="noStrike">
              <a:solidFill>
                <a:schemeClr val="dk1"/>
              </a:solidFill>
              <a:latin typeface="Calibri"/>
              <a:ea typeface="Calibri"/>
              <a:cs typeface="Calibri"/>
              <a:sym typeface="Calibri"/>
            </a:endParaRPr>
          </a:p>
        </p:txBody>
      </p:sp>
      <p:sp>
        <p:nvSpPr>
          <p:cNvPr id="177" name="Google Shape;177;p5"/>
          <p:cNvSpPr/>
          <p:nvPr/>
        </p:nvSpPr>
        <p:spPr>
          <a:xfrm>
            <a:off x="3337560" y="2926080"/>
            <a:ext cx="2359152" cy="150876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34155"/>
              </a:buClr>
              <a:buSzPts val="1000"/>
              <a:buFont typeface="Merriweather"/>
              <a:buNone/>
            </a:pPr>
            <a:r>
              <a:rPr b="1" i="0" lang="en-US" sz="1200" u="none" cap="none" strike="noStrike">
                <a:solidFill>
                  <a:srgbClr val="334155"/>
                </a:solidFill>
                <a:latin typeface="Merriweather"/>
                <a:ea typeface="Merriweather"/>
                <a:cs typeface="Merriweather"/>
                <a:sym typeface="Merriweather"/>
              </a:rPr>
              <a:t>Fully automated Dynamic Application Security Testing — no human intervention required for execution.</a:t>
            </a:r>
            <a:endParaRPr b="1" i="0" sz="1200" u="none" cap="none" strike="noStrike">
              <a:solidFill>
                <a:schemeClr val="dk1"/>
              </a:solidFill>
              <a:latin typeface="Merriweather"/>
              <a:ea typeface="Merriweather"/>
              <a:cs typeface="Merriweather"/>
              <a:sym typeface="Merriweather"/>
            </a:endParaRPr>
          </a:p>
        </p:txBody>
      </p:sp>
      <p:sp>
        <p:nvSpPr>
          <p:cNvPr id="178" name="Google Shape;178;p5"/>
          <p:cNvSpPr/>
          <p:nvPr/>
        </p:nvSpPr>
        <p:spPr>
          <a:xfrm>
            <a:off x="6053328" y="2011680"/>
            <a:ext cx="2633400" cy="2560200"/>
          </a:xfrm>
          <a:prstGeom prst="rect">
            <a:avLst/>
          </a:prstGeom>
          <a:solidFill>
            <a:srgbClr val="FFF7ED"/>
          </a:solidFill>
          <a:ln cap="flat" cmpd="sng" w="19050">
            <a:solidFill>
              <a:srgbClr val="FED7AA"/>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b="1" sz="1900">
              <a:latin typeface="Merriweather"/>
              <a:ea typeface="Merriweather"/>
              <a:cs typeface="Merriweather"/>
              <a:sym typeface="Merriweather"/>
            </a:endParaRPr>
          </a:p>
        </p:txBody>
      </p:sp>
      <p:sp>
        <p:nvSpPr>
          <p:cNvPr id="179" name="Google Shape;179;p5"/>
          <p:cNvSpPr/>
          <p:nvPr/>
        </p:nvSpPr>
        <p:spPr>
          <a:xfrm>
            <a:off x="6053328" y="2011680"/>
            <a:ext cx="2633472" cy="36576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6053328" y="2011680"/>
            <a:ext cx="263347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Merriweather"/>
              <a:buNone/>
            </a:pPr>
            <a:r>
              <a:rPr b="1" i="0" lang="en-US" sz="1300" u="none" cap="none" strike="noStrike">
                <a:solidFill>
                  <a:srgbClr val="FFFFFF"/>
                </a:solidFill>
                <a:latin typeface="Merriweather"/>
                <a:ea typeface="Merriweather"/>
                <a:cs typeface="Merriweather"/>
                <a:sym typeface="Merriweather"/>
              </a:rPr>
              <a:t>03</a:t>
            </a:r>
            <a:endParaRPr b="0" i="0" sz="1300" u="none" cap="none" strike="noStrike">
              <a:solidFill>
                <a:schemeClr val="dk1"/>
              </a:solidFill>
              <a:latin typeface="Calibri"/>
              <a:ea typeface="Calibri"/>
              <a:cs typeface="Calibri"/>
              <a:sym typeface="Calibri"/>
            </a:endParaRPr>
          </a:p>
        </p:txBody>
      </p:sp>
      <p:sp>
        <p:nvSpPr>
          <p:cNvPr id="181" name="Google Shape;181;p5"/>
          <p:cNvSpPr/>
          <p:nvPr/>
        </p:nvSpPr>
        <p:spPr>
          <a:xfrm>
            <a:off x="6286388" y="2423167"/>
            <a:ext cx="2359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100"/>
              <a:buFont typeface="Merriweather"/>
              <a:buNone/>
            </a:pPr>
            <a:r>
              <a:rPr b="1" i="0" lang="en-US" u="none" cap="none" strike="noStrike">
                <a:solidFill>
                  <a:srgbClr val="0F172A"/>
                </a:solidFill>
                <a:latin typeface="Merriweather"/>
                <a:ea typeface="Merriweather"/>
                <a:cs typeface="Merriweather"/>
                <a:sym typeface="Merriweather"/>
              </a:rPr>
              <a:t>Visual &amp; Actionable</a:t>
            </a:r>
            <a:endParaRPr b="1" i="0" u="none" cap="none" strike="noStrike">
              <a:solidFill>
                <a:schemeClr val="dk1"/>
              </a:solidFill>
              <a:latin typeface="Calibri"/>
              <a:ea typeface="Calibri"/>
              <a:cs typeface="Calibri"/>
              <a:sym typeface="Calibri"/>
            </a:endParaRPr>
          </a:p>
        </p:txBody>
      </p:sp>
      <p:sp>
        <p:nvSpPr>
          <p:cNvPr id="182" name="Google Shape;182;p5"/>
          <p:cNvSpPr/>
          <p:nvPr/>
        </p:nvSpPr>
        <p:spPr>
          <a:xfrm>
            <a:off x="6190488" y="2926080"/>
            <a:ext cx="2359152" cy="150876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34155"/>
              </a:buClr>
              <a:buSzPts val="1000"/>
              <a:buFont typeface="Merriweather"/>
              <a:buNone/>
            </a:pPr>
            <a:r>
              <a:rPr b="1" i="0" lang="en-US" sz="1200" u="none" cap="none" strike="noStrike">
                <a:solidFill>
                  <a:srgbClr val="334155"/>
                </a:solidFill>
                <a:latin typeface="Merriweather"/>
                <a:ea typeface="Merriweather"/>
                <a:cs typeface="Merriweather"/>
                <a:sym typeface="Merriweather"/>
              </a:rPr>
              <a:t>Force-graph network maps, health scores, and step-by-step remediation plans replace raw data tables.</a:t>
            </a:r>
            <a:endParaRPr b="1" i="0" sz="1200" u="none" cap="none" strike="noStrike">
              <a:solidFill>
                <a:schemeClr val="dk1"/>
              </a:solidFill>
              <a:latin typeface="Merriweather"/>
              <a:ea typeface="Merriweather"/>
              <a:cs typeface="Merriweather"/>
              <a:sym typeface="Merriweath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6"/>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The Deterministic Hybrid Model</a:t>
            </a:r>
            <a:endParaRPr b="0" i="0" sz="2200" u="none" cap="none" strike="noStrike">
              <a:solidFill>
                <a:schemeClr val="dk1"/>
              </a:solidFill>
              <a:latin typeface="Calibri"/>
              <a:ea typeface="Calibri"/>
              <a:cs typeface="Calibri"/>
              <a:sym typeface="Calibri"/>
            </a:endParaRPr>
          </a:p>
        </p:txBody>
      </p:sp>
      <p:sp>
        <p:nvSpPr>
          <p:cNvPr id="191" name="Google Shape;191;p6"/>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6/40</a:t>
            </a:r>
            <a:endParaRPr b="0" i="0" sz="800" u="none" cap="none" strike="noStrike">
              <a:solidFill>
                <a:schemeClr val="dk1"/>
              </a:solidFill>
              <a:latin typeface="Calibri"/>
              <a:ea typeface="Calibri"/>
              <a:cs typeface="Calibri"/>
              <a:sym typeface="Calibri"/>
            </a:endParaRPr>
          </a:p>
        </p:txBody>
      </p:sp>
      <p:cxnSp>
        <p:nvCxnSpPr>
          <p:cNvPr id="193" name="Google Shape;193;p6"/>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194" name="Google Shape;194;p6"/>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195" name="Google Shape;195;p6"/>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3383247" y="848846"/>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700"/>
          </a:p>
        </p:txBody>
      </p:sp>
      <p:sp>
        <p:nvSpPr>
          <p:cNvPr id="197" name="Google Shape;197;p6"/>
          <p:cNvSpPr/>
          <p:nvPr/>
        </p:nvSpPr>
        <p:spPr>
          <a:xfrm>
            <a:off x="3383247" y="848846"/>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Core Architecture</a:t>
            </a:r>
            <a:endParaRPr b="1" i="0" sz="1000" u="none" cap="none" strike="noStrike">
              <a:solidFill>
                <a:schemeClr val="dk1"/>
              </a:solidFill>
              <a:latin typeface="Calibri"/>
              <a:ea typeface="Calibri"/>
              <a:cs typeface="Calibri"/>
              <a:sym typeface="Calibri"/>
            </a:endParaRPr>
          </a:p>
        </p:txBody>
      </p:sp>
      <p:sp>
        <p:nvSpPr>
          <p:cNvPr id="198" name="Google Shape;198;p6"/>
          <p:cNvSpPr/>
          <p:nvPr/>
        </p:nvSpPr>
        <p:spPr>
          <a:xfrm>
            <a:off x="347475" y="1137626"/>
            <a:ext cx="4297800" cy="3525600"/>
          </a:xfrm>
          <a:prstGeom prst="rect">
            <a:avLst/>
          </a:prstGeom>
          <a:solidFill>
            <a:srgbClr val="E8F9FD"/>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1600"/>
          </a:p>
        </p:txBody>
      </p:sp>
      <p:sp>
        <p:nvSpPr>
          <p:cNvPr id="199" name="Google Shape;199;p6"/>
          <p:cNvSpPr/>
          <p:nvPr/>
        </p:nvSpPr>
        <p:spPr>
          <a:xfrm>
            <a:off x="347475" y="1137626"/>
            <a:ext cx="4297800" cy="3525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347475" y="1137626"/>
            <a:ext cx="4297800" cy="35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Merriweather"/>
              <a:buNone/>
            </a:pPr>
            <a:r>
              <a:rPr b="1" i="0" lang="en-US" sz="950" u="none" cap="none" strike="noStrike">
                <a:solidFill>
                  <a:srgbClr val="FFFFFF"/>
                </a:solidFill>
                <a:latin typeface="Merriweather"/>
                <a:ea typeface="Merriweather"/>
                <a:cs typeface="Merriweather"/>
                <a:sym typeface="Merriweather"/>
              </a:rPr>
              <a:t>DETERMINISTIC EXECUTION</a:t>
            </a:r>
            <a:endParaRPr b="0" i="0" sz="950" u="none" cap="none" strike="noStrike">
              <a:solidFill>
                <a:schemeClr val="dk1"/>
              </a:solidFill>
              <a:latin typeface="Calibri"/>
              <a:ea typeface="Calibri"/>
              <a:cs typeface="Calibri"/>
              <a:sym typeface="Calibri"/>
            </a:endParaRPr>
          </a:p>
        </p:txBody>
      </p:sp>
      <p:sp>
        <p:nvSpPr>
          <p:cNvPr id="201" name="Google Shape;201;p6"/>
          <p:cNvSpPr/>
          <p:nvPr/>
        </p:nvSpPr>
        <p:spPr>
          <a:xfrm>
            <a:off x="347475" y="1577600"/>
            <a:ext cx="4249500" cy="2938200"/>
          </a:xfrm>
          <a:prstGeom prst="rect">
            <a:avLst/>
          </a:prstGeom>
          <a:noFill/>
          <a:ln>
            <a:noFill/>
          </a:ln>
        </p:spPr>
        <p:txBody>
          <a:bodyPr anchorCtr="0" anchor="t" bIns="45700" lIns="91425" spcFirstLastPara="1" rIns="91425" wrap="square" tIns="45700">
            <a:noAutofit/>
          </a:bodyPr>
          <a:lstStyle/>
          <a:p>
            <a:pPr indent="-349250" lvl="0" marL="342900" marR="0" rtl="0" algn="l">
              <a:lnSpc>
                <a:spcPct val="115000"/>
              </a:lnSpc>
              <a:spcBef>
                <a:spcPts val="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Hard-coded tool chaining — Nmap → Nuclei → Risk Engine.</a:t>
            </a:r>
            <a:endParaRPr b="1" i="0" sz="120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Every scan follows the exact same deterministic pipeline.</a:t>
            </a:r>
            <a:endParaRPr b="1" i="0" sz="120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CVSS scores provide standardized, mathematically sound ratings.</a:t>
            </a:r>
            <a:endParaRPr b="1" i="0" sz="120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Asset Criticality multiplier </a:t>
            </a:r>
            <a:r>
              <a:rPr b="1" lang="en-US" sz="1200">
                <a:solidFill>
                  <a:srgbClr val="334155"/>
                </a:solidFill>
                <a:latin typeface="Merriweather"/>
                <a:ea typeface="Merriweather"/>
                <a:cs typeface="Merriweather"/>
                <a:sym typeface="Merriweather"/>
              </a:rPr>
              <a:t>personalized</a:t>
            </a:r>
            <a:r>
              <a:rPr b="1" i="0" lang="en-US" sz="1200" u="none" cap="none" strike="noStrike">
                <a:solidFill>
                  <a:srgbClr val="334155"/>
                </a:solidFill>
                <a:latin typeface="Merriweather"/>
                <a:ea typeface="Merriweather"/>
                <a:cs typeface="Merriweather"/>
                <a:sym typeface="Merriweather"/>
              </a:rPr>
              <a:t> risk to the business.</a:t>
            </a:r>
            <a:endParaRPr b="1" i="0" sz="120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Results are 100% reproducible — same input = same output.</a:t>
            </a:r>
            <a:endParaRPr b="1" i="0" sz="1200" u="none" cap="none" strike="noStrike">
              <a:solidFill>
                <a:schemeClr val="dk1"/>
              </a:solidFill>
              <a:latin typeface="Calibri"/>
              <a:ea typeface="Calibri"/>
              <a:cs typeface="Calibri"/>
              <a:sym typeface="Calibri"/>
            </a:endParaRPr>
          </a:p>
        </p:txBody>
      </p:sp>
      <p:sp>
        <p:nvSpPr>
          <p:cNvPr id="202" name="Google Shape;202;p6"/>
          <p:cNvSpPr/>
          <p:nvPr/>
        </p:nvSpPr>
        <p:spPr>
          <a:xfrm>
            <a:off x="4892045" y="1137626"/>
            <a:ext cx="3904500" cy="3525600"/>
          </a:xfrm>
          <a:prstGeom prst="rect">
            <a:avLst/>
          </a:prstGeom>
          <a:solidFill>
            <a:srgbClr val="EDE9FE"/>
          </a:solidFill>
          <a:ln cap="flat" cmpd="sng" w="19050">
            <a:solidFill>
              <a:srgbClr val="C4B5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1600"/>
          </a:p>
        </p:txBody>
      </p:sp>
      <p:sp>
        <p:nvSpPr>
          <p:cNvPr id="203" name="Google Shape;203;p6"/>
          <p:cNvSpPr/>
          <p:nvPr/>
        </p:nvSpPr>
        <p:spPr>
          <a:xfrm>
            <a:off x="4892045" y="1137626"/>
            <a:ext cx="3904500" cy="35250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4892045" y="1137626"/>
            <a:ext cx="3904500" cy="35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Merriweather"/>
              <a:buNone/>
            </a:pPr>
            <a:r>
              <a:rPr b="1" i="0" lang="en-US" sz="950" u="none" cap="none" strike="noStrike">
                <a:solidFill>
                  <a:srgbClr val="FFFFFF"/>
                </a:solidFill>
                <a:latin typeface="Merriweather"/>
                <a:ea typeface="Merriweather"/>
                <a:cs typeface="Merriweather"/>
                <a:sym typeface="Merriweather"/>
              </a:rPr>
              <a:t>AI ADVISORY ONLY</a:t>
            </a:r>
            <a:endParaRPr b="0" i="0" sz="950" u="none" cap="none" strike="noStrike">
              <a:solidFill>
                <a:schemeClr val="dk1"/>
              </a:solidFill>
              <a:latin typeface="Calibri"/>
              <a:ea typeface="Calibri"/>
              <a:cs typeface="Calibri"/>
              <a:sym typeface="Calibri"/>
            </a:endParaRPr>
          </a:p>
        </p:txBody>
      </p:sp>
      <p:sp>
        <p:nvSpPr>
          <p:cNvPr id="205" name="Google Shape;205;p6"/>
          <p:cNvSpPr/>
          <p:nvPr/>
        </p:nvSpPr>
        <p:spPr>
          <a:xfrm>
            <a:off x="4891900" y="1577600"/>
            <a:ext cx="3904500" cy="2938200"/>
          </a:xfrm>
          <a:prstGeom prst="rect">
            <a:avLst/>
          </a:prstGeom>
          <a:noFill/>
          <a:ln>
            <a:noFill/>
          </a:ln>
        </p:spPr>
        <p:txBody>
          <a:bodyPr anchorCtr="0" anchor="t" bIns="45700" lIns="91425" spcFirstLastPara="1" rIns="91425" wrap="square" tIns="45700">
            <a:noAutofit/>
          </a:bodyPr>
          <a:lstStyle/>
          <a:p>
            <a:pPr indent="-349250" lvl="0" marL="342900" marR="0" rtl="0" algn="l">
              <a:lnSpc>
                <a:spcPct val="115000"/>
              </a:lnSpc>
              <a:spcBef>
                <a:spcPts val="0"/>
              </a:spcBef>
              <a:spcAft>
                <a:spcPts val="0"/>
              </a:spcAft>
              <a:buClr>
                <a:srgbClr val="7C3AED"/>
              </a:buClr>
              <a:buSzPts val="1200"/>
              <a:buFont typeface="Merriweather"/>
              <a:buChar char="•"/>
            </a:pPr>
            <a:r>
              <a:rPr b="1" i="0" lang="en-US" sz="1200" u="none" cap="none" strike="noStrike">
                <a:solidFill>
                  <a:srgbClr val="7C3AED"/>
                </a:solidFill>
                <a:latin typeface="Merriweather"/>
                <a:ea typeface="Merriweather"/>
                <a:cs typeface="Merriweather"/>
                <a:sym typeface="Merriweather"/>
              </a:rPr>
              <a:t>Google Gemini 1.5 Flash is used exclusively as a translator.</a:t>
            </a:r>
            <a:endParaRPr b="1" i="0" sz="120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7C3AED"/>
              </a:buClr>
              <a:buSzPts val="1200"/>
              <a:buFont typeface="Merriweather"/>
              <a:buChar char="•"/>
            </a:pPr>
            <a:r>
              <a:rPr b="1" i="0" lang="en-US" sz="1200" u="none" cap="none" strike="noStrike">
                <a:solidFill>
                  <a:srgbClr val="7C3AED"/>
                </a:solidFill>
                <a:latin typeface="Merriweather"/>
                <a:ea typeface="Merriweather"/>
                <a:cs typeface="Merriweather"/>
                <a:sym typeface="Merriweather"/>
              </a:rPr>
              <a:t>AI receives only verified scanner output — never raw guesses.</a:t>
            </a:r>
            <a:endParaRPr b="1" i="0" sz="120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7C3AED"/>
              </a:buClr>
              <a:buSzPts val="1200"/>
              <a:buFont typeface="Merriweather"/>
              <a:buChar char="•"/>
            </a:pPr>
            <a:r>
              <a:rPr b="1" i="0" lang="en-US" sz="1200" u="none" cap="none" strike="noStrike">
                <a:solidFill>
                  <a:srgbClr val="7C3AED"/>
                </a:solidFill>
                <a:latin typeface="Merriweather"/>
                <a:ea typeface="Merriweather"/>
                <a:cs typeface="Merriweather"/>
                <a:sym typeface="Merriweather"/>
              </a:rPr>
              <a:t>Generates plain-language remediation advice for business owners.</a:t>
            </a:r>
            <a:endParaRPr b="1" i="0" sz="120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7C3AED"/>
              </a:buClr>
              <a:buSzPts val="1200"/>
              <a:buFont typeface="Merriweather"/>
              <a:buChar char="•"/>
            </a:pPr>
            <a:r>
              <a:rPr b="1" i="0" lang="en-US" sz="1200" u="none" cap="none" strike="noStrike">
                <a:solidFill>
                  <a:srgbClr val="7C3AED"/>
                </a:solidFill>
                <a:latin typeface="Merriweather"/>
                <a:ea typeface="Merriweather"/>
                <a:cs typeface="Merriweather"/>
                <a:sym typeface="Merriweather"/>
              </a:rPr>
              <a:t>Never makes security decisions — those stay with the math engine.</a:t>
            </a:r>
            <a:endParaRPr b="1" i="0" sz="120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7C3AED"/>
              </a:buClr>
              <a:buSzPts val="1200"/>
              <a:buFont typeface="Merriweather"/>
              <a:buChar char="•"/>
            </a:pPr>
            <a:r>
              <a:rPr b="1" i="0" lang="en-US" sz="1200" u="none" cap="none" strike="noStrike">
                <a:solidFill>
                  <a:srgbClr val="7C3AED"/>
                </a:solidFill>
                <a:latin typeface="Merriweather"/>
                <a:ea typeface="Merriweather"/>
                <a:cs typeface="Merriweather"/>
                <a:sym typeface="Merriweather"/>
              </a:rPr>
              <a:t>Advisory layer is sandboxed — hallucinations cannot affect scores.</a:t>
            </a:r>
            <a:endParaRPr b="1"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 name="Shape 210"/>
        <p:cNvGrpSpPr/>
        <p:nvPr/>
      </p:nvGrpSpPr>
      <p:grpSpPr>
        <a:xfrm>
          <a:off x="0" y="0"/>
          <a:ext cx="0" cy="0"/>
          <a:chOff x="0" y="0"/>
          <a:chExt cx="0" cy="0"/>
        </a:xfrm>
      </p:grpSpPr>
      <p:sp>
        <p:nvSpPr>
          <p:cNvPr id="211" name="Google Shape;211;p7"/>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Why Not Pure AI for Security?</a:t>
            </a:r>
            <a:endParaRPr b="0" i="0" sz="2200" u="none" cap="none" strike="noStrike">
              <a:solidFill>
                <a:schemeClr val="dk1"/>
              </a:solidFill>
              <a:latin typeface="Calibri"/>
              <a:ea typeface="Calibri"/>
              <a:cs typeface="Calibri"/>
              <a:sym typeface="Calibri"/>
            </a:endParaRPr>
          </a:p>
        </p:txBody>
      </p:sp>
      <p:sp>
        <p:nvSpPr>
          <p:cNvPr id="214" name="Google Shape;214;p7"/>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7"/>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7/40</a:t>
            </a:r>
            <a:endParaRPr b="0" i="0" sz="800" u="none" cap="none" strike="noStrike">
              <a:solidFill>
                <a:schemeClr val="dk1"/>
              </a:solidFill>
              <a:latin typeface="Calibri"/>
              <a:ea typeface="Calibri"/>
              <a:cs typeface="Calibri"/>
              <a:sym typeface="Calibri"/>
            </a:endParaRPr>
          </a:p>
        </p:txBody>
      </p:sp>
      <p:cxnSp>
        <p:nvCxnSpPr>
          <p:cNvPr id="216" name="Google Shape;216;p7"/>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217" name="Google Shape;217;p7"/>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218" name="Google Shape;218;p7"/>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a:off x="1536222" y="881821"/>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p:nvPr/>
        </p:nvSpPr>
        <p:spPr>
          <a:xfrm>
            <a:off x="1536222" y="881821"/>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Design Rationale</a:t>
            </a:r>
            <a:endParaRPr b="1" i="0" sz="1000" u="none" cap="none" strike="noStrike">
              <a:solidFill>
                <a:schemeClr val="dk1"/>
              </a:solidFill>
              <a:latin typeface="Calibri"/>
              <a:ea typeface="Calibri"/>
              <a:cs typeface="Calibri"/>
              <a:sym typeface="Calibri"/>
            </a:endParaRPr>
          </a:p>
        </p:txBody>
      </p:sp>
      <p:sp>
        <p:nvSpPr>
          <p:cNvPr id="221" name="Google Shape;221;p7"/>
          <p:cNvSpPr/>
          <p:nvPr/>
        </p:nvSpPr>
        <p:spPr>
          <a:xfrm>
            <a:off x="347475" y="1137625"/>
            <a:ext cx="4755000" cy="35988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500"/>
          </a:p>
        </p:txBody>
      </p:sp>
      <p:sp>
        <p:nvSpPr>
          <p:cNvPr id="222" name="Google Shape;222;p7"/>
          <p:cNvSpPr/>
          <p:nvPr/>
        </p:nvSpPr>
        <p:spPr>
          <a:xfrm>
            <a:off x="548643" y="1288279"/>
            <a:ext cx="4352400" cy="3331200"/>
          </a:xfrm>
          <a:prstGeom prst="rect">
            <a:avLst/>
          </a:prstGeom>
          <a:noFill/>
          <a:ln>
            <a:noFill/>
          </a:ln>
        </p:spPr>
        <p:txBody>
          <a:bodyPr anchorCtr="0" anchor="t" bIns="45700" lIns="91425" spcFirstLastPara="1" rIns="91425" wrap="square" tIns="45700">
            <a:noAutofit/>
          </a:bodyPr>
          <a:lstStyle/>
          <a:p>
            <a:pPr indent="-349250" lvl="0" marL="342900" marR="0" rtl="0" algn="l">
              <a:lnSpc>
                <a:spcPct val="115000"/>
              </a:lnSpc>
              <a:spcBef>
                <a:spcPts val="0"/>
              </a:spcBef>
              <a:spcAft>
                <a:spcPts val="0"/>
              </a:spcAft>
              <a:buClr>
                <a:srgbClr val="1E293B"/>
              </a:buClr>
              <a:buSzPts val="1250"/>
              <a:buFont typeface="Merriweather"/>
              <a:buChar char="•"/>
            </a:pPr>
            <a:r>
              <a:rPr b="1" i="0" lang="en-US" sz="1250" u="none" cap="none" strike="noStrike">
                <a:solidFill>
                  <a:srgbClr val="1E293B"/>
                </a:solidFill>
                <a:latin typeface="Merriweather"/>
                <a:ea typeface="Merriweather"/>
                <a:cs typeface="Merriweather"/>
                <a:sym typeface="Merriweather"/>
              </a:rPr>
              <a:t>The Hallucination Problem</a:t>
            </a:r>
            <a:r>
              <a:rPr b="0" i="0" lang="en-US" sz="1250" u="none" cap="none" strike="noStrike">
                <a:solidFill>
                  <a:srgbClr val="1E293B"/>
                </a:solidFill>
                <a:latin typeface="Merriweather"/>
                <a:ea typeface="Merriweather"/>
                <a:cs typeface="Merriweather"/>
                <a:sym typeface="Merriweather"/>
              </a:rPr>
              <a:t> — LLMs can fabricate vulnerabilities that don't exist, creating false positives that waste hours of investigation.</a:t>
            </a:r>
            <a:endParaRPr b="0" i="0" sz="125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1E293B"/>
              </a:buClr>
              <a:buSzPts val="1250"/>
              <a:buFont typeface="Merriweather"/>
              <a:buChar char="•"/>
            </a:pPr>
            <a:r>
              <a:rPr b="1" i="0" lang="en-US" sz="1250" u="none" cap="none" strike="noStrike">
                <a:solidFill>
                  <a:srgbClr val="1E293B"/>
                </a:solidFill>
                <a:latin typeface="Merriweather"/>
                <a:ea typeface="Merriweather"/>
                <a:cs typeface="Merriweather"/>
                <a:sym typeface="Merriweather"/>
              </a:rPr>
              <a:t>Non-Determinism</a:t>
            </a:r>
            <a:r>
              <a:rPr b="0" i="0" lang="en-US" sz="1250" u="none" cap="none" strike="noStrike">
                <a:solidFill>
                  <a:srgbClr val="1E293B"/>
                </a:solidFill>
                <a:latin typeface="Merriweather"/>
                <a:ea typeface="Merriweather"/>
                <a:cs typeface="Merriweather"/>
                <a:sym typeface="Merriweather"/>
              </a:rPr>
              <a:t> — Same question can yield different answers across runs; security requires absolute reproducibility.</a:t>
            </a:r>
            <a:endParaRPr b="0" i="0" sz="125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1E293B"/>
              </a:buClr>
              <a:buSzPts val="1250"/>
              <a:buFont typeface="Merriweather"/>
              <a:buChar char="•"/>
            </a:pPr>
            <a:r>
              <a:rPr b="1" i="0" lang="en-US" sz="1250" u="none" cap="none" strike="noStrike">
                <a:solidFill>
                  <a:srgbClr val="1E293B"/>
                </a:solidFill>
                <a:latin typeface="Merriweather"/>
                <a:ea typeface="Merriweather"/>
                <a:cs typeface="Merriweather"/>
                <a:sym typeface="Merriweather"/>
              </a:rPr>
              <a:t>No Ground Truth</a:t>
            </a:r>
            <a:r>
              <a:rPr b="0" i="0" lang="en-US" sz="1250" u="none" cap="none" strike="noStrike">
                <a:solidFill>
                  <a:srgbClr val="1E293B"/>
                </a:solidFill>
                <a:latin typeface="Merriweather"/>
                <a:ea typeface="Merriweather"/>
                <a:cs typeface="Merriweather"/>
                <a:sym typeface="Merriweather"/>
              </a:rPr>
              <a:t> — AI cannot independently verify network state; it only knows what it's told.</a:t>
            </a:r>
            <a:endParaRPr b="0" i="0" sz="125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1E293B"/>
              </a:buClr>
              <a:buSzPts val="1250"/>
              <a:buFont typeface="Merriweather"/>
              <a:buChar char="•"/>
            </a:pPr>
            <a:r>
              <a:rPr b="1" i="0" lang="en-US" sz="1250" u="none" cap="none" strike="noStrike">
                <a:solidFill>
                  <a:srgbClr val="1E293B"/>
                </a:solidFill>
                <a:latin typeface="Merriweather"/>
                <a:ea typeface="Merriweather"/>
                <a:cs typeface="Merriweather"/>
                <a:sym typeface="Merriweather"/>
              </a:rPr>
              <a:t>Regulatory Risk</a:t>
            </a:r>
            <a:r>
              <a:rPr b="0" i="0" lang="en-US" sz="1250" u="none" cap="none" strike="noStrike">
                <a:solidFill>
                  <a:srgbClr val="1E293B"/>
                </a:solidFill>
                <a:latin typeface="Merriweather"/>
                <a:ea typeface="Merriweather"/>
                <a:cs typeface="Merriweather"/>
                <a:sym typeface="Merriweather"/>
              </a:rPr>
              <a:t> — Audit trails require deterministic, explainable results not probabilistic outputs.</a:t>
            </a:r>
            <a:endParaRPr b="0" i="0" sz="125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1E293B"/>
              </a:buClr>
              <a:buSzPts val="1250"/>
              <a:buFont typeface="Merriweather"/>
              <a:buChar char="•"/>
            </a:pPr>
            <a:r>
              <a:rPr b="1" i="0" lang="en-US" sz="1250" u="none" cap="none" strike="noStrike">
                <a:solidFill>
                  <a:srgbClr val="1E293B"/>
                </a:solidFill>
                <a:latin typeface="Merriweather"/>
                <a:ea typeface="Merriweather"/>
                <a:cs typeface="Merriweather"/>
                <a:sym typeface="Merriweather"/>
              </a:rPr>
              <a:t>Found 404 Decision — </a:t>
            </a:r>
            <a:r>
              <a:rPr i="0" lang="en-US" sz="1250" u="none" cap="none" strike="noStrike">
                <a:solidFill>
                  <a:srgbClr val="1E293B"/>
                </a:solidFill>
                <a:latin typeface="Merriweather"/>
                <a:ea typeface="Merriweather"/>
                <a:cs typeface="Merriweather"/>
                <a:sym typeface="Merriweather"/>
              </a:rPr>
              <a:t>Use AI as a translator of verified data, never as the primary sensor.</a:t>
            </a:r>
            <a:endParaRPr b="0" i="0" sz="1250" u="none" cap="none" strike="noStrike">
              <a:solidFill>
                <a:schemeClr val="dk1"/>
              </a:solidFill>
              <a:latin typeface="Calibri"/>
              <a:ea typeface="Calibri"/>
              <a:cs typeface="Calibri"/>
              <a:sym typeface="Calibri"/>
            </a:endParaRPr>
          </a:p>
        </p:txBody>
      </p:sp>
      <p:sp>
        <p:nvSpPr>
          <p:cNvPr id="223" name="Google Shape;223;p7"/>
          <p:cNvSpPr/>
          <p:nvPr/>
        </p:nvSpPr>
        <p:spPr>
          <a:xfrm>
            <a:off x="5285232" y="841248"/>
            <a:ext cx="3493008" cy="1463040"/>
          </a:xfrm>
          <a:prstGeom prst="rect">
            <a:avLst/>
          </a:prstGeom>
          <a:solidFill>
            <a:srgbClr val="FEE2E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
          <p:cNvSpPr/>
          <p:nvPr/>
        </p:nvSpPr>
        <p:spPr>
          <a:xfrm>
            <a:off x="5285232" y="841248"/>
            <a:ext cx="3493008" cy="146304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DC2626"/>
              </a:buClr>
              <a:buSzPts val="1000"/>
              <a:buFont typeface="Merriweather"/>
              <a:buNone/>
            </a:pPr>
            <a:r>
              <a:rPr b="1" i="0" lang="en-US" sz="1300" u="none" cap="none" strike="noStrike">
                <a:solidFill>
                  <a:srgbClr val="DC2626"/>
                </a:solidFill>
                <a:latin typeface="Merriweather"/>
                <a:ea typeface="Merriweather"/>
                <a:cs typeface="Merriweather"/>
                <a:sym typeface="Merriweather"/>
              </a:rPr>
              <a:t>Pure AI Approach</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0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C2626"/>
              </a:buClr>
              <a:buSzPts val="1000"/>
              <a:buFont typeface="Merriweather"/>
              <a:buNone/>
            </a:pPr>
            <a:r>
              <a:rPr b="1" i="0" lang="en-US" sz="1300" u="none" cap="none" strike="noStrike">
                <a:solidFill>
                  <a:srgbClr val="DC2626"/>
                </a:solidFill>
                <a:latin typeface="Merriweather"/>
                <a:ea typeface="Merriweather"/>
                <a:cs typeface="Merriweather"/>
                <a:sym typeface="Merriweather"/>
              </a:rPr>
              <a:t>UNRELIABLE RESULTS</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C2626"/>
              </a:buClr>
              <a:buSzPts val="1000"/>
              <a:buFont typeface="Merriweather"/>
              <a:buNone/>
            </a:pPr>
            <a:r>
              <a:rPr b="1" i="0" lang="en-US" sz="1300" u="none" cap="none" strike="noStrike">
                <a:solidFill>
                  <a:srgbClr val="DC2626"/>
                </a:solidFill>
                <a:latin typeface="Merriweather"/>
                <a:ea typeface="Merriweather"/>
                <a:cs typeface="Merriweather"/>
                <a:sym typeface="Merriweather"/>
              </a:rPr>
              <a:t>Hallucinations · Non-reproducible</a:t>
            </a:r>
            <a:endParaRPr b="0" i="0" sz="1300" u="none" cap="none" strike="noStrike">
              <a:solidFill>
                <a:schemeClr val="dk1"/>
              </a:solidFill>
              <a:latin typeface="Calibri"/>
              <a:ea typeface="Calibri"/>
              <a:cs typeface="Calibri"/>
              <a:sym typeface="Calibri"/>
            </a:endParaRPr>
          </a:p>
        </p:txBody>
      </p:sp>
      <p:sp>
        <p:nvSpPr>
          <p:cNvPr id="225" name="Google Shape;225;p7"/>
          <p:cNvSpPr/>
          <p:nvPr/>
        </p:nvSpPr>
        <p:spPr>
          <a:xfrm>
            <a:off x="5943600" y="2395728"/>
            <a:ext cx="2194560" cy="320040"/>
          </a:xfrm>
          <a:prstGeom prst="rect">
            <a:avLst/>
          </a:prstGeom>
          <a:solidFill>
            <a:srgbClr val="FFFFFF"/>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7"/>
          <p:cNvSpPr/>
          <p:nvPr/>
        </p:nvSpPr>
        <p:spPr>
          <a:xfrm>
            <a:off x="5486400" y="2414016"/>
            <a:ext cx="312724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B6D4"/>
              </a:buClr>
              <a:buSzPts val="1100"/>
              <a:buFont typeface="Merriweather"/>
              <a:buNone/>
            </a:pPr>
            <a:r>
              <a:rPr b="1" i="0" lang="en-US" sz="1200" u="none" cap="none" strike="noStrike">
                <a:solidFill>
                  <a:srgbClr val="06B6D4"/>
                </a:solidFill>
                <a:latin typeface="Merriweather"/>
                <a:ea typeface="Merriweather"/>
                <a:cs typeface="Merriweather"/>
                <a:sym typeface="Merriweather"/>
              </a:rPr>
              <a:t>VS  Our Hybrid Model</a:t>
            </a:r>
            <a:endParaRPr b="0" i="0" sz="1200" u="none" cap="none" strike="noStrike">
              <a:solidFill>
                <a:schemeClr val="dk1"/>
              </a:solidFill>
              <a:latin typeface="Calibri"/>
              <a:ea typeface="Calibri"/>
              <a:cs typeface="Calibri"/>
              <a:sym typeface="Calibri"/>
            </a:endParaRPr>
          </a:p>
        </p:txBody>
      </p:sp>
      <p:sp>
        <p:nvSpPr>
          <p:cNvPr id="227" name="Google Shape;227;p7"/>
          <p:cNvSpPr/>
          <p:nvPr/>
        </p:nvSpPr>
        <p:spPr>
          <a:xfrm>
            <a:off x="5285232" y="2807208"/>
            <a:ext cx="3492900" cy="1554600"/>
          </a:xfrm>
          <a:prstGeom prst="rect">
            <a:avLst/>
          </a:prstGeom>
          <a:solidFill>
            <a:srgbClr val="D1FAE5"/>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
          <p:cNvSpPr/>
          <p:nvPr/>
        </p:nvSpPr>
        <p:spPr>
          <a:xfrm>
            <a:off x="5285232" y="2807208"/>
            <a:ext cx="3492900" cy="15546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59669"/>
              </a:buClr>
              <a:buSzPts val="1000"/>
              <a:buFont typeface="Merriweather"/>
              <a:buNone/>
            </a:pPr>
            <a:r>
              <a:rPr b="1" i="0" lang="en-US" sz="1300" u="none" cap="none" strike="noStrike">
                <a:solidFill>
                  <a:srgbClr val="059669"/>
                </a:solidFill>
                <a:latin typeface="Merriweather"/>
                <a:ea typeface="Merriweather"/>
                <a:cs typeface="Merriweather"/>
                <a:sym typeface="Merriweather"/>
              </a:rPr>
              <a:t>Deterministic Core + AI Advisor</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0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59669"/>
              </a:buClr>
              <a:buSzPts val="1000"/>
              <a:buFont typeface="Merriweather"/>
              <a:buNone/>
            </a:pPr>
            <a:r>
              <a:rPr b="1" i="0" lang="en-US" sz="1300" u="none" cap="none" strike="noStrike">
                <a:solidFill>
                  <a:srgbClr val="059669"/>
                </a:solidFill>
                <a:latin typeface="Merriweather"/>
                <a:ea typeface="Merriweather"/>
                <a:cs typeface="Merriweather"/>
                <a:sym typeface="Merriweather"/>
              </a:rPr>
              <a:t>RELIABLE &amp; EXPLAINABLE</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59669"/>
              </a:buClr>
              <a:buSzPts val="1000"/>
              <a:buFont typeface="Merriweather"/>
              <a:buNone/>
            </a:pPr>
            <a:r>
              <a:rPr b="1" i="0" lang="en-US" sz="1300" u="none" cap="none" strike="noStrike">
                <a:solidFill>
                  <a:srgbClr val="059669"/>
                </a:solidFill>
                <a:latin typeface="Merriweather"/>
                <a:ea typeface="Merriweather"/>
                <a:cs typeface="Merriweather"/>
                <a:sym typeface="Merriweather"/>
              </a:rPr>
              <a:t>Math scores · Verified ground truth</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8"/>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Mitigating AI Hallucinations — Design Pattern</a:t>
            </a:r>
            <a:endParaRPr b="0" i="0" sz="2200" u="none" cap="none" strike="noStrike">
              <a:solidFill>
                <a:schemeClr val="dk1"/>
              </a:solidFill>
              <a:latin typeface="Calibri"/>
              <a:ea typeface="Calibri"/>
              <a:cs typeface="Calibri"/>
              <a:sym typeface="Calibri"/>
            </a:endParaRPr>
          </a:p>
        </p:txBody>
      </p:sp>
      <p:sp>
        <p:nvSpPr>
          <p:cNvPr id="237" name="Google Shape;237;p8"/>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8/40</a:t>
            </a:r>
            <a:endParaRPr b="0" i="0" sz="800" u="none" cap="none" strike="noStrike">
              <a:solidFill>
                <a:schemeClr val="dk1"/>
              </a:solidFill>
              <a:latin typeface="Calibri"/>
              <a:ea typeface="Calibri"/>
              <a:cs typeface="Calibri"/>
              <a:sym typeface="Calibri"/>
            </a:endParaRPr>
          </a:p>
        </p:txBody>
      </p:sp>
      <p:cxnSp>
        <p:nvCxnSpPr>
          <p:cNvPr id="239" name="Google Shape;239;p8"/>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240" name="Google Shape;240;p8"/>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241" name="Google Shape;241;p8"/>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3182072" y="726958"/>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a:off x="3182072" y="726958"/>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Design Rationale</a:t>
            </a:r>
            <a:endParaRPr b="0" i="0" sz="1000" u="none" cap="none" strike="noStrike">
              <a:solidFill>
                <a:schemeClr val="dk1"/>
              </a:solidFill>
              <a:latin typeface="Calibri"/>
              <a:ea typeface="Calibri"/>
              <a:cs typeface="Calibri"/>
              <a:sym typeface="Calibri"/>
            </a:endParaRPr>
          </a:p>
        </p:txBody>
      </p:sp>
      <p:sp>
        <p:nvSpPr>
          <p:cNvPr id="244" name="Google Shape;244;p8"/>
          <p:cNvSpPr/>
          <p:nvPr/>
        </p:nvSpPr>
        <p:spPr>
          <a:xfrm>
            <a:off x="347475" y="1063150"/>
            <a:ext cx="1828800" cy="953100"/>
          </a:xfrm>
          <a:prstGeom prst="rect">
            <a:avLst/>
          </a:prstGeom>
          <a:solidFill>
            <a:srgbClr val="E8F9FD"/>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347475" y="1063150"/>
            <a:ext cx="1828800" cy="9531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E7490"/>
              </a:buClr>
              <a:buSzPts val="1050"/>
              <a:buFont typeface="Merriweather"/>
              <a:buNone/>
            </a:pPr>
            <a:r>
              <a:rPr b="1" i="0" lang="en-US" sz="1050" u="none" cap="none" strike="noStrike">
                <a:solidFill>
                  <a:srgbClr val="0E7490"/>
                </a:solidFill>
                <a:latin typeface="Merriweather"/>
                <a:ea typeface="Merriweather"/>
                <a:cs typeface="Merriweather"/>
                <a:sym typeface="Merriweather"/>
              </a:rPr>
              <a:t>Nmap</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E7490"/>
              </a:buClr>
              <a:buSzPts val="1050"/>
              <a:buFont typeface="Merriweather"/>
              <a:buNone/>
            </a:pPr>
            <a:r>
              <a:rPr b="1" i="0" lang="en-US" sz="1050" u="none" cap="none" strike="noStrike">
                <a:solidFill>
                  <a:srgbClr val="0E7490"/>
                </a:solidFill>
                <a:latin typeface="Merriweather"/>
                <a:ea typeface="Merriweather"/>
                <a:cs typeface="Merriweather"/>
                <a:sym typeface="Merriweather"/>
              </a:rPr>
              <a:t>Scanner</a:t>
            </a:r>
            <a:endParaRPr b="0" i="0" sz="1050" u="none" cap="none" strike="noStrike">
              <a:solidFill>
                <a:schemeClr val="dk1"/>
              </a:solidFill>
              <a:latin typeface="Calibri"/>
              <a:ea typeface="Calibri"/>
              <a:cs typeface="Calibri"/>
              <a:sym typeface="Calibri"/>
            </a:endParaRPr>
          </a:p>
        </p:txBody>
      </p:sp>
      <p:cxnSp>
        <p:nvCxnSpPr>
          <p:cNvPr id="246" name="Google Shape;246;p8"/>
          <p:cNvCxnSpPr/>
          <p:nvPr/>
        </p:nvCxnSpPr>
        <p:spPr>
          <a:xfrm>
            <a:off x="2176275" y="1539712"/>
            <a:ext cx="640200" cy="0"/>
          </a:xfrm>
          <a:prstGeom prst="straightConnector1">
            <a:avLst/>
          </a:prstGeom>
          <a:noFill/>
          <a:ln cap="flat" cmpd="sng" w="31750">
            <a:solidFill>
              <a:srgbClr val="06B6D4"/>
            </a:solidFill>
            <a:prstDash val="solid"/>
            <a:round/>
            <a:headEnd len="sm" w="sm" type="none"/>
            <a:tailEnd len="med" w="med" type="stealth"/>
          </a:ln>
        </p:spPr>
      </p:cxnSp>
      <p:sp>
        <p:nvSpPr>
          <p:cNvPr id="247" name="Google Shape;247;p8"/>
          <p:cNvSpPr/>
          <p:nvPr/>
        </p:nvSpPr>
        <p:spPr>
          <a:xfrm>
            <a:off x="347475" y="2076928"/>
            <a:ext cx="1828800" cy="21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Merriweather"/>
              <a:buNone/>
            </a:pPr>
            <a:r>
              <a:rPr b="1" i="0" lang="en-US" sz="1000" u="none" cap="none" strike="noStrike">
                <a:solidFill>
                  <a:schemeClr val="dk1"/>
                </a:solidFill>
                <a:latin typeface="Merriweather"/>
                <a:ea typeface="Merriweather"/>
                <a:cs typeface="Merriweather"/>
                <a:sym typeface="Merriweather"/>
              </a:rPr>
              <a:t>Step 1</a:t>
            </a:r>
            <a:endParaRPr b="1" i="0" sz="1000" u="none" cap="none" strike="noStrike">
              <a:solidFill>
                <a:schemeClr val="dk1"/>
              </a:solidFill>
              <a:latin typeface="Calibri"/>
              <a:ea typeface="Calibri"/>
              <a:cs typeface="Calibri"/>
              <a:sym typeface="Calibri"/>
            </a:endParaRPr>
          </a:p>
        </p:txBody>
      </p:sp>
      <p:sp>
        <p:nvSpPr>
          <p:cNvPr id="248" name="Google Shape;248;p8"/>
          <p:cNvSpPr/>
          <p:nvPr/>
        </p:nvSpPr>
        <p:spPr>
          <a:xfrm>
            <a:off x="2468883" y="1063150"/>
            <a:ext cx="1828800" cy="953100"/>
          </a:xfrm>
          <a:prstGeom prst="rect">
            <a:avLst/>
          </a:prstGeom>
          <a:solidFill>
            <a:srgbClr val="D1FAE5"/>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
          <p:cNvSpPr/>
          <p:nvPr/>
        </p:nvSpPr>
        <p:spPr>
          <a:xfrm>
            <a:off x="2468883" y="1063150"/>
            <a:ext cx="1828800" cy="9531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59669"/>
              </a:buClr>
              <a:buSzPts val="1050"/>
              <a:buFont typeface="Merriweather"/>
              <a:buNone/>
            </a:pPr>
            <a:r>
              <a:rPr b="1" i="0" lang="en-US" sz="1050" u="none" cap="none" strike="noStrike">
                <a:solidFill>
                  <a:srgbClr val="059669"/>
                </a:solidFill>
                <a:latin typeface="Merriweather"/>
                <a:ea typeface="Merriweather"/>
                <a:cs typeface="Merriweather"/>
                <a:sym typeface="Merriweather"/>
              </a:rPr>
              <a:t>Nuclei</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59669"/>
              </a:buClr>
              <a:buSzPts val="1050"/>
              <a:buFont typeface="Merriweather"/>
              <a:buNone/>
            </a:pPr>
            <a:r>
              <a:rPr b="1" i="0" lang="en-US" sz="1050" u="none" cap="none" strike="noStrike">
                <a:solidFill>
                  <a:srgbClr val="059669"/>
                </a:solidFill>
                <a:latin typeface="Merriweather"/>
                <a:ea typeface="Merriweather"/>
                <a:cs typeface="Merriweather"/>
                <a:sym typeface="Merriweather"/>
              </a:rPr>
              <a:t>Scanner</a:t>
            </a:r>
            <a:endParaRPr b="0" i="0" sz="1050" u="none" cap="none" strike="noStrike">
              <a:solidFill>
                <a:schemeClr val="dk1"/>
              </a:solidFill>
              <a:latin typeface="Calibri"/>
              <a:ea typeface="Calibri"/>
              <a:cs typeface="Calibri"/>
              <a:sym typeface="Calibri"/>
            </a:endParaRPr>
          </a:p>
        </p:txBody>
      </p:sp>
      <p:cxnSp>
        <p:nvCxnSpPr>
          <p:cNvPr id="250" name="Google Shape;250;p8"/>
          <p:cNvCxnSpPr/>
          <p:nvPr/>
        </p:nvCxnSpPr>
        <p:spPr>
          <a:xfrm>
            <a:off x="4297683" y="1539712"/>
            <a:ext cx="640200" cy="0"/>
          </a:xfrm>
          <a:prstGeom prst="straightConnector1">
            <a:avLst/>
          </a:prstGeom>
          <a:noFill/>
          <a:ln cap="flat" cmpd="sng" w="31750">
            <a:solidFill>
              <a:srgbClr val="06B6D4"/>
            </a:solidFill>
            <a:prstDash val="solid"/>
            <a:round/>
            <a:headEnd len="sm" w="sm" type="none"/>
            <a:tailEnd len="med" w="med" type="stealth"/>
          </a:ln>
        </p:spPr>
      </p:cxnSp>
      <p:sp>
        <p:nvSpPr>
          <p:cNvPr id="251" name="Google Shape;251;p8"/>
          <p:cNvSpPr/>
          <p:nvPr/>
        </p:nvSpPr>
        <p:spPr>
          <a:xfrm>
            <a:off x="2468883" y="2076928"/>
            <a:ext cx="1828800" cy="21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Merriweather"/>
              <a:buNone/>
            </a:pPr>
            <a:r>
              <a:rPr b="1" i="0" lang="en-US" sz="1000" u="none" cap="none" strike="noStrike">
                <a:solidFill>
                  <a:schemeClr val="dk1"/>
                </a:solidFill>
                <a:latin typeface="Merriweather"/>
                <a:ea typeface="Merriweather"/>
                <a:cs typeface="Merriweather"/>
                <a:sym typeface="Merriweather"/>
              </a:rPr>
              <a:t>Step 2</a:t>
            </a:r>
            <a:endParaRPr b="1" i="0" sz="1000" u="none" cap="none" strike="noStrike">
              <a:solidFill>
                <a:schemeClr val="dk1"/>
              </a:solidFill>
              <a:latin typeface="Calibri"/>
              <a:ea typeface="Calibri"/>
              <a:cs typeface="Calibri"/>
              <a:sym typeface="Calibri"/>
            </a:endParaRPr>
          </a:p>
        </p:txBody>
      </p:sp>
      <p:sp>
        <p:nvSpPr>
          <p:cNvPr id="252" name="Google Shape;252;p8"/>
          <p:cNvSpPr/>
          <p:nvPr/>
        </p:nvSpPr>
        <p:spPr>
          <a:xfrm>
            <a:off x="4590292" y="1063150"/>
            <a:ext cx="1828800" cy="953100"/>
          </a:xfrm>
          <a:prstGeom prst="rect">
            <a:avLst/>
          </a:prstGeom>
          <a:solidFill>
            <a:srgbClr val="FEF3C7"/>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4590292" y="1063150"/>
            <a:ext cx="1828800" cy="9531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D97706"/>
              </a:buClr>
              <a:buSzPts val="1050"/>
              <a:buFont typeface="Merriweather"/>
              <a:buNone/>
            </a:pPr>
            <a:r>
              <a:rPr b="1" i="0" lang="en-US" sz="1050" u="none" cap="none" strike="noStrike">
                <a:solidFill>
                  <a:srgbClr val="D97706"/>
                </a:solidFill>
                <a:latin typeface="Merriweather"/>
                <a:ea typeface="Merriweather"/>
                <a:cs typeface="Merriweather"/>
                <a:sym typeface="Merriweather"/>
              </a:rPr>
              <a:t>Unified Risk</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7706"/>
              </a:buClr>
              <a:buSzPts val="1050"/>
              <a:buFont typeface="Merriweather"/>
              <a:buNone/>
            </a:pPr>
            <a:r>
              <a:rPr b="1" i="0" lang="en-US" sz="1050" u="none" cap="none" strike="noStrike">
                <a:solidFill>
                  <a:srgbClr val="D97706"/>
                </a:solidFill>
                <a:latin typeface="Merriweather"/>
                <a:ea typeface="Merriweather"/>
                <a:cs typeface="Merriweather"/>
                <a:sym typeface="Merriweather"/>
              </a:rPr>
              <a:t>Engine (Math)</a:t>
            </a:r>
            <a:endParaRPr b="0" i="0" sz="1050" u="none" cap="none" strike="noStrike">
              <a:solidFill>
                <a:schemeClr val="dk1"/>
              </a:solidFill>
              <a:latin typeface="Calibri"/>
              <a:ea typeface="Calibri"/>
              <a:cs typeface="Calibri"/>
              <a:sym typeface="Calibri"/>
            </a:endParaRPr>
          </a:p>
        </p:txBody>
      </p:sp>
      <p:cxnSp>
        <p:nvCxnSpPr>
          <p:cNvPr id="254" name="Google Shape;254;p8"/>
          <p:cNvCxnSpPr/>
          <p:nvPr/>
        </p:nvCxnSpPr>
        <p:spPr>
          <a:xfrm>
            <a:off x="6419092" y="1539712"/>
            <a:ext cx="640200" cy="0"/>
          </a:xfrm>
          <a:prstGeom prst="straightConnector1">
            <a:avLst/>
          </a:prstGeom>
          <a:noFill/>
          <a:ln cap="flat" cmpd="sng" w="31750">
            <a:solidFill>
              <a:srgbClr val="06B6D4"/>
            </a:solidFill>
            <a:prstDash val="solid"/>
            <a:round/>
            <a:headEnd len="sm" w="sm" type="none"/>
            <a:tailEnd len="med" w="med" type="stealth"/>
          </a:ln>
        </p:spPr>
      </p:cxnSp>
      <p:sp>
        <p:nvSpPr>
          <p:cNvPr id="255" name="Google Shape;255;p8"/>
          <p:cNvSpPr/>
          <p:nvPr/>
        </p:nvSpPr>
        <p:spPr>
          <a:xfrm>
            <a:off x="4590292" y="2076928"/>
            <a:ext cx="1828800" cy="21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Merriweather"/>
              <a:buNone/>
            </a:pPr>
            <a:r>
              <a:rPr b="1" i="0" lang="en-US" sz="1000" u="none" cap="none" strike="noStrike">
                <a:solidFill>
                  <a:schemeClr val="dk1"/>
                </a:solidFill>
                <a:latin typeface="Merriweather"/>
                <a:ea typeface="Merriweather"/>
                <a:cs typeface="Merriweather"/>
                <a:sym typeface="Merriweather"/>
              </a:rPr>
              <a:t>Step 3</a:t>
            </a:r>
            <a:endParaRPr b="1" i="0" sz="1000" u="none" cap="none" strike="noStrike">
              <a:solidFill>
                <a:schemeClr val="dk1"/>
              </a:solidFill>
              <a:latin typeface="Calibri"/>
              <a:ea typeface="Calibri"/>
              <a:cs typeface="Calibri"/>
              <a:sym typeface="Calibri"/>
            </a:endParaRPr>
          </a:p>
        </p:txBody>
      </p:sp>
      <p:sp>
        <p:nvSpPr>
          <p:cNvPr id="256" name="Google Shape;256;p8"/>
          <p:cNvSpPr/>
          <p:nvPr/>
        </p:nvSpPr>
        <p:spPr>
          <a:xfrm>
            <a:off x="6711700" y="1063150"/>
            <a:ext cx="1828800" cy="953100"/>
          </a:xfrm>
          <a:prstGeom prst="rect">
            <a:avLst/>
          </a:prstGeom>
          <a:solidFill>
            <a:srgbClr val="EDE9FE"/>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8"/>
          <p:cNvSpPr/>
          <p:nvPr/>
        </p:nvSpPr>
        <p:spPr>
          <a:xfrm>
            <a:off x="6711700" y="1063150"/>
            <a:ext cx="1828800" cy="9531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7C3AED"/>
              </a:buClr>
              <a:buSzPts val="1050"/>
              <a:buFont typeface="Merriweather"/>
              <a:buNone/>
            </a:pPr>
            <a:r>
              <a:rPr b="1" i="0" lang="en-US" sz="1050" u="none" cap="none" strike="noStrike">
                <a:solidFill>
                  <a:srgbClr val="7C3AED"/>
                </a:solidFill>
                <a:latin typeface="Merriweather"/>
                <a:ea typeface="Merriweather"/>
                <a:cs typeface="Merriweather"/>
                <a:sym typeface="Merriweather"/>
              </a:rPr>
              <a:t>Gemini AI</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C3AED"/>
              </a:buClr>
              <a:buSzPts val="1050"/>
              <a:buFont typeface="Merriweather"/>
              <a:buNone/>
            </a:pPr>
            <a:r>
              <a:rPr b="1" i="0" lang="en-US" sz="1050" u="none" cap="none" strike="noStrike">
                <a:solidFill>
                  <a:srgbClr val="7C3AED"/>
                </a:solidFill>
                <a:latin typeface="Merriweather"/>
                <a:ea typeface="Merriweather"/>
                <a:cs typeface="Merriweather"/>
                <a:sym typeface="Merriweather"/>
              </a:rPr>
              <a:t>Advisor</a:t>
            </a:r>
            <a:endParaRPr b="0" i="0" sz="1050" u="none" cap="none" strike="noStrike">
              <a:solidFill>
                <a:schemeClr val="dk1"/>
              </a:solidFill>
              <a:latin typeface="Calibri"/>
              <a:ea typeface="Calibri"/>
              <a:cs typeface="Calibri"/>
              <a:sym typeface="Calibri"/>
            </a:endParaRPr>
          </a:p>
        </p:txBody>
      </p:sp>
      <p:sp>
        <p:nvSpPr>
          <p:cNvPr id="258" name="Google Shape;258;p8"/>
          <p:cNvSpPr/>
          <p:nvPr/>
        </p:nvSpPr>
        <p:spPr>
          <a:xfrm>
            <a:off x="6711700" y="2076928"/>
            <a:ext cx="1828800" cy="21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Merriweather"/>
              <a:buNone/>
            </a:pPr>
            <a:r>
              <a:rPr b="1" i="0" lang="en-US" sz="1000" u="none" cap="none" strike="noStrike">
                <a:solidFill>
                  <a:schemeClr val="dk1"/>
                </a:solidFill>
                <a:latin typeface="Merriweather"/>
                <a:ea typeface="Merriweather"/>
                <a:cs typeface="Merriweather"/>
                <a:sym typeface="Merriweather"/>
              </a:rPr>
              <a:t>Step 4</a:t>
            </a:r>
            <a:endParaRPr b="1" i="0" sz="1000" u="none" cap="none" strike="noStrike">
              <a:solidFill>
                <a:schemeClr val="dk1"/>
              </a:solidFill>
              <a:latin typeface="Calibri"/>
              <a:ea typeface="Calibri"/>
              <a:cs typeface="Calibri"/>
              <a:sym typeface="Calibri"/>
            </a:endParaRPr>
          </a:p>
        </p:txBody>
      </p:sp>
      <p:sp>
        <p:nvSpPr>
          <p:cNvPr id="259" name="Google Shape;259;p8"/>
          <p:cNvSpPr/>
          <p:nvPr/>
        </p:nvSpPr>
        <p:spPr>
          <a:xfrm>
            <a:off x="475488" y="2318729"/>
            <a:ext cx="1828800" cy="60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Merriweather"/>
              <a:buNone/>
            </a:pPr>
            <a:r>
              <a:rPr b="1" i="0" lang="en-US" sz="1050" u="none" cap="none" strike="noStrike">
                <a:solidFill>
                  <a:schemeClr val="dk1"/>
                </a:solidFill>
                <a:latin typeface="Merriweather"/>
                <a:ea typeface="Merriweather"/>
                <a:cs typeface="Merriweather"/>
                <a:sym typeface="Merriweather"/>
              </a:rPr>
              <a:t>Port scan → live</a:t>
            </a:r>
            <a:endParaRPr b="1"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950"/>
              <a:buFont typeface="Merriweather"/>
              <a:buNone/>
            </a:pPr>
            <a:r>
              <a:rPr b="1" i="0" lang="en-US" sz="1050" u="none" cap="none" strike="noStrike">
                <a:solidFill>
                  <a:schemeClr val="dk1"/>
                </a:solidFill>
                <a:latin typeface="Merriweather"/>
                <a:ea typeface="Merriweather"/>
                <a:cs typeface="Merriweather"/>
                <a:sym typeface="Merriweather"/>
              </a:rPr>
              <a:t>network ground truth</a:t>
            </a:r>
            <a:endParaRPr b="1" i="0" sz="1050" u="none" cap="none" strike="noStrike">
              <a:solidFill>
                <a:schemeClr val="dk1"/>
              </a:solidFill>
              <a:latin typeface="Calibri"/>
              <a:ea typeface="Calibri"/>
              <a:cs typeface="Calibri"/>
              <a:sym typeface="Calibri"/>
            </a:endParaRPr>
          </a:p>
        </p:txBody>
      </p:sp>
      <p:sp>
        <p:nvSpPr>
          <p:cNvPr id="260" name="Google Shape;260;p8"/>
          <p:cNvSpPr/>
          <p:nvPr/>
        </p:nvSpPr>
        <p:spPr>
          <a:xfrm>
            <a:off x="2596896" y="2318729"/>
            <a:ext cx="1828800" cy="60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Merriweather"/>
              <a:buNone/>
            </a:pPr>
            <a:r>
              <a:rPr b="1" i="0" lang="en-US" sz="1050" u="none" cap="none" strike="noStrike">
                <a:solidFill>
                  <a:schemeClr val="dk1"/>
                </a:solidFill>
                <a:latin typeface="Merriweather"/>
                <a:ea typeface="Merriweather"/>
                <a:cs typeface="Merriweather"/>
                <a:sym typeface="Merriweather"/>
              </a:rPr>
              <a:t>Template matching →</a:t>
            </a:r>
            <a:endParaRPr b="1"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950"/>
              <a:buFont typeface="Merriweather"/>
              <a:buNone/>
            </a:pPr>
            <a:r>
              <a:rPr b="1" i="0" lang="en-US" sz="1050" u="none" cap="none" strike="noStrike">
                <a:solidFill>
                  <a:schemeClr val="dk1"/>
                </a:solidFill>
                <a:latin typeface="Merriweather"/>
                <a:ea typeface="Merriweather"/>
                <a:cs typeface="Merriweather"/>
                <a:sym typeface="Merriweather"/>
              </a:rPr>
              <a:t>verified CVE findings</a:t>
            </a:r>
            <a:endParaRPr b="1" i="0" sz="1050" u="none" cap="none" strike="noStrike">
              <a:solidFill>
                <a:schemeClr val="dk1"/>
              </a:solidFill>
              <a:latin typeface="Calibri"/>
              <a:ea typeface="Calibri"/>
              <a:cs typeface="Calibri"/>
              <a:sym typeface="Calibri"/>
            </a:endParaRPr>
          </a:p>
        </p:txBody>
      </p:sp>
      <p:sp>
        <p:nvSpPr>
          <p:cNvPr id="261" name="Google Shape;261;p8"/>
          <p:cNvSpPr/>
          <p:nvPr/>
        </p:nvSpPr>
        <p:spPr>
          <a:xfrm>
            <a:off x="4718304" y="2318729"/>
            <a:ext cx="1828800" cy="60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Merriweather"/>
              <a:buNone/>
            </a:pPr>
            <a:r>
              <a:rPr b="1" i="0" lang="en-US" sz="1050" u="none" cap="none" strike="noStrike">
                <a:solidFill>
                  <a:schemeClr val="dk1"/>
                </a:solidFill>
                <a:latin typeface="Merriweather"/>
                <a:ea typeface="Merriweather"/>
                <a:cs typeface="Merriweather"/>
                <a:sym typeface="Merriweather"/>
              </a:rPr>
              <a:t>CVSS × Criticality →</a:t>
            </a:r>
            <a:endParaRPr b="1"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950"/>
              <a:buFont typeface="Merriweather"/>
              <a:buNone/>
            </a:pPr>
            <a:r>
              <a:rPr b="1" i="0" lang="en-US" sz="1050" u="none" cap="none" strike="noStrike">
                <a:solidFill>
                  <a:schemeClr val="dk1"/>
                </a:solidFill>
                <a:latin typeface="Merriweather"/>
                <a:ea typeface="Merriweather"/>
                <a:cs typeface="Merriweather"/>
                <a:sym typeface="Merriweather"/>
              </a:rPr>
              <a:t>deterministic score</a:t>
            </a:r>
            <a:endParaRPr b="1" i="0" sz="1050" u="none" cap="none" strike="noStrike">
              <a:solidFill>
                <a:schemeClr val="dk1"/>
              </a:solidFill>
              <a:latin typeface="Calibri"/>
              <a:ea typeface="Calibri"/>
              <a:cs typeface="Calibri"/>
              <a:sym typeface="Calibri"/>
            </a:endParaRPr>
          </a:p>
        </p:txBody>
      </p:sp>
      <p:sp>
        <p:nvSpPr>
          <p:cNvPr id="262" name="Google Shape;262;p8"/>
          <p:cNvSpPr/>
          <p:nvPr/>
        </p:nvSpPr>
        <p:spPr>
          <a:xfrm>
            <a:off x="6839712" y="2318729"/>
            <a:ext cx="1828800" cy="60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Merriweather"/>
              <a:buNone/>
            </a:pPr>
            <a:r>
              <a:rPr b="1" i="0" lang="en-US" sz="1050" u="none" cap="none" strike="noStrike">
                <a:solidFill>
                  <a:schemeClr val="dk1"/>
                </a:solidFill>
                <a:latin typeface="Merriweather"/>
                <a:ea typeface="Merriweather"/>
                <a:cs typeface="Merriweather"/>
                <a:sym typeface="Merriweather"/>
              </a:rPr>
              <a:t>Receives only proven</a:t>
            </a:r>
            <a:endParaRPr b="1"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950"/>
              <a:buFont typeface="Merriweather"/>
              <a:buNone/>
            </a:pPr>
            <a:r>
              <a:rPr b="1" i="0" lang="en-US" sz="1050" u="none" cap="none" strike="noStrike">
                <a:solidFill>
                  <a:schemeClr val="dk1"/>
                </a:solidFill>
                <a:latin typeface="Merriweather"/>
                <a:ea typeface="Merriweather"/>
                <a:cs typeface="Merriweather"/>
                <a:sym typeface="Merriweather"/>
              </a:rPr>
              <a:t>data → safe advisory</a:t>
            </a:r>
            <a:endParaRPr b="1" i="0" sz="1050" u="none" cap="none" strike="noStrike">
              <a:solidFill>
                <a:schemeClr val="dk1"/>
              </a:solidFill>
              <a:latin typeface="Calibri"/>
              <a:ea typeface="Calibri"/>
              <a:cs typeface="Calibri"/>
              <a:sym typeface="Calibri"/>
            </a:endParaRPr>
          </a:p>
        </p:txBody>
      </p:sp>
      <p:sp>
        <p:nvSpPr>
          <p:cNvPr id="263" name="Google Shape;263;p8"/>
          <p:cNvSpPr/>
          <p:nvPr/>
        </p:nvSpPr>
        <p:spPr>
          <a:xfrm>
            <a:off x="347472" y="3063240"/>
            <a:ext cx="8449056" cy="16002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p:nvPr/>
        </p:nvSpPr>
        <p:spPr>
          <a:xfrm>
            <a:off x="548640" y="3227832"/>
            <a:ext cx="8046720" cy="130759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PRINCIPLE: Scanners provide undeniable ground truth — AI TRANSLATES, it does NOT scan or decide.</a:t>
            </a:r>
            <a:endParaRPr b="0" i="0" sz="1150" u="none" cap="none" strike="noStrike">
              <a:solidFill>
                <a:schemeClr val="dk1"/>
              </a:solidFill>
              <a:latin typeface="Calibri"/>
              <a:ea typeface="Calibri"/>
              <a:cs typeface="Calibri"/>
              <a:sym typeface="Calibri"/>
            </a:endParaRPr>
          </a:p>
          <a:p>
            <a:pPr indent="-342900" lvl="0" marL="342900" marR="0" rtl="0" algn="l">
              <a:lnSpc>
                <a:spcPct val="150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Trust-but-Verify Methodology</a:t>
            </a:r>
            <a:r>
              <a:rPr b="0" i="0" lang="en-US" sz="1150" u="none" cap="none" strike="noStrike">
                <a:solidFill>
                  <a:srgbClr val="334155"/>
                </a:solidFill>
                <a:latin typeface="Merriweather"/>
                <a:ea typeface="Merriweather"/>
                <a:cs typeface="Merriweather"/>
                <a:sym typeface="Merriweather"/>
              </a:rPr>
              <a:t> — Every AI recommendation is backed by a verifiable scanner artifact stored in PostgreSQL.</a:t>
            </a:r>
            <a:endParaRPr b="0" i="0" sz="1150" u="none" cap="none" strike="noStrike">
              <a:solidFill>
                <a:schemeClr val="dk1"/>
              </a:solidFill>
              <a:latin typeface="Calibri"/>
              <a:ea typeface="Calibri"/>
              <a:cs typeface="Calibri"/>
              <a:sym typeface="Calibri"/>
            </a:endParaRPr>
          </a:p>
          <a:p>
            <a:pPr indent="-342900" lvl="0" marL="342900" marR="0" rtl="0" algn="l">
              <a:lnSpc>
                <a:spcPct val="150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Audit Trail</a:t>
            </a:r>
            <a:r>
              <a:rPr b="0" i="0" lang="en-US" sz="1150" u="none" cap="none" strike="noStrike">
                <a:solidFill>
                  <a:srgbClr val="334155"/>
                </a:solidFill>
                <a:latin typeface="Merriweather"/>
                <a:ea typeface="Merriweather"/>
                <a:cs typeface="Merriweather"/>
                <a:sym typeface="Merriweather"/>
              </a:rPr>
              <a:t> — The full chain (tool output → parsed result → risk score → AI advice) is persisted and queryable.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9"/>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9"/>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9"/>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The Tooling Fragmentation Problem</a:t>
            </a:r>
            <a:endParaRPr b="0" i="0" sz="2200" u="none" cap="none" strike="noStrike">
              <a:solidFill>
                <a:schemeClr val="dk1"/>
              </a:solidFill>
              <a:latin typeface="Calibri"/>
              <a:ea typeface="Calibri"/>
              <a:cs typeface="Calibri"/>
              <a:sym typeface="Calibri"/>
            </a:endParaRPr>
          </a:p>
        </p:txBody>
      </p:sp>
      <p:sp>
        <p:nvSpPr>
          <p:cNvPr id="273" name="Google Shape;273;p9"/>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9/40</a:t>
            </a:r>
            <a:endParaRPr b="0" i="0" sz="800" u="none" cap="none" strike="noStrike">
              <a:solidFill>
                <a:schemeClr val="dk1"/>
              </a:solidFill>
              <a:latin typeface="Calibri"/>
              <a:ea typeface="Calibri"/>
              <a:cs typeface="Calibri"/>
              <a:sym typeface="Calibri"/>
            </a:endParaRPr>
          </a:p>
        </p:txBody>
      </p:sp>
      <p:cxnSp>
        <p:nvCxnSpPr>
          <p:cNvPr id="275" name="Google Shape;275;p9"/>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276" name="Google Shape;276;p9"/>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277" name="Google Shape;277;p9"/>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9"/>
          <p:cNvSpPr/>
          <p:nvPr/>
        </p:nvSpPr>
        <p:spPr>
          <a:xfrm>
            <a:off x="1339522" y="722383"/>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a:off x="1339522" y="722308"/>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Technical Challenge</a:t>
            </a:r>
            <a:endParaRPr b="0" i="0" sz="1000" u="none" cap="none" strike="noStrike">
              <a:solidFill>
                <a:schemeClr val="dk1"/>
              </a:solidFill>
              <a:latin typeface="Calibri"/>
              <a:ea typeface="Calibri"/>
              <a:cs typeface="Calibri"/>
              <a:sym typeface="Calibri"/>
            </a:endParaRPr>
          </a:p>
        </p:txBody>
      </p:sp>
      <p:sp>
        <p:nvSpPr>
          <p:cNvPr id="280" name="Google Shape;280;p9"/>
          <p:cNvSpPr/>
          <p:nvPr/>
        </p:nvSpPr>
        <p:spPr>
          <a:xfrm>
            <a:off x="411475" y="969275"/>
            <a:ext cx="4233600" cy="37674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9"/>
          <p:cNvSpPr/>
          <p:nvPr/>
        </p:nvSpPr>
        <p:spPr>
          <a:xfrm>
            <a:off x="548650" y="1101000"/>
            <a:ext cx="4096500" cy="3507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Disparate Output Formats</a:t>
            </a:r>
            <a:r>
              <a:rPr b="0" i="0" lang="en-US" sz="1150" u="none" cap="none" strike="noStrike">
                <a:solidFill>
                  <a:srgbClr val="334155"/>
                </a:solidFill>
                <a:latin typeface="Merriweather"/>
                <a:ea typeface="Merriweather"/>
                <a:cs typeface="Merriweather"/>
                <a:sym typeface="Merriweather"/>
              </a:rPr>
              <a:t> — Nmap outputs XML, Nuclei outputs JSONL, Wazuh outputs syslog — no common schema.</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Long Execution Times</a:t>
            </a:r>
            <a:r>
              <a:rPr b="0" i="0" lang="en-US" sz="1150" u="none" cap="none" strike="noStrike">
                <a:solidFill>
                  <a:srgbClr val="334155"/>
                </a:solidFill>
                <a:latin typeface="Merriweather"/>
                <a:ea typeface="Merriweather"/>
                <a:cs typeface="Merriweather"/>
                <a:sym typeface="Merriweather"/>
              </a:rPr>
              <a:t> — A full Nmap SYN scan on a /24 subnet can take 30–90 minutes.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No Standardized Risk Scoring</a:t>
            </a:r>
            <a:r>
              <a:rPr b="0" i="0" lang="en-US" sz="1150" u="none" cap="none" strike="noStrike">
                <a:solidFill>
                  <a:srgbClr val="334155"/>
                </a:solidFill>
                <a:latin typeface="Merriweather"/>
                <a:ea typeface="Merriweather"/>
                <a:cs typeface="Merriweather"/>
                <a:sym typeface="Merriweather"/>
              </a:rPr>
              <a:t> — Each tool has its own severity labels (High/Medium/Low) with no numeric mapping.</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Double-Effort Parsing</a:t>
            </a:r>
            <a:r>
              <a:rPr b="0" i="0" lang="en-US" sz="1150" u="none" cap="none" strike="noStrike">
                <a:solidFill>
                  <a:srgbClr val="334155"/>
                </a:solidFill>
                <a:latin typeface="Merriweather"/>
                <a:ea typeface="Merriweather"/>
                <a:cs typeface="Merriweather"/>
                <a:sym typeface="Merriweather"/>
              </a:rPr>
              <a:t> — Teams must write custom parsers for each tool, every update can break them.</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No Correlation</a:t>
            </a:r>
            <a:r>
              <a:rPr b="0" i="0" lang="en-US" sz="1150" u="none" cap="none" strike="noStrike">
                <a:solidFill>
                  <a:srgbClr val="334155"/>
                </a:solidFill>
                <a:latin typeface="Merriweather"/>
                <a:ea typeface="Merriweather"/>
                <a:cs typeface="Merriweather"/>
                <a:sym typeface="Merriweather"/>
              </a:rPr>
              <a:t> — External scan results cannot be automatically correlated with internal SIEM events.</a:t>
            </a:r>
            <a:endParaRPr b="0" i="0" sz="1150" u="none" cap="none" strike="noStrike">
              <a:solidFill>
                <a:schemeClr val="dk1"/>
              </a:solidFill>
              <a:latin typeface="Calibri"/>
              <a:ea typeface="Calibri"/>
              <a:cs typeface="Calibri"/>
              <a:sym typeface="Calibri"/>
            </a:endParaRPr>
          </a:p>
        </p:txBody>
      </p:sp>
      <p:sp>
        <p:nvSpPr>
          <p:cNvPr id="282" name="Google Shape;282;p9"/>
          <p:cNvSpPr/>
          <p:nvPr/>
        </p:nvSpPr>
        <p:spPr>
          <a:xfrm>
            <a:off x="4989250" y="1309463"/>
            <a:ext cx="1645800" cy="68580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9"/>
          <p:cNvSpPr/>
          <p:nvPr/>
        </p:nvSpPr>
        <p:spPr>
          <a:xfrm>
            <a:off x="4989250" y="1309463"/>
            <a:ext cx="1645800" cy="6858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Nmap</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XML</a:t>
            </a:r>
            <a:endParaRPr b="0" i="0" sz="1000" u="none" cap="none" strike="noStrike">
              <a:solidFill>
                <a:schemeClr val="dk1"/>
              </a:solidFill>
              <a:latin typeface="Calibri"/>
              <a:ea typeface="Calibri"/>
              <a:cs typeface="Calibri"/>
              <a:sym typeface="Calibri"/>
            </a:endParaRPr>
          </a:p>
        </p:txBody>
      </p:sp>
      <p:cxnSp>
        <p:nvCxnSpPr>
          <p:cNvPr id="284" name="Google Shape;284;p9"/>
          <p:cNvCxnSpPr/>
          <p:nvPr/>
        </p:nvCxnSpPr>
        <p:spPr>
          <a:xfrm>
            <a:off x="6635170" y="1652363"/>
            <a:ext cx="685800" cy="0"/>
          </a:xfrm>
          <a:prstGeom prst="straightConnector1">
            <a:avLst/>
          </a:prstGeom>
          <a:noFill/>
          <a:ln cap="flat" cmpd="sng" w="19050">
            <a:solidFill>
              <a:srgbClr val="94A3B8"/>
            </a:solidFill>
            <a:prstDash val="solid"/>
            <a:round/>
            <a:headEnd len="sm" w="sm" type="none"/>
            <a:tailEnd len="med" w="med" type="stealth"/>
          </a:ln>
        </p:spPr>
      </p:cxnSp>
      <p:sp>
        <p:nvSpPr>
          <p:cNvPr id="285" name="Google Shape;285;p9"/>
          <p:cNvSpPr/>
          <p:nvPr/>
        </p:nvSpPr>
        <p:spPr>
          <a:xfrm>
            <a:off x="4989250" y="2223863"/>
            <a:ext cx="1645800" cy="685800"/>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p:nvPr/>
        </p:nvSpPr>
        <p:spPr>
          <a:xfrm>
            <a:off x="4989250" y="2223863"/>
            <a:ext cx="1645800" cy="6858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Nuclei</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JSONL</a:t>
            </a:r>
            <a:endParaRPr b="0" i="0" sz="1000" u="none" cap="none" strike="noStrike">
              <a:solidFill>
                <a:schemeClr val="dk1"/>
              </a:solidFill>
              <a:latin typeface="Calibri"/>
              <a:ea typeface="Calibri"/>
              <a:cs typeface="Calibri"/>
              <a:sym typeface="Calibri"/>
            </a:endParaRPr>
          </a:p>
        </p:txBody>
      </p:sp>
      <p:cxnSp>
        <p:nvCxnSpPr>
          <p:cNvPr id="287" name="Google Shape;287;p9"/>
          <p:cNvCxnSpPr/>
          <p:nvPr/>
        </p:nvCxnSpPr>
        <p:spPr>
          <a:xfrm>
            <a:off x="6635170" y="2566763"/>
            <a:ext cx="685800" cy="0"/>
          </a:xfrm>
          <a:prstGeom prst="straightConnector1">
            <a:avLst/>
          </a:prstGeom>
          <a:noFill/>
          <a:ln cap="flat" cmpd="sng" w="19050">
            <a:solidFill>
              <a:srgbClr val="94A3B8"/>
            </a:solidFill>
            <a:prstDash val="solid"/>
            <a:round/>
            <a:headEnd len="sm" w="sm" type="none"/>
            <a:tailEnd len="med" w="med" type="stealth"/>
          </a:ln>
        </p:spPr>
      </p:cxnSp>
      <p:sp>
        <p:nvSpPr>
          <p:cNvPr id="288" name="Google Shape;288;p9"/>
          <p:cNvSpPr/>
          <p:nvPr/>
        </p:nvSpPr>
        <p:spPr>
          <a:xfrm>
            <a:off x="4989250" y="3138263"/>
            <a:ext cx="1645800" cy="685800"/>
          </a:xfrm>
          <a:prstGeom prst="rect">
            <a:avLst/>
          </a:prstGeom>
          <a:solidFill>
            <a:srgbClr val="FEF3C7"/>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p:nvPr/>
        </p:nvSpPr>
        <p:spPr>
          <a:xfrm>
            <a:off x="4989250" y="3138263"/>
            <a:ext cx="1645800" cy="6858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Wazuh</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Syslog</a:t>
            </a:r>
            <a:endParaRPr b="0" i="0" sz="1000" u="none" cap="none" strike="noStrike">
              <a:solidFill>
                <a:schemeClr val="dk1"/>
              </a:solidFill>
              <a:latin typeface="Calibri"/>
              <a:ea typeface="Calibri"/>
              <a:cs typeface="Calibri"/>
              <a:sym typeface="Calibri"/>
            </a:endParaRPr>
          </a:p>
        </p:txBody>
      </p:sp>
      <p:cxnSp>
        <p:nvCxnSpPr>
          <p:cNvPr id="290" name="Google Shape;290;p9"/>
          <p:cNvCxnSpPr/>
          <p:nvPr/>
        </p:nvCxnSpPr>
        <p:spPr>
          <a:xfrm>
            <a:off x="6635170" y="3481163"/>
            <a:ext cx="685800" cy="0"/>
          </a:xfrm>
          <a:prstGeom prst="straightConnector1">
            <a:avLst/>
          </a:prstGeom>
          <a:noFill/>
          <a:ln cap="flat" cmpd="sng" w="19050">
            <a:solidFill>
              <a:srgbClr val="94A3B8"/>
            </a:solidFill>
            <a:prstDash val="solid"/>
            <a:round/>
            <a:headEnd len="sm" w="sm" type="none"/>
            <a:tailEnd len="med" w="med" type="stealth"/>
          </a:ln>
        </p:spPr>
      </p:cxnSp>
      <p:sp>
        <p:nvSpPr>
          <p:cNvPr id="291" name="Google Shape;291;p9"/>
          <p:cNvSpPr/>
          <p:nvPr/>
        </p:nvSpPr>
        <p:spPr>
          <a:xfrm>
            <a:off x="7320975" y="1318737"/>
            <a:ext cx="1326000" cy="2276700"/>
          </a:xfrm>
          <a:prstGeom prst="rect">
            <a:avLst/>
          </a:prstGeom>
          <a:solidFill>
            <a:srgbClr val="FEE2E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9"/>
          <p:cNvSpPr/>
          <p:nvPr/>
        </p:nvSpPr>
        <p:spPr>
          <a:xfrm>
            <a:off x="7320975" y="1364337"/>
            <a:ext cx="1326000" cy="22767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DC2626"/>
              </a:buClr>
              <a:buSzPts val="1000"/>
              <a:buFont typeface="Merriweather"/>
              <a:buNone/>
            </a:pPr>
            <a:r>
              <a:rPr b="1" i="0" lang="en-US" sz="1100" u="none" cap="none" strike="noStrike">
                <a:solidFill>
                  <a:srgbClr val="DC2626"/>
                </a:solidFill>
                <a:latin typeface="Merriweather"/>
                <a:ea typeface="Merriweather"/>
                <a:cs typeface="Merriweather"/>
                <a:sym typeface="Merriweather"/>
              </a:rPr>
              <a:t>No</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C2626"/>
              </a:buClr>
              <a:buSzPts val="1000"/>
              <a:buFont typeface="Merriweather"/>
              <a:buNone/>
            </a:pPr>
            <a:r>
              <a:rPr b="1" i="0" lang="en-US" sz="1100" u="none" cap="none" strike="noStrike">
                <a:solidFill>
                  <a:srgbClr val="DC2626"/>
                </a:solidFill>
                <a:latin typeface="Merriweather"/>
                <a:ea typeface="Merriweather"/>
                <a:cs typeface="Merriweather"/>
                <a:sym typeface="Merriweather"/>
              </a:rPr>
              <a:t>Unified</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C2626"/>
              </a:buClr>
              <a:buSzPts val="1000"/>
              <a:buFont typeface="Merriweather"/>
              <a:buNone/>
            </a:pPr>
            <a:r>
              <a:rPr b="1" i="0" lang="en-US" sz="1100" u="none" cap="none" strike="noStrike">
                <a:solidFill>
                  <a:srgbClr val="DC2626"/>
                </a:solidFill>
                <a:latin typeface="Merriweather"/>
                <a:ea typeface="Merriweather"/>
                <a:cs typeface="Merriweather"/>
                <a:sym typeface="Merriweather"/>
              </a:rPr>
              <a:t>Schema</a:t>
            </a:r>
            <a:endParaRPr b="0" i="0" sz="1100" u="none" cap="none" strike="noStrike">
              <a:solidFill>
                <a:schemeClr val="dk1"/>
              </a:solidFill>
              <a:latin typeface="Calibri"/>
              <a:ea typeface="Calibri"/>
              <a:cs typeface="Calibri"/>
              <a:sym typeface="Calibri"/>
            </a:endParaRPr>
          </a:p>
        </p:txBody>
      </p:sp>
      <p:sp>
        <p:nvSpPr>
          <p:cNvPr id="293" name="Google Shape;293;p9"/>
          <p:cNvSpPr/>
          <p:nvPr/>
        </p:nvSpPr>
        <p:spPr>
          <a:xfrm>
            <a:off x="4897810" y="4125815"/>
            <a:ext cx="3840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950"/>
              <a:buFont typeface="Merriweather"/>
              <a:buNone/>
            </a:pPr>
            <a:r>
              <a:rPr b="1" i="0" lang="en-US" sz="1150" u="none" cap="none" strike="noStrike">
                <a:solidFill>
                  <a:srgbClr val="DC2626"/>
                </a:solidFill>
                <a:latin typeface="Merriweather"/>
                <a:ea typeface="Merriweather"/>
                <a:cs typeface="Merriweather"/>
                <a:sym typeface="Merriweather"/>
              </a:rPr>
              <a:t>Each tool speaks a different language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 name="Shape 298"/>
        <p:cNvGrpSpPr/>
        <p:nvPr/>
      </p:nvGrpSpPr>
      <p:grpSpPr>
        <a:xfrm>
          <a:off x="0" y="0"/>
          <a:ext cx="0" cy="0"/>
          <a:chOff x="0" y="0"/>
          <a:chExt cx="0" cy="0"/>
        </a:xfrm>
      </p:grpSpPr>
      <p:sp>
        <p:nvSpPr>
          <p:cNvPr id="299" name="Google Shape;299;p10"/>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0"/>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0"/>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The Found 404 Orchestration Solution</a:t>
            </a:r>
            <a:endParaRPr b="0" i="0" sz="2200" u="none" cap="none" strike="noStrike">
              <a:solidFill>
                <a:schemeClr val="dk1"/>
              </a:solidFill>
              <a:latin typeface="Calibri"/>
              <a:ea typeface="Calibri"/>
              <a:cs typeface="Calibri"/>
              <a:sym typeface="Calibri"/>
            </a:endParaRPr>
          </a:p>
        </p:txBody>
      </p:sp>
      <p:sp>
        <p:nvSpPr>
          <p:cNvPr id="302" name="Google Shape;302;p10"/>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0"/>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10/40</a:t>
            </a:r>
            <a:endParaRPr b="0" i="0" sz="800" u="none" cap="none" strike="noStrike">
              <a:solidFill>
                <a:schemeClr val="dk1"/>
              </a:solidFill>
              <a:latin typeface="Calibri"/>
              <a:ea typeface="Calibri"/>
              <a:cs typeface="Calibri"/>
              <a:sym typeface="Calibri"/>
            </a:endParaRPr>
          </a:p>
        </p:txBody>
      </p:sp>
      <p:cxnSp>
        <p:nvCxnSpPr>
          <p:cNvPr id="304" name="Google Shape;304;p10"/>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305" name="Google Shape;305;p10"/>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306" name="Google Shape;306;p10"/>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0"/>
          <p:cNvSpPr/>
          <p:nvPr/>
        </p:nvSpPr>
        <p:spPr>
          <a:xfrm>
            <a:off x="3383285" y="777233"/>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0"/>
          <p:cNvSpPr/>
          <p:nvPr/>
        </p:nvSpPr>
        <p:spPr>
          <a:xfrm>
            <a:off x="3383285" y="777233"/>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Core Architecture</a:t>
            </a:r>
            <a:endParaRPr b="0" i="0" sz="1000" u="none" cap="none" strike="noStrike">
              <a:solidFill>
                <a:schemeClr val="dk1"/>
              </a:solidFill>
              <a:latin typeface="Calibri"/>
              <a:ea typeface="Calibri"/>
              <a:cs typeface="Calibri"/>
              <a:sym typeface="Calibri"/>
            </a:endParaRPr>
          </a:p>
        </p:txBody>
      </p:sp>
      <p:sp>
        <p:nvSpPr>
          <p:cNvPr id="309" name="Google Shape;309;p10"/>
          <p:cNvSpPr/>
          <p:nvPr/>
        </p:nvSpPr>
        <p:spPr>
          <a:xfrm>
            <a:off x="347472" y="1051560"/>
            <a:ext cx="1426464" cy="86868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0"/>
          <p:cNvSpPr/>
          <p:nvPr/>
        </p:nvSpPr>
        <p:spPr>
          <a:xfrm>
            <a:off x="347472" y="1051560"/>
            <a:ext cx="1426464" cy="86868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API</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Request</a:t>
            </a:r>
            <a:endParaRPr b="0" i="0" sz="1000" u="none" cap="none" strike="noStrike">
              <a:solidFill>
                <a:schemeClr val="dk1"/>
              </a:solidFill>
              <a:latin typeface="Calibri"/>
              <a:ea typeface="Calibri"/>
              <a:cs typeface="Calibri"/>
              <a:sym typeface="Calibri"/>
            </a:endParaRPr>
          </a:p>
        </p:txBody>
      </p:sp>
      <p:cxnSp>
        <p:nvCxnSpPr>
          <p:cNvPr id="311" name="Google Shape;311;p10"/>
          <p:cNvCxnSpPr/>
          <p:nvPr/>
        </p:nvCxnSpPr>
        <p:spPr>
          <a:xfrm>
            <a:off x="1773936" y="1485900"/>
            <a:ext cx="210312" cy="0"/>
          </a:xfrm>
          <a:prstGeom prst="straightConnector1">
            <a:avLst/>
          </a:prstGeom>
          <a:noFill/>
          <a:ln cap="flat" cmpd="sng" w="25400">
            <a:solidFill>
              <a:srgbClr val="06B6D4"/>
            </a:solidFill>
            <a:prstDash val="solid"/>
            <a:round/>
            <a:headEnd len="sm" w="sm" type="none"/>
            <a:tailEnd len="med" w="med" type="stealth"/>
          </a:ln>
        </p:spPr>
      </p:cxnSp>
      <p:sp>
        <p:nvSpPr>
          <p:cNvPr id="312" name="Google Shape;312;p10"/>
          <p:cNvSpPr/>
          <p:nvPr/>
        </p:nvSpPr>
        <p:spPr>
          <a:xfrm>
            <a:off x="1984248" y="1051560"/>
            <a:ext cx="1426464" cy="868680"/>
          </a:xfrm>
          <a:prstGeom prst="rect">
            <a:avLst/>
          </a:prstGeom>
          <a:solidFill>
            <a:srgbClr val="EDE9FE"/>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0"/>
          <p:cNvSpPr/>
          <p:nvPr/>
        </p:nvSpPr>
        <p:spPr>
          <a:xfrm>
            <a:off x="1984248" y="1051560"/>
            <a:ext cx="1426464" cy="86868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Redis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Queue</a:t>
            </a:r>
            <a:endParaRPr b="0" i="0" sz="1000" u="none" cap="none" strike="noStrike">
              <a:solidFill>
                <a:schemeClr val="dk1"/>
              </a:solidFill>
              <a:latin typeface="Calibri"/>
              <a:ea typeface="Calibri"/>
              <a:cs typeface="Calibri"/>
              <a:sym typeface="Calibri"/>
            </a:endParaRPr>
          </a:p>
        </p:txBody>
      </p:sp>
      <p:cxnSp>
        <p:nvCxnSpPr>
          <p:cNvPr id="314" name="Google Shape;314;p10"/>
          <p:cNvCxnSpPr/>
          <p:nvPr/>
        </p:nvCxnSpPr>
        <p:spPr>
          <a:xfrm>
            <a:off x="3410712" y="1485900"/>
            <a:ext cx="210312" cy="0"/>
          </a:xfrm>
          <a:prstGeom prst="straightConnector1">
            <a:avLst/>
          </a:prstGeom>
          <a:noFill/>
          <a:ln cap="flat" cmpd="sng" w="25400">
            <a:solidFill>
              <a:srgbClr val="06B6D4"/>
            </a:solidFill>
            <a:prstDash val="solid"/>
            <a:round/>
            <a:headEnd len="sm" w="sm" type="none"/>
            <a:tailEnd len="med" w="med" type="stealth"/>
          </a:ln>
        </p:spPr>
      </p:cxnSp>
      <p:sp>
        <p:nvSpPr>
          <p:cNvPr id="315" name="Google Shape;315;p10"/>
          <p:cNvSpPr/>
          <p:nvPr/>
        </p:nvSpPr>
        <p:spPr>
          <a:xfrm>
            <a:off x="3621024" y="1051560"/>
            <a:ext cx="1426464" cy="868680"/>
          </a:xfrm>
          <a:prstGeom prst="rect">
            <a:avLst/>
          </a:prstGeom>
          <a:solidFill>
            <a:srgbClr val="FEF3C7"/>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0"/>
          <p:cNvSpPr/>
          <p:nvPr/>
        </p:nvSpPr>
        <p:spPr>
          <a:xfrm>
            <a:off x="3621024" y="1051560"/>
            <a:ext cx="1426464" cy="86868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Celery</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Worker</a:t>
            </a:r>
            <a:endParaRPr b="0" i="0" sz="1000" u="none" cap="none" strike="noStrike">
              <a:solidFill>
                <a:schemeClr val="dk1"/>
              </a:solidFill>
              <a:latin typeface="Calibri"/>
              <a:ea typeface="Calibri"/>
              <a:cs typeface="Calibri"/>
              <a:sym typeface="Calibri"/>
            </a:endParaRPr>
          </a:p>
        </p:txBody>
      </p:sp>
      <p:cxnSp>
        <p:nvCxnSpPr>
          <p:cNvPr id="317" name="Google Shape;317;p10"/>
          <p:cNvCxnSpPr/>
          <p:nvPr/>
        </p:nvCxnSpPr>
        <p:spPr>
          <a:xfrm>
            <a:off x="5047488" y="1485900"/>
            <a:ext cx="210312" cy="0"/>
          </a:xfrm>
          <a:prstGeom prst="straightConnector1">
            <a:avLst/>
          </a:prstGeom>
          <a:noFill/>
          <a:ln cap="flat" cmpd="sng" w="25400">
            <a:solidFill>
              <a:srgbClr val="06B6D4"/>
            </a:solidFill>
            <a:prstDash val="solid"/>
            <a:round/>
            <a:headEnd len="sm" w="sm" type="none"/>
            <a:tailEnd len="med" w="med" type="stealth"/>
          </a:ln>
        </p:spPr>
      </p:cxnSp>
      <p:sp>
        <p:nvSpPr>
          <p:cNvPr id="318" name="Google Shape;318;p10"/>
          <p:cNvSpPr/>
          <p:nvPr/>
        </p:nvSpPr>
        <p:spPr>
          <a:xfrm>
            <a:off x="5257800" y="1051560"/>
            <a:ext cx="1426464" cy="868680"/>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0"/>
          <p:cNvSpPr/>
          <p:nvPr/>
        </p:nvSpPr>
        <p:spPr>
          <a:xfrm>
            <a:off x="5257800" y="1051560"/>
            <a:ext cx="1426464" cy="86868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Tool</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Chain</a:t>
            </a:r>
            <a:endParaRPr b="0" i="0" sz="1000" u="none" cap="none" strike="noStrike">
              <a:solidFill>
                <a:schemeClr val="dk1"/>
              </a:solidFill>
              <a:latin typeface="Calibri"/>
              <a:ea typeface="Calibri"/>
              <a:cs typeface="Calibri"/>
              <a:sym typeface="Calibri"/>
            </a:endParaRPr>
          </a:p>
        </p:txBody>
      </p:sp>
      <p:cxnSp>
        <p:nvCxnSpPr>
          <p:cNvPr id="320" name="Google Shape;320;p10"/>
          <p:cNvCxnSpPr/>
          <p:nvPr/>
        </p:nvCxnSpPr>
        <p:spPr>
          <a:xfrm>
            <a:off x="6684264" y="1485900"/>
            <a:ext cx="210312" cy="0"/>
          </a:xfrm>
          <a:prstGeom prst="straightConnector1">
            <a:avLst/>
          </a:prstGeom>
          <a:noFill/>
          <a:ln cap="flat" cmpd="sng" w="25400">
            <a:solidFill>
              <a:srgbClr val="06B6D4"/>
            </a:solidFill>
            <a:prstDash val="solid"/>
            <a:round/>
            <a:headEnd len="sm" w="sm" type="none"/>
            <a:tailEnd len="med" w="med" type="stealth"/>
          </a:ln>
        </p:spPr>
      </p:cxnSp>
      <p:sp>
        <p:nvSpPr>
          <p:cNvPr id="321" name="Google Shape;321;p10"/>
          <p:cNvSpPr/>
          <p:nvPr/>
        </p:nvSpPr>
        <p:spPr>
          <a:xfrm>
            <a:off x="6894576" y="1051560"/>
            <a:ext cx="1426464" cy="868680"/>
          </a:xfrm>
          <a:prstGeom prst="rect">
            <a:avLst/>
          </a:prstGeom>
          <a:solidFill>
            <a:srgbClr val="CFFAFE"/>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0"/>
          <p:cNvSpPr/>
          <p:nvPr/>
        </p:nvSpPr>
        <p:spPr>
          <a:xfrm>
            <a:off x="6894576" y="1051560"/>
            <a:ext cx="1426464" cy="86868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Unified</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DB</a:t>
            </a:r>
            <a:endParaRPr b="0" i="0" sz="1000" u="none" cap="none" strike="noStrike">
              <a:solidFill>
                <a:schemeClr val="dk1"/>
              </a:solidFill>
              <a:latin typeface="Calibri"/>
              <a:ea typeface="Calibri"/>
              <a:cs typeface="Calibri"/>
              <a:sym typeface="Calibri"/>
            </a:endParaRPr>
          </a:p>
        </p:txBody>
      </p:sp>
      <p:sp>
        <p:nvSpPr>
          <p:cNvPr id="323" name="Google Shape;323;p10"/>
          <p:cNvSpPr/>
          <p:nvPr/>
        </p:nvSpPr>
        <p:spPr>
          <a:xfrm>
            <a:off x="347472" y="1993392"/>
            <a:ext cx="844905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Merriweather"/>
              <a:buNone/>
            </a:pPr>
            <a:r>
              <a:rPr b="0" i="0" lang="en-US" sz="1000" u="none" cap="none" strike="noStrike">
                <a:solidFill>
                  <a:srgbClr val="64748B"/>
                </a:solidFill>
                <a:latin typeface="Merriweather"/>
                <a:ea typeface="Merriweather"/>
                <a:cs typeface="Merriweather"/>
                <a:sym typeface="Merriweather"/>
              </a:rPr>
              <a:t>The Orchestration Pipeline — Seamless, Asynchronous, Unified</a:t>
            </a:r>
            <a:endParaRPr b="0" i="0" sz="1000" u="none" cap="none" strike="noStrike">
              <a:solidFill>
                <a:schemeClr val="dk1"/>
              </a:solidFill>
              <a:latin typeface="Calibri"/>
              <a:ea typeface="Calibri"/>
              <a:cs typeface="Calibri"/>
              <a:sym typeface="Calibri"/>
            </a:endParaRPr>
          </a:p>
        </p:txBody>
      </p:sp>
      <p:sp>
        <p:nvSpPr>
          <p:cNvPr id="324" name="Google Shape;324;p10"/>
          <p:cNvSpPr/>
          <p:nvPr/>
        </p:nvSpPr>
        <p:spPr>
          <a:xfrm>
            <a:off x="347472" y="2377440"/>
            <a:ext cx="2633472" cy="2194560"/>
          </a:xfrm>
          <a:prstGeom prst="rect">
            <a:avLst/>
          </a:prstGeom>
          <a:solidFill>
            <a:srgbClr val="E8F9FD"/>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25" name="Google Shape;325;p10"/>
          <p:cNvSpPr/>
          <p:nvPr/>
        </p:nvSpPr>
        <p:spPr>
          <a:xfrm>
            <a:off x="484632" y="2514600"/>
            <a:ext cx="235915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050"/>
              <a:buFont typeface="Merriweather"/>
              <a:buNone/>
            </a:pPr>
            <a:r>
              <a:rPr b="1" i="0" lang="en-US" sz="1150" u="none" cap="none" strike="noStrike">
                <a:solidFill>
                  <a:srgbClr val="0F172A"/>
                </a:solidFill>
                <a:latin typeface="Merriweather"/>
                <a:ea typeface="Merriweather"/>
                <a:cs typeface="Merriweather"/>
                <a:sym typeface="Merriweather"/>
              </a:rPr>
              <a:t>Asynchronous Execution</a:t>
            </a:r>
            <a:endParaRPr b="0" i="0" sz="1150" u="none" cap="none" strike="noStrike">
              <a:solidFill>
                <a:schemeClr val="dk1"/>
              </a:solidFill>
              <a:latin typeface="Calibri"/>
              <a:ea typeface="Calibri"/>
              <a:cs typeface="Calibri"/>
              <a:sym typeface="Calibri"/>
            </a:endParaRPr>
          </a:p>
        </p:txBody>
      </p:sp>
      <p:cxnSp>
        <p:nvCxnSpPr>
          <p:cNvPr id="326" name="Google Shape;326;p10"/>
          <p:cNvCxnSpPr/>
          <p:nvPr/>
        </p:nvCxnSpPr>
        <p:spPr>
          <a:xfrm>
            <a:off x="484632" y="2971800"/>
            <a:ext cx="2359152" cy="0"/>
          </a:xfrm>
          <a:prstGeom prst="straightConnector1">
            <a:avLst/>
          </a:prstGeom>
          <a:noFill/>
          <a:ln cap="flat" cmpd="sng" w="12700">
            <a:solidFill>
              <a:srgbClr val="BAE6FD"/>
            </a:solidFill>
            <a:prstDash val="solid"/>
            <a:round/>
            <a:headEnd len="sm" w="sm" type="none"/>
            <a:tailEnd len="sm" w="sm" type="none"/>
          </a:ln>
        </p:spPr>
      </p:cxnSp>
      <p:sp>
        <p:nvSpPr>
          <p:cNvPr id="327" name="Google Shape;327;p10"/>
          <p:cNvSpPr/>
          <p:nvPr/>
        </p:nvSpPr>
        <p:spPr>
          <a:xfrm>
            <a:off x="484632" y="3035808"/>
            <a:ext cx="2359152" cy="1371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34155"/>
              </a:buClr>
              <a:buSzPts val="1000"/>
              <a:buFont typeface="Merriweather"/>
              <a:buNone/>
            </a:pPr>
            <a:r>
              <a:rPr b="0" i="0" lang="en-US" sz="1200" u="none" cap="none" strike="noStrike">
                <a:solidFill>
                  <a:srgbClr val="334155"/>
                </a:solidFill>
                <a:latin typeface="Merriweather"/>
                <a:ea typeface="Merriweather"/>
                <a:cs typeface="Merriweather"/>
                <a:sym typeface="Merriweather"/>
              </a:rPr>
              <a:t>Heavy scans offloaded via Celery task queue. API responds instantly with Task ID. Zero UI blocking.</a:t>
            </a:r>
            <a:endParaRPr b="0" i="0" sz="1200" u="none" cap="none" strike="noStrike">
              <a:solidFill>
                <a:schemeClr val="dk1"/>
              </a:solidFill>
              <a:latin typeface="Calibri"/>
              <a:ea typeface="Calibri"/>
              <a:cs typeface="Calibri"/>
              <a:sym typeface="Calibri"/>
            </a:endParaRPr>
          </a:p>
        </p:txBody>
      </p:sp>
      <p:sp>
        <p:nvSpPr>
          <p:cNvPr id="328" name="Google Shape;328;p10"/>
          <p:cNvSpPr/>
          <p:nvPr/>
        </p:nvSpPr>
        <p:spPr>
          <a:xfrm>
            <a:off x="3200400" y="2377440"/>
            <a:ext cx="2633472" cy="2194560"/>
          </a:xfrm>
          <a:prstGeom prst="rect">
            <a:avLst/>
          </a:prstGeom>
          <a:solidFill>
            <a:srgbClr val="D1FAE5"/>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29" name="Google Shape;329;p10"/>
          <p:cNvSpPr/>
          <p:nvPr/>
        </p:nvSpPr>
        <p:spPr>
          <a:xfrm>
            <a:off x="3337560" y="2514600"/>
            <a:ext cx="235915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050"/>
              <a:buFont typeface="Merriweather"/>
              <a:buNone/>
            </a:pPr>
            <a:r>
              <a:rPr b="1" i="0" lang="en-US" sz="1150" u="none" cap="none" strike="noStrike">
                <a:solidFill>
                  <a:srgbClr val="0F172A"/>
                </a:solidFill>
                <a:latin typeface="Merriweather"/>
                <a:ea typeface="Merriweather"/>
                <a:cs typeface="Merriweather"/>
                <a:sym typeface="Merriweather"/>
              </a:rPr>
              <a:t>Unified Relational Schema</a:t>
            </a:r>
            <a:endParaRPr b="0" i="0" sz="1150" u="none" cap="none" strike="noStrike">
              <a:solidFill>
                <a:schemeClr val="dk1"/>
              </a:solidFill>
              <a:latin typeface="Calibri"/>
              <a:ea typeface="Calibri"/>
              <a:cs typeface="Calibri"/>
              <a:sym typeface="Calibri"/>
            </a:endParaRPr>
          </a:p>
        </p:txBody>
      </p:sp>
      <p:cxnSp>
        <p:nvCxnSpPr>
          <p:cNvPr id="330" name="Google Shape;330;p10"/>
          <p:cNvCxnSpPr/>
          <p:nvPr/>
        </p:nvCxnSpPr>
        <p:spPr>
          <a:xfrm>
            <a:off x="3337560" y="2971800"/>
            <a:ext cx="2359152" cy="0"/>
          </a:xfrm>
          <a:prstGeom prst="straightConnector1">
            <a:avLst/>
          </a:prstGeom>
          <a:noFill/>
          <a:ln cap="flat" cmpd="sng" w="12700">
            <a:solidFill>
              <a:srgbClr val="BAE6FD"/>
            </a:solidFill>
            <a:prstDash val="solid"/>
            <a:round/>
            <a:headEnd len="sm" w="sm" type="none"/>
            <a:tailEnd len="sm" w="sm" type="none"/>
          </a:ln>
        </p:spPr>
      </p:cxnSp>
      <p:sp>
        <p:nvSpPr>
          <p:cNvPr id="331" name="Google Shape;331;p10"/>
          <p:cNvSpPr/>
          <p:nvPr/>
        </p:nvSpPr>
        <p:spPr>
          <a:xfrm>
            <a:off x="3337560" y="3035808"/>
            <a:ext cx="2359152" cy="1371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34155"/>
              </a:buClr>
              <a:buSzPts val="1000"/>
              <a:buFont typeface="Merriweather"/>
              <a:buNone/>
            </a:pPr>
            <a:r>
              <a:rPr b="0" i="0" lang="en-US" sz="1200" u="none" cap="none" strike="noStrike">
                <a:solidFill>
                  <a:srgbClr val="334155"/>
                </a:solidFill>
                <a:latin typeface="Merriweather"/>
                <a:ea typeface="Merriweather"/>
                <a:cs typeface="Merriweather"/>
                <a:sym typeface="Merriweather"/>
              </a:rPr>
              <a:t>All tool outputs parsed and normalized into PostgreSQL. Single query retrieves complete scan context.</a:t>
            </a:r>
            <a:endParaRPr b="0" i="0" sz="1200" u="none" cap="none" strike="noStrike">
              <a:solidFill>
                <a:schemeClr val="dk1"/>
              </a:solidFill>
              <a:latin typeface="Calibri"/>
              <a:ea typeface="Calibri"/>
              <a:cs typeface="Calibri"/>
              <a:sym typeface="Calibri"/>
            </a:endParaRPr>
          </a:p>
        </p:txBody>
      </p:sp>
      <p:sp>
        <p:nvSpPr>
          <p:cNvPr id="332" name="Google Shape;332;p10"/>
          <p:cNvSpPr/>
          <p:nvPr/>
        </p:nvSpPr>
        <p:spPr>
          <a:xfrm>
            <a:off x="6053328" y="2377440"/>
            <a:ext cx="2633472" cy="2194560"/>
          </a:xfrm>
          <a:prstGeom prst="rect">
            <a:avLst/>
          </a:prstGeom>
          <a:solidFill>
            <a:srgbClr val="EDE9FE"/>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33" name="Google Shape;333;p10"/>
          <p:cNvSpPr/>
          <p:nvPr/>
        </p:nvSpPr>
        <p:spPr>
          <a:xfrm>
            <a:off x="6190488" y="2514600"/>
            <a:ext cx="235915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050"/>
              <a:buFont typeface="Merriweather"/>
              <a:buNone/>
            </a:pPr>
            <a:r>
              <a:rPr b="1" i="0" lang="en-US" sz="1150" u="none" cap="none" strike="noStrike">
                <a:solidFill>
                  <a:srgbClr val="0F172A"/>
                </a:solidFill>
                <a:latin typeface="Merriweather"/>
                <a:ea typeface="Merriweather"/>
                <a:cs typeface="Merriweather"/>
                <a:sym typeface="Merriweather"/>
              </a:rPr>
              <a:t>Fault Tolerant Pipeline</a:t>
            </a:r>
            <a:endParaRPr b="0" i="0" sz="1150" u="none" cap="none" strike="noStrike">
              <a:solidFill>
                <a:schemeClr val="dk1"/>
              </a:solidFill>
              <a:latin typeface="Calibri"/>
              <a:ea typeface="Calibri"/>
              <a:cs typeface="Calibri"/>
              <a:sym typeface="Calibri"/>
            </a:endParaRPr>
          </a:p>
        </p:txBody>
      </p:sp>
      <p:cxnSp>
        <p:nvCxnSpPr>
          <p:cNvPr id="334" name="Google Shape;334;p10"/>
          <p:cNvCxnSpPr/>
          <p:nvPr/>
        </p:nvCxnSpPr>
        <p:spPr>
          <a:xfrm>
            <a:off x="6190488" y="2971800"/>
            <a:ext cx="2359152" cy="0"/>
          </a:xfrm>
          <a:prstGeom prst="straightConnector1">
            <a:avLst/>
          </a:prstGeom>
          <a:noFill/>
          <a:ln cap="flat" cmpd="sng" w="12700">
            <a:solidFill>
              <a:srgbClr val="BAE6FD"/>
            </a:solidFill>
            <a:prstDash val="solid"/>
            <a:round/>
            <a:headEnd len="sm" w="sm" type="none"/>
            <a:tailEnd len="sm" w="sm" type="none"/>
          </a:ln>
        </p:spPr>
      </p:cxnSp>
      <p:sp>
        <p:nvSpPr>
          <p:cNvPr id="335" name="Google Shape;335;p10"/>
          <p:cNvSpPr/>
          <p:nvPr/>
        </p:nvSpPr>
        <p:spPr>
          <a:xfrm>
            <a:off x="6190488" y="3035808"/>
            <a:ext cx="2359152" cy="13716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Clr>
                <a:srgbClr val="334155"/>
              </a:buClr>
              <a:buSzPts val="1000"/>
              <a:buFont typeface="Merriweather"/>
              <a:buNone/>
            </a:pPr>
            <a:r>
              <a:rPr b="0" i="0" lang="en-US" sz="1200" u="none" cap="none" strike="noStrike">
                <a:solidFill>
                  <a:srgbClr val="334155"/>
                </a:solidFill>
                <a:latin typeface="Merriweather"/>
                <a:ea typeface="Merriweather"/>
                <a:cs typeface="Merriweather"/>
                <a:sym typeface="Merriweather"/>
              </a:rPr>
              <a:t>Redis persistence ensures tasks survive worker crashes. Celery retry logic handles transient failures automatically.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424E"/>
        </a:solidFill>
      </p:bgPr>
    </p:bg>
    <p:spTree>
      <p:nvGrpSpPr>
        <p:cNvPr id="340" name="Shape 340"/>
        <p:cNvGrpSpPr/>
        <p:nvPr/>
      </p:nvGrpSpPr>
      <p:grpSpPr>
        <a:xfrm>
          <a:off x="0" y="0"/>
          <a:ext cx="0" cy="0"/>
          <a:chOff x="0" y="0"/>
          <a:chExt cx="0" cy="0"/>
        </a:xfrm>
      </p:grpSpPr>
      <p:pic>
        <p:nvPicPr>
          <p:cNvPr descr="preencoded.png" id="341" name="Google Shape;341;g3d2d178f3e5_5_54"/>
          <p:cNvPicPr preferRelativeResize="0"/>
          <p:nvPr/>
        </p:nvPicPr>
        <p:blipFill rotWithShape="1">
          <a:blip r:embed="rId3">
            <a:alphaModFix/>
          </a:blip>
          <a:srcRect b="0" l="0" r="0" t="0"/>
          <a:stretch/>
        </p:blipFill>
        <p:spPr>
          <a:xfrm>
            <a:off x="4087290" y="1449315"/>
            <a:ext cx="914400" cy="914400"/>
          </a:xfrm>
          <a:prstGeom prst="rect">
            <a:avLst/>
          </a:prstGeom>
          <a:noFill/>
          <a:ln>
            <a:noFill/>
          </a:ln>
        </p:spPr>
      </p:pic>
      <p:pic>
        <p:nvPicPr>
          <p:cNvPr descr="preencoded.png" id="342" name="Google Shape;342;g3d2d178f3e5_5_54"/>
          <p:cNvPicPr preferRelativeResize="0"/>
          <p:nvPr/>
        </p:nvPicPr>
        <p:blipFill rotWithShape="1">
          <a:blip r:embed="rId4">
            <a:alphaModFix/>
          </a:blip>
          <a:srcRect b="0" l="0" r="0" t="0"/>
          <a:stretch/>
        </p:blipFill>
        <p:spPr>
          <a:xfrm>
            <a:off x="3227723" y="407040"/>
            <a:ext cx="640080" cy="640080"/>
          </a:xfrm>
          <a:prstGeom prst="rect">
            <a:avLst/>
          </a:prstGeom>
          <a:noFill/>
          <a:ln>
            <a:noFill/>
          </a:ln>
        </p:spPr>
      </p:pic>
      <p:pic>
        <p:nvPicPr>
          <p:cNvPr descr="preencoded.png" id="343" name="Google Shape;343;g3d2d178f3e5_5_54"/>
          <p:cNvPicPr preferRelativeResize="0"/>
          <p:nvPr/>
        </p:nvPicPr>
        <p:blipFill rotWithShape="1">
          <a:blip r:embed="rId5">
            <a:alphaModFix/>
          </a:blip>
          <a:srcRect b="0" l="0" r="0" t="0"/>
          <a:stretch/>
        </p:blipFill>
        <p:spPr>
          <a:xfrm>
            <a:off x="5138795" y="407040"/>
            <a:ext cx="640080" cy="640080"/>
          </a:xfrm>
          <a:prstGeom prst="rect">
            <a:avLst/>
          </a:prstGeom>
          <a:noFill/>
          <a:ln>
            <a:noFill/>
          </a:ln>
        </p:spPr>
      </p:pic>
      <p:pic>
        <p:nvPicPr>
          <p:cNvPr descr="preencoded.png" id="344" name="Google Shape;344;g3d2d178f3e5_5_54"/>
          <p:cNvPicPr preferRelativeResize="0"/>
          <p:nvPr/>
        </p:nvPicPr>
        <p:blipFill rotWithShape="1">
          <a:blip r:embed="rId6">
            <a:alphaModFix/>
          </a:blip>
          <a:srcRect b="0" l="0" r="0" t="0"/>
          <a:stretch/>
        </p:blipFill>
        <p:spPr>
          <a:xfrm>
            <a:off x="1963820" y="1540770"/>
            <a:ext cx="502920" cy="502920"/>
          </a:xfrm>
          <a:prstGeom prst="rect">
            <a:avLst/>
          </a:prstGeom>
          <a:noFill/>
          <a:ln>
            <a:noFill/>
          </a:ln>
        </p:spPr>
      </p:pic>
      <p:pic>
        <p:nvPicPr>
          <p:cNvPr descr="preencoded.png" id="345" name="Google Shape;345;g3d2d178f3e5_5_54"/>
          <p:cNvPicPr preferRelativeResize="0"/>
          <p:nvPr/>
        </p:nvPicPr>
        <p:blipFill rotWithShape="1">
          <a:blip r:embed="rId7">
            <a:alphaModFix/>
          </a:blip>
          <a:srcRect b="0" l="0" r="0" t="0"/>
          <a:stretch/>
        </p:blipFill>
        <p:spPr>
          <a:xfrm>
            <a:off x="6446530" y="1508895"/>
            <a:ext cx="502920" cy="502920"/>
          </a:xfrm>
          <a:prstGeom prst="rect">
            <a:avLst/>
          </a:prstGeom>
          <a:noFill/>
          <a:ln>
            <a:noFill/>
          </a:ln>
        </p:spPr>
      </p:pic>
      <p:pic>
        <p:nvPicPr>
          <p:cNvPr descr="preencoded.png" id="346" name="Google Shape;346;g3d2d178f3e5_5_54"/>
          <p:cNvPicPr preferRelativeResize="0"/>
          <p:nvPr/>
        </p:nvPicPr>
        <p:blipFill rotWithShape="1">
          <a:blip r:embed="rId8">
            <a:alphaModFix/>
          </a:blip>
          <a:srcRect b="0" l="0" r="0" t="0"/>
          <a:stretch/>
        </p:blipFill>
        <p:spPr>
          <a:xfrm>
            <a:off x="2596780" y="2571738"/>
            <a:ext cx="457200" cy="457200"/>
          </a:xfrm>
          <a:prstGeom prst="rect">
            <a:avLst/>
          </a:prstGeom>
          <a:noFill/>
          <a:ln>
            <a:noFill/>
          </a:ln>
        </p:spPr>
      </p:pic>
      <p:pic>
        <p:nvPicPr>
          <p:cNvPr descr="preencoded.png" id="347" name="Google Shape;347;g3d2d178f3e5_5_54"/>
          <p:cNvPicPr preferRelativeResize="0"/>
          <p:nvPr/>
        </p:nvPicPr>
        <p:blipFill rotWithShape="1">
          <a:blip r:embed="rId9">
            <a:alphaModFix/>
          </a:blip>
          <a:srcRect b="0" l="0" r="0" t="0"/>
          <a:stretch/>
        </p:blipFill>
        <p:spPr>
          <a:xfrm>
            <a:off x="6272783" y="2674625"/>
            <a:ext cx="457200" cy="457200"/>
          </a:xfrm>
          <a:prstGeom prst="rect">
            <a:avLst/>
          </a:prstGeom>
          <a:noFill/>
          <a:ln>
            <a:noFill/>
          </a:ln>
        </p:spPr>
      </p:pic>
      <p:sp>
        <p:nvSpPr>
          <p:cNvPr id="348" name="Google Shape;348;g3d2d178f3e5_5_54"/>
          <p:cNvSpPr/>
          <p:nvPr/>
        </p:nvSpPr>
        <p:spPr>
          <a:xfrm>
            <a:off x="3291840" y="3675888"/>
            <a:ext cx="2560200" cy="36600"/>
          </a:xfrm>
          <a:prstGeom prst="rect">
            <a:avLst/>
          </a:prstGeom>
          <a:solidFill>
            <a:srgbClr val="61DAFB"/>
          </a:solidFill>
          <a:ln cap="flat" cmpd="sng" w="12700">
            <a:solidFill>
              <a:srgbClr val="61DAF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g3d2d178f3e5_5_54"/>
          <p:cNvSpPr/>
          <p:nvPr/>
        </p:nvSpPr>
        <p:spPr>
          <a:xfrm>
            <a:off x="2660799" y="3854188"/>
            <a:ext cx="37674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4A3B8"/>
              </a:buClr>
              <a:buSzPts val="1200"/>
              <a:buFont typeface="Calibri"/>
              <a:buNone/>
            </a:pPr>
            <a:r>
              <a:rPr b="1" lang="en-US" sz="1300">
                <a:solidFill>
                  <a:schemeClr val="lt1"/>
                </a:solidFill>
                <a:latin typeface="Merriweather"/>
                <a:ea typeface="Merriweather"/>
                <a:cs typeface="Merriweather"/>
                <a:sym typeface="Merriweather"/>
              </a:rPr>
              <a:t>T</a:t>
            </a:r>
            <a:r>
              <a:rPr b="1" lang="en-US" sz="1300" u="none" cap="none" strike="noStrike">
                <a:solidFill>
                  <a:schemeClr val="lt1"/>
                </a:solidFill>
                <a:latin typeface="Merriweather"/>
                <a:ea typeface="Merriweather"/>
                <a:cs typeface="Merriweather"/>
                <a:sym typeface="Merriweather"/>
              </a:rPr>
              <a:t>ools that power modern web applications</a:t>
            </a:r>
            <a:endParaRPr b="1" sz="1300" u="none" cap="none" strike="noStrike">
              <a:solidFill>
                <a:schemeClr val="lt1"/>
              </a:solidFill>
              <a:latin typeface="Merriweather"/>
              <a:ea typeface="Merriweather"/>
              <a:cs typeface="Merriweather"/>
              <a:sym typeface="Merriweather"/>
            </a:endParaRPr>
          </a:p>
        </p:txBody>
      </p:sp>
      <p:sp>
        <p:nvSpPr>
          <p:cNvPr id="350" name="Google Shape;350;g3d2d178f3e5_5_54"/>
          <p:cNvSpPr/>
          <p:nvPr/>
        </p:nvSpPr>
        <p:spPr>
          <a:xfrm>
            <a:off x="137150" y="4315981"/>
            <a:ext cx="1188600" cy="502800"/>
          </a:xfrm>
          <a:prstGeom prst="rect">
            <a:avLst/>
          </a:prstGeom>
          <a:solidFill>
            <a:srgbClr val="61DAFB">
              <a:alpha val="18040"/>
            </a:srgbClr>
          </a:solidFill>
          <a:ln cap="flat" cmpd="sng" w="12700">
            <a:solidFill>
              <a:srgbClr val="61DAF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Merriweather"/>
              <a:ea typeface="Merriweather"/>
              <a:cs typeface="Merriweather"/>
              <a:sym typeface="Merriweather"/>
            </a:endParaRPr>
          </a:p>
        </p:txBody>
      </p:sp>
      <p:sp>
        <p:nvSpPr>
          <p:cNvPr id="351" name="Google Shape;351;g3d2d178f3e5_5_54"/>
          <p:cNvSpPr/>
          <p:nvPr/>
        </p:nvSpPr>
        <p:spPr>
          <a:xfrm>
            <a:off x="137150" y="4315981"/>
            <a:ext cx="1188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1DAFB"/>
              </a:buClr>
              <a:buSzPts val="750"/>
              <a:buFont typeface="Calibri"/>
              <a:buNone/>
            </a:pPr>
            <a:r>
              <a:rPr b="1" i="0" lang="en-US" sz="950" u="none" cap="none" strike="noStrike">
                <a:solidFill>
                  <a:srgbClr val="61DAFB"/>
                </a:solidFill>
                <a:latin typeface="Merriweather"/>
                <a:ea typeface="Merriweather"/>
                <a:cs typeface="Merriweather"/>
                <a:sym typeface="Merriweather"/>
              </a:rPr>
              <a:t>React 18</a:t>
            </a:r>
            <a:endParaRPr b="0" i="0" sz="950" u="none" cap="none" strike="noStrike">
              <a:solidFill>
                <a:schemeClr val="dk1"/>
              </a:solidFill>
              <a:latin typeface="Merriweather"/>
              <a:ea typeface="Merriweather"/>
              <a:cs typeface="Merriweather"/>
              <a:sym typeface="Merriweather"/>
            </a:endParaRPr>
          </a:p>
        </p:txBody>
      </p:sp>
      <p:sp>
        <p:nvSpPr>
          <p:cNvPr id="352" name="Google Shape;352;g3d2d178f3e5_5_54"/>
          <p:cNvSpPr/>
          <p:nvPr/>
        </p:nvSpPr>
        <p:spPr>
          <a:xfrm>
            <a:off x="1408167" y="4315981"/>
            <a:ext cx="1188600" cy="502800"/>
          </a:xfrm>
          <a:prstGeom prst="rect">
            <a:avLst/>
          </a:prstGeom>
          <a:solidFill>
            <a:srgbClr val="BD34FE">
              <a:alpha val="18040"/>
            </a:srgbClr>
          </a:solidFill>
          <a:ln cap="flat" cmpd="sng" w="12700">
            <a:solidFill>
              <a:srgbClr val="BD34F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Merriweather"/>
              <a:ea typeface="Merriweather"/>
              <a:cs typeface="Merriweather"/>
              <a:sym typeface="Merriweather"/>
            </a:endParaRPr>
          </a:p>
        </p:txBody>
      </p:sp>
      <p:sp>
        <p:nvSpPr>
          <p:cNvPr id="353" name="Google Shape;353;g3d2d178f3e5_5_54"/>
          <p:cNvSpPr/>
          <p:nvPr/>
        </p:nvSpPr>
        <p:spPr>
          <a:xfrm>
            <a:off x="1408167" y="4315981"/>
            <a:ext cx="1188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BD34FE"/>
              </a:buClr>
              <a:buSzPts val="750"/>
              <a:buFont typeface="Calibri"/>
              <a:buNone/>
            </a:pPr>
            <a:r>
              <a:rPr b="1" i="0" lang="en-US" sz="950" u="none" cap="none" strike="noStrike">
                <a:solidFill>
                  <a:srgbClr val="BD34FE"/>
                </a:solidFill>
                <a:latin typeface="Merriweather"/>
                <a:ea typeface="Merriweather"/>
                <a:cs typeface="Merriweather"/>
                <a:sym typeface="Merriweather"/>
              </a:rPr>
              <a:t>Vite</a:t>
            </a:r>
            <a:endParaRPr b="0" i="0" sz="950" u="none" cap="none" strike="noStrike">
              <a:solidFill>
                <a:schemeClr val="dk1"/>
              </a:solidFill>
              <a:latin typeface="Merriweather"/>
              <a:ea typeface="Merriweather"/>
              <a:cs typeface="Merriweather"/>
              <a:sym typeface="Merriweather"/>
            </a:endParaRPr>
          </a:p>
        </p:txBody>
      </p:sp>
      <p:sp>
        <p:nvSpPr>
          <p:cNvPr id="354" name="Google Shape;354;g3d2d178f3e5_5_54"/>
          <p:cNvSpPr/>
          <p:nvPr/>
        </p:nvSpPr>
        <p:spPr>
          <a:xfrm>
            <a:off x="2679183" y="4315981"/>
            <a:ext cx="1188600" cy="502800"/>
          </a:xfrm>
          <a:prstGeom prst="rect">
            <a:avLst/>
          </a:prstGeom>
          <a:solidFill>
            <a:srgbClr val="FF4154">
              <a:alpha val="18040"/>
            </a:srgbClr>
          </a:solidFill>
          <a:ln cap="flat" cmpd="sng" w="12700">
            <a:solidFill>
              <a:srgbClr val="FF415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Merriweather"/>
              <a:ea typeface="Merriweather"/>
              <a:cs typeface="Merriweather"/>
              <a:sym typeface="Merriweather"/>
            </a:endParaRPr>
          </a:p>
        </p:txBody>
      </p:sp>
      <p:sp>
        <p:nvSpPr>
          <p:cNvPr id="355" name="Google Shape;355;g3d2d178f3e5_5_54"/>
          <p:cNvSpPr/>
          <p:nvPr/>
        </p:nvSpPr>
        <p:spPr>
          <a:xfrm>
            <a:off x="2679183" y="4315981"/>
            <a:ext cx="1188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4154"/>
              </a:buClr>
              <a:buSzPts val="750"/>
              <a:buFont typeface="Calibri"/>
              <a:buNone/>
            </a:pPr>
            <a:r>
              <a:rPr b="1" i="0" lang="en-US" sz="950" u="none" cap="none" strike="noStrike">
                <a:solidFill>
                  <a:srgbClr val="FF4154"/>
                </a:solidFill>
                <a:latin typeface="Merriweather"/>
                <a:ea typeface="Merriweather"/>
                <a:cs typeface="Merriweather"/>
                <a:sym typeface="Merriweather"/>
              </a:rPr>
              <a:t>TanStack Query</a:t>
            </a:r>
            <a:endParaRPr b="0" i="0" sz="950" u="none" cap="none" strike="noStrike">
              <a:solidFill>
                <a:schemeClr val="dk1"/>
              </a:solidFill>
              <a:latin typeface="Merriweather"/>
              <a:ea typeface="Merriweather"/>
              <a:cs typeface="Merriweather"/>
              <a:sym typeface="Merriweather"/>
            </a:endParaRPr>
          </a:p>
        </p:txBody>
      </p:sp>
      <p:sp>
        <p:nvSpPr>
          <p:cNvPr id="356" name="Google Shape;356;g3d2d178f3e5_5_54"/>
          <p:cNvSpPr/>
          <p:nvPr/>
        </p:nvSpPr>
        <p:spPr>
          <a:xfrm>
            <a:off x="3950200" y="4315981"/>
            <a:ext cx="1188600" cy="502800"/>
          </a:xfrm>
          <a:prstGeom prst="rect">
            <a:avLst/>
          </a:prstGeom>
          <a:solidFill>
            <a:srgbClr val="F9A03C">
              <a:alpha val="18040"/>
            </a:srgbClr>
          </a:solidFill>
          <a:ln cap="flat" cmpd="sng" w="12700">
            <a:solidFill>
              <a:srgbClr val="F9A0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Merriweather"/>
              <a:ea typeface="Merriweather"/>
              <a:cs typeface="Merriweather"/>
              <a:sym typeface="Merriweather"/>
            </a:endParaRPr>
          </a:p>
        </p:txBody>
      </p:sp>
      <p:sp>
        <p:nvSpPr>
          <p:cNvPr id="357" name="Google Shape;357;g3d2d178f3e5_5_54"/>
          <p:cNvSpPr/>
          <p:nvPr/>
        </p:nvSpPr>
        <p:spPr>
          <a:xfrm>
            <a:off x="3950200" y="4315981"/>
            <a:ext cx="1188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9A03C"/>
              </a:buClr>
              <a:buSzPts val="750"/>
              <a:buFont typeface="Calibri"/>
              <a:buNone/>
            </a:pPr>
            <a:r>
              <a:rPr b="1" i="0" lang="en-US" sz="950" u="none" cap="none" strike="noStrike">
                <a:solidFill>
                  <a:srgbClr val="F9A03C"/>
                </a:solidFill>
                <a:latin typeface="Merriweather"/>
                <a:ea typeface="Merriweather"/>
                <a:cs typeface="Merriweather"/>
                <a:sym typeface="Merriweather"/>
              </a:rPr>
              <a:t>D3-Force</a:t>
            </a:r>
            <a:endParaRPr b="0" i="0" sz="950" u="none" cap="none" strike="noStrike">
              <a:solidFill>
                <a:schemeClr val="dk1"/>
              </a:solidFill>
              <a:latin typeface="Merriweather"/>
              <a:ea typeface="Merriweather"/>
              <a:cs typeface="Merriweather"/>
              <a:sym typeface="Merriweather"/>
            </a:endParaRPr>
          </a:p>
        </p:txBody>
      </p:sp>
      <p:sp>
        <p:nvSpPr>
          <p:cNvPr id="358" name="Google Shape;358;g3d2d178f3e5_5_54"/>
          <p:cNvSpPr/>
          <p:nvPr/>
        </p:nvSpPr>
        <p:spPr>
          <a:xfrm>
            <a:off x="5221216" y="4315981"/>
            <a:ext cx="1188600" cy="502800"/>
          </a:xfrm>
          <a:prstGeom prst="rect">
            <a:avLst/>
          </a:prstGeom>
          <a:solidFill>
            <a:srgbClr val="00C49F">
              <a:alpha val="18040"/>
            </a:srgbClr>
          </a:solidFill>
          <a:ln cap="flat" cmpd="sng" w="12700">
            <a:solidFill>
              <a:srgbClr val="00C49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Merriweather"/>
              <a:ea typeface="Merriweather"/>
              <a:cs typeface="Merriweather"/>
              <a:sym typeface="Merriweather"/>
            </a:endParaRPr>
          </a:p>
        </p:txBody>
      </p:sp>
      <p:sp>
        <p:nvSpPr>
          <p:cNvPr id="359" name="Google Shape;359;g3d2d178f3e5_5_54"/>
          <p:cNvSpPr/>
          <p:nvPr/>
        </p:nvSpPr>
        <p:spPr>
          <a:xfrm>
            <a:off x="5221216" y="4315981"/>
            <a:ext cx="1188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C49F"/>
              </a:buClr>
              <a:buSzPts val="750"/>
              <a:buFont typeface="Calibri"/>
              <a:buNone/>
            </a:pPr>
            <a:r>
              <a:rPr b="1" i="0" lang="en-US" sz="950" u="none" cap="none" strike="noStrike">
                <a:solidFill>
                  <a:srgbClr val="00C49F"/>
                </a:solidFill>
                <a:latin typeface="Merriweather"/>
                <a:ea typeface="Merriweather"/>
                <a:cs typeface="Merriweather"/>
                <a:sym typeface="Merriweather"/>
              </a:rPr>
              <a:t>React Force Graph</a:t>
            </a:r>
            <a:endParaRPr b="0" i="0" sz="950" u="none" cap="none" strike="noStrike">
              <a:solidFill>
                <a:schemeClr val="dk1"/>
              </a:solidFill>
              <a:latin typeface="Merriweather"/>
              <a:ea typeface="Merriweather"/>
              <a:cs typeface="Merriweather"/>
              <a:sym typeface="Merriweather"/>
            </a:endParaRPr>
          </a:p>
        </p:txBody>
      </p:sp>
      <p:sp>
        <p:nvSpPr>
          <p:cNvPr id="360" name="Google Shape;360;g3d2d178f3e5_5_54"/>
          <p:cNvSpPr/>
          <p:nvPr/>
        </p:nvSpPr>
        <p:spPr>
          <a:xfrm>
            <a:off x="6492233" y="4315981"/>
            <a:ext cx="1188600" cy="502800"/>
          </a:xfrm>
          <a:prstGeom prst="rect">
            <a:avLst/>
          </a:prstGeom>
          <a:solidFill>
            <a:srgbClr val="38BDF8">
              <a:alpha val="18040"/>
            </a:srgbClr>
          </a:solidFill>
          <a:ln cap="flat" cmpd="sng" w="12700">
            <a:solidFill>
              <a:srgbClr val="38BD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Merriweather"/>
              <a:ea typeface="Merriweather"/>
              <a:cs typeface="Merriweather"/>
              <a:sym typeface="Merriweather"/>
            </a:endParaRPr>
          </a:p>
        </p:txBody>
      </p:sp>
      <p:sp>
        <p:nvSpPr>
          <p:cNvPr id="361" name="Google Shape;361;g3d2d178f3e5_5_54"/>
          <p:cNvSpPr/>
          <p:nvPr/>
        </p:nvSpPr>
        <p:spPr>
          <a:xfrm>
            <a:off x="6492233" y="4315981"/>
            <a:ext cx="1188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8BDF8"/>
              </a:buClr>
              <a:buSzPts val="750"/>
              <a:buFont typeface="Calibri"/>
              <a:buNone/>
            </a:pPr>
            <a:r>
              <a:rPr b="1" i="0" lang="en-US" sz="950" u="none" cap="none" strike="noStrike">
                <a:solidFill>
                  <a:srgbClr val="38BDF8"/>
                </a:solidFill>
                <a:latin typeface="Merriweather"/>
                <a:ea typeface="Merriweather"/>
                <a:cs typeface="Merriweather"/>
                <a:sym typeface="Merriweather"/>
              </a:rPr>
              <a:t>Tailwind CSS</a:t>
            </a:r>
            <a:endParaRPr b="0" i="0" sz="950" u="none" cap="none" strike="noStrike">
              <a:solidFill>
                <a:schemeClr val="dk1"/>
              </a:solidFill>
              <a:latin typeface="Merriweather"/>
              <a:ea typeface="Merriweather"/>
              <a:cs typeface="Merriweather"/>
              <a:sym typeface="Merriweather"/>
            </a:endParaRPr>
          </a:p>
        </p:txBody>
      </p:sp>
      <p:sp>
        <p:nvSpPr>
          <p:cNvPr id="362" name="Google Shape;362;g3d2d178f3e5_5_54"/>
          <p:cNvSpPr/>
          <p:nvPr/>
        </p:nvSpPr>
        <p:spPr>
          <a:xfrm>
            <a:off x="7763249" y="4315981"/>
            <a:ext cx="1188600" cy="502800"/>
          </a:xfrm>
          <a:prstGeom prst="rect">
            <a:avLst/>
          </a:prstGeom>
          <a:solidFill>
            <a:srgbClr val="BB22E8">
              <a:alpha val="18040"/>
            </a:srgbClr>
          </a:solidFill>
          <a:ln cap="flat" cmpd="sng" w="12700">
            <a:solidFill>
              <a:srgbClr val="BB22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Merriweather"/>
              <a:ea typeface="Merriweather"/>
              <a:cs typeface="Merriweather"/>
              <a:sym typeface="Merriweather"/>
            </a:endParaRPr>
          </a:p>
        </p:txBody>
      </p:sp>
      <p:sp>
        <p:nvSpPr>
          <p:cNvPr id="363" name="Google Shape;363;g3d2d178f3e5_5_54"/>
          <p:cNvSpPr/>
          <p:nvPr/>
        </p:nvSpPr>
        <p:spPr>
          <a:xfrm>
            <a:off x="7763249" y="4315981"/>
            <a:ext cx="11886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BB22E8"/>
              </a:buClr>
              <a:buSzPts val="750"/>
              <a:buFont typeface="Calibri"/>
              <a:buNone/>
            </a:pPr>
            <a:r>
              <a:rPr b="1" i="0" lang="en-US" sz="950" u="none" cap="none" strike="noStrike">
                <a:solidFill>
                  <a:srgbClr val="BB22E8"/>
                </a:solidFill>
                <a:latin typeface="Merriweather"/>
                <a:ea typeface="Merriweather"/>
                <a:cs typeface="Merriweather"/>
                <a:sym typeface="Merriweather"/>
              </a:rPr>
              <a:t>Framer Motion</a:t>
            </a:r>
            <a:endParaRPr b="0" i="0" sz="950" u="none" cap="none" strike="noStrike">
              <a:solidFill>
                <a:schemeClr val="dk1"/>
              </a:solidFill>
              <a:latin typeface="Merriweather"/>
              <a:ea typeface="Merriweather"/>
              <a:cs typeface="Merriweather"/>
              <a:sym typeface="Merriweather"/>
            </a:endParaRPr>
          </a:p>
        </p:txBody>
      </p:sp>
      <p:sp>
        <p:nvSpPr>
          <p:cNvPr id="364" name="Google Shape;364;g3d2d178f3e5_5_54"/>
          <p:cNvSpPr txBox="1"/>
          <p:nvPr/>
        </p:nvSpPr>
        <p:spPr>
          <a:xfrm>
            <a:off x="45725" y="2887213"/>
            <a:ext cx="91440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300">
                <a:solidFill>
                  <a:schemeClr val="lt1"/>
                </a:solidFill>
                <a:latin typeface="Merriweather"/>
                <a:ea typeface="Merriweather"/>
                <a:cs typeface="Merriweather"/>
                <a:sym typeface="Merriweather"/>
              </a:rPr>
              <a:t>Frontend</a:t>
            </a:r>
            <a:endParaRPr sz="3300">
              <a:solidFill>
                <a:schemeClr val="lt1"/>
              </a:solidFill>
              <a:latin typeface="Merriweather"/>
              <a:ea typeface="Merriweather"/>
              <a:cs typeface="Merriweather"/>
              <a:sym typeface="Merriweath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9" name="Shape 369"/>
        <p:cNvGrpSpPr/>
        <p:nvPr/>
      </p:nvGrpSpPr>
      <p:grpSpPr>
        <a:xfrm>
          <a:off x="0" y="0"/>
          <a:ext cx="0" cy="0"/>
          <a:chOff x="0" y="0"/>
          <a:chExt cx="0" cy="0"/>
        </a:xfrm>
      </p:grpSpPr>
      <p:sp>
        <p:nvSpPr>
          <p:cNvPr id="370" name="Google Shape;370;p11"/>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1"/>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1"/>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Frontend Architecture &amp; Strategy</a:t>
            </a:r>
            <a:endParaRPr b="0" i="0" sz="2200" u="none" cap="none" strike="noStrike">
              <a:solidFill>
                <a:schemeClr val="dk1"/>
              </a:solidFill>
              <a:latin typeface="Calibri"/>
              <a:ea typeface="Calibri"/>
              <a:cs typeface="Calibri"/>
              <a:sym typeface="Calibri"/>
            </a:endParaRPr>
          </a:p>
        </p:txBody>
      </p:sp>
      <p:sp>
        <p:nvSpPr>
          <p:cNvPr id="373" name="Google Shape;373;p11"/>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11/40</a:t>
            </a:r>
            <a:endParaRPr b="0" i="0" sz="800" u="none" cap="none" strike="noStrike">
              <a:solidFill>
                <a:schemeClr val="dk1"/>
              </a:solidFill>
              <a:latin typeface="Calibri"/>
              <a:ea typeface="Calibri"/>
              <a:cs typeface="Calibri"/>
              <a:sym typeface="Calibri"/>
            </a:endParaRPr>
          </a:p>
        </p:txBody>
      </p:sp>
      <p:cxnSp>
        <p:nvCxnSpPr>
          <p:cNvPr id="375" name="Google Shape;375;p11"/>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376" name="Google Shape;376;p11"/>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377" name="Google Shape;377;p11"/>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3060600" y="762212"/>
            <a:ext cx="3022800" cy="256200"/>
          </a:xfrm>
          <a:prstGeom prst="rect">
            <a:avLst/>
          </a:prstGeom>
          <a:solidFill>
            <a:srgbClr val="CFFAFE"/>
          </a:solidFill>
          <a:ln cap="flat" cmpd="sng" w="16175">
            <a:solidFill>
              <a:srgbClr val="BAE6FD"/>
            </a:solidFill>
            <a:prstDash val="solid"/>
            <a:round/>
            <a:headEnd len="sm" w="sm" type="none"/>
            <a:tailEnd len="sm" w="sm" type="none"/>
          </a:ln>
        </p:spPr>
        <p:txBody>
          <a:bodyPr anchorCtr="0" anchor="ctr" bIns="116250" lIns="116250" spcFirstLastPara="1" rIns="116250" wrap="square" tIns="116250">
            <a:noAutofit/>
          </a:bodyPr>
          <a:lstStyle/>
          <a:p>
            <a:pPr indent="0" lvl="0" marL="0" rtl="0" algn="l">
              <a:spcBef>
                <a:spcPts val="0"/>
              </a:spcBef>
              <a:spcAft>
                <a:spcPts val="0"/>
              </a:spcAft>
              <a:buNone/>
            </a:pPr>
            <a:r>
              <a:t/>
            </a:r>
            <a:endParaRPr sz="2034"/>
          </a:p>
        </p:txBody>
      </p:sp>
      <p:sp>
        <p:nvSpPr>
          <p:cNvPr id="379" name="Google Shape;379;p11"/>
          <p:cNvSpPr/>
          <p:nvPr/>
        </p:nvSpPr>
        <p:spPr>
          <a:xfrm>
            <a:off x="3060600" y="762212"/>
            <a:ext cx="3022800" cy="256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1017"/>
              <a:buFont typeface="Merriweather"/>
              <a:buNone/>
            </a:pPr>
            <a:r>
              <a:rPr b="1" i="0" lang="en-US" sz="1000" u="none" cap="none" strike="noStrike">
                <a:solidFill>
                  <a:srgbClr val="0E7490"/>
                </a:solidFill>
                <a:latin typeface="Merriweather"/>
                <a:ea typeface="Merriweather"/>
                <a:cs typeface="Merriweather"/>
                <a:sym typeface="Merriweather"/>
              </a:rPr>
              <a:t>Frontend</a:t>
            </a:r>
            <a:endParaRPr b="0" i="0" sz="1000" u="none" cap="none" strike="noStrike">
              <a:solidFill>
                <a:schemeClr val="dk1"/>
              </a:solidFill>
              <a:latin typeface="Calibri"/>
              <a:ea typeface="Calibri"/>
              <a:cs typeface="Calibri"/>
              <a:sym typeface="Calibri"/>
            </a:endParaRPr>
          </a:p>
        </p:txBody>
      </p:sp>
      <p:sp>
        <p:nvSpPr>
          <p:cNvPr id="380" name="Google Shape;380;p11"/>
          <p:cNvSpPr/>
          <p:nvPr/>
        </p:nvSpPr>
        <p:spPr>
          <a:xfrm>
            <a:off x="347475" y="1149699"/>
            <a:ext cx="4755000" cy="35868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1"/>
          <p:cNvSpPr/>
          <p:nvPr/>
        </p:nvSpPr>
        <p:spPr>
          <a:xfrm>
            <a:off x="548650" y="1299850"/>
            <a:ext cx="4446600" cy="3320100"/>
          </a:xfrm>
          <a:prstGeom prst="rect">
            <a:avLst/>
          </a:prstGeom>
          <a:noFill/>
          <a:ln>
            <a:noFill/>
          </a:ln>
        </p:spPr>
        <p:txBody>
          <a:bodyPr anchorCtr="0" anchor="t" bIns="45700" lIns="91425" spcFirstLastPara="1" rIns="91425" wrap="square" tIns="45700">
            <a:noAutofit/>
          </a:bodyPr>
          <a:lstStyle/>
          <a:p>
            <a:pPr indent="-349250" lvl="0" marL="342900" marR="0" rtl="0" algn="l">
              <a:lnSpc>
                <a:spcPct val="150000"/>
              </a:lnSpc>
              <a:spcBef>
                <a:spcPts val="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React 18 with Concurrent Rendering</a:t>
            </a:r>
            <a:r>
              <a:rPr b="0" i="0" lang="en-US" sz="1250" u="none" cap="none" strike="noStrike">
                <a:solidFill>
                  <a:srgbClr val="334155"/>
                </a:solidFill>
                <a:latin typeface="Merriweather"/>
                <a:ea typeface="Merriweather"/>
                <a:cs typeface="Merriweather"/>
                <a:sym typeface="Merriweather"/>
              </a:rPr>
              <a:t> — UI stays responsive even during live scan data streaming.</a:t>
            </a:r>
            <a:endParaRPr b="0" i="0" sz="1250" u="none" cap="none" strike="noStrike">
              <a:solidFill>
                <a:schemeClr val="dk1"/>
              </a:solidFill>
              <a:latin typeface="Calibri"/>
              <a:ea typeface="Calibri"/>
              <a:cs typeface="Calibri"/>
              <a:sym typeface="Calibri"/>
            </a:endParaRPr>
          </a:p>
          <a:p>
            <a:pPr indent="-349250" lvl="0" marL="342900" marR="0" rtl="0" algn="l">
              <a:lnSpc>
                <a:spcPct val="150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Vite Build Tool </a:t>
            </a:r>
            <a:r>
              <a:rPr b="0" i="0" lang="en-US" sz="1250" u="none" cap="none" strike="noStrike">
                <a:solidFill>
                  <a:srgbClr val="334155"/>
                </a:solidFill>
                <a:latin typeface="Merriweather"/>
                <a:ea typeface="Merriweather"/>
                <a:cs typeface="Merriweather"/>
                <a:sym typeface="Merriweather"/>
              </a:rPr>
              <a:t>— Sub-second hot module replacement and optimized production bundles.</a:t>
            </a:r>
            <a:endParaRPr b="0" i="0" sz="1250" u="none" cap="none" strike="noStrike">
              <a:solidFill>
                <a:schemeClr val="dk1"/>
              </a:solidFill>
              <a:latin typeface="Calibri"/>
              <a:ea typeface="Calibri"/>
              <a:cs typeface="Calibri"/>
              <a:sym typeface="Calibri"/>
            </a:endParaRPr>
          </a:p>
          <a:p>
            <a:pPr indent="-349250" lvl="0" marL="342900" marR="0" rtl="0" algn="l">
              <a:lnSpc>
                <a:spcPct val="150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Component-Based Architecture</a:t>
            </a:r>
            <a:r>
              <a:rPr b="0" i="0" lang="en-US" sz="1250" u="none" cap="none" strike="noStrike">
                <a:solidFill>
                  <a:srgbClr val="334155"/>
                </a:solidFill>
                <a:latin typeface="Merriweather"/>
                <a:ea typeface="Merriweather"/>
                <a:cs typeface="Merriweather"/>
                <a:sym typeface="Merriweather"/>
              </a:rPr>
              <a:t> — Reusable ScanCard, </a:t>
            </a:r>
            <a:r>
              <a:rPr lang="en-US" sz="1250">
                <a:solidFill>
                  <a:srgbClr val="334155"/>
                </a:solidFill>
                <a:latin typeface="Merriweather"/>
                <a:ea typeface="Merriweather"/>
                <a:cs typeface="Merriweather"/>
                <a:sym typeface="Merriweather"/>
              </a:rPr>
              <a:t>Vuln Detail</a:t>
            </a:r>
            <a:r>
              <a:rPr b="0" i="0" lang="en-US" sz="1250" u="none" cap="none" strike="noStrike">
                <a:solidFill>
                  <a:srgbClr val="334155"/>
                </a:solidFill>
                <a:latin typeface="Merriweather"/>
                <a:ea typeface="Merriweather"/>
                <a:cs typeface="Merriweather"/>
                <a:sym typeface="Merriweather"/>
              </a:rPr>
              <a:t>, </a:t>
            </a:r>
            <a:r>
              <a:rPr lang="en-US" sz="1250">
                <a:solidFill>
                  <a:srgbClr val="334155"/>
                </a:solidFill>
                <a:latin typeface="Merriweather"/>
                <a:ea typeface="Merriweather"/>
                <a:cs typeface="Merriweather"/>
                <a:sym typeface="Merriweather"/>
              </a:rPr>
              <a:t>Asset Node</a:t>
            </a:r>
            <a:r>
              <a:rPr b="0" i="0" lang="en-US" sz="1250" u="none" cap="none" strike="noStrike">
                <a:solidFill>
                  <a:srgbClr val="334155"/>
                </a:solidFill>
                <a:latin typeface="Merriweather"/>
                <a:ea typeface="Merriweather"/>
                <a:cs typeface="Merriweather"/>
                <a:sym typeface="Merriweather"/>
              </a:rPr>
              <a:t> components.</a:t>
            </a:r>
            <a:endParaRPr b="0" i="0" sz="1250" u="none" cap="none" strike="noStrike">
              <a:solidFill>
                <a:schemeClr val="dk1"/>
              </a:solidFill>
              <a:latin typeface="Calibri"/>
              <a:ea typeface="Calibri"/>
              <a:cs typeface="Calibri"/>
              <a:sym typeface="Calibri"/>
            </a:endParaRPr>
          </a:p>
          <a:p>
            <a:pPr indent="-349250" lvl="0" marL="342900" marR="0" rtl="0" algn="l">
              <a:lnSpc>
                <a:spcPct val="150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React Query </a:t>
            </a:r>
            <a:r>
              <a:rPr b="0" i="0" lang="en-US" sz="1250" u="none" cap="none" strike="noStrike">
                <a:solidFill>
                  <a:srgbClr val="334155"/>
                </a:solidFill>
                <a:latin typeface="Merriweather"/>
                <a:ea typeface="Merriweather"/>
                <a:cs typeface="Merriweather"/>
                <a:sym typeface="Merriweather"/>
              </a:rPr>
              <a:t>— Server-state caching, background refetching, and</a:t>
            </a:r>
            <a:r>
              <a:rPr lang="en-US" sz="1250">
                <a:solidFill>
                  <a:srgbClr val="334155"/>
                </a:solidFill>
                <a:latin typeface="Merriweather"/>
                <a:ea typeface="Merriweather"/>
                <a:cs typeface="Merriweather"/>
                <a:sym typeface="Merriweather"/>
              </a:rPr>
              <a:t> </a:t>
            </a:r>
            <a:r>
              <a:rPr b="0" i="0" lang="en-US" sz="1250" u="none" cap="none" strike="noStrike">
                <a:solidFill>
                  <a:srgbClr val="334155"/>
                </a:solidFill>
                <a:latin typeface="Merriweather"/>
                <a:ea typeface="Merriweather"/>
                <a:cs typeface="Merriweather"/>
                <a:sym typeface="Merriweather"/>
              </a:rPr>
              <a:t>stale-while-revalidate patterns.</a:t>
            </a:r>
            <a:endParaRPr b="0" i="0" sz="1250" u="none" cap="none" strike="noStrike">
              <a:solidFill>
                <a:schemeClr val="dk1"/>
              </a:solidFill>
              <a:latin typeface="Calibri"/>
              <a:ea typeface="Calibri"/>
              <a:cs typeface="Calibri"/>
              <a:sym typeface="Calibri"/>
            </a:endParaRPr>
          </a:p>
          <a:p>
            <a:pPr indent="-349250" lvl="0" marL="342900" marR="0" rtl="0" algn="l">
              <a:lnSpc>
                <a:spcPct val="150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Tailwind CSS</a:t>
            </a:r>
            <a:r>
              <a:rPr b="0" i="0" lang="en-US" sz="1250" u="none" cap="none" strike="noStrike">
                <a:solidFill>
                  <a:srgbClr val="334155"/>
                </a:solidFill>
                <a:latin typeface="Merriweather"/>
                <a:ea typeface="Merriweather"/>
                <a:cs typeface="Merriweather"/>
                <a:sym typeface="Merriweather"/>
              </a:rPr>
              <a:t> — Utility-first styling enabling the Iris theme without custom CSS overhead.</a:t>
            </a:r>
            <a:endParaRPr b="0" i="0" sz="1250" u="none" cap="none" strike="noStrike">
              <a:solidFill>
                <a:schemeClr val="dk1"/>
              </a:solidFill>
              <a:latin typeface="Calibri"/>
              <a:ea typeface="Calibri"/>
              <a:cs typeface="Calibri"/>
              <a:sym typeface="Calibri"/>
            </a:endParaRPr>
          </a:p>
        </p:txBody>
      </p:sp>
      <p:sp>
        <p:nvSpPr>
          <p:cNvPr id="382" name="Google Shape;382;p11"/>
          <p:cNvSpPr/>
          <p:nvPr/>
        </p:nvSpPr>
        <p:spPr>
          <a:xfrm>
            <a:off x="5303507" y="1195111"/>
            <a:ext cx="3492900" cy="704100"/>
          </a:xfrm>
          <a:prstGeom prst="rect">
            <a:avLst/>
          </a:prstGeom>
          <a:solidFill>
            <a:srgbClr val="E8F9FD"/>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500"/>
          </a:p>
        </p:txBody>
      </p:sp>
      <p:sp>
        <p:nvSpPr>
          <p:cNvPr id="383" name="Google Shape;383;p11"/>
          <p:cNvSpPr/>
          <p:nvPr/>
        </p:nvSpPr>
        <p:spPr>
          <a:xfrm>
            <a:off x="5486387" y="1240831"/>
            <a:ext cx="3127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Merriweather"/>
              <a:buNone/>
            </a:pPr>
            <a:r>
              <a:rPr b="1" i="0" lang="en-US" sz="1300" u="none" cap="none" strike="noStrike">
                <a:solidFill>
                  <a:srgbClr val="0F172A"/>
                </a:solidFill>
                <a:latin typeface="Merriweather"/>
                <a:ea typeface="Merriweather"/>
                <a:cs typeface="Merriweather"/>
                <a:sym typeface="Merriweather"/>
              </a:rPr>
              <a:t>React 18</a:t>
            </a:r>
            <a:endParaRPr b="1" i="0" sz="1300" u="none" cap="none" strike="noStrike">
              <a:solidFill>
                <a:schemeClr val="dk1"/>
              </a:solidFill>
              <a:latin typeface="Calibri"/>
              <a:ea typeface="Calibri"/>
              <a:cs typeface="Calibri"/>
              <a:sym typeface="Calibri"/>
            </a:endParaRPr>
          </a:p>
        </p:txBody>
      </p:sp>
      <p:sp>
        <p:nvSpPr>
          <p:cNvPr id="384" name="Google Shape;384;p11"/>
          <p:cNvSpPr/>
          <p:nvPr/>
        </p:nvSpPr>
        <p:spPr>
          <a:xfrm>
            <a:off x="5486387" y="1560871"/>
            <a:ext cx="312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Merriweather"/>
              <a:buNone/>
            </a:pPr>
            <a:r>
              <a:rPr b="1" i="1" lang="en-US" sz="1050" u="none" cap="none" strike="noStrike">
                <a:solidFill>
                  <a:srgbClr val="64748B"/>
                </a:solidFill>
                <a:latin typeface="Merriweather"/>
                <a:ea typeface="Merriweather"/>
                <a:cs typeface="Merriweather"/>
                <a:sym typeface="Merriweather"/>
              </a:rPr>
              <a:t>UI Framework</a:t>
            </a:r>
            <a:endParaRPr b="1" i="0" sz="1050" u="none" cap="none" strike="noStrike">
              <a:solidFill>
                <a:schemeClr val="dk1"/>
              </a:solidFill>
              <a:latin typeface="Calibri"/>
              <a:ea typeface="Calibri"/>
              <a:cs typeface="Calibri"/>
              <a:sym typeface="Calibri"/>
            </a:endParaRPr>
          </a:p>
        </p:txBody>
      </p:sp>
      <p:sp>
        <p:nvSpPr>
          <p:cNvPr id="385" name="Google Shape;385;p11"/>
          <p:cNvSpPr/>
          <p:nvPr/>
        </p:nvSpPr>
        <p:spPr>
          <a:xfrm>
            <a:off x="5303507" y="2136943"/>
            <a:ext cx="3492900" cy="704100"/>
          </a:xfrm>
          <a:prstGeom prst="rect">
            <a:avLst/>
          </a:prstGeom>
          <a:solidFill>
            <a:srgbClr val="D1FAE5"/>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500"/>
          </a:p>
        </p:txBody>
      </p:sp>
      <p:sp>
        <p:nvSpPr>
          <p:cNvPr id="386" name="Google Shape;386;p11"/>
          <p:cNvSpPr/>
          <p:nvPr/>
        </p:nvSpPr>
        <p:spPr>
          <a:xfrm>
            <a:off x="5486387" y="2182663"/>
            <a:ext cx="3127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Merriweather"/>
              <a:buNone/>
            </a:pPr>
            <a:r>
              <a:rPr b="1" i="0" lang="en-US" sz="1300" u="none" cap="none" strike="noStrike">
                <a:solidFill>
                  <a:srgbClr val="0F172A"/>
                </a:solidFill>
                <a:latin typeface="Merriweather"/>
                <a:ea typeface="Merriweather"/>
                <a:cs typeface="Merriweather"/>
                <a:sym typeface="Merriweather"/>
              </a:rPr>
              <a:t>Vite</a:t>
            </a:r>
            <a:endParaRPr b="1" i="0" sz="1300" u="none" cap="none" strike="noStrike">
              <a:solidFill>
                <a:schemeClr val="dk1"/>
              </a:solidFill>
              <a:latin typeface="Calibri"/>
              <a:ea typeface="Calibri"/>
              <a:cs typeface="Calibri"/>
              <a:sym typeface="Calibri"/>
            </a:endParaRPr>
          </a:p>
        </p:txBody>
      </p:sp>
      <p:sp>
        <p:nvSpPr>
          <p:cNvPr id="387" name="Google Shape;387;p11"/>
          <p:cNvSpPr/>
          <p:nvPr/>
        </p:nvSpPr>
        <p:spPr>
          <a:xfrm>
            <a:off x="5486387" y="2502703"/>
            <a:ext cx="312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Merriweather"/>
              <a:buNone/>
            </a:pPr>
            <a:r>
              <a:rPr b="1" i="1" lang="en-US" sz="1050" u="none" cap="none" strike="noStrike">
                <a:solidFill>
                  <a:srgbClr val="64748B"/>
                </a:solidFill>
                <a:latin typeface="Merriweather"/>
                <a:ea typeface="Merriweather"/>
                <a:cs typeface="Merriweather"/>
                <a:sym typeface="Merriweather"/>
              </a:rPr>
              <a:t>Build Tool</a:t>
            </a:r>
            <a:endParaRPr b="1" i="0" sz="1050" u="none" cap="none" strike="noStrike">
              <a:solidFill>
                <a:schemeClr val="dk1"/>
              </a:solidFill>
              <a:latin typeface="Calibri"/>
              <a:ea typeface="Calibri"/>
              <a:cs typeface="Calibri"/>
              <a:sym typeface="Calibri"/>
            </a:endParaRPr>
          </a:p>
        </p:txBody>
      </p:sp>
      <p:sp>
        <p:nvSpPr>
          <p:cNvPr id="388" name="Google Shape;388;p11"/>
          <p:cNvSpPr/>
          <p:nvPr/>
        </p:nvSpPr>
        <p:spPr>
          <a:xfrm>
            <a:off x="5303507" y="3078774"/>
            <a:ext cx="3492900" cy="704100"/>
          </a:xfrm>
          <a:prstGeom prst="rect">
            <a:avLst/>
          </a:prstGeom>
          <a:solidFill>
            <a:srgbClr val="EDE9FE"/>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500"/>
          </a:p>
        </p:txBody>
      </p:sp>
      <p:sp>
        <p:nvSpPr>
          <p:cNvPr id="389" name="Google Shape;389;p11"/>
          <p:cNvSpPr/>
          <p:nvPr/>
        </p:nvSpPr>
        <p:spPr>
          <a:xfrm>
            <a:off x="5486387" y="3124495"/>
            <a:ext cx="3127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Merriweather"/>
              <a:buNone/>
            </a:pPr>
            <a:r>
              <a:rPr b="1" i="0" lang="en-US" sz="1300" u="none" cap="none" strike="noStrike">
                <a:solidFill>
                  <a:srgbClr val="0F172A"/>
                </a:solidFill>
                <a:latin typeface="Merriweather"/>
                <a:ea typeface="Merriweather"/>
                <a:cs typeface="Merriweather"/>
                <a:sym typeface="Merriweather"/>
              </a:rPr>
              <a:t>React Query</a:t>
            </a:r>
            <a:endParaRPr b="1" i="0" sz="1300" u="none" cap="none" strike="noStrike">
              <a:solidFill>
                <a:schemeClr val="dk1"/>
              </a:solidFill>
              <a:latin typeface="Calibri"/>
              <a:ea typeface="Calibri"/>
              <a:cs typeface="Calibri"/>
              <a:sym typeface="Calibri"/>
            </a:endParaRPr>
          </a:p>
        </p:txBody>
      </p:sp>
      <p:sp>
        <p:nvSpPr>
          <p:cNvPr id="390" name="Google Shape;390;p11"/>
          <p:cNvSpPr/>
          <p:nvPr/>
        </p:nvSpPr>
        <p:spPr>
          <a:xfrm>
            <a:off x="5486387" y="3444535"/>
            <a:ext cx="312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Merriweather"/>
              <a:buNone/>
            </a:pPr>
            <a:r>
              <a:rPr b="1" i="1" lang="en-US" sz="1050" u="none" cap="none" strike="noStrike">
                <a:solidFill>
                  <a:srgbClr val="64748B"/>
                </a:solidFill>
                <a:latin typeface="Merriweather"/>
                <a:ea typeface="Merriweather"/>
                <a:cs typeface="Merriweather"/>
                <a:sym typeface="Merriweather"/>
              </a:rPr>
              <a:t>Data Fetching</a:t>
            </a:r>
            <a:endParaRPr b="1" i="0" sz="1050" u="none" cap="none" strike="noStrike">
              <a:solidFill>
                <a:schemeClr val="dk1"/>
              </a:solidFill>
              <a:latin typeface="Calibri"/>
              <a:ea typeface="Calibri"/>
              <a:cs typeface="Calibri"/>
              <a:sym typeface="Calibri"/>
            </a:endParaRPr>
          </a:p>
        </p:txBody>
      </p:sp>
      <p:sp>
        <p:nvSpPr>
          <p:cNvPr id="391" name="Google Shape;391;p11"/>
          <p:cNvSpPr/>
          <p:nvPr/>
        </p:nvSpPr>
        <p:spPr>
          <a:xfrm>
            <a:off x="5303507" y="4020607"/>
            <a:ext cx="3492900" cy="704100"/>
          </a:xfrm>
          <a:prstGeom prst="rect">
            <a:avLst/>
          </a:prstGeom>
          <a:solidFill>
            <a:srgbClr val="FEF3C7"/>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500"/>
          </a:p>
        </p:txBody>
      </p:sp>
      <p:sp>
        <p:nvSpPr>
          <p:cNvPr id="392" name="Google Shape;392;p11"/>
          <p:cNvSpPr/>
          <p:nvPr/>
        </p:nvSpPr>
        <p:spPr>
          <a:xfrm>
            <a:off x="5486387" y="4066327"/>
            <a:ext cx="3127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Merriweather"/>
              <a:buNone/>
            </a:pPr>
            <a:r>
              <a:rPr b="1" i="0" lang="en-US" sz="1300" u="none" cap="none" strike="noStrike">
                <a:solidFill>
                  <a:srgbClr val="0F172A"/>
                </a:solidFill>
                <a:latin typeface="Merriweather"/>
                <a:ea typeface="Merriweather"/>
                <a:cs typeface="Merriweather"/>
                <a:sym typeface="Merriweather"/>
              </a:rPr>
              <a:t>Tailwind CSS</a:t>
            </a:r>
            <a:endParaRPr b="1" i="0" sz="1300" u="none" cap="none" strike="noStrike">
              <a:solidFill>
                <a:schemeClr val="dk1"/>
              </a:solidFill>
              <a:latin typeface="Calibri"/>
              <a:ea typeface="Calibri"/>
              <a:cs typeface="Calibri"/>
              <a:sym typeface="Calibri"/>
            </a:endParaRPr>
          </a:p>
        </p:txBody>
      </p:sp>
      <p:sp>
        <p:nvSpPr>
          <p:cNvPr id="393" name="Google Shape;393;p11"/>
          <p:cNvSpPr/>
          <p:nvPr/>
        </p:nvSpPr>
        <p:spPr>
          <a:xfrm>
            <a:off x="5486387" y="4386367"/>
            <a:ext cx="312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Merriweather"/>
              <a:buNone/>
            </a:pPr>
            <a:r>
              <a:rPr b="1" i="1" lang="en-US" sz="1050" u="none" cap="none" strike="noStrike">
                <a:solidFill>
                  <a:srgbClr val="64748B"/>
                </a:solidFill>
                <a:latin typeface="Merriweather"/>
                <a:ea typeface="Merriweather"/>
                <a:cs typeface="Merriweather"/>
                <a:sym typeface="Merriweather"/>
              </a:rPr>
              <a:t>Styling</a:t>
            </a:r>
            <a:endParaRPr b="1" i="0" sz="10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8" name="Shape 398"/>
        <p:cNvGrpSpPr/>
        <p:nvPr/>
      </p:nvGrpSpPr>
      <p:grpSpPr>
        <a:xfrm>
          <a:off x="0" y="0"/>
          <a:ext cx="0" cy="0"/>
          <a:chOff x="0" y="0"/>
          <a:chExt cx="0" cy="0"/>
        </a:xfrm>
      </p:grpSpPr>
      <p:sp>
        <p:nvSpPr>
          <p:cNvPr id="399" name="Google Shape;399;p12"/>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2"/>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2"/>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State Management with Zustand</a:t>
            </a:r>
            <a:endParaRPr b="0" i="0" sz="2200" u="none" cap="none" strike="noStrike">
              <a:solidFill>
                <a:schemeClr val="dk1"/>
              </a:solidFill>
              <a:latin typeface="Calibri"/>
              <a:ea typeface="Calibri"/>
              <a:cs typeface="Calibri"/>
              <a:sym typeface="Calibri"/>
            </a:endParaRPr>
          </a:p>
        </p:txBody>
      </p:sp>
      <p:sp>
        <p:nvSpPr>
          <p:cNvPr id="402" name="Google Shape;402;p12"/>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2"/>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12/40</a:t>
            </a:r>
            <a:endParaRPr b="0" i="0" sz="800" u="none" cap="none" strike="noStrike">
              <a:solidFill>
                <a:schemeClr val="dk1"/>
              </a:solidFill>
              <a:latin typeface="Calibri"/>
              <a:ea typeface="Calibri"/>
              <a:cs typeface="Calibri"/>
              <a:sym typeface="Calibri"/>
            </a:endParaRPr>
          </a:p>
        </p:txBody>
      </p:sp>
      <p:cxnSp>
        <p:nvCxnSpPr>
          <p:cNvPr id="404" name="Google Shape;404;p12"/>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405" name="Google Shape;405;p12"/>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406" name="Google Shape;406;p12"/>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2"/>
          <p:cNvSpPr/>
          <p:nvPr/>
        </p:nvSpPr>
        <p:spPr>
          <a:xfrm>
            <a:off x="3113700" y="759687"/>
            <a:ext cx="2916600" cy="246900"/>
          </a:xfrm>
          <a:prstGeom prst="rect">
            <a:avLst/>
          </a:prstGeom>
          <a:solidFill>
            <a:srgbClr val="CFFAFE"/>
          </a:solidFill>
          <a:ln cap="flat" cmpd="sng" w="15575">
            <a:solidFill>
              <a:srgbClr val="BAE6FD"/>
            </a:solidFill>
            <a:prstDash val="solid"/>
            <a:round/>
            <a:headEnd len="sm" w="sm" type="none"/>
            <a:tailEnd len="sm" w="sm" type="none"/>
          </a:ln>
        </p:spPr>
        <p:txBody>
          <a:bodyPr anchorCtr="0" anchor="ctr" bIns="112150" lIns="112150" spcFirstLastPara="1" rIns="112150" wrap="square" tIns="112150">
            <a:noAutofit/>
          </a:bodyPr>
          <a:lstStyle/>
          <a:p>
            <a:pPr indent="0" lvl="0" marL="0" rtl="0" algn="l">
              <a:spcBef>
                <a:spcPts val="0"/>
              </a:spcBef>
              <a:spcAft>
                <a:spcPts val="0"/>
              </a:spcAft>
              <a:buNone/>
            </a:pPr>
            <a:r>
              <a:t/>
            </a:r>
            <a:endParaRPr/>
          </a:p>
        </p:txBody>
      </p:sp>
      <p:sp>
        <p:nvSpPr>
          <p:cNvPr id="408" name="Google Shape;408;p12"/>
          <p:cNvSpPr/>
          <p:nvPr/>
        </p:nvSpPr>
        <p:spPr>
          <a:xfrm>
            <a:off x="3113700" y="759687"/>
            <a:ext cx="2916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981"/>
              <a:buFont typeface="Merriweather"/>
              <a:buNone/>
            </a:pPr>
            <a:r>
              <a:rPr b="1" i="0" lang="en-US" sz="1081" u="none" cap="none" strike="noStrike">
                <a:solidFill>
                  <a:srgbClr val="0E7490"/>
                </a:solidFill>
                <a:latin typeface="Merriweather"/>
                <a:ea typeface="Merriweather"/>
                <a:cs typeface="Merriweather"/>
                <a:sym typeface="Merriweather"/>
              </a:rPr>
              <a:t>Frontend</a:t>
            </a:r>
            <a:endParaRPr b="0" i="0" sz="1081" u="none" cap="none" strike="noStrike">
              <a:solidFill>
                <a:schemeClr val="dk1"/>
              </a:solidFill>
              <a:latin typeface="Calibri"/>
              <a:ea typeface="Calibri"/>
              <a:cs typeface="Calibri"/>
              <a:sym typeface="Calibri"/>
            </a:endParaRPr>
          </a:p>
        </p:txBody>
      </p:sp>
      <p:sp>
        <p:nvSpPr>
          <p:cNvPr id="409" name="Google Shape;409;p12"/>
          <p:cNvSpPr/>
          <p:nvPr/>
        </p:nvSpPr>
        <p:spPr>
          <a:xfrm>
            <a:off x="356675" y="1175185"/>
            <a:ext cx="2194500" cy="49830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2"/>
          <p:cNvSpPr/>
          <p:nvPr/>
        </p:nvSpPr>
        <p:spPr>
          <a:xfrm>
            <a:off x="356675" y="1175185"/>
            <a:ext cx="2194500" cy="4983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E7490"/>
              </a:buClr>
              <a:buSzPts val="1000"/>
              <a:buFont typeface="Merriweather"/>
              <a:buNone/>
            </a:pPr>
            <a:r>
              <a:rPr b="1" i="0" lang="en-US" sz="1200" u="none" cap="none" strike="noStrike">
                <a:solidFill>
                  <a:srgbClr val="0E7490"/>
                </a:solidFill>
                <a:latin typeface="Merriweather"/>
                <a:ea typeface="Merriweather"/>
                <a:cs typeface="Merriweather"/>
                <a:sym typeface="Merriweather"/>
              </a:rPr>
              <a:t>React</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E7490"/>
              </a:buClr>
              <a:buSzPts val="1000"/>
              <a:buFont typeface="Merriweather"/>
              <a:buNone/>
            </a:pPr>
            <a:r>
              <a:rPr b="1" i="0" lang="en-US" sz="1200" u="none" cap="none" strike="noStrike">
                <a:solidFill>
                  <a:srgbClr val="0E7490"/>
                </a:solidFill>
                <a:latin typeface="Merriweather"/>
                <a:ea typeface="Merriweather"/>
                <a:cs typeface="Merriweather"/>
                <a:sym typeface="Merriweather"/>
              </a:rPr>
              <a:t>Components</a:t>
            </a:r>
            <a:endParaRPr b="0" i="0" sz="1200" u="none" cap="none" strike="noStrike">
              <a:solidFill>
                <a:schemeClr val="dk1"/>
              </a:solidFill>
              <a:latin typeface="Calibri"/>
              <a:ea typeface="Calibri"/>
              <a:cs typeface="Calibri"/>
              <a:sym typeface="Calibri"/>
            </a:endParaRPr>
          </a:p>
        </p:txBody>
      </p:sp>
      <p:cxnSp>
        <p:nvCxnSpPr>
          <p:cNvPr id="411" name="Google Shape;411;p12"/>
          <p:cNvCxnSpPr/>
          <p:nvPr/>
        </p:nvCxnSpPr>
        <p:spPr>
          <a:xfrm>
            <a:off x="2551232" y="1424401"/>
            <a:ext cx="640200" cy="0"/>
          </a:xfrm>
          <a:prstGeom prst="straightConnector1">
            <a:avLst/>
          </a:prstGeom>
          <a:noFill/>
          <a:ln cap="flat" cmpd="sng" w="25400">
            <a:solidFill>
              <a:srgbClr val="06B6D4"/>
            </a:solidFill>
            <a:prstDash val="solid"/>
            <a:round/>
            <a:headEnd len="sm" w="sm" type="none"/>
            <a:tailEnd len="med" w="med" type="stealth"/>
          </a:ln>
        </p:spPr>
      </p:cxnSp>
      <p:sp>
        <p:nvSpPr>
          <p:cNvPr id="412" name="Google Shape;412;p12"/>
          <p:cNvSpPr/>
          <p:nvPr/>
        </p:nvSpPr>
        <p:spPr>
          <a:xfrm>
            <a:off x="3191311" y="1175185"/>
            <a:ext cx="2377500" cy="498300"/>
          </a:xfrm>
          <a:prstGeom prst="rect">
            <a:avLst/>
          </a:prstGeom>
          <a:solidFill>
            <a:srgbClr val="EDE9FE"/>
          </a:solidFill>
          <a:ln cap="flat" cmpd="sng" w="254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2"/>
          <p:cNvSpPr/>
          <p:nvPr/>
        </p:nvSpPr>
        <p:spPr>
          <a:xfrm>
            <a:off x="3191311" y="1175185"/>
            <a:ext cx="2377500" cy="4983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7C3AED"/>
              </a:buClr>
              <a:buSzPts val="1050"/>
              <a:buFont typeface="Merriweather"/>
              <a:buNone/>
            </a:pPr>
            <a:r>
              <a:rPr b="1" i="0" lang="en-US" sz="1250" u="none" cap="none" strike="noStrike">
                <a:solidFill>
                  <a:srgbClr val="7C3AED"/>
                </a:solidFill>
                <a:latin typeface="Merriweather"/>
                <a:ea typeface="Merriweather"/>
                <a:cs typeface="Merriweather"/>
                <a:sym typeface="Merriweather"/>
              </a:rPr>
              <a:t>Zustand</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C3AED"/>
              </a:buClr>
              <a:buSzPts val="1050"/>
              <a:buFont typeface="Merriweather"/>
              <a:buNone/>
            </a:pPr>
            <a:r>
              <a:rPr b="1" i="0" lang="en-US" sz="1250" u="none" cap="none" strike="noStrike">
                <a:solidFill>
                  <a:srgbClr val="7C3AED"/>
                </a:solidFill>
                <a:latin typeface="Merriweather"/>
                <a:ea typeface="Merriweather"/>
                <a:cs typeface="Merriweather"/>
                <a:sym typeface="Merriweather"/>
              </a:rPr>
              <a:t>Global Store</a:t>
            </a:r>
            <a:endParaRPr b="0" i="0" sz="1250" u="none" cap="none" strike="noStrike">
              <a:solidFill>
                <a:schemeClr val="dk1"/>
              </a:solidFill>
              <a:latin typeface="Calibri"/>
              <a:ea typeface="Calibri"/>
              <a:cs typeface="Calibri"/>
              <a:sym typeface="Calibri"/>
            </a:endParaRPr>
          </a:p>
        </p:txBody>
      </p:sp>
      <p:cxnSp>
        <p:nvCxnSpPr>
          <p:cNvPr id="414" name="Google Shape;414;p12"/>
          <p:cNvCxnSpPr/>
          <p:nvPr/>
        </p:nvCxnSpPr>
        <p:spPr>
          <a:xfrm>
            <a:off x="5568747" y="1424401"/>
            <a:ext cx="640200" cy="0"/>
          </a:xfrm>
          <a:prstGeom prst="straightConnector1">
            <a:avLst/>
          </a:prstGeom>
          <a:noFill/>
          <a:ln cap="flat" cmpd="sng" w="25400">
            <a:solidFill>
              <a:srgbClr val="06B6D4"/>
            </a:solidFill>
            <a:prstDash val="solid"/>
            <a:round/>
            <a:headEnd len="sm" w="sm" type="none"/>
            <a:tailEnd len="med" w="med" type="stealth"/>
          </a:ln>
        </p:spPr>
      </p:cxnSp>
      <p:sp>
        <p:nvSpPr>
          <p:cNvPr id="415" name="Google Shape;415;p12"/>
          <p:cNvSpPr/>
          <p:nvPr/>
        </p:nvSpPr>
        <p:spPr>
          <a:xfrm>
            <a:off x="6208826" y="1175185"/>
            <a:ext cx="2578500" cy="498300"/>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2"/>
          <p:cNvSpPr/>
          <p:nvPr/>
        </p:nvSpPr>
        <p:spPr>
          <a:xfrm>
            <a:off x="6208826" y="1175185"/>
            <a:ext cx="2578500" cy="4983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59669"/>
              </a:buClr>
              <a:buSzPts val="1000"/>
              <a:buFont typeface="Merriweather"/>
              <a:buNone/>
            </a:pPr>
            <a:r>
              <a:rPr b="1" i="0" lang="en-US" sz="1200" u="none" cap="none" strike="noStrike">
                <a:solidFill>
                  <a:srgbClr val="059669"/>
                </a:solidFill>
                <a:latin typeface="Merriweather"/>
                <a:ea typeface="Merriweather"/>
                <a:cs typeface="Merriweather"/>
                <a:sym typeface="Merriweather"/>
              </a:rPr>
              <a:t>FastAPI</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59669"/>
              </a:buClr>
              <a:buSzPts val="1000"/>
              <a:buFont typeface="Merriweather"/>
              <a:buNone/>
            </a:pPr>
            <a:r>
              <a:rPr b="1" i="0" lang="en-US" sz="1200" u="none" cap="none" strike="noStrike">
                <a:solidFill>
                  <a:srgbClr val="059669"/>
                </a:solidFill>
                <a:latin typeface="Merriweather"/>
                <a:ea typeface="Merriweather"/>
                <a:cs typeface="Merriweather"/>
                <a:sym typeface="Merriweather"/>
              </a:rPr>
              <a:t>Backend</a:t>
            </a:r>
            <a:endParaRPr b="0" i="0" sz="1200" u="none" cap="none" strike="noStrike">
              <a:solidFill>
                <a:schemeClr val="dk1"/>
              </a:solidFill>
              <a:latin typeface="Calibri"/>
              <a:ea typeface="Calibri"/>
              <a:cs typeface="Calibri"/>
              <a:sym typeface="Calibri"/>
            </a:endParaRPr>
          </a:p>
        </p:txBody>
      </p:sp>
      <p:sp>
        <p:nvSpPr>
          <p:cNvPr id="417" name="Google Shape;417;p12"/>
          <p:cNvSpPr/>
          <p:nvPr/>
        </p:nvSpPr>
        <p:spPr>
          <a:xfrm>
            <a:off x="2752399" y="1706847"/>
            <a:ext cx="1463100" cy="19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Merriweather"/>
              <a:buNone/>
            </a:pPr>
            <a:r>
              <a:rPr b="1" i="1" lang="en-US" sz="1150" u="none" cap="none" strike="noStrike">
                <a:solidFill>
                  <a:srgbClr val="64748B"/>
                </a:solidFill>
                <a:latin typeface="Merriweather"/>
                <a:ea typeface="Merriweather"/>
                <a:cs typeface="Merriweather"/>
                <a:sym typeface="Merriweather"/>
              </a:rPr>
              <a:t>setState()</a:t>
            </a:r>
            <a:endParaRPr b="1" i="0" sz="1150" u="none" cap="none" strike="noStrike">
              <a:solidFill>
                <a:schemeClr val="dk1"/>
              </a:solidFill>
              <a:latin typeface="Calibri"/>
              <a:ea typeface="Calibri"/>
              <a:cs typeface="Calibri"/>
              <a:sym typeface="Calibri"/>
            </a:endParaRPr>
          </a:p>
        </p:txBody>
      </p:sp>
      <p:sp>
        <p:nvSpPr>
          <p:cNvPr id="418" name="Google Shape;418;p12"/>
          <p:cNvSpPr/>
          <p:nvPr/>
        </p:nvSpPr>
        <p:spPr>
          <a:xfrm>
            <a:off x="5769915" y="1706847"/>
            <a:ext cx="1463100" cy="199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Merriweather"/>
              <a:buNone/>
            </a:pPr>
            <a:r>
              <a:rPr b="1" i="1" lang="en-US" sz="1150" u="none" cap="none" strike="noStrike">
                <a:solidFill>
                  <a:srgbClr val="64748B"/>
                </a:solidFill>
                <a:latin typeface="Merriweather"/>
                <a:ea typeface="Merriweather"/>
                <a:cs typeface="Merriweather"/>
                <a:sym typeface="Merriweather"/>
              </a:rPr>
              <a:t>useQuery()</a:t>
            </a:r>
            <a:endParaRPr b="1" i="0" sz="1150" u="none" cap="none" strike="noStrike">
              <a:solidFill>
                <a:schemeClr val="dk1"/>
              </a:solidFill>
              <a:latin typeface="Calibri"/>
              <a:ea typeface="Calibri"/>
              <a:cs typeface="Calibri"/>
              <a:sym typeface="Calibri"/>
            </a:endParaRPr>
          </a:p>
        </p:txBody>
      </p:sp>
      <p:sp>
        <p:nvSpPr>
          <p:cNvPr id="419" name="Google Shape;419;p12"/>
          <p:cNvSpPr/>
          <p:nvPr/>
        </p:nvSpPr>
        <p:spPr>
          <a:xfrm>
            <a:off x="347472" y="1920240"/>
            <a:ext cx="8449056" cy="283464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2"/>
          <p:cNvSpPr/>
          <p:nvPr/>
        </p:nvSpPr>
        <p:spPr>
          <a:xfrm>
            <a:off x="590125" y="2084875"/>
            <a:ext cx="8046600" cy="2670000"/>
          </a:xfrm>
          <a:prstGeom prst="rect">
            <a:avLst/>
          </a:prstGeom>
          <a:noFill/>
          <a:ln>
            <a:noFill/>
          </a:ln>
        </p:spPr>
        <p:txBody>
          <a:bodyPr anchorCtr="0" anchor="t" bIns="45700" lIns="91425" spcFirstLastPara="1" rIns="91425" wrap="square" tIns="45700">
            <a:noAutofit/>
          </a:bodyPr>
          <a:lstStyle/>
          <a:p>
            <a:pPr indent="-346075" lvl="0" marL="342900" marR="0" rtl="0" algn="l">
              <a:lnSpc>
                <a:spcPct val="150000"/>
              </a:lnSpc>
              <a:spcBef>
                <a:spcPts val="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Zustand</a:t>
            </a:r>
            <a:r>
              <a:rPr b="0" i="0" lang="en-US" sz="1200" u="none" cap="none" strike="noStrike">
                <a:solidFill>
                  <a:srgbClr val="334155"/>
                </a:solidFill>
                <a:latin typeface="Merriweather"/>
                <a:ea typeface="Merriweather"/>
                <a:cs typeface="Merriweather"/>
                <a:sym typeface="Merriweather"/>
              </a:rPr>
              <a:t> — Lightweight (2KB) alternative to Redux with zero boilerplate and direct store mutations.</a:t>
            </a:r>
            <a:endParaRPr b="0" i="0" sz="1200" u="none" cap="none" strike="noStrike">
              <a:solidFill>
                <a:schemeClr val="dk1"/>
              </a:solidFill>
              <a:latin typeface="Calibri"/>
              <a:ea typeface="Calibri"/>
              <a:cs typeface="Calibri"/>
              <a:sym typeface="Calibri"/>
            </a:endParaRPr>
          </a:p>
          <a:p>
            <a:pPr indent="-346075" lvl="0" marL="342900" marR="0" rtl="0" algn="l">
              <a:lnSpc>
                <a:spcPct val="150000"/>
              </a:lnSpc>
              <a:spcBef>
                <a:spcPts val="50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Global Scan State</a:t>
            </a:r>
            <a:r>
              <a:rPr b="0" i="0" lang="en-US" sz="1200" u="none" cap="none" strike="noStrike">
                <a:solidFill>
                  <a:srgbClr val="334155"/>
                </a:solidFill>
                <a:latin typeface="Merriweather"/>
                <a:ea typeface="Merriweather"/>
                <a:cs typeface="Merriweather"/>
                <a:sym typeface="Merriweather"/>
              </a:rPr>
              <a:t> — Active scans, polling intervals, and result caches are shared across all components.</a:t>
            </a:r>
            <a:endParaRPr b="0" i="0" sz="1200" u="none" cap="none" strike="noStrike">
              <a:solidFill>
                <a:schemeClr val="dk1"/>
              </a:solidFill>
              <a:latin typeface="Calibri"/>
              <a:ea typeface="Calibri"/>
              <a:cs typeface="Calibri"/>
              <a:sym typeface="Calibri"/>
            </a:endParaRPr>
          </a:p>
          <a:p>
            <a:pPr indent="-346075" lvl="0" marL="342900" marR="0" rtl="0" algn="l">
              <a:lnSpc>
                <a:spcPct val="150000"/>
              </a:lnSpc>
              <a:spcBef>
                <a:spcPts val="50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React Query Integration</a:t>
            </a:r>
            <a:r>
              <a:rPr b="0" i="0" lang="en-US" sz="1200" u="none" cap="none" strike="noStrike">
                <a:solidFill>
                  <a:srgbClr val="334155"/>
                </a:solidFill>
                <a:latin typeface="Merriweather"/>
                <a:ea typeface="Merriweather"/>
                <a:cs typeface="Merriweather"/>
                <a:sym typeface="Merriweather"/>
              </a:rPr>
              <a:t> — Handles server state separately; Zustand manages client-only UI state.</a:t>
            </a:r>
            <a:endParaRPr b="0" i="0" sz="1200" u="none" cap="none" strike="noStrike">
              <a:solidFill>
                <a:schemeClr val="dk1"/>
              </a:solidFill>
              <a:latin typeface="Calibri"/>
              <a:ea typeface="Calibri"/>
              <a:cs typeface="Calibri"/>
              <a:sym typeface="Calibri"/>
            </a:endParaRPr>
          </a:p>
          <a:p>
            <a:pPr indent="-346075" lvl="0" marL="342900" marR="0" rtl="0" algn="l">
              <a:lnSpc>
                <a:spcPct val="150000"/>
              </a:lnSpc>
              <a:spcBef>
                <a:spcPts val="50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Optimistic Updates</a:t>
            </a:r>
            <a:r>
              <a:rPr b="0" i="0" lang="en-US" sz="1200" u="none" cap="none" strike="noStrike">
                <a:solidFill>
                  <a:srgbClr val="334155"/>
                </a:solidFill>
                <a:latin typeface="Merriweather"/>
                <a:ea typeface="Merriweather"/>
                <a:cs typeface="Merriweather"/>
                <a:sym typeface="Merriweather"/>
              </a:rPr>
              <a:t> — UI reflects expected state immediately while background requests confirm changes.</a:t>
            </a:r>
            <a:endParaRPr b="0" i="0" sz="1200" u="none" cap="none" strike="noStrike">
              <a:solidFill>
                <a:schemeClr val="dk1"/>
              </a:solidFill>
              <a:latin typeface="Calibri"/>
              <a:ea typeface="Calibri"/>
              <a:cs typeface="Calibri"/>
              <a:sym typeface="Calibri"/>
            </a:endParaRPr>
          </a:p>
          <a:p>
            <a:pPr indent="-346075" lvl="0" marL="342900" marR="0" rtl="0" algn="l">
              <a:lnSpc>
                <a:spcPct val="150000"/>
              </a:lnSpc>
              <a:spcBef>
                <a:spcPts val="50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Selector Pattern </a:t>
            </a:r>
            <a:r>
              <a:rPr b="0" i="0" lang="en-US" sz="1200" u="none" cap="none" strike="noStrike">
                <a:solidFill>
                  <a:srgbClr val="334155"/>
                </a:solidFill>
                <a:latin typeface="Merriweather"/>
                <a:ea typeface="Merriweather"/>
                <a:cs typeface="Merriweather"/>
                <a:sym typeface="Merriweather"/>
              </a:rPr>
              <a:t>— Components subscribe only to relevant state slices, minimizing unnecessary re-renders.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5" name="Shape 425"/>
        <p:cNvGrpSpPr/>
        <p:nvPr/>
      </p:nvGrpSpPr>
      <p:grpSpPr>
        <a:xfrm>
          <a:off x="0" y="0"/>
          <a:ext cx="0" cy="0"/>
          <a:chOff x="0" y="0"/>
          <a:chExt cx="0" cy="0"/>
        </a:xfrm>
      </p:grpSpPr>
      <p:sp>
        <p:nvSpPr>
          <p:cNvPr id="426" name="Google Shape;426;p13"/>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3"/>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3"/>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Designing for SMEs: The Iris Minimalist UI</a:t>
            </a:r>
            <a:endParaRPr b="0" i="0" sz="2200" u="none" cap="none" strike="noStrike">
              <a:solidFill>
                <a:schemeClr val="dk1"/>
              </a:solidFill>
              <a:latin typeface="Calibri"/>
              <a:ea typeface="Calibri"/>
              <a:cs typeface="Calibri"/>
              <a:sym typeface="Calibri"/>
            </a:endParaRPr>
          </a:p>
        </p:txBody>
      </p:sp>
      <p:sp>
        <p:nvSpPr>
          <p:cNvPr id="429" name="Google Shape;429;p13"/>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3"/>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13/40</a:t>
            </a:r>
            <a:endParaRPr b="0" i="0" sz="800" u="none" cap="none" strike="noStrike">
              <a:solidFill>
                <a:schemeClr val="dk1"/>
              </a:solidFill>
              <a:latin typeface="Calibri"/>
              <a:ea typeface="Calibri"/>
              <a:cs typeface="Calibri"/>
              <a:sym typeface="Calibri"/>
            </a:endParaRPr>
          </a:p>
        </p:txBody>
      </p:sp>
      <p:cxnSp>
        <p:nvCxnSpPr>
          <p:cNvPr id="431" name="Google Shape;431;p13"/>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432" name="Google Shape;432;p13"/>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433" name="Google Shape;433;p13"/>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3"/>
          <p:cNvSpPr/>
          <p:nvPr/>
        </p:nvSpPr>
        <p:spPr>
          <a:xfrm>
            <a:off x="1444747" y="734283"/>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3"/>
          <p:cNvSpPr/>
          <p:nvPr/>
        </p:nvSpPr>
        <p:spPr>
          <a:xfrm>
            <a:off x="1444725" y="711411"/>
            <a:ext cx="23775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Frontend</a:t>
            </a:r>
            <a:endParaRPr b="0" i="0" sz="1000" u="none" cap="none" strike="noStrike">
              <a:solidFill>
                <a:schemeClr val="dk1"/>
              </a:solidFill>
              <a:latin typeface="Calibri"/>
              <a:ea typeface="Calibri"/>
              <a:cs typeface="Calibri"/>
              <a:sym typeface="Calibri"/>
            </a:endParaRPr>
          </a:p>
        </p:txBody>
      </p:sp>
      <p:sp>
        <p:nvSpPr>
          <p:cNvPr id="436" name="Google Shape;436;p13"/>
          <p:cNvSpPr/>
          <p:nvPr/>
        </p:nvSpPr>
        <p:spPr>
          <a:xfrm>
            <a:off x="5120640" y="831256"/>
            <a:ext cx="3657600" cy="3840600"/>
          </a:xfrm>
          <a:prstGeom prst="rect">
            <a:avLst/>
          </a:prstGeom>
          <a:solidFill>
            <a:srgbClr val="E8F9FD"/>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p>
        </p:txBody>
      </p:sp>
      <p:sp>
        <p:nvSpPr>
          <p:cNvPr id="437" name="Google Shape;437;p13"/>
          <p:cNvSpPr/>
          <p:nvPr/>
        </p:nvSpPr>
        <p:spPr>
          <a:xfrm>
            <a:off x="5120640" y="822960"/>
            <a:ext cx="3657600" cy="347472"/>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p>
        </p:txBody>
      </p:sp>
      <p:sp>
        <p:nvSpPr>
          <p:cNvPr id="438" name="Google Shape;438;p13"/>
          <p:cNvSpPr/>
          <p:nvPr/>
        </p:nvSpPr>
        <p:spPr>
          <a:xfrm>
            <a:off x="5120640" y="822960"/>
            <a:ext cx="36576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erriweather"/>
              <a:buNone/>
            </a:pPr>
            <a:r>
              <a:rPr b="1" i="0" lang="en-US" sz="1100" u="none" cap="none" strike="noStrike">
                <a:solidFill>
                  <a:srgbClr val="FFFFFF"/>
                </a:solidFill>
                <a:latin typeface="Merriweather"/>
                <a:ea typeface="Merriweather"/>
                <a:cs typeface="Merriweather"/>
                <a:sym typeface="Merriweather"/>
              </a:rPr>
              <a:t>Dashboard — Security Overview</a:t>
            </a:r>
            <a:endParaRPr b="1" i="0" sz="1100" u="none" cap="none" strike="noStrike">
              <a:solidFill>
                <a:schemeClr val="dk1"/>
              </a:solidFill>
              <a:latin typeface="Calibri"/>
              <a:ea typeface="Calibri"/>
              <a:cs typeface="Calibri"/>
              <a:sym typeface="Calibri"/>
            </a:endParaRPr>
          </a:p>
        </p:txBody>
      </p:sp>
      <p:sp>
        <p:nvSpPr>
          <p:cNvPr id="439" name="Google Shape;439;p13"/>
          <p:cNvSpPr/>
          <p:nvPr/>
        </p:nvSpPr>
        <p:spPr>
          <a:xfrm>
            <a:off x="6217900" y="1334997"/>
            <a:ext cx="1463100" cy="777300"/>
          </a:xfrm>
          <a:prstGeom prst="rect">
            <a:avLst/>
          </a:prstGeom>
          <a:solidFill>
            <a:srgbClr val="FFFFFF"/>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p>
        </p:txBody>
      </p:sp>
      <p:sp>
        <p:nvSpPr>
          <p:cNvPr id="440" name="Google Shape;440;p13"/>
          <p:cNvSpPr/>
          <p:nvPr/>
        </p:nvSpPr>
        <p:spPr>
          <a:xfrm>
            <a:off x="6217888" y="1275585"/>
            <a:ext cx="14631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2600"/>
              <a:buFont typeface="Merriweather"/>
              <a:buNone/>
            </a:pPr>
            <a:r>
              <a:rPr b="1" i="0" lang="en-US" sz="2800" u="none" cap="none" strike="noStrike">
                <a:solidFill>
                  <a:srgbClr val="059669"/>
                </a:solidFill>
                <a:latin typeface="Merriweather"/>
                <a:ea typeface="Merriweather"/>
                <a:cs typeface="Merriweather"/>
                <a:sym typeface="Merriweather"/>
              </a:rPr>
              <a:t>78</a:t>
            </a:r>
            <a:endParaRPr b="1" i="0" sz="2800" u="none" cap="none" strike="noStrike">
              <a:solidFill>
                <a:schemeClr val="dk1"/>
              </a:solidFill>
              <a:latin typeface="Calibri"/>
              <a:ea typeface="Calibri"/>
              <a:cs typeface="Calibri"/>
              <a:sym typeface="Calibri"/>
            </a:endParaRPr>
          </a:p>
        </p:txBody>
      </p:sp>
      <p:sp>
        <p:nvSpPr>
          <p:cNvPr id="441" name="Google Shape;441;p13"/>
          <p:cNvSpPr/>
          <p:nvPr/>
        </p:nvSpPr>
        <p:spPr>
          <a:xfrm>
            <a:off x="6217888" y="1751073"/>
            <a:ext cx="14631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750"/>
              <a:buFont typeface="Merriweather"/>
              <a:buNone/>
            </a:pPr>
            <a:r>
              <a:rPr b="1" i="0" lang="en-US" sz="950" u="none" cap="none" strike="noStrike">
                <a:solidFill>
                  <a:srgbClr val="64748B"/>
                </a:solidFill>
                <a:latin typeface="Merriweather"/>
                <a:ea typeface="Merriweather"/>
                <a:cs typeface="Merriweather"/>
                <a:sym typeface="Merriweather"/>
              </a:rPr>
              <a:t>Health Score</a:t>
            </a:r>
            <a:endParaRPr b="1" i="0" sz="950" u="none" cap="none" strike="noStrike">
              <a:solidFill>
                <a:schemeClr val="dk1"/>
              </a:solidFill>
              <a:latin typeface="Calibri"/>
              <a:ea typeface="Calibri"/>
              <a:cs typeface="Calibri"/>
              <a:sym typeface="Calibri"/>
            </a:endParaRPr>
          </a:p>
        </p:txBody>
      </p:sp>
      <p:sp>
        <p:nvSpPr>
          <p:cNvPr id="442" name="Google Shape;442;p13"/>
          <p:cNvSpPr/>
          <p:nvPr/>
        </p:nvSpPr>
        <p:spPr>
          <a:xfrm>
            <a:off x="6117400" y="2167170"/>
            <a:ext cx="749700" cy="594300"/>
          </a:xfrm>
          <a:prstGeom prst="rect">
            <a:avLst/>
          </a:prstGeom>
          <a:solidFill>
            <a:srgbClr val="F8FAFC"/>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3"/>
          <p:cNvSpPr/>
          <p:nvPr/>
        </p:nvSpPr>
        <p:spPr>
          <a:xfrm>
            <a:off x="6117400" y="2194570"/>
            <a:ext cx="7497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1800"/>
              <a:buFont typeface="Merriweather"/>
              <a:buNone/>
            </a:pPr>
            <a:r>
              <a:rPr b="1" i="0" lang="en-US" sz="1800" u="none" cap="none" strike="noStrike">
                <a:solidFill>
                  <a:srgbClr val="DC2626"/>
                </a:solidFill>
                <a:latin typeface="Merriweather"/>
                <a:ea typeface="Merriweather"/>
                <a:cs typeface="Merriweather"/>
                <a:sym typeface="Merriweather"/>
              </a:rPr>
              <a:t>3</a:t>
            </a:r>
            <a:endParaRPr b="0" i="0" sz="1800" u="none" cap="none" strike="noStrike">
              <a:solidFill>
                <a:schemeClr val="dk1"/>
              </a:solidFill>
              <a:latin typeface="Calibri"/>
              <a:ea typeface="Calibri"/>
              <a:cs typeface="Calibri"/>
              <a:sym typeface="Calibri"/>
            </a:endParaRPr>
          </a:p>
        </p:txBody>
      </p:sp>
      <p:sp>
        <p:nvSpPr>
          <p:cNvPr id="444" name="Google Shape;444;p13"/>
          <p:cNvSpPr/>
          <p:nvPr/>
        </p:nvSpPr>
        <p:spPr>
          <a:xfrm>
            <a:off x="6117400" y="2505466"/>
            <a:ext cx="7497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700"/>
              <a:buFont typeface="Merriweather"/>
              <a:buNone/>
            </a:pPr>
            <a:r>
              <a:rPr b="0" i="0" lang="en-US" sz="700" u="none" cap="none" strike="noStrike">
                <a:solidFill>
                  <a:srgbClr val="64748B"/>
                </a:solidFill>
                <a:latin typeface="Merriweather"/>
                <a:ea typeface="Merriweather"/>
                <a:cs typeface="Merriweather"/>
                <a:sym typeface="Merriweather"/>
              </a:rPr>
              <a:t>Critical</a:t>
            </a:r>
            <a:endParaRPr b="0" i="0" sz="700" u="none" cap="none" strike="noStrike">
              <a:solidFill>
                <a:schemeClr val="dk1"/>
              </a:solidFill>
              <a:latin typeface="Calibri"/>
              <a:ea typeface="Calibri"/>
              <a:cs typeface="Calibri"/>
              <a:sym typeface="Calibri"/>
            </a:endParaRPr>
          </a:p>
        </p:txBody>
      </p:sp>
      <p:sp>
        <p:nvSpPr>
          <p:cNvPr id="445" name="Google Shape;445;p13"/>
          <p:cNvSpPr/>
          <p:nvPr/>
        </p:nvSpPr>
        <p:spPr>
          <a:xfrm>
            <a:off x="7031800" y="2167170"/>
            <a:ext cx="749700" cy="594300"/>
          </a:xfrm>
          <a:prstGeom prst="rect">
            <a:avLst/>
          </a:prstGeom>
          <a:solidFill>
            <a:srgbClr val="F8FAFC"/>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p>
        </p:txBody>
      </p:sp>
      <p:sp>
        <p:nvSpPr>
          <p:cNvPr id="446" name="Google Shape;446;p13"/>
          <p:cNvSpPr/>
          <p:nvPr/>
        </p:nvSpPr>
        <p:spPr>
          <a:xfrm>
            <a:off x="7031800" y="2194570"/>
            <a:ext cx="7497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800"/>
              <a:buFont typeface="Merriweather"/>
              <a:buNone/>
            </a:pPr>
            <a:r>
              <a:rPr b="1" i="0" lang="en-US" sz="2000" u="none" cap="none" strike="noStrike">
                <a:solidFill>
                  <a:srgbClr val="D97706"/>
                </a:solidFill>
                <a:latin typeface="Merriweather"/>
                <a:ea typeface="Merriweather"/>
                <a:cs typeface="Merriweather"/>
                <a:sym typeface="Merriweather"/>
              </a:rPr>
              <a:t>11</a:t>
            </a:r>
            <a:endParaRPr b="1" i="0" sz="2000" u="none" cap="none" strike="noStrike">
              <a:solidFill>
                <a:schemeClr val="dk1"/>
              </a:solidFill>
              <a:latin typeface="Calibri"/>
              <a:ea typeface="Calibri"/>
              <a:cs typeface="Calibri"/>
              <a:sym typeface="Calibri"/>
            </a:endParaRPr>
          </a:p>
        </p:txBody>
      </p:sp>
      <p:sp>
        <p:nvSpPr>
          <p:cNvPr id="447" name="Google Shape;447;p13"/>
          <p:cNvSpPr/>
          <p:nvPr/>
        </p:nvSpPr>
        <p:spPr>
          <a:xfrm>
            <a:off x="7031800" y="2505466"/>
            <a:ext cx="7497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700"/>
              <a:buFont typeface="Merriweather"/>
              <a:buNone/>
            </a:pPr>
            <a:r>
              <a:rPr b="1" i="0" lang="en-US" sz="900" u="none" cap="none" strike="noStrike">
                <a:solidFill>
                  <a:srgbClr val="64748B"/>
                </a:solidFill>
                <a:latin typeface="Merriweather"/>
                <a:ea typeface="Merriweather"/>
                <a:cs typeface="Merriweather"/>
                <a:sym typeface="Merriweather"/>
              </a:rPr>
              <a:t>High</a:t>
            </a:r>
            <a:endParaRPr b="1" i="0" sz="900" u="none" cap="none" strike="noStrike">
              <a:solidFill>
                <a:schemeClr val="dk1"/>
              </a:solidFill>
              <a:latin typeface="Calibri"/>
              <a:ea typeface="Calibri"/>
              <a:cs typeface="Calibri"/>
              <a:sym typeface="Calibri"/>
            </a:endParaRPr>
          </a:p>
        </p:txBody>
      </p:sp>
      <p:sp>
        <p:nvSpPr>
          <p:cNvPr id="448" name="Google Shape;448;p13"/>
          <p:cNvSpPr/>
          <p:nvPr/>
        </p:nvSpPr>
        <p:spPr>
          <a:xfrm>
            <a:off x="5257800" y="2816352"/>
            <a:ext cx="3383280" cy="411480"/>
          </a:xfrm>
          <a:prstGeom prst="rect">
            <a:avLst/>
          </a:prstGeom>
          <a:solidFill>
            <a:srgbClr val="FFFFFF"/>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p>
        </p:txBody>
      </p:sp>
      <p:sp>
        <p:nvSpPr>
          <p:cNvPr id="449" name="Google Shape;449;p13"/>
          <p:cNvSpPr/>
          <p:nvPr/>
        </p:nvSpPr>
        <p:spPr>
          <a:xfrm>
            <a:off x="5349240" y="2816352"/>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Merriweather"/>
              <a:buNone/>
            </a:pPr>
            <a:r>
              <a:rPr b="1" i="0" lang="en-US" sz="1050" u="none" cap="none" strike="noStrike">
                <a:solidFill>
                  <a:srgbClr val="1E293B"/>
                </a:solidFill>
                <a:latin typeface="Merriweather"/>
                <a:ea typeface="Merriweather"/>
                <a:cs typeface="Merriweather"/>
                <a:sym typeface="Merriweather"/>
              </a:rPr>
              <a:t>SQL Injection — Port 3306</a:t>
            </a:r>
            <a:endParaRPr b="1" i="0" sz="1050" u="none" cap="none" strike="noStrike">
              <a:solidFill>
                <a:schemeClr val="dk1"/>
              </a:solidFill>
              <a:latin typeface="Calibri"/>
              <a:ea typeface="Calibri"/>
              <a:cs typeface="Calibri"/>
              <a:sym typeface="Calibri"/>
            </a:endParaRPr>
          </a:p>
        </p:txBody>
      </p:sp>
      <p:sp>
        <p:nvSpPr>
          <p:cNvPr id="450" name="Google Shape;450;p13"/>
          <p:cNvSpPr/>
          <p:nvPr/>
        </p:nvSpPr>
        <p:spPr>
          <a:xfrm>
            <a:off x="5257800" y="3337560"/>
            <a:ext cx="3383280" cy="411480"/>
          </a:xfrm>
          <a:prstGeom prst="rect">
            <a:avLst/>
          </a:prstGeom>
          <a:solidFill>
            <a:srgbClr val="FFFFFF"/>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p>
        </p:txBody>
      </p:sp>
      <p:sp>
        <p:nvSpPr>
          <p:cNvPr id="451" name="Google Shape;451;p13"/>
          <p:cNvSpPr/>
          <p:nvPr/>
        </p:nvSpPr>
        <p:spPr>
          <a:xfrm>
            <a:off x="5349240" y="333756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Merriweather"/>
              <a:buNone/>
            </a:pPr>
            <a:r>
              <a:rPr b="1" i="0" lang="en-US" sz="1050" u="none" cap="none" strike="noStrike">
                <a:solidFill>
                  <a:srgbClr val="1E293B"/>
                </a:solidFill>
                <a:latin typeface="Merriweather"/>
                <a:ea typeface="Merriweather"/>
                <a:cs typeface="Merriweather"/>
                <a:sym typeface="Merriweather"/>
              </a:rPr>
              <a:t>XSS — /admin/login</a:t>
            </a:r>
            <a:endParaRPr b="1" i="0" sz="1050" u="none" cap="none" strike="noStrike">
              <a:solidFill>
                <a:schemeClr val="dk1"/>
              </a:solidFill>
              <a:latin typeface="Calibri"/>
              <a:ea typeface="Calibri"/>
              <a:cs typeface="Calibri"/>
              <a:sym typeface="Calibri"/>
            </a:endParaRPr>
          </a:p>
        </p:txBody>
      </p:sp>
      <p:sp>
        <p:nvSpPr>
          <p:cNvPr id="452" name="Google Shape;452;p13"/>
          <p:cNvSpPr/>
          <p:nvPr/>
        </p:nvSpPr>
        <p:spPr>
          <a:xfrm>
            <a:off x="5257800" y="3858768"/>
            <a:ext cx="3383280" cy="411480"/>
          </a:xfrm>
          <a:prstGeom prst="rect">
            <a:avLst/>
          </a:prstGeom>
          <a:solidFill>
            <a:srgbClr val="FFFFFF"/>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p>
        </p:txBody>
      </p:sp>
      <p:sp>
        <p:nvSpPr>
          <p:cNvPr id="453" name="Google Shape;453;p13"/>
          <p:cNvSpPr/>
          <p:nvPr/>
        </p:nvSpPr>
        <p:spPr>
          <a:xfrm>
            <a:off x="5349240" y="3858768"/>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Merriweather"/>
              <a:buNone/>
            </a:pPr>
            <a:r>
              <a:rPr b="1" i="0" lang="en-US" sz="1050" u="none" cap="none" strike="noStrike">
                <a:solidFill>
                  <a:srgbClr val="1E293B"/>
                </a:solidFill>
                <a:latin typeface="Merriweather"/>
                <a:ea typeface="Merriweather"/>
                <a:cs typeface="Merriweather"/>
                <a:sym typeface="Merriweather"/>
              </a:rPr>
              <a:t>Open SSH — Port 22</a:t>
            </a:r>
            <a:endParaRPr b="1" i="0" sz="1050" u="none" cap="none" strike="noStrike">
              <a:solidFill>
                <a:schemeClr val="dk1"/>
              </a:solidFill>
              <a:latin typeface="Calibri"/>
              <a:ea typeface="Calibri"/>
              <a:cs typeface="Calibri"/>
              <a:sym typeface="Calibri"/>
            </a:endParaRPr>
          </a:p>
        </p:txBody>
      </p:sp>
      <p:sp>
        <p:nvSpPr>
          <p:cNvPr id="454" name="Google Shape;454;p13"/>
          <p:cNvSpPr/>
          <p:nvPr/>
        </p:nvSpPr>
        <p:spPr>
          <a:xfrm>
            <a:off x="347475" y="1038800"/>
            <a:ext cx="4572000" cy="37344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3"/>
          <p:cNvSpPr/>
          <p:nvPr/>
        </p:nvSpPr>
        <p:spPr>
          <a:xfrm>
            <a:off x="530350" y="1280150"/>
            <a:ext cx="4370700" cy="3450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Tailwind CSS </a:t>
            </a:r>
            <a:r>
              <a:rPr b="0" i="0" lang="en-US" sz="1150" u="none" cap="none" strike="noStrike">
                <a:solidFill>
                  <a:srgbClr val="334155"/>
                </a:solidFill>
                <a:latin typeface="Merriweather"/>
                <a:ea typeface="Merriweather"/>
                <a:cs typeface="Merriweather"/>
                <a:sym typeface="Merriweather"/>
              </a:rPr>
              <a:t>— Utility-first classes enable pixel-perfect Iris Theme implementation at scale.</a:t>
            </a:r>
            <a:endParaRPr b="0" i="0" sz="1150" u="none" cap="none" strike="noStrike">
              <a:solidFill>
                <a:schemeClr val="dk1"/>
              </a:solidFill>
              <a:latin typeface="Calibri"/>
              <a:ea typeface="Calibri"/>
              <a:cs typeface="Calibri"/>
              <a:sym typeface="Calibri"/>
            </a:endParaRPr>
          </a:p>
          <a:p>
            <a:pPr indent="-342900" lvl="0" marL="342900" marR="0" rtl="0" algn="l">
              <a:lnSpc>
                <a:spcPct val="150000"/>
              </a:lnSpc>
              <a:spcBef>
                <a:spcPts val="500"/>
              </a:spcBef>
              <a:spcAft>
                <a:spcPts val="0"/>
              </a:spcAft>
              <a:buClr>
                <a:srgbClr val="334155"/>
              </a:buClr>
              <a:buSzPts val="1150"/>
              <a:buFont typeface="Merriweather"/>
              <a:buChar char="•"/>
            </a:pPr>
            <a:r>
              <a:rPr b="1" lang="en-US" sz="1150">
                <a:solidFill>
                  <a:srgbClr val="334155"/>
                </a:solidFill>
                <a:latin typeface="Merriweather"/>
                <a:ea typeface="Merriweather"/>
                <a:cs typeface="Merriweather"/>
                <a:sym typeface="Merriweather"/>
              </a:rPr>
              <a:t>Glass Morphism</a:t>
            </a:r>
            <a:r>
              <a:rPr b="1" i="0" lang="en-US" sz="1150" u="none" cap="none" strike="noStrike">
                <a:solidFill>
                  <a:srgbClr val="334155"/>
                </a:solidFill>
                <a:latin typeface="Merriweather"/>
                <a:ea typeface="Merriweather"/>
                <a:cs typeface="Merriweather"/>
                <a:sym typeface="Merriweather"/>
              </a:rPr>
              <a:t> cards</a:t>
            </a:r>
            <a:r>
              <a:rPr b="0" i="0" lang="en-US" sz="1150" u="none" cap="none" strike="noStrike">
                <a:solidFill>
                  <a:srgbClr val="334155"/>
                </a:solidFill>
                <a:latin typeface="Merriweather"/>
                <a:ea typeface="Merriweather"/>
                <a:cs typeface="Merriweather"/>
                <a:sym typeface="Merriweather"/>
              </a:rPr>
              <a:t> — Frosted-glass visual style on white gives depth without dark backgrounds.</a:t>
            </a:r>
            <a:endParaRPr b="0" i="0" sz="1150" u="none" cap="none" strike="noStrike">
              <a:solidFill>
                <a:schemeClr val="dk1"/>
              </a:solidFill>
              <a:latin typeface="Calibri"/>
              <a:ea typeface="Calibri"/>
              <a:cs typeface="Calibri"/>
              <a:sym typeface="Calibri"/>
            </a:endParaRPr>
          </a:p>
          <a:p>
            <a:pPr indent="-342900" lvl="0" marL="342900" marR="0" rtl="0" algn="l">
              <a:lnSpc>
                <a:spcPct val="150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Neon Cyan Accents </a:t>
            </a:r>
            <a:r>
              <a:rPr b="0" i="0" lang="en-US" sz="1150" u="none" cap="none" strike="noStrike">
                <a:solidFill>
                  <a:srgbClr val="334155"/>
                </a:solidFill>
                <a:latin typeface="Merriweather"/>
                <a:ea typeface="Merriweather"/>
                <a:cs typeface="Merriweather"/>
                <a:sym typeface="Merriweather"/>
              </a:rPr>
              <a:t>— Consistent #06B6D4 accent color across all interactive elements.</a:t>
            </a:r>
            <a:endParaRPr b="0" i="0" sz="1150" u="none" cap="none" strike="noStrike">
              <a:solidFill>
                <a:schemeClr val="dk1"/>
              </a:solidFill>
              <a:latin typeface="Calibri"/>
              <a:ea typeface="Calibri"/>
              <a:cs typeface="Calibri"/>
              <a:sym typeface="Calibri"/>
            </a:endParaRPr>
          </a:p>
          <a:p>
            <a:pPr indent="-342900" lvl="0" marL="342900" marR="0" rtl="0" algn="l">
              <a:lnSpc>
                <a:spcPct val="150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SME-first UX </a:t>
            </a:r>
            <a:r>
              <a:rPr b="0" i="0" lang="en-US" sz="1150" u="none" cap="none" strike="noStrike">
                <a:solidFill>
                  <a:srgbClr val="334155"/>
                </a:solidFill>
                <a:latin typeface="Merriweather"/>
                <a:ea typeface="Merriweather"/>
                <a:cs typeface="Merriweather"/>
                <a:sym typeface="Merriweather"/>
              </a:rPr>
              <a:t>— No security jargon in the primary view; everything maps to a business outcome.</a:t>
            </a:r>
            <a:endParaRPr b="0" i="0" sz="1150" u="none" cap="none" strike="noStrike">
              <a:solidFill>
                <a:schemeClr val="dk1"/>
              </a:solidFill>
              <a:latin typeface="Calibri"/>
              <a:ea typeface="Calibri"/>
              <a:cs typeface="Calibri"/>
              <a:sym typeface="Calibri"/>
            </a:endParaRPr>
          </a:p>
          <a:p>
            <a:pPr indent="-342900" lvl="0" marL="342900" marR="0" rtl="0" algn="l">
              <a:lnSpc>
                <a:spcPct val="150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Slide-out Detail Panels </a:t>
            </a:r>
            <a:r>
              <a:rPr b="0" i="0" lang="en-US" sz="1150" u="none" cap="none" strike="noStrike">
                <a:solidFill>
                  <a:srgbClr val="334155"/>
                </a:solidFill>
                <a:latin typeface="Merriweather"/>
                <a:ea typeface="Merriweather"/>
                <a:cs typeface="Merriweather"/>
                <a:sym typeface="Merriweather"/>
              </a:rPr>
              <a:t>— Clicking any vulnerability reveals full CVE context without page navigation.</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0" name="Shape 460"/>
        <p:cNvGrpSpPr/>
        <p:nvPr/>
      </p:nvGrpSpPr>
      <p:grpSpPr>
        <a:xfrm>
          <a:off x="0" y="0"/>
          <a:ext cx="0" cy="0"/>
          <a:chOff x="0" y="0"/>
          <a:chExt cx="0" cy="0"/>
        </a:xfrm>
      </p:grpSpPr>
      <p:pic>
        <p:nvPicPr>
          <p:cNvPr id="461" name="Google Shape;461;p14"/>
          <p:cNvPicPr preferRelativeResize="0"/>
          <p:nvPr/>
        </p:nvPicPr>
        <p:blipFill rotWithShape="1">
          <a:blip r:embed="rId3">
            <a:alphaModFix/>
          </a:blip>
          <a:srcRect b="0" l="77181" r="0" t="36673"/>
          <a:stretch/>
        </p:blipFill>
        <p:spPr>
          <a:xfrm>
            <a:off x="5370925" y="1105200"/>
            <a:ext cx="2904399" cy="3558300"/>
          </a:xfrm>
          <a:prstGeom prst="rect">
            <a:avLst/>
          </a:prstGeom>
          <a:noFill/>
          <a:ln>
            <a:noFill/>
          </a:ln>
        </p:spPr>
      </p:pic>
      <p:sp>
        <p:nvSpPr>
          <p:cNvPr id="462" name="Google Shape;462;p14"/>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4"/>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4"/>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The Visualization Challenge</a:t>
            </a:r>
            <a:endParaRPr b="0" i="0" sz="2200" u="none" cap="none" strike="noStrike">
              <a:solidFill>
                <a:schemeClr val="dk1"/>
              </a:solidFill>
              <a:latin typeface="Calibri"/>
              <a:ea typeface="Calibri"/>
              <a:cs typeface="Calibri"/>
              <a:sym typeface="Calibri"/>
            </a:endParaRPr>
          </a:p>
        </p:txBody>
      </p:sp>
      <p:sp>
        <p:nvSpPr>
          <p:cNvPr id="465" name="Google Shape;465;p14"/>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4"/>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14/40</a:t>
            </a:r>
            <a:endParaRPr b="0" i="0" sz="800" u="none" cap="none" strike="noStrike">
              <a:solidFill>
                <a:schemeClr val="dk1"/>
              </a:solidFill>
              <a:latin typeface="Calibri"/>
              <a:ea typeface="Calibri"/>
              <a:cs typeface="Calibri"/>
              <a:sym typeface="Calibri"/>
            </a:endParaRPr>
          </a:p>
        </p:txBody>
      </p:sp>
      <p:cxnSp>
        <p:nvCxnSpPr>
          <p:cNvPr id="467" name="Google Shape;467;p14"/>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468" name="Google Shape;468;p14"/>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469" name="Google Shape;469;p14"/>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4"/>
          <p:cNvSpPr/>
          <p:nvPr/>
        </p:nvSpPr>
        <p:spPr>
          <a:xfrm>
            <a:off x="1143010" y="790346"/>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4"/>
          <p:cNvSpPr/>
          <p:nvPr/>
        </p:nvSpPr>
        <p:spPr>
          <a:xfrm>
            <a:off x="1143010" y="790346"/>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Frontend — Data Viz</a:t>
            </a:r>
            <a:endParaRPr b="0" i="0" sz="1000" u="none" cap="none" strike="noStrike">
              <a:solidFill>
                <a:schemeClr val="dk1"/>
              </a:solidFill>
              <a:latin typeface="Calibri"/>
              <a:ea typeface="Calibri"/>
              <a:cs typeface="Calibri"/>
              <a:sym typeface="Calibri"/>
            </a:endParaRPr>
          </a:p>
        </p:txBody>
      </p:sp>
      <p:sp>
        <p:nvSpPr>
          <p:cNvPr id="472" name="Google Shape;472;p14"/>
          <p:cNvSpPr/>
          <p:nvPr/>
        </p:nvSpPr>
        <p:spPr>
          <a:xfrm>
            <a:off x="347475" y="1105199"/>
            <a:ext cx="3931800" cy="3558300"/>
          </a:xfrm>
          <a:prstGeom prst="rect">
            <a:avLst/>
          </a:prstGeom>
          <a:solidFill>
            <a:srgbClr val="FEE2E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4"/>
          <p:cNvSpPr/>
          <p:nvPr/>
        </p:nvSpPr>
        <p:spPr>
          <a:xfrm>
            <a:off x="502923" y="1172975"/>
            <a:ext cx="3657600" cy="296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1000"/>
              <a:buFont typeface="Merriweather"/>
              <a:buNone/>
            </a:pPr>
            <a:r>
              <a:rPr b="1" i="0" lang="en-US" sz="1000" u="none" cap="none" strike="noStrike">
                <a:solidFill>
                  <a:srgbClr val="DC2626"/>
                </a:solidFill>
                <a:latin typeface="Merriweather"/>
                <a:ea typeface="Merriweather"/>
                <a:cs typeface="Merriweather"/>
                <a:sym typeface="Merriweather"/>
              </a:rPr>
              <a:t>BEFORE: Static Table View</a:t>
            </a:r>
            <a:endParaRPr b="0" i="0" sz="1000" u="none" cap="none" strike="noStrike">
              <a:solidFill>
                <a:schemeClr val="dk1"/>
              </a:solidFill>
              <a:latin typeface="Calibri"/>
              <a:ea typeface="Calibri"/>
              <a:cs typeface="Calibri"/>
              <a:sym typeface="Calibri"/>
            </a:endParaRPr>
          </a:p>
        </p:txBody>
      </p:sp>
      <p:sp>
        <p:nvSpPr>
          <p:cNvPr id="474" name="Google Shape;474;p14"/>
          <p:cNvSpPr/>
          <p:nvPr/>
        </p:nvSpPr>
        <p:spPr>
          <a:xfrm>
            <a:off x="438915" y="1528800"/>
            <a:ext cx="3749100" cy="3219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
          <p:cNvSpPr/>
          <p:nvPr/>
        </p:nvSpPr>
        <p:spPr>
          <a:xfrm>
            <a:off x="502923" y="1528800"/>
            <a:ext cx="3621000" cy="3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850"/>
              <a:buFont typeface="Courier New"/>
              <a:buNone/>
            </a:pPr>
            <a:r>
              <a:rPr b="1" i="0" lang="en-US" sz="850" u="none" cap="none" strike="noStrike">
                <a:solidFill>
                  <a:srgbClr val="DC2626"/>
                </a:solidFill>
                <a:latin typeface="Courier New"/>
                <a:ea typeface="Courier New"/>
                <a:cs typeface="Courier New"/>
                <a:sym typeface="Courier New"/>
              </a:rPr>
              <a:t>ID  |  Host  |  Port  |  CVE  |  Score</a:t>
            </a:r>
            <a:endParaRPr b="0" i="0" sz="850" u="none" cap="none" strike="noStrike">
              <a:solidFill>
                <a:schemeClr val="dk1"/>
              </a:solidFill>
              <a:latin typeface="Calibri"/>
              <a:ea typeface="Calibri"/>
              <a:cs typeface="Calibri"/>
              <a:sym typeface="Calibri"/>
            </a:endParaRPr>
          </a:p>
        </p:txBody>
      </p:sp>
      <p:sp>
        <p:nvSpPr>
          <p:cNvPr id="476" name="Google Shape;476;p14"/>
          <p:cNvSpPr/>
          <p:nvPr/>
        </p:nvSpPr>
        <p:spPr>
          <a:xfrm>
            <a:off x="438915" y="1867681"/>
            <a:ext cx="3749100" cy="3219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4"/>
          <p:cNvSpPr/>
          <p:nvPr/>
        </p:nvSpPr>
        <p:spPr>
          <a:xfrm>
            <a:off x="502923" y="1867681"/>
            <a:ext cx="3621000" cy="3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ourier New"/>
              <a:buNone/>
            </a:pPr>
            <a:r>
              <a:rPr b="0" i="0" lang="en-US" sz="850" u="none" cap="none" strike="noStrike">
                <a:solidFill>
                  <a:srgbClr val="1E293B"/>
                </a:solidFill>
                <a:latin typeface="Courier New"/>
                <a:ea typeface="Courier New"/>
                <a:cs typeface="Courier New"/>
                <a:sym typeface="Courier New"/>
              </a:rPr>
              <a:t>001 | 192.168.1.1 | 80 | CVE-2021 | 9.8</a:t>
            </a:r>
            <a:endParaRPr b="0" i="0" sz="850" u="none" cap="none" strike="noStrike">
              <a:solidFill>
                <a:schemeClr val="dk1"/>
              </a:solidFill>
              <a:latin typeface="Calibri"/>
              <a:ea typeface="Calibri"/>
              <a:cs typeface="Calibri"/>
              <a:sym typeface="Calibri"/>
            </a:endParaRPr>
          </a:p>
        </p:txBody>
      </p:sp>
      <p:sp>
        <p:nvSpPr>
          <p:cNvPr id="478" name="Google Shape;478;p14"/>
          <p:cNvSpPr/>
          <p:nvPr/>
        </p:nvSpPr>
        <p:spPr>
          <a:xfrm>
            <a:off x="438915" y="2206562"/>
            <a:ext cx="3749100" cy="3219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4"/>
          <p:cNvSpPr/>
          <p:nvPr/>
        </p:nvSpPr>
        <p:spPr>
          <a:xfrm>
            <a:off x="502923" y="2206562"/>
            <a:ext cx="3621000" cy="3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ourier New"/>
              <a:buNone/>
            </a:pPr>
            <a:r>
              <a:rPr b="0" i="0" lang="en-US" sz="850" u="none" cap="none" strike="noStrike">
                <a:solidFill>
                  <a:srgbClr val="1E293B"/>
                </a:solidFill>
                <a:latin typeface="Courier New"/>
                <a:ea typeface="Courier New"/>
                <a:cs typeface="Courier New"/>
                <a:sym typeface="Courier New"/>
              </a:rPr>
              <a:t>002 | 192.168.1.5 | 22 | CVE-2019 | 7.2</a:t>
            </a:r>
            <a:endParaRPr b="0" i="0" sz="850" u="none" cap="none" strike="noStrike">
              <a:solidFill>
                <a:schemeClr val="dk1"/>
              </a:solidFill>
              <a:latin typeface="Calibri"/>
              <a:ea typeface="Calibri"/>
              <a:cs typeface="Calibri"/>
              <a:sym typeface="Calibri"/>
            </a:endParaRPr>
          </a:p>
        </p:txBody>
      </p:sp>
      <p:sp>
        <p:nvSpPr>
          <p:cNvPr id="480" name="Google Shape;480;p14"/>
          <p:cNvSpPr/>
          <p:nvPr/>
        </p:nvSpPr>
        <p:spPr>
          <a:xfrm>
            <a:off x="438915" y="2545443"/>
            <a:ext cx="3749100" cy="3219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4"/>
          <p:cNvSpPr/>
          <p:nvPr/>
        </p:nvSpPr>
        <p:spPr>
          <a:xfrm>
            <a:off x="502923" y="2545443"/>
            <a:ext cx="3621000" cy="3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ourier New"/>
              <a:buNone/>
            </a:pPr>
            <a:r>
              <a:rPr b="0" i="0" lang="en-US" sz="850" u="none" cap="none" strike="noStrike">
                <a:solidFill>
                  <a:srgbClr val="1E293B"/>
                </a:solidFill>
                <a:latin typeface="Courier New"/>
                <a:ea typeface="Courier New"/>
                <a:cs typeface="Courier New"/>
                <a:sym typeface="Courier New"/>
              </a:rPr>
              <a:t>003 | 192.168.1.8 | 443 | CVE-2023 | 8.1</a:t>
            </a:r>
            <a:endParaRPr b="0" i="0" sz="850" u="none" cap="none" strike="noStrike">
              <a:solidFill>
                <a:schemeClr val="dk1"/>
              </a:solidFill>
              <a:latin typeface="Calibri"/>
              <a:ea typeface="Calibri"/>
              <a:cs typeface="Calibri"/>
              <a:sym typeface="Calibri"/>
            </a:endParaRPr>
          </a:p>
        </p:txBody>
      </p:sp>
      <p:sp>
        <p:nvSpPr>
          <p:cNvPr id="482" name="Google Shape;482;p14"/>
          <p:cNvSpPr/>
          <p:nvPr/>
        </p:nvSpPr>
        <p:spPr>
          <a:xfrm>
            <a:off x="438915" y="2884324"/>
            <a:ext cx="3749100" cy="3219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4"/>
          <p:cNvSpPr/>
          <p:nvPr/>
        </p:nvSpPr>
        <p:spPr>
          <a:xfrm>
            <a:off x="502923" y="2884324"/>
            <a:ext cx="3621000" cy="3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ourier New"/>
              <a:buNone/>
            </a:pPr>
            <a:r>
              <a:rPr b="0" i="0" lang="en-US" sz="850" u="none" cap="none" strike="noStrike">
                <a:solidFill>
                  <a:srgbClr val="1E293B"/>
                </a:solidFill>
                <a:latin typeface="Courier New"/>
                <a:ea typeface="Courier New"/>
                <a:cs typeface="Courier New"/>
                <a:sym typeface="Courier New"/>
              </a:rPr>
              <a:t>004 | 192.168.1.12| 3306 | CVE-2022 | 9.4</a:t>
            </a:r>
            <a:endParaRPr b="0" i="0" sz="850" u="none" cap="none" strike="noStrike">
              <a:solidFill>
                <a:schemeClr val="dk1"/>
              </a:solidFill>
              <a:latin typeface="Calibri"/>
              <a:ea typeface="Calibri"/>
              <a:cs typeface="Calibri"/>
              <a:sym typeface="Calibri"/>
            </a:endParaRPr>
          </a:p>
        </p:txBody>
      </p:sp>
      <p:sp>
        <p:nvSpPr>
          <p:cNvPr id="484" name="Google Shape;484;p14"/>
          <p:cNvSpPr/>
          <p:nvPr/>
        </p:nvSpPr>
        <p:spPr>
          <a:xfrm>
            <a:off x="438915" y="3223205"/>
            <a:ext cx="3749100" cy="3219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4"/>
          <p:cNvSpPr/>
          <p:nvPr/>
        </p:nvSpPr>
        <p:spPr>
          <a:xfrm>
            <a:off x="502923" y="3223205"/>
            <a:ext cx="3621000" cy="3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ourier New"/>
              <a:buNone/>
            </a:pPr>
            <a:r>
              <a:rPr b="0" i="0" lang="en-US" sz="850" u="none" cap="none" strike="noStrike">
                <a:solidFill>
                  <a:srgbClr val="1E293B"/>
                </a:solidFill>
                <a:latin typeface="Courier New"/>
                <a:ea typeface="Courier New"/>
                <a:cs typeface="Courier New"/>
                <a:sym typeface="Courier New"/>
              </a:rPr>
              <a:t>005 | 192.168.1.15| 8080 | CVE-2020 | 6.5</a:t>
            </a:r>
            <a:endParaRPr b="0" i="0" sz="850" u="none" cap="none" strike="noStrike">
              <a:solidFill>
                <a:schemeClr val="dk1"/>
              </a:solidFill>
              <a:latin typeface="Calibri"/>
              <a:ea typeface="Calibri"/>
              <a:cs typeface="Calibri"/>
              <a:sym typeface="Calibri"/>
            </a:endParaRPr>
          </a:p>
        </p:txBody>
      </p:sp>
      <p:sp>
        <p:nvSpPr>
          <p:cNvPr id="486" name="Google Shape;486;p14"/>
          <p:cNvSpPr/>
          <p:nvPr/>
        </p:nvSpPr>
        <p:spPr>
          <a:xfrm>
            <a:off x="438915" y="3562086"/>
            <a:ext cx="3749100" cy="3219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4"/>
          <p:cNvSpPr/>
          <p:nvPr/>
        </p:nvSpPr>
        <p:spPr>
          <a:xfrm>
            <a:off x="502923" y="3562086"/>
            <a:ext cx="3621000" cy="3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ourier New"/>
              <a:buNone/>
            </a:pPr>
            <a:r>
              <a:rPr b="0" i="0" lang="en-US" sz="850" u="none" cap="none" strike="noStrike">
                <a:solidFill>
                  <a:srgbClr val="1E293B"/>
                </a:solidFill>
                <a:latin typeface="Courier New"/>
                <a:ea typeface="Courier New"/>
                <a:cs typeface="Courier New"/>
                <a:sym typeface="Courier New"/>
              </a:rPr>
              <a:t>...and 47 more rows</a:t>
            </a:r>
            <a:endParaRPr b="0" i="0" sz="850" u="none" cap="none" strike="noStrike">
              <a:solidFill>
                <a:schemeClr val="dk1"/>
              </a:solidFill>
              <a:latin typeface="Calibri"/>
              <a:ea typeface="Calibri"/>
              <a:cs typeface="Calibri"/>
              <a:sym typeface="Calibri"/>
            </a:endParaRPr>
          </a:p>
        </p:txBody>
      </p:sp>
      <p:sp>
        <p:nvSpPr>
          <p:cNvPr id="488" name="Google Shape;488;p14"/>
          <p:cNvSpPr/>
          <p:nvPr/>
        </p:nvSpPr>
        <p:spPr>
          <a:xfrm>
            <a:off x="4433573" y="722387"/>
            <a:ext cx="42978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000"/>
              <a:buFont typeface="Merriweather"/>
              <a:buNone/>
            </a:pPr>
            <a:r>
              <a:rPr b="1" i="0" lang="en-US" sz="1000" u="none" cap="none" strike="noStrike">
                <a:solidFill>
                  <a:schemeClr val="lt1"/>
                </a:solidFill>
                <a:latin typeface="Merriweather"/>
                <a:ea typeface="Merriweather"/>
                <a:cs typeface="Merriweather"/>
                <a:sym typeface="Merriweather"/>
              </a:rPr>
              <a:t>AFTER: Interactive Force-Graph</a:t>
            </a:r>
            <a:endParaRPr b="0" i="0" sz="1000" u="none" cap="none" strike="noStrike">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pic>
        <p:nvPicPr>
          <p:cNvPr id="494" name="Google Shape;494;p15"/>
          <p:cNvPicPr preferRelativeResize="0"/>
          <p:nvPr/>
        </p:nvPicPr>
        <p:blipFill rotWithShape="1">
          <a:blip r:embed="rId3">
            <a:alphaModFix/>
          </a:blip>
          <a:srcRect b="0" l="12990" r="51264" t="20420"/>
          <a:stretch/>
        </p:blipFill>
        <p:spPr>
          <a:xfrm>
            <a:off x="4663450" y="836125"/>
            <a:ext cx="3931927" cy="3900474"/>
          </a:xfrm>
          <a:prstGeom prst="rect">
            <a:avLst/>
          </a:prstGeom>
          <a:noFill/>
          <a:ln>
            <a:noFill/>
          </a:ln>
        </p:spPr>
      </p:pic>
      <p:sp>
        <p:nvSpPr>
          <p:cNvPr id="495" name="Google Shape;495;p15"/>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5"/>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5"/>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Network Topology with Force-Graph</a:t>
            </a:r>
            <a:endParaRPr b="0" i="0" sz="2200" u="none" cap="none" strike="noStrike">
              <a:solidFill>
                <a:schemeClr val="dk1"/>
              </a:solidFill>
              <a:latin typeface="Calibri"/>
              <a:ea typeface="Calibri"/>
              <a:cs typeface="Calibri"/>
              <a:sym typeface="Calibri"/>
            </a:endParaRPr>
          </a:p>
        </p:txBody>
      </p:sp>
      <p:sp>
        <p:nvSpPr>
          <p:cNvPr id="498" name="Google Shape;498;p15"/>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5"/>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15/40</a:t>
            </a:r>
            <a:endParaRPr b="0" i="0" sz="800" u="none" cap="none" strike="noStrike">
              <a:solidFill>
                <a:schemeClr val="dk1"/>
              </a:solidFill>
              <a:latin typeface="Calibri"/>
              <a:ea typeface="Calibri"/>
              <a:cs typeface="Calibri"/>
              <a:sym typeface="Calibri"/>
            </a:endParaRPr>
          </a:p>
        </p:txBody>
      </p:sp>
      <p:cxnSp>
        <p:nvCxnSpPr>
          <p:cNvPr id="500" name="Google Shape;500;p15"/>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501" name="Google Shape;501;p15"/>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502" name="Google Shape;502;p15"/>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5"/>
          <p:cNvSpPr/>
          <p:nvPr/>
        </p:nvSpPr>
        <p:spPr>
          <a:xfrm>
            <a:off x="1216160" y="722308"/>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5"/>
          <p:cNvSpPr/>
          <p:nvPr/>
        </p:nvSpPr>
        <p:spPr>
          <a:xfrm>
            <a:off x="1216160" y="722308"/>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Frontend — Data Viz</a:t>
            </a:r>
            <a:endParaRPr b="0" i="0" sz="1000" u="none" cap="none" strike="noStrike">
              <a:solidFill>
                <a:schemeClr val="dk1"/>
              </a:solidFill>
              <a:latin typeface="Calibri"/>
              <a:ea typeface="Calibri"/>
              <a:cs typeface="Calibri"/>
              <a:sym typeface="Calibri"/>
            </a:endParaRPr>
          </a:p>
        </p:txBody>
      </p:sp>
      <p:sp>
        <p:nvSpPr>
          <p:cNvPr id="505" name="Google Shape;505;p15"/>
          <p:cNvSpPr/>
          <p:nvPr/>
        </p:nvSpPr>
        <p:spPr>
          <a:xfrm>
            <a:off x="347475" y="969275"/>
            <a:ext cx="4114800" cy="37674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5"/>
          <p:cNvSpPr/>
          <p:nvPr/>
        </p:nvSpPr>
        <p:spPr>
          <a:xfrm>
            <a:off x="548640" y="1017339"/>
            <a:ext cx="3712500" cy="3639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react-force-graph-2d </a:t>
            </a:r>
            <a:r>
              <a:rPr b="0" i="0" lang="en-US" sz="1150" u="none" cap="none" strike="noStrike">
                <a:solidFill>
                  <a:srgbClr val="334155"/>
                </a:solidFill>
                <a:latin typeface="Merriweather"/>
                <a:ea typeface="Merriweather"/>
                <a:cs typeface="Merriweather"/>
                <a:sym typeface="Merriweather"/>
              </a:rPr>
              <a:t>— Physics-based graph rendering powered by D3-Force simulation engine.</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Real-time network mapping </a:t>
            </a:r>
            <a:r>
              <a:rPr b="0" i="0" lang="en-US" sz="1150" u="none" cap="none" strike="noStrike">
                <a:solidFill>
                  <a:srgbClr val="334155"/>
                </a:solidFill>
                <a:latin typeface="Merriweather"/>
                <a:ea typeface="Merriweather"/>
                <a:cs typeface="Merriweather"/>
                <a:sym typeface="Merriweather"/>
              </a:rPr>
              <a:t>— Nodes appear live as ReconAgent discovers new hosts.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Color-coded threat severity </a:t>
            </a:r>
            <a:r>
              <a:rPr b="0" i="0" lang="en-US" sz="1150" u="none" cap="none" strike="noStrike">
                <a:solidFill>
                  <a:srgbClr val="334155"/>
                </a:solidFill>
                <a:latin typeface="Merriweather"/>
                <a:ea typeface="Merriweather"/>
                <a:cs typeface="Merriweather"/>
                <a:sym typeface="Merriweather"/>
              </a:rPr>
              <a:t>— Red nodes = Critical, Orange = High, Green = Healthy.</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Immediate visual threat assessment</a:t>
            </a:r>
            <a:r>
              <a:rPr b="0" i="0" lang="en-US" sz="1150" u="none" cap="none" strike="noStrike">
                <a:solidFill>
                  <a:srgbClr val="334155"/>
                </a:solidFill>
                <a:latin typeface="Merriweather"/>
                <a:ea typeface="Merriweather"/>
                <a:cs typeface="Merriweather"/>
                <a:sym typeface="Merriweather"/>
              </a:rPr>
              <a:t> — Spot the most vulnerable node at a glance.</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Click-through</a:t>
            </a:r>
            <a:r>
              <a:rPr b="0" i="0" lang="en-US" sz="1150" u="none" cap="none" strike="noStrike">
                <a:solidFill>
                  <a:srgbClr val="334155"/>
                </a:solidFill>
                <a:latin typeface="Merriweather"/>
                <a:ea typeface="Merriweather"/>
                <a:cs typeface="Merriweather"/>
                <a:sym typeface="Merriweather"/>
              </a:rPr>
              <a:t> — Selecting a node opens a slide-out panel with full CVE details.</a:t>
            </a:r>
            <a:endParaRPr b="0" i="0" sz="1150" u="none" cap="none" strike="noStrike">
              <a:solidFill>
                <a:schemeClr val="dk1"/>
              </a:solidFill>
              <a:latin typeface="Calibri"/>
              <a:ea typeface="Calibri"/>
              <a:cs typeface="Calibri"/>
              <a:sym typeface="Calibri"/>
            </a:endParaRPr>
          </a:p>
        </p:txBody>
      </p:sp>
      <p:sp>
        <p:nvSpPr>
          <p:cNvPr id="507" name="Google Shape;507;p15"/>
          <p:cNvSpPr/>
          <p:nvPr/>
        </p:nvSpPr>
        <p:spPr>
          <a:xfrm>
            <a:off x="4709175" y="4172595"/>
            <a:ext cx="3840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950"/>
              <a:buFont typeface="Merriweather"/>
              <a:buNone/>
            </a:pPr>
            <a:r>
              <a:rPr b="0" i="1" lang="en-US" sz="950" u="none" cap="none" strike="noStrike">
                <a:solidFill>
                  <a:schemeClr val="lt1"/>
                </a:solidFill>
                <a:latin typeface="Merriweather"/>
                <a:ea typeface="Merriweather"/>
                <a:cs typeface="Merriweather"/>
                <a:sym typeface="Merriweather"/>
              </a:rPr>
              <a:t>Glowing red = critical risk node</a:t>
            </a:r>
            <a:endParaRPr b="0" i="0" sz="950" u="none" cap="none" strike="noStrike">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2" name="Shape 512"/>
        <p:cNvGrpSpPr/>
        <p:nvPr/>
      </p:nvGrpSpPr>
      <p:grpSpPr>
        <a:xfrm>
          <a:off x="0" y="0"/>
          <a:ext cx="0" cy="0"/>
          <a:chOff x="0" y="0"/>
          <a:chExt cx="0" cy="0"/>
        </a:xfrm>
      </p:grpSpPr>
      <p:sp>
        <p:nvSpPr>
          <p:cNvPr id="513" name="Google Shape;513;p16"/>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6"/>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6"/>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D3.js Physics Engine &amp; Real-time Nodes</a:t>
            </a:r>
            <a:endParaRPr b="0" i="0" sz="2200" u="none" cap="none" strike="noStrike">
              <a:solidFill>
                <a:schemeClr val="dk1"/>
              </a:solidFill>
              <a:latin typeface="Calibri"/>
              <a:ea typeface="Calibri"/>
              <a:cs typeface="Calibri"/>
              <a:sym typeface="Calibri"/>
            </a:endParaRPr>
          </a:p>
        </p:txBody>
      </p:sp>
      <p:sp>
        <p:nvSpPr>
          <p:cNvPr id="516" name="Google Shape;516;p16"/>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6"/>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16/40</a:t>
            </a:r>
            <a:endParaRPr b="0" i="0" sz="800" u="none" cap="none" strike="noStrike">
              <a:solidFill>
                <a:schemeClr val="dk1"/>
              </a:solidFill>
              <a:latin typeface="Calibri"/>
              <a:ea typeface="Calibri"/>
              <a:cs typeface="Calibri"/>
              <a:sym typeface="Calibri"/>
            </a:endParaRPr>
          </a:p>
        </p:txBody>
      </p:sp>
      <p:cxnSp>
        <p:nvCxnSpPr>
          <p:cNvPr id="518" name="Google Shape;518;p16"/>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519" name="Google Shape;519;p16"/>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520" name="Google Shape;520;p16"/>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6"/>
          <p:cNvSpPr/>
          <p:nvPr/>
        </p:nvSpPr>
        <p:spPr>
          <a:xfrm>
            <a:off x="2911925" y="726938"/>
            <a:ext cx="2917800" cy="246900"/>
          </a:xfrm>
          <a:prstGeom prst="rect">
            <a:avLst/>
          </a:prstGeom>
          <a:solidFill>
            <a:srgbClr val="CFFAFE"/>
          </a:solidFill>
          <a:ln cap="flat" cmpd="sng" w="15575">
            <a:solidFill>
              <a:srgbClr val="BAE6FD"/>
            </a:solidFill>
            <a:prstDash val="solid"/>
            <a:round/>
            <a:headEnd len="sm" w="sm" type="none"/>
            <a:tailEnd len="sm" w="sm" type="none"/>
          </a:ln>
        </p:spPr>
        <p:txBody>
          <a:bodyPr anchorCtr="0" anchor="ctr" bIns="112200" lIns="112200" spcFirstLastPara="1" rIns="112200" wrap="square" tIns="112200">
            <a:noAutofit/>
          </a:bodyPr>
          <a:lstStyle/>
          <a:p>
            <a:pPr indent="0" lvl="0" marL="0" rtl="0" algn="l">
              <a:spcBef>
                <a:spcPts val="0"/>
              </a:spcBef>
              <a:spcAft>
                <a:spcPts val="0"/>
              </a:spcAft>
              <a:buNone/>
            </a:pPr>
            <a:r>
              <a:t/>
            </a:r>
            <a:endParaRPr/>
          </a:p>
        </p:txBody>
      </p:sp>
      <p:sp>
        <p:nvSpPr>
          <p:cNvPr id="522" name="Google Shape;522;p16"/>
          <p:cNvSpPr/>
          <p:nvPr/>
        </p:nvSpPr>
        <p:spPr>
          <a:xfrm>
            <a:off x="2911925" y="726938"/>
            <a:ext cx="29178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982"/>
              <a:buFont typeface="Merriweather"/>
              <a:buNone/>
            </a:pPr>
            <a:r>
              <a:rPr b="1" i="0" lang="en-US" sz="1000" u="none" cap="none" strike="noStrike">
                <a:solidFill>
                  <a:srgbClr val="0E7490"/>
                </a:solidFill>
                <a:latin typeface="Merriweather"/>
                <a:ea typeface="Merriweather"/>
                <a:cs typeface="Merriweather"/>
                <a:sym typeface="Merriweather"/>
              </a:rPr>
              <a:t>Frontend — Data Viz</a:t>
            </a:r>
            <a:endParaRPr b="0" i="0" sz="1000" u="none" cap="none" strike="noStrike">
              <a:solidFill>
                <a:schemeClr val="dk1"/>
              </a:solidFill>
              <a:latin typeface="Calibri"/>
              <a:ea typeface="Calibri"/>
              <a:cs typeface="Calibri"/>
              <a:sym typeface="Calibri"/>
            </a:endParaRPr>
          </a:p>
        </p:txBody>
      </p:sp>
      <p:sp>
        <p:nvSpPr>
          <p:cNvPr id="523" name="Google Shape;523;p16"/>
          <p:cNvSpPr/>
          <p:nvPr/>
        </p:nvSpPr>
        <p:spPr>
          <a:xfrm>
            <a:off x="347475" y="1061350"/>
            <a:ext cx="4297800" cy="36753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6"/>
          <p:cNvSpPr/>
          <p:nvPr/>
        </p:nvSpPr>
        <p:spPr>
          <a:xfrm>
            <a:off x="548643" y="1215198"/>
            <a:ext cx="3895200" cy="3401700"/>
          </a:xfrm>
          <a:prstGeom prst="rect">
            <a:avLst/>
          </a:prstGeom>
          <a:noFill/>
          <a:ln>
            <a:noFill/>
          </a:ln>
        </p:spPr>
        <p:txBody>
          <a:bodyPr anchorCtr="0" anchor="t" bIns="45700" lIns="91425" spcFirstLastPara="1" rIns="91425" wrap="square" tIns="45700">
            <a:noAutofit/>
          </a:bodyPr>
          <a:lstStyle/>
          <a:p>
            <a:pPr indent="-349250" lvl="0" marL="342900" marR="0" rtl="0" algn="l">
              <a:lnSpc>
                <a:spcPct val="115000"/>
              </a:lnSpc>
              <a:spcBef>
                <a:spcPts val="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D3-Force Physics Engine </a:t>
            </a:r>
            <a:r>
              <a:rPr b="0" i="0" lang="en-US" sz="1250" u="none" cap="none" strike="noStrike">
                <a:solidFill>
                  <a:srgbClr val="334155"/>
                </a:solidFill>
                <a:latin typeface="Merriweather"/>
                <a:ea typeface="Merriweather"/>
                <a:cs typeface="Merriweather"/>
                <a:sym typeface="Merriweather"/>
              </a:rPr>
              <a:t>— forceSimulation with forceLink, forceManyBody, and forceCenter.</a:t>
            </a:r>
            <a:endParaRPr b="0" i="0" sz="125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Collision Detection</a:t>
            </a:r>
            <a:r>
              <a:rPr b="0" i="0" lang="en-US" sz="1250" u="none" cap="none" strike="noStrike">
                <a:solidFill>
                  <a:srgbClr val="334155"/>
                </a:solidFill>
                <a:latin typeface="Merriweather"/>
                <a:ea typeface="Merriweather"/>
                <a:cs typeface="Merriweather"/>
                <a:sym typeface="Merriweather"/>
              </a:rPr>
              <a:t> — Nodes repel each other proportionally to their risk radius.</a:t>
            </a:r>
            <a:endParaRPr b="0" i="0" sz="125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Link Distance </a:t>
            </a:r>
            <a:r>
              <a:rPr b="0" i="0" lang="en-US" sz="1250" u="none" cap="none" strike="noStrike">
                <a:solidFill>
                  <a:srgbClr val="334155"/>
                </a:solidFill>
                <a:latin typeface="Merriweather"/>
                <a:ea typeface="Merriweather"/>
                <a:cs typeface="Merriweather"/>
                <a:sym typeface="Merriweather"/>
              </a:rPr>
              <a:t>— Connections between hosts are weighted by network proximity.</a:t>
            </a:r>
            <a:endParaRPr b="0" i="0" sz="125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Live Updates During Scanning </a:t>
            </a:r>
            <a:r>
              <a:rPr b="0" i="0" lang="en-US" sz="1250" u="none" cap="none" strike="noStrike">
                <a:solidFill>
                  <a:srgbClr val="334155"/>
                </a:solidFill>
                <a:latin typeface="Merriweather"/>
                <a:ea typeface="Merriweather"/>
                <a:cs typeface="Merriweather"/>
                <a:sym typeface="Merriweather"/>
              </a:rPr>
              <a:t>— Each new discovered host is injected into the live simulation.</a:t>
            </a:r>
            <a:endParaRPr b="0" i="0" sz="125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Alpha Decay </a:t>
            </a:r>
            <a:r>
              <a:rPr b="0" i="0" lang="en-US" sz="1250" u="none" cap="none" strike="noStrike">
                <a:solidFill>
                  <a:srgbClr val="334155"/>
                </a:solidFill>
                <a:latin typeface="Merriweather"/>
                <a:ea typeface="Merriweather"/>
                <a:cs typeface="Merriweather"/>
                <a:sym typeface="Merriweather"/>
              </a:rPr>
              <a:t>— Simulation gradually cools down to a stable layout as scanning completes.</a:t>
            </a:r>
            <a:endParaRPr b="0" i="0" sz="1250" u="none" cap="none" strike="noStrike">
              <a:solidFill>
                <a:schemeClr val="dk1"/>
              </a:solidFill>
              <a:latin typeface="Calibri"/>
              <a:ea typeface="Calibri"/>
              <a:cs typeface="Calibri"/>
              <a:sym typeface="Calibri"/>
            </a:endParaRPr>
          </a:p>
        </p:txBody>
      </p:sp>
      <p:sp>
        <p:nvSpPr>
          <p:cNvPr id="525" name="Google Shape;525;p16"/>
          <p:cNvSpPr/>
          <p:nvPr/>
        </p:nvSpPr>
        <p:spPr>
          <a:xfrm>
            <a:off x="5596128" y="1024128"/>
            <a:ext cx="694944" cy="694944"/>
          </a:xfrm>
          <a:prstGeom prst="ellipse">
            <a:avLst/>
          </a:prstGeom>
          <a:solidFill>
            <a:srgbClr val="06B6D4">
              <a:alpha val="74901"/>
            </a:srgbClr>
          </a:solidFill>
          <a:ln cap="flat" cmpd="sng" w="1905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6" name="Google Shape;526;p16"/>
          <p:cNvCxnSpPr/>
          <p:nvPr/>
        </p:nvCxnSpPr>
        <p:spPr>
          <a:xfrm>
            <a:off x="5943600" y="1371600"/>
            <a:ext cx="0" cy="0"/>
          </a:xfrm>
          <a:prstGeom prst="straightConnector1">
            <a:avLst/>
          </a:prstGeom>
          <a:noFill/>
          <a:ln cap="flat" cmpd="sng" w="12700">
            <a:solidFill>
              <a:srgbClr val="06B6D4"/>
            </a:solidFill>
            <a:prstDash val="solid"/>
            <a:round/>
            <a:headEnd len="sm" w="sm" type="none"/>
            <a:tailEnd len="sm" w="sm" type="none"/>
          </a:ln>
        </p:spPr>
      </p:cxnSp>
      <p:sp>
        <p:nvSpPr>
          <p:cNvPr id="527" name="Google Shape;527;p16"/>
          <p:cNvSpPr/>
          <p:nvPr/>
        </p:nvSpPr>
        <p:spPr>
          <a:xfrm>
            <a:off x="7269480" y="960120"/>
            <a:ext cx="457200" cy="457200"/>
          </a:xfrm>
          <a:prstGeom prst="ellipse">
            <a:avLst/>
          </a:prstGeom>
          <a:solidFill>
            <a:srgbClr val="D97706">
              <a:alpha val="74901"/>
            </a:srgbClr>
          </a:solidFill>
          <a:ln cap="flat" cmpd="sng" w="1905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8" name="Google Shape;528;p16"/>
          <p:cNvCxnSpPr/>
          <p:nvPr/>
        </p:nvCxnSpPr>
        <p:spPr>
          <a:xfrm>
            <a:off x="7498080" y="1188720"/>
            <a:ext cx="0" cy="0"/>
          </a:xfrm>
          <a:prstGeom prst="straightConnector1">
            <a:avLst/>
          </a:prstGeom>
          <a:noFill/>
          <a:ln cap="flat" cmpd="sng" w="12700">
            <a:solidFill>
              <a:srgbClr val="D97706"/>
            </a:solidFill>
            <a:prstDash val="solid"/>
            <a:round/>
            <a:headEnd len="sm" w="sm" type="none"/>
            <a:tailEnd len="sm" w="sm" type="none"/>
          </a:ln>
        </p:spPr>
      </p:cxnSp>
      <p:sp>
        <p:nvSpPr>
          <p:cNvPr id="529" name="Google Shape;529;p16"/>
          <p:cNvSpPr/>
          <p:nvPr/>
        </p:nvSpPr>
        <p:spPr>
          <a:xfrm>
            <a:off x="6537960" y="1874520"/>
            <a:ext cx="822960" cy="822960"/>
          </a:xfrm>
          <a:prstGeom prst="ellipse">
            <a:avLst/>
          </a:prstGeom>
          <a:solidFill>
            <a:srgbClr val="DC2626">
              <a:alpha val="74901"/>
            </a:srgbClr>
          </a:solidFill>
          <a:ln cap="flat" cmpd="sng" w="1905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0" name="Google Shape;530;p16"/>
          <p:cNvCxnSpPr/>
          <p:nvPr/>
        </p:nvCxnSpPr>
        <p:spPr>
          <a:xfrm>
            <a:off x="6949440" y="2286000"/>
            <a:ext cx="0" cy="0"/>
          </a:xfrm>
          <a:prstGeom prst="straightConnector1">
            <a:avLst/>
          </a:prstGeom>
          <a:noFill/>
          <a:ln cap="flat" cmpd="sng" w="12700">
            <a:solidFill>
              <a:srgbClr val="DC2626"/>
            </a:solidFill>
            <a:prstDash val="solid"/>
            <a:round/>
            <a:headEnd len="sm" w="sm" type="none"/>
            <a:tailEnd len="sm" w="sm" type="none"/>
          </a:ln>
        </p:spPr>
      </p:cxnSp>
      <p:sp>
        <p:nvSpPr>
          <p:cNvPr id="531" name="Google Shape;531;p16"/>
          <p:cNvSpPr/>
          <p:nvPr/>
        </p:nvSpPr>
        <p:spPr>
          <a:xfrm>
            <a:off x="5193792" y="2359152"/>
            <a:ext cx="402336" cy="402336"/>
          </a:xfrm>
          <a:prstGeom prst="ellipse">
            <a:avLst/>
          </a:prstGeom>
          <a:solidFill>
            <a:srgbClr val="059669">
              <a:alpha val="74901"/>
            </a:srgbClr>
          </a:solidFill>
          <a:ln cap="flat" cmpd="sng" w="1905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2" name="Google Shape;532;p16"/>
          <p:cNvCxnSpPr/>
          <p:nvPr/>
        </p:nvCxnSpPr>
        <p:spPr>
          <a:xfrm>
            <a:off x="5394960" y="2560320"/>
            <a:ext cx="0" cy="0"/>
          </a:xfrm>
          <a:prstGeom prst="straightConnector1">
            <a:avLst/>
          </a:prstGeom>
          <a:noFill/>
          <a:ln cap="flat" cmpd="sng" w="12700">
            <a:solidFill>
              <a:srgbClr val="059669"/>
            </a:solidFill>
            <a:prstDash val="solid"/>
            <a:round/>
            <a:headEnd len="sm" w="sm" type="none"/>
            <a:tailEnd len="sm" w="sm" type="none"/>
          </a:ln>
        </p:spPr>
      </p:cxnSp>
      <p:sp>
        <p:nvSpPr>
          <p:cNvPr id="533" name="Google Shape;533;p16"/>
          <p:cNvSpPr/>
          <p:nvPr/>
        </p:nvSpPr>
        <p:spPr>
          <a:xfrm>
            <a:off x="7973568" y="2121408"/>
            <a:ext cx="512064" cy="512064"/>
          </a:xfrm>
          <a:prstGeom prst="ellipse">
            <a:avLst/>
          </a:prstGeom>
          <a:solidFill>
            <a:srgbClr val="06B6D4">
              <a:alpha val="74901"/>
            </a:srgbClr>
          </a:solidFill>
          <a:ln cap="flat" cmpd="sng" w="1905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4" name="Google Shape;534;p16"/>
          <p:cNvCxnSpPr/>
          <p:nvPr/>
        </p:nvCxnSpPr>
        <p:spPr>
          <a:xfrm>
            <a:off x="8229600" y="2377440"/>
            <a:ext cx="0" cy="0"/>
          </a:xfrm>
          <a:prstGeom prst="straightConnector1">
            <a:avLst/>
          </a:prstGeom>
          <a:noFill/>
          <a:ln cap="flat" cmpd="sng" w="12700">
            <a:solidFill>
              <a:srgbClr val="06B6D4"/>
            </a:solidFill>
            <a:prstDash val="solid"/>
            <a:round/>
            <a:headEnd len="sm" w="sm" type="none"/>
            <a:tailEnd len="sm" w="sm" type="none"/>
          </a:ln>
        </p:spPr>
      </p:cxnSp>
      <p:sp>
        <p:nvSpPr>
          <p:cNvPr id="535" name="Google Shape;535;p16"/>
          <p:cNvSpPr/>
          <p:nvPr/>
        </p:nvSpPr>
        <p:spPr>
          <a:xfrm>
            <a:off x="6291072" y="2999232"/>
            <a:ext cx="585216" cy="585216"/>
          </a:xfrm>
          <a:prstGeom prst="ellipse">
            <a:avLst/>
          </a:prstGeom>
          <a:solidFill>
            <a:srgbClr val="7C3AED">
              <a:alpha val="74901"/>
            </a:srgbClr>
          </a:solidFill>
          <a:ln cap="flat" cmpd="sng" w="1905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6" name="Google Shape;536;p16"/>
          <p:cNvCxnSpPr/>
          <p:nvPr/>
        </p:nvCxnSpPr>
        <p:spPr>
          <a:xfrm>
            <a:off x="6583680" y="3291840"/>
            <a:ext cx="0" cy="0"/>
          </a:xfrm>
          <a:prstGeom prst="straightConnector1">
            <a:avLst/>
          </a:prstGeom>
          <a:noFill/>
          <a:ln cap="flat" cmpd="sng" w="12700">
            <a:solidFill>
              <a:srgbClr val="7C3AED"/>
            </a:solidFill>
            <a:prstDash val="solid"/>
            <a:round/>
            <a:headEnd len="sm" w="sm" type="none"/>
            <a:tailEnd len="sm" w="sm" type="none"/>
          </a:ln>
        </p:spPr>
      </p:cxnSp>
      <p:cxnSp>
        <p:nvCxnSpPr>
          <p:cNvPr id="537" name="Google Shape;537;p16"/>
          <p:cNvCxnSpPr/>
          <p:nvPr/>
        </p:nvCxnSpPr>
        <p:spPr>
          <a:xfrm flipH="1" rot="10800000">
            <a:off x="5943600" y="1188720"/>
            <a:ext cx="1554480" cy="182880"/>
          </a:xfrm>
          <a:prstGeom prst="straightConnector1">
            <a:avLst/>
          </a:prstGeom>
          <a:noFill/>
          <a:ln cap="flat" cmpd="sng" w="12700">
            <a:solidFill>
              <a:srgbClr val="BAE6FD"/>
            </a:solidFill>
            <a:prstDash val="dot"/>
            <a:round/>
            <a:headEnd len="sm" w="sm" type="none"/>
            <a:tailEnd len="sm" w="sm" type="none"/>
          </a:ln>
        </p:spPr>
      </p:cxnSp>
      <p:cxnSp>
        <p:nvCxnSpPr>
          <p:cNvPr id="538" name="Google Shape;538;p16"/>
          <p:cNvCxnSpPr/>
          <p:nvPr/>
        </p:nvCxnSpPr>
        <p:spPr>
          <a:xfrm flipH="1">
            <a:off x="5394960" y="1371600"/>
            <a:ext cx="548640" cy="1188720"/>
          </a:xfrm>
          <a:prstGeom prst="straightConnector1">
            <a:avLst/>
          </a:prstGeom>
          <a:noFill/>
          <a:ln cap="flat" cmpd="sng" w="12700">
            <a:solidFill>
              <a:srgbClr val="BAE6FD"/>
            </a:solidFill>
            <a:prstDash val="dot"/>
            <a:round/>
            <a:headEnd len="sm" w="sm" type="none"/>
            <a:tailEnd len="sm" w="sm" type="none"/>
          </a:ln>
        </p:spPr>
      </p:cxnSp>
      <p:cxnSp>
        <p:nvCxnSpPr>
          <p:cNvPr id="539" name="Google Shape;539;p16"/>
          <p:cNvCxnSpPr/>
          <p:nvPr/>
        </p:nvCxnSpPr>
        <p:spPr>
          <a:xfrm flipH="1">
            <a:off x="6949440" y="1188720"/>
            <a:ext cx="548640" cy="1097280"/>
          </a:xfrm>
          <a:prstGeom prst="straightConnector1">
            <a:avLst/>
          </a:prstGeom>
          <a:noFill/>
          <a:ln cap="flat" cmpd="sng" w="12700">
            <a:solidFill>
              <a:srgbClr val="BAE6FD"/>
            </a:solidFill>
            <a:prstDash val="dot"/>
            <a:round/>
            <a:headEnd len="sm" w="sm" type="none"/>
            <a:tailEnd len="sm" w="sm" type="none"/>
          </a:ln>
        </p:spPr>
      </p:cxnSp>
      <p:cxnSp>
        <p:nvCxnSpPr>
          <p:cNvPr id="540" name="Google Shape;540;p16"/>
          <p:cNvCxnSpPr/>
          <p:nvPr/>
        </p:nvCxnSpPr>
        <p:spPr>
          <a:xfrm>
            <a:off x="6949440" y="2286000"/>
            <a:ext cx="1280160" cy="91440"/>
          </a:xfrm>
          <a:prstGeom prst="straightConnector1">
            <a:avLst/>
          </a:prstGeom>
          <a:noFill/>
          <a:ln cap="flat" cmpd="sng" w="12700">
            <a:solidFill>
              <a:srgbClr val="BAE6FD"/>
            </a:solidFill>
            <a:prstDash val="dot"/>
            <a:round/>
            <a:headEnd len="sm" w="sm" type="none"/>
            <a:tailEnd len="sm" w="sm" type="none"/>
          </a:ln>
        </p:spPr>
      </p:cxnSp>
      <p:cxnSp>
        <p:nvCxnSpPr>
          <p:cNvPr id="541" name="Google Shape;541;p16"/>
          <p:cNvCxnSpPr/>
          <p:nvPr/>
        </p:nvCxnSpPr>
        <p:spPr>
          <a:xfrm>
            <a:off x="5394960" y="2560320"/>
            <a:ext cx="1188720" cy="731520"/>
          </a:xfrm>
          <a:prstGeom prst="straightConnector1">
            <a:avLst/>
          </a:prstGeom>
          <a:noFill/>
          <a:ln cap="flat" cmpd="sng" w="12700">
            <a:solidFill>
              <a:srgbClr val="BAE6FD"/>
            </a:solidFill>
            <a:prstDash val="dot"/>
            <a:round/>
            <a:headEnd len="sm" w="sm" type="none"/>
            <a:tailEnd len="sm" w="sm" type="none"/>
          </a:ln>
        </p:spPr>
      </p:cxnSp>
      <p:cxnSp>
        <p:nvCxnSpPr>
          <p:cNvPr id="542" name="Google Shape;542;p16"/>
          <p:cNvCxnSpPr/>
          <p:nvPr/>
        </p:nvCxnSpPr>
        <p:spPr>
          <a:xfrm flipH="1">
            <a:off x="6583680" y="2377440"/>
            <a:ext cx="1645920" cy="914400"/>
          </a:xfrm>
          <a:prstGeom prst="straightConnector1">
            <a:avLst/>
          </a:prstGeom>
          <a:noFill/>
          <a:ln cap="flat" cmpd="sng" w="12700">
            <a:solidFill>
              <a:srgbClr val="BAE6FD"/>
            </a:solidFill>
            <a:prstDash val="dot"/>
            <a:round/>
            <a:headEnd len="sm" w="sm" type="none"/>
            <a:tailEnd len="sm" w="sm" type="none"/>
          </a:ln>
        </p:spPr>
      </p:cxnSp>
      <p:sp>
        <p:nvSpPr>
          <p:cNvPr id="543" name="Google Shape;543;p16"/>
          <p:cNvSpPr/>
          <p:nvPr/>
        </p:nvSpPr>
        <p:spPr>
          <a:xfrm>
            <a:off x="5029200" y="4206240"/>
            <a:ext cx="384048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Merriweather"/>
              <a:buNone/>
            </a:pPr>
            <a:r>
              <a:rPr b="0" i="1" lang="en-US" sz="900" u="none" cap="none" strike="noStrike">
                <a:solidFill>
                  <a:srgbClr val="64748B"/>
                </a:solidFill>
                <a:latin typeface="Merriweather"/>
                <a:ea typeface="Merriweather"/>
                <a:cs typeface="Merriweather"/>
                <a:sym typeface="Merriweather"/>
              </a:rPr>
              <a:t>Physics simulation — self-organizing network layout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1A"/>
        </a:solidFill>
      </p:bgPr>
    </p:bg>
    <p:spTree>
      <p:nvGrpSpPr>
        <p:cNvPr id="548" name="Shape 548"/>
        <p:cNvGrpSpPr/>
        <p:nvPr/>
      </p:nvGrpSpPr>
      <p:grpSpPr>
        <a:xfrm>
          <a:off x="0" y="0"/>
          <a:ext cx="0" cy="0"/>
          <a:chOff x="0" y="0"/>
          <a:chExt cx="0" cy="0"/>
        </a:xfrm>
      </p:grpSpPr>
      <p:sp>
        <p:nvSpPr>
          <p:cNvPr id="549" name="Google Shape;549;g3d2d178f3e5_5_161"/>
          <p:cNvSpPr/>
          <p:nvPr/>
        </p:nvSpPr>
        <p:spPr>
          <a:xfrm>
            <a:off x="6583680" y="0"/>
            <a:ext cx="2560200" cy="5143500"/>
          </a:xfrm>
          <a:prstGeom prst="rect">
            <a:avLst/>
          </a:prstGeom>
          <a:solidFill>
            <a:srgbClr val="00D4FF">
              <a:alpha val="12160"/>
            </a:srgbClr>
          </a:solidFill>
          <a:ln cap="flat" cmpd="sng" w="12700">
            <a:solidFill>
              <a:srgbClr val="00D4FF">
                <a:alpha val="1216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latin typeface="Merriweather"/>
              <a:ea typeface="Merriweather"/>
              <a:cs typeface="Merriweather"/>
              <a:sym typeface="Merriweather"/>
            </a:endParaRPr>
          </a:p>
        </p:txBody>
      </p:sp>
      <p:sp>
        <p:nvSpPr>
          <p:cNvPr id="550" name="Google Shape;550;g3d2d178f3e5_5_161"/>
          <p:cNvSpPr/>
          <p:nvPr/>
        </p:nvSpPr>
        <p:spPr>
          <a:xfrm>
            <a:off x="0" y="0"/>
            <a:ext cx="109800"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latin typeface="Merriweather"/>
              <a:ea typeface="Merriweather"/>
              <a:cs typeface="Merriweather"/>
              <a:sym typeface="Merriweather"/>
            </a:endParaRPr>
          </a:p>
        </p:txBody>
      </p:sp>
      <p:sp>
        <p:nvSpPr>
          <p:cNvPr id="551" name="Google Shape;551;g3d2d178f3e5_5_161"/>
          <p:cNvSpPr/>
          <p:nvPr/>
        </p:nvSpPr>
        <p:spPr>
          <a:xfrm>
            <a:off x="374947" y="1291660"/>
            <a:ext cx="5943600" cy="2560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5200"/>
              <a:buFont typeface="Calibri"/>
              <a:buNone/>
            </a:pPr>
            <a:r>
              <a:rPr b="1" lang="en-US" sz="4500">
                <a:solidFill>
                  <a:srgbClr val="FFFFFF"/>
                </a:solidFill>
                <a:latin typeface="Merriweather"/>
                <a:ea typeface="Merriweather"/>
                <a:cs typeface="Merriweather"/>
                <a:sym typeface="Merriweather"/>
              </a:rPr>
              <a:t>System Architecture &amp; </a:t>
            </a:r>
            <a:r>
              <a:rPr b="1" i="0" lang="en-US" sz="4500" u="none" cap="none" strike="noStrike">
                <a:solidFill>
                  <a:srgbClr val="FFFFFF"/>
                </a:solidFill>
                <a:latin typeface="Merriweather"/>
                <a:ea typeface="Merriweather"/>
                <a:cs typeface="Merriweather"/>
                <a:sym typeface="Merriweather"/>
              </a:rPr>
              <a:t>Backend </a:t>
            </a:r>
            <a:endParaRPr i="0" sz="4500" u="none" cap="none" strike="noStrike">
              <a:solidFill>
                <a:schemeClr val="dk1"/>
              </a:solidFill>
              <a:latin typeface="Merriweather"/>
              <a:ea typeface="Merriweather"/>
              <a:cs typeface="Merriweather"/>
              <a:sym typeface="Merriweather"/>
            </a:endParaRPr>
          </a:p>
        </p:txBody>
      </p:sp>
      <p:sp>
        <p:nvSpPr>
          <p:cNvPr id="552" name="Google Shape;552;g3d2d178f3e5_5_161"/>
          <p:cNvSpPr/>
          <p:nvPr/>
        </p:nvSpPr>
        <p:spPr>
          <a:xfrm>
            <a:off x="374947" y="3591645"/>
            <a:ext cx="3200400" cy="366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latin typeface="Merriweather"/>
              <a:ea typeface="Merriweather"/>
              <a:cs typeface="Merriweather"/>
              <a:sym typeface="Merriweather"/>
            </a:endParaRPr>
          </a:p>
        </p:txBody>
      </p:sp>
      <p:sp>
        <p:nvSpPr>
          <p:cNvPr id="553" name="Google Shape;553;g3d2d178f3e5_5_161"/>
          <p:cNvSpPr/>
          <p:nvPr/>
        </p:nvSpPr>
        <p:spPr>
          <a:xfrm>
            <a:off x="6766550" y="914400"/>
            <a:ext cx="2194500" cy="352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1300"/>
              <a:buFont typeface="Calibri"/>
              <a:buNone/>
            </a:pPr>
            <a:r>
              <a:rPr i="1" lang="en-US" sz="1600" u="none" cap="none" strike="noStrike">
                <a:solidFill>
                  <a:schemeClr val="lt1"/>
                </a:solidFill>
                <a:latin typeface="Merriweather"/>
                <a:ea typeface="Merriweather"/>
                <a:cs typeface="Merriweather"/>
                <a:sym typeface="Merriweather"/>
              </a:rPr>
              <a:t>FastAPI</a:t>
            </a:r>
            <a:endParaRPr i="0" sz="1600" u="none" cap="none" strike="noStrike">
              <a:solidFill>
                <a:schemeClr val="lt1"/>
              </a:solidFill>
              <a:latin typeface="Merriweather"/>
              <a:ea typeface="Merriweather"/>
              <a:cs typeface="Merriweather"/>
              <a:sym typeface="Merriweather"/>
            </a:endParaRPr>
          </a:p>
          <a:p>
            <a:pPr indent="0" lvl="0" marL="0" marR="0" rtl="0" algn="ctr">
              <a:spcBef>
                <a:spcPts val="0"/>
              </a:spcBef>
              <a:spcAft>
                <a:spcPts val="0"/>
              </a:spcAft>
              <a:buClr>
                <a:srgbClr val="00D4FF"/>
              </a:buClr>
              <a:buSzPts val="1300"/>
              <a:buFont typeface="Calibri"/>
              <a:buNone/>
            </a:pPr>
            <a:r>
              <a:rPr i="1" lang="en-US" sz="1600" u="none" cap="none" strike="noStrike">
                <a:solidFill>
                  <a:schemeClr val="lt1"/>
                </a:solidFill>
                <a:latin typeface="Merriweather"/>
                <a:ea typeface="Merriweather"/>
                <a:cs typeface="Merriweather"/>
                <a:sym typeface="Merriweather"/>
              </a:rPr>
              <a:t>Celery + Redis</a:t>
            </a:r>
            <a:endParaRPr i="0" sz="1600" u="none" cap="none" strike="noStrike">
              <a:solidFill>
                <a:schemeClr val="lt1"/>
              </a:solidFill>
              <a:latin typeface="Merriweather"/>
              <a:ea typeface="Merriweather"/>
              <a:cs typeface="Merriweather"/>
              <a:sym typeface="Merriweather"/>
            </a:endParaRPr>
          </a:p>
          <a:p>
            <a:pPr indent="0" lvl="0" marL="0" marR="0" rtl="0" algn="ctr">
              <a:spcBef>
                <a:spcPts val="0"/>
              </a:spcBef>
              <a:spcAft>
                <a:spcPts val="0"/>
              </a:spcAft>
              <a:buClr>
                <a:srgbClr val="00D4FF"/>
              </a:buClr>
              <a:buSzPts val="1300"/>
              <a:buFont typeface="Calibri"/>
              <a:buNone/>
            </a:pPr>
            <a:r>
              <a:rPr i="1" lang="en-US" sz="1600" u="none" cap="none" strike="noStrike">
                <a:solidFill>
                  <a:schemeClr val="lt1"/>
                </a:solidFill>
                <a:latin typeface="Merriweather"/>
                <a:ea typeface="Merriweather"/>
                <a:cs typeface="Merriweather"/>
                <a:sym typeface="Merriweather"/>
              </a:rPr>
              <a:t>PostgreSQL</a:t>
            </a:r>
            <a:endParaRPr i="0" sz="1600" u="none" cap="none" strike="noStrike">
              <a:solidFill>
                <a:schemeClr val="lt1"/>
              </a:solidFill>
              <a:latin typeface="Merriweather"/>
              <a:ea typeface="Merriweather"/>
              <a:cs typeface="Merriweather"/>
              <a:sym typeface="Merriweather"/>
            </a:endParaRPr>
          </a:p>
          <a:p>
            <a:pPr indent="0" lvl="0" marL="0" marR="0" rtl="0" algn="ctr">
              <a:spcBef>
                <a:spcPts val="0"/>
              </a:spcBef>
              <a:spcAft>
                <a:spcPts val="0"/>
              </a:spcAft>
              <a:buClr>
                <a:srgbClr val="00D4FF"/>
              </a:buClr>
              <a:buSzPts val="1300"/>
              <a:buFont typeface="Calibri"/>
              <a:buNone/>
            </a:pPr>
            <a:r>
              <a:rPr i="1" lang="en-US" sz="1600" u="none" cap="none" strike="noStrike">
                <a:solidFill>
                  <a:schemeClr val="lt1"/>
                </a:solidFill>
                <a:latin typeface="Merriweather"/>
                <a:ea typeface="Merriweather"/>
                <a:cs typeface="Merriweather"/>
                <a:sym typeface="Merriweather"/>
              </a:rPr>
              <a:t>Nmap · Nuclei</a:t>
            </a:r>
            <a:endParaRPr i="0" sz="1600" u="none" cap="none" strike="noStrike">
              <a:solidFill>
                <a:schemeClr val="lt1"/>
              </a:solidFill>
              <a:latin typeface="Merriweather"/>
              <a:ea typeface="Merriweather"/>
              <a:cs typeface="Merriweather"/>
              <a:sym typeface="Merriweather"/>
            </a:endParaRPr>
          </a:p>
          <a:p>
            <a:pPr indent="0" lvl="0" marL="0" marR="0" rtl="0" algn="ctr">
              <a:spcBef>
                <a:spcPts val="0"/>
              </a:spcBef>
              <a:spcAft>
                <a:spcPts val="0"/>
              </a:spcAft>
              <a:buClr>
                <a:srgbClr val="00D4FF"/>
              </a:buClr>
              <a:buSzPts val="1300"/>
              <a:buFont typeface="Calibri"/>
              <a:buNone/>
            </a:pPr>
            <a:r>
              <a:rPr i="1" lang="en-US" sz="1600" u="none" cap="none" strike="noStrike">
                <a:solidFill>
                  <a:schemeClr val="lt1"/>
                </a:solidFill>
                <a:latin typeface="Merriweather"/>
                <a:ea typeface="Merriweather"/>
                <a:cs typeface="Merriweather"/>
                <a:sym typeface="Merriweather"/>
              </a:rPr>
              <a:t>Playwright</a:t>
            </a:r>
            <a:endParaRPr i="0" sz="1600" u="none" cap="none" strike="noStrike">
              <a:solidFill>
                <a:schemeClr val="lt1"/>
              </a:solidFill>
              <a:latin typeface="Merriweather"/>
              <a:ea typeface="Merriweather"/>
              <a:cs typeface="Merriweather"/>
              <a:sym typeface="Merriweather"/>
            </a:endParaRPr>
          </a:p>
          <a:p>
            <a:pPr indent="0" lvl="0" marL="0" marR="0" rtl="0" algn="ctr">
              <a:spcBef>
                <a:spcPts val="0"/>
              </a:spcBef>
              <a:spcAft>
                <a:spcPts val="0"/>
              </a:spcAft>
              <a:buClr>
                <a:srgbClr val="00D4FF"/>
              </a:buClr>
              <a:buSzPts val="1300"/>
              <a:buFont typeface="Calibri"/>
              <a:buNone/>
            </a:pPr>
            <a:r>
              <a:rPr i="1" lang="en-US" sz="1600" u="none" cap="none" strike="noStrike">
                <a:solidFill>
                  <a:schemeClr val="lt1"/>
                </a:solidFill>
                <a:latin typeface="Merriweather"/>
                <a:ea typeface="Merriweather"/>
                <a:cs typeface="Merriweather"/>
                <a:sym typeface="Merriweather"/>
              </a:rPr>
              <a:t>Gemini 2.0 Flash</a:t>
            </a:r>
            <a:endParaRPr i="0" sz="1600" u="none" cap="none" strike="noStrike">
              <a:solidFill>
                <a:schemeClr val="lt1"/>
              </a:solidFill>
              <a:latin typeface="Merriweather"/>
              <a:ea typeface="Merriweather"/>
              <a:cs typeface="Merriweather"/>
              <a:sym typeface="Merriweath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8" name="Shape 558"/>
        <p:cNvGrpSpPr/>
        <p:nvPr/>
      </p:nvGrpSpPr>
      <p:grpSpPr>
        <a:xfrm>
          <a:off x="0" y="0"/>
          <a:ext cx="0" cy="0"/>
          <a:chOff x="0" y="0"/>
          <a:chExt cx="0" cy="0"/>
        </a:xfrm>
      </p:grpSpPr>
      <p:sp>
        <p:nvSpPr>
          <p:cNvPr id="559" name="Google Shape;559;p17"/>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7"/>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7"/>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High-Level System Architecture</a:t>
            </a:r>
            <a:endParaRPr b="0" i="0" sz="2200" u="none" cap="none" strike="noStrike">
              <a:solidFill>
                <a:schemeClr val="dk1"/>
              </a:solidFill>
              <a:latin typeface="Calibri"/>
              <a:ea typeface="Calibri"/>
              <a:cs typeface="Calibri"/>
              <a:sym typeface="Calibri"/>
            </a:endParaRPr>
          </a:p>
        </p:txBody>
      </p:sp>
      <p:sp>
        <p:nvSpPr>
          <p:cNvPr id="562" name="Google Shape;562;p17"/>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7"/>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17/40</a:t>
            </a:r>
            <a:endParaRPr b="0" i="0" sz="800" u="none" cap="none" strike="noStrike">
              <a:solidFill>
                <a:schemeClr val="dk1"/>
              </a:solidFill>
              <a:latin typeface="Calibri"/>
              <a:ea typeface="Calibri"/>
              <a:cs typeface="Calibri"/>
              <a:sym typeface="Calibri"/>
            </a:endParaRPr>
          </a:p>
        </p:txBody>
      </p:sp>
      <p:cxnSp>
        <p:nvCxnSpPr>
          <p:cNvPr id="564" name="Google Shape;564;p17"/>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565" name="Google Shape;565;p17"/>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566" name="Google Shape;566;p17"/>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7"/>
          <p:cNvSpPr/>
          <p:nvPr/>
        </p:nvSpPr>
        <p:spPr>
          <a:xfrm>
            <a:off x="3114075" y="736076"/>
            <a:ext cx="2916000" cy="246900"/>
          </a:xfrm>
          <a:prstGeom prst="rect">
            <a:avLst/>
          </a:prstGeom>
          <a:solidFill>
            <a:srgbClr val="CFFAFE"/>
          </a:solidFill>
          <a:ln cap="flat" cmpd="sng" w="15575">
            <a:solidFill>
              <a:srgbClr val="BAE6FD"/>
            </a:solidFill>
            <a:prstDash val="solid"/>
            <a:round/>
            <a:headEnd len="sm" w="sm" type="none"/>
            <a:tailEnd len="sm" w="sm" type="none"/>
          </a:ln>
        </p:spPr>
        <p:txBody>
          <a:bodyPr anchorCtr="0" anchor="ctr" bIns="112125" lIns="112125" spcFirstLastPara="1" rIns="112125" wrap="square" tIns="112125">
            <a:noAutofit/>
          </a:bodyPr>
          <a:lstStyle/>
          <a:p>
            <a:pPr indent="0" lvl="0" marL="0" rtl="0" algn="l">
              <a:spcBef>
                <a:spcPts val="0"/>
              </a:spcBef>
              <a:spcAft>
                <a:spcPts val="0"/>
              </a:spcAft>
              <a:buNone/>
            </a:pPr>
            <a:r>
              <a:t/>
            </a:r>
            <a:endParaRPr/>
          </a:p>
        </p:txBody>
      </p:sp>
      <p:sp>
        <p:nvSpPr>
          <p:cNvPr id="568" name="Google Shape;568;p17"/>
          <p:cNvSpPr/>
          <p:nvPr/>
        </p:nvSpPr>
        <p:spPr>
          <a:xfrm>
            <a:off x="3114075" y="736076"/>
            <a:ext cx="29160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981"/>
              <a:buFont typeface="Merriweather"/>
              <a:buNone/>
            </a:pPr>
            <a:r>
              <a:rPr b="1" i="0" lang="en-US" sz="1181" u="none" cap="none" strike="noStrike">
                <a:solidFill>
                  <a:srgbClr val="0E7490"/>
                </a:solidFill>
                <a:latin typeface="Merriweather"/>
                <a:ea typeface="Merriweather"/>
                <a:cs typeface="Merriweather"/>
                <a:sym typeface="Merriweather"/>
              </a:rPr>
              <a:t>System Architecture</a:t>
            </a:r>
            <a:endParaRPr b="0" i="0" sz="1181" u="none" cap="none" strike="noStrike">
              <a:solidFill>
                <a:schemeClr val="dk1"/>
              </a:solidFill>
              <a:latin typeface="Calibri"/>
              <a:ea typeface="Calibri"/>
              <a:cs typeface="Calibri"/>
              <a:sym typeface="Calibri"/>
            </a:endParaRPr>
          </a:p>
        </p:txBody>
      </p:sp>
      <p:sp>
        <p:nvSpPr>
          <p:cNvPr id="569" name="Google Shape;569;p17"/>
          <p:cNvSpPr/>
          <p:nvPr/>
        </p:nvSpPr>
        <p:spPr>
          <a:xfrm>
            <a:off x="347472" y="1042398"/>
            <a:ext cx="8449200" cy="621900"/>
          </a:xfrm>
          <a:prstGeom prst="rect">
            <a:avLst/>
          </a:prstGeom>
          <a:solidFill>
            <a:srgbClr val="E8F9FD"/>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900">
              <a:solidFill>
                <a:schemeClr val="dk1"/>
              </a:solidFill>
            </a:endParaRPr>
          </a:p>
        </p:txBody>
      </p:sp>
      <p:sp>
        <p:nvSpPr>
          <p:cNvPr id="570" name="Google Shape;570;p17"/>
          <p:cNvSpPr/>
          <p:nvPr/>
        </p:nvSpPr>
        <p:spPr>
          <a:xfrm>
            <a:off x="530352" y="1042398"/>
            <a:ext cx="80832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50"/>
              <a:buFont typeface="Merriweather"/>
              <a:buNone/>
            </a:pPr>
            <a:r>
              <a:rPr b="1" i="0" lang="en-US" sz="1450" u="none" cap="none" strike="noStrike">
                <a:solidFill>
                  <a:srgbClr val="0F172A"/>
                </a:solidFill>
                <a:latin typeface="Merriweather"/>
                <a:ea typeface="Merriweather"/>
                <a:cs typeface="Merriweather"/>
                <a:sym typeface="Merriweather"/>
              </a:rPr>
              <a:t>React 18 Frontend (Vite · Zustand · D3.js)</a:t>
            </a:r>
            <a:endParaRPr b="0" i="0" sz="1450" u="none" cap="none" strike="noStrike">
              <a:solidFill>
                <a:schemeClr val="dk1"/>
              </a:solidFill>
              <a:latin typeface="Calibri"/>
              <a:ea typeface="Calibri"/>
              <a:cs typeface="Calibri"/>
              <a:sym typeface="Calibri"/>
            </a:endParaRPr>
          </a:p>
        </p:txBody>
      </p:sp>
      <p:cxnSp>
        <p:nvCxnSpPr>
          <p:cNvPr id="571" name="Google Shape;571;p17"/>
          <p:cNvCxnSpPr/>
          <p:nvPr/>
        </p:nvCxnSpPr>
        <p:spPr>
          <a:xfrm>
            <a:off x="4480560" y="1664190"/>
            <a:ext cx="0" cy="36600"/>
          </a:xfrm>
          <a:prstGeom prst="straightConnector1">
            <a:avLst/>
          </a:prstGeom>
          <a:noFill/>
          <a:ln cap="flat" cmpd="sng" w="25400">
            <a:solidFill>
              <a:srgbClr val="06B6D4"/>
            </a:solidFill>
            <a:prstDash val="solid"/>
            <a:round/>
            <a:headEnd len="sm" w="sm" type="none"/>
            <a:tailEnd len="med" w="med" type="stealth"/>
          </a:ln>
        </p:spPr>
      </p:cxnSp>
      <p:sp>
        <p:nvSpPr>
          <p:cNvPr id="572" name="Google Shape;572;p17"/>
          <p:cNvSpPr/>
          <p:nvPr/>
        </p:nvSpPr>
        <p:spPr>
          <a:xfrm>
            <a:off x="8321040" y="1206990"/>
            <a:ext cx="457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Merriweather"/>
              <a:buNone/>
            </a:pPr>
            <a:r>
              <a:rPr b="1" i="0" lang="en-US" sz="1200" u="none" cap="none" strike="noStrike">
                <a:solidFill>
                  <a:schemeClr val="dk1"/>
                </a:solidFill>
                <a:latin typeface="Merriweather"/>
                <a:ea typeface="Merriweather"/>
                <a:cs typeface="Merriweather"/>
                <a:sym typeface="Merriweather"/>
              </a:rPr>
              <a:t>L1</a:t>
            </a:r>
            <a:endParaRPr b="1" i="0" sz="1200" u="none" cap="none" strike="noStrike">
              <a:solidFill>
                <a:schemeClr val="dk1"/>
              </a:solidFill>
              <a:latin typeface="Calibri"/>
              <a:ea typeface="Calibri"/>
              <a:cs typeface="Calibri"/>
              <a:sym typeface="Calibri"/>
            </a:endParaRPr>
          </a:p>
        </p:txBody>
      </p:sp>
      <p:sp>
        <p:nvSpPr>
          <p:cNvPr id="573" name="Google Shape;573;p17"/>
          <p:cNvSpPr/>
          <p:nvPr/>
        </p:nvSpPr>
        <p:spPr>
          <a:xfrm>
            <a:off x="347472" y="1783062"/>
            <a:ext cx="8449200" cy="621900"/>
          </a:xfrm>
          <a:prstGeom prst="rect">
            <a:avLst/>
          </a:prstGeom>
          <a:solidFill>
            <a:srgbClr val="D1FAE5"/>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900">
              <a:solidFill>
                <a:schemeClr val="dk1"/>
              </a:solidFill>
            </a:endParaRPr>
          </a:p>
        </p:txBody>
      </p:sp>
      <p:sp>
        <p:nvSpPr>
          <p:cNvPr id="574" name="Google Shape;574;p17"/>
          <p:cNvSpPr/>
          <p:nvPr/>
        </p:nvSpPr>
        <p:spPr>
          <a:xfrm>
            <a:off x="530352" y="1783062"/>
            <a:ext cx="80832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50"/>
              <a:buFont typeface="Merriweather"/>
              <a:buNone/>
            </a:pPr>
            <a:r>
              <a:rPr b="1" i="0" lang="en-US" sz="1450" u="none" cap="none" strike="noStrike">
                <a:solidFill>
                  <a:srgbClr val="0F172A"/>
                </a:solidFill>
                <a:latin typeface="Merriweather"/>
                <a:ea typeface="Merriweather"/>
                <a:cs typeface="Merriweather"/>
                <a:sym typeface="Merriweather"/>
              </a:rPr>
              <a:t>FastAPI REST API  (Python 3.11 · Async Endpoints)</a:t>
            </a:r>
            <a:endParaRPr b="0" i="0" sz="1450" u="none" cap="none" strike="noStrike">
              <a:solidFill>
                <a:schemeClr val="dk1"/>
              </a:solidFill>
              <a:latin typeface="Calibri"/>
              <a:ea typeface="Calibri"/>
              <a:cs typeface="Calibri"/>
              <a:sym typeface="Calibri"/>
            </a:endParaRPr>
          </a:p>
        </p:txBody>
      </p:sp>
      <p:cxnSp>
        <p:nvCxnSpPr>
          <p:cNvPr id="575" name="Google Shape;575;p17"/>
          <p:cNvCxnSpPr/>
          <p:nvPr/>
        </p:nvCxnSpPr>
        <p:spPr>
          <a:xfrm>
            <a:off x="4480560" y="2404854"/>
            <a:ext cx="0" cy="36600"/>
          </a:xfrm>
          <a:prstGeom prst="straightConnector1">
            <a:avLst/>
          </a:prstGeom>
          <a:noFill/>
          <a:ln cap="flat" cmpd="sng" w="25400">
            <a:solidFill>
              <a:srgbClr val="06B6D4"/>
            </a:solidFill>
            <a:prstDash val="solid"/>
            <a:round/>
            <a:headEnd len="sm" w="sm" type="none"/>
            <a:tailEnd len="med" w="med" type="stealth"/>
          </a:ln>
        </p:spPr>
      </p:cxnSp>
      <p:sp>
        <p:nvSpPr>
          <p:cNvPr id="576" name="Google Shape;576;p17"/>
          <p:cNvSpPr/>
          <p:nvPr/>
        </p:nvSpPr>
        <p:spPr>
          <a:xfrm>
            <a:off x="8321040" y="1947654"/>
            <a:ext cx="457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Merriweather"/>
              <a:buNone/>
            </a:pPr>
            <a:r>
              <a:rPr b="1" i="0" lang="en-US" sz="1200" u="none" cap="none" strike="noStrike">
                <a:solidFill>
                  <a:schemeClr val="dk1"/>
                </a:solidFill>
                <a:latin typeface="Merriweather"/>
                <a:ea typeface="Merriweather"/>
                <a:cs typeface="Merriweather"/>
                <a:sym typeface="Merriweather"/>
              </a:rPr>
              <a:t>L2</a:t>
            </a:r>
            <a:endParaRPr b="1" i="0" sz="1200" u="none" cap="none" strike="noStrike">
              <a:solidFill>
                <a:schemeClr val="dk1"/>
              </a:solidFill>
              <a:latin typeface="Calibri"/>
              <a:ea typeface="Calibri"/>
              <a:cs typeface="Calibri"/>
              <a:sym typeface="Calibri"/>
            </a:endParaRPr>
          </a:p>
        </p:txBody>
      </p:sp>
      <p:sp>
        <p:nvSpPr>
          <p:cNvPr id="577" name="Google Shape;577;p17"/>
          <p:cNvSpPr/>
          <p:nvPr/>
        </p:nvSpPr>
        <p:spPr>
          <a:xfrm>
            <a:off x="347472" y="2523726"/>
            <a:ext cx="8449200" cy="621900"/>
          </a:xfrm>
          <a:prstGeom prst="rect">
            <a:avLst/>
          </a:prstGeom>
          <a:solidFill>
            <a:srgbClr val="FEF3C7"/>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900">
              <a:solidFill>
                <a:schemeClr val="dk1"/>
              </a:solidFill>
            </a:endParaRPr>
          </a:p>
        </p:txBody>
      </p:sp>
      <p:sp>
        <p:nvSpPr>
          <p:cNvPr id="578" name="Google Shape;578;p17"/>
          <p:cNvSpPr/>
          <p:nvPr/>
        </p:nvSpPr>
        <p:spPr>
          <a:xfrm>
            <a:off x="530352" y="2523726"/>
            <a:ext cx="80832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50"/>
              <a:buFont typeface="Merriweather"/>
              <a:buNone/>
            </a:pPr>
            <a:r>
              <a:rPr b="1" i="0" lang="en-US" sz="1450" u="none" cap="none" strike="noStrike">
                <a:solidFill>
                  <a:srgbClr val="0F172A"/>
                </a:solidFill>
                <a:latin typeface="Merriweather"/>
                <a:ea typeface="Merriweather"/>
                <a:cs typeface="Merriweather"/>
                <a:sym typeface="Merriweather"/>
              </a:rPr>
              <a:t>Redis Message Queue  →  Celery Workers</a:t>
            </a:r>
            <a:endParaRPr b="0" i="0" sz="1450" u="none" cap="none" strike="noStrike">
              <a:solidFill>
                <a:schemeClr val="dk1"/>
              </a:solidFill>
              <a:latin typeface="Calibri"/>
              <a:ea typeface="Calibri"/>
              <a:cs typeface="Calibri"/>
              <a:sym typeface="Calibri"/>
            </a:endParaRPr>
          </a:p>
        </p:txBody>
      </p:sp>
      <p:cxnSp>
        <p:nvCxnSpPr>
          <p:cNvPr id="579" name="Google Shape;579;p17"/>
          <p:cNvCxnSpPr/>
          <p:nvPr/>
        </p:nvCxnSpPr>
        <p:spPr>
          <a:xfrm>
            <a:off x="4480560" y="3145518"/>
            <a:ext cx="0" cy="36600"/>
          </a:xfrm>
          <a:prstGeom prst="straightConnector1">
            <a:avLst/>
          </a:prstGeom>
          <a:noFill/>
          <a:ln cap="flat" cmpd="sng" w="25400">
            <a:solidFill>
              <a:srgbClr val="06B6D4"/>
            </a:solidFill>
            <a:prstDash val="solid"/>
            <a:round/>
            <a:headEnd len="sm" w="sm" type="none"/>
            <a:tailEnd len="med" w="med" type="stealth"/>
          </a:ln>
        </p:spPr>
      </p:cxnSp>
      <p:sp>
        <p:nvSpPr>
          <p:cNvPr id="580" name="Google Shape;580;p17"/>
          <p:cNvSpPr/>
          <p:nvPr/>
        </p:nvSpPr>
        <p:spPr>
          <a:xfrm>
            <a:off x="8321040" y="2688318"/>
            <a:ext cx="457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Merriweather"/>
              <a:buNone/>
            </a:pPr>
            <a:r>
              <a:rPr b="1" i="0" lang="en-US" sz="1200" u="none" cap="none" strike="noStrike">
                <a:solidFill>
                  <a:schemeClr val="dk1"/>
                </a:solidFill>
                <a:latin typeface="Merriweather"/>
                <a:ea typeface="Merriweather"/>
                <a:cs typeface="Merriweather"/>
                <a:sym typeface="Merriweather"/>
              </a:rPr>
              <a:t>L3</a:t>
            </a:r>
            <a:endParaRPr b="1" i="0" sz="1200" u="none" cap="none" strike="noStrike">
              <a:solidFill>
                <a:schemeClr val="dk1"/>
              </a:solidFill>
              <a:latin typeface="Calibri"/>
              <a:ea typeface="Calibri"/>
              <a:cs typeface="Calibri"/>
              <a:sym typeface="Calibri"/>
            </a:endParaRPr>
          </a:p>
        </p:txBody>
      </p:sp>
      <p:sp>
        <p:nvSpPr>
          <p:cNvPr id="581" name="Google Shape;581;p17"/>
          <p:cNvSpPr/>
          <p:nvPr/>
        </p:nvSpPr>
        <p:spPr>
          <a:xfrm>
            <a:off x="347472" y="3264390"/>
            <a:ext cx="8449200" cy="621900"/>
          </a:xfrm>
          <a:prstGeom prst="rect">
            <a:avLst/>
          </a:prstGeom>
          <a:solidFill>
            <a:srgbClr val="EDE9FE"/>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900">
              <a:solidFill>
                <a:schemeClr val="dk1"/>
              </a:solidFill>
            </a:endParaRPr>
          </a:p>
        </p:txBody>
      </p:sp>
      <p:sp>
        <p:nvSpPr>
          <p:cNvPr id="582" name="Google Shape;582;p17"/>
          <p:cNvSpPr/>
          <p:nvPr/>
        </p:nvSpPr>
        <p:spPr>
          <a:xfrm>
            <a:off x="530352" y="3264390"/>
            <a:ext cx="80832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50"/>
              <a:buFont typeface="Merriweather"/>
              <a:buNone/>
            </a:pPr>
            <a:r>
              <a:rPr b="1" i="0" lang="en-US" sz="1450" u="none" cap="none" strike="noStrike">
                <a:solidFill>
                  <a:srgbClr val="0F172A"/>
                </a:solidFill>
                <a:latin typeface="Merriweather"/>
                <a:ea typeface="Merriweather"/>
                <a:cs typeface="Merriweather"/>
                <a:sym typeface="Merriweather"/>
              </a:rPr>
              <a:t>Security Agents  (ReconAgent · AttackAgent · DOM Crawler)</a:t>
            </a:r>
            <a:endParaRPr b="0" i="0" sz="1450" u="none" cap="none" strike="noStrike">
              <a:solidFill>
                <a:schemeClr val="dk1"/>
              </a:solidFill>
              <a:latin typeface="Calibri"/>
              <a:ea typeface="Calibri"/>
              <a:cs typeface="Calibri"/>
              <a:sym typeface="Calibri"/>
            </a:endParaRPr>
          </a:p>
        </p:txBody>
      </p:sp>
      <p:cxnSp>
        <p:nvCxnSpPr>
          <p:cNvPr id="583" name="Google Shape;583;p17"/>
          <p:cNvCxnSpPr/>
          <p:nvPr/>
        </p:nvCxnSpPr>
        <p:spPr>
          <a:xfrm>
            <a:off x="4480560" y="3886182"/>
            <a:ext cx="0" cy="36600"/>
          </a:xfrm>
          <a:prstGeom prst="straightConnector1">
            <a:avLst/>
          </a:prstGeom>
          <a:noFill/>
          <a:ln cap="flat" cmpd="sng" w="25400">
            <a:solidFill>
              <a:srgbClr val="06B6D4"/>
            </a:solidFill>
            <a:prstDash val="solid"/>
            <a:round/>
            <a:headEnd len="sm" w="sm" type="none"/>
            <a:tailEnd len="med" w="med" type="stealth"/>
          </a:ln>
        </p:spPr>
      </p:cxnSp>
      <p:sp>
        <p:nvSpPr>
          <p:cNvPr id="584" name="Google Shape;584;p17"/>
          <p:cNvSpPr/>
          <p:nvPr/>
        </p:nvSpPr>
        <p:spPr>
          <a:xfrm>
            <a:off x="8321040" y="3428982"/>
            <a:ext cx="457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Merriweather"/>
              <a:buNone/>
            </a:pPr>
            <a:r>
              <a:rPr b="1" i="0" lang="en-US" sz="1200" u="none" cap="none" strike="noStrike">
                <a:solidFill>
                  <a:schemeClr val="dk1"/>
                </a:solidFill>
                <a:latin typeface="Merriweather"/>
                <a:ea typeface="Merriweather"/>
                <a:cs typeface="Merriweather"/>
                <a:sym typeface="Merriweather"/>
              </a:rPr>
              <a:t>L4</a:t>
            </a:r>
            <a:endParaRPr b="1" i="0" sz="1200" u="none" cap="none" strike="noStrike">
              <a:solidFill>
                <a:schemeClr val="dk1"/>
              </a:solidFill>
              <a:latin typeface="Calibri"/>
              <a:ea typeface="Calibri"/>
              <a:cs typeface="Calibri"/>
              <a:sym typeface="Calibri"/>
            </a:endParaRPr>
          </a:p>
        </p:txBody>
      </p:sp>
      <p:sp>
        <p:nvSpPr>
          <p:cNvPr id="585" name="Google Shape;585;p17"/>
          <p:cNvSpPr/>
          <p:nvPr/>
        </p:nvSpPr>
        <p:spPr>
          <a:xfrm>
            <a:off x="347472" y="4005054"/>
            <a:ext cx="8449200" cy="621900"/>
          </a:xfrm>
          <a:prstGeom prst="rect">
            <a:avLst/>
          </a:prstGeom>
          <a:solidFill>
            <a:srgbClr val="CFFAFE"/>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sz="1900">
              <a:solidFill>
                <a:schemeClr val="dk1"/>
              </a:solidFill>
            </a:endParaRPr>
          </a:p>
        </p:txBody>
      </p:sp>
      <p:sp>
        <p:nvSpPr>
          <p:cNvPr id="586" name="Google Shape;586;p17"/>
          <p:cNvSpPr/>
          <p:nvPr/>
        </p:nvSpPr>
        <p:spPr>
          <a:xfrm>
            <a:off x="530352" y="4005054"/>
            <a:ext cx="80832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50"/>
              <a:buFont typeface="Merriweather"/>
              <a:buNone/>
            </a:pPr>
            <a:r>
              <a:rPr b="1" i="0" lang="en-US" sz="1450" u="none" cap="none" strike="noStrike">
                <a:solidFill>
                  <a:srgbClr val="0F172A"/>
                </a:solidFill>
                <a:latin typeface="Merriweather"/>
                <a:ea typeface="Merriweather"/>
                <a:cs typeface="Merriweather"/>
                <a:sym typeface="Merriweather"/>
              </a:rPr>
              <a:t>PostgreSQL Database  (SQLAlchemy ORM)</a:t>
            </a:r>
            <a:endParaRPr b="0" i="0" sz="1450" u="none" cap="none" strike="noStrike">
              <a:solidFill>
                <a:schemeClr val="dk1"/>
              </a:solidFill>
              <a:latin typeface="Calibri"/>
              <a:ea typeface="Calibri"/>
              <a:cs typeface="Calibri"/>
              <a:sym typeface="Calibri"/>
            </a:endParaRPr>
          </a:p>
        </p:txBody>
      </p:sp>
      <p:sp>
        <p:nvSpPr>
          <p:cNvPr id="587" name="Google Shape;587;p17"/>
          <p:cNvSpPr/>
          <p:nvPr/>
        </p:nvSpPr>
        <p:spPr>
          <a:xfrm>
            <a:off x="8321040" y="4169646"/>
            <a:ext cx="4572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Merriweather"/>
              <a:buNone/>
            </a:pPr>
            <a:r>
              <a:rPr b="1" i="0" lang="en-US" sz="1200" u="none" cap="none" strike="noStrike">
                <a:solidFill>
                  <a:schemeClr val="dk1"/>
                </a:solidFill>
                <a:latin typeface="Merriweather"/>
                <a:ea typeface="Merriweather"/>
                <a:cs typeface="Merriweather"/>
                <a:sym typeface="Merriweather"/>
              </a:rPr>
              <a:t>L5</a:t>
            </a:r>
            <a:endParaRPr b="1" i="0" sz="12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2" name="Shape 592"/>
        <p:cNvGrpSpPr/>
        <p:nvPr/>
      </p:nvGrpSpPr>
      <p:grpSpPr>
        <a:xfrm>
          <a:off x="0" y="0"/>
          <a:ext cx="0" cy="0"/>
          <a:chOff x="0" y="0"/>
          <a:chExt cx="0" cy="0"/>
        </a:xfrm>
      </p:grpSpPr>
      <p:sp>
        <p:nvSpPr>
          <p:cNvPr id="593" name="Google Shape;593;p18"/>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8"/>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8"/>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Backend: FastAPI &amp; API Layer Deep-Dive</a:t>
            </a:r>
            <a:endParaRPr b="0" i="0" sz="2200" u="none" cap="none" strike="noStrike">
              <a:solidFill>
                <a:schemeClr val="dk1"/>
              </a:solidFill>
              <a:latin typeface="Calibri"/>
              <a:ea typeface="Calibri"/>
              <a:cs typeface="Calibri"/>
              <a:sym typeface="Calibri"/>
            </a:endParaRPr>
          </a:p>
        </p:txBody>
      </p:sp>
      <p:sp>
        <p:nvSpPr>
          <p:cNvPr id="596" name="Google Shape;596;p18"/>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8"/>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18/40</a:t>
            </a:r>
            <a:endParaRPr b="0" i="0" sz="800" u="none" cap="none" strike="noStrike">
              <a:solidFill>
                <a:schemeClr val="dk1"/>
              </a:solidFill>
              <a:latin typeface="Calibri"/>
              <a:ea typeface="Calibri"/>
              <a:cs typeface="Calibri"/>
              <a:sym typeface="Calibri"/>
            </a:endParaRPr>
          </a:p>
        </p:txBody>
      </p:sp>
      <p:cxnSp>
        <p:nvCxnSpPr>
          <p:cNvPr id="598" name="Google Shape;598;p18"/>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599" name="Google Shape;599;p18"/>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600" name="Google Shape;600;p18"/>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8"/>
          <p:cNvSpPr/>
          <p:nvPr/>
        </p:nvSpPr>
        <p:spPr>
          <a:xfrm>
            <a:off x="1307535" y="749808"/>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602" name="Google Shape;602;p18"/>
          <p:cNvSpPr/>
          <p:nvPr/>
        </p:nvSpPr>
        <p:spPr>
          <a:xfrm>
            <a:off x="1307535" y="749808"/>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Backend</a:t>
            </a:r>
            <a:endParaRPr b="0" i="0" sz="1000" u="none" cap="none" strike="noStrike">
              <a:solidFill>
                <a:schemeClr val="dk1"/>
              </a:solidFill>
              <a:latin typeface="Calibri"/>
              <a:ea typeface="Calibri"/>
              <a:cs typeface="Calibri"/>
              <a:sym typeface="Calibri"/>
            </a:endParaRPr>
          </a:p>
        </p:txBody>
      </p:sp>
      <p:sp>
        <p:nvSpPr>
          <p:cNvPr id="603" name="Google Shape;603;p18"/>
          <p:cNvSpPr/>
          <p:nvPr/>
        </p:nvSpPr>
        <p:spPr>
          <a:xfrm>
            <a:off x="347475" y="1024124"/>
            <a:ext cx="4297800" cy="37125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8"/>
          <p:cNvSpPr/>
          <p:nvPr/>
        </p:nvSpPr>
        <p:spPr>
          <a:xfrm>
            <a:off x="548643" y="1179530"/>
            <a:ext cx="3895200" cy="3436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FastAPI / Python 3.11+</a:t>
            </a:r>
            <a:r>
              <a:rPr b="0" i="0" lang="en-US" sz="1150" u="none" cap="none" strike="noStrike">
                <a:solidFill>
                  <a:srgbClr val="334155"/>
                </a:solidFill>
                <a:latin typeface="Merriweather"/>
                <a:ea typeface="Merriweather"/>
                <a:cs typeface="Merriweather"/>
                <a:sym typeface="Merriweather"/>
              </a:rPr>
              <a:t> — ASGI framework built natively on asyncio for non-blocking I/O.</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Async Endpoints (async def) </a:t>
            </a:r>
            <a:r>
              <a:rPr b="0" i="0" lang="en-US" sz="1150" u="none" cap="none" strike="noStrike">
                <a:solidFill>
                  <a:srgbClr val="334155"/>
                </a:solidFill>
                <a:latin typeface="Merriweather"/>
                <a:ea typeface="Merriweather"/>
                <a:cs typeface="Merriweather"/>
                <a:sym typeface="Merriweather"/>
              </a:rPr>
              <a:t>— Every route handler is a coroutine; never blocks the event loop.</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Pydantic Schemas</a:t>
            </a:r>
            <a:r>
              <a:rPr b="0" i="0" lang="en-US" sz="1150" u="none" cap="none" strike="noStrike">
                <a:solidFill>
                  <a:srgbClr val="334155"/>
                </a:solidFill>
                <a:latin typeface="Merriweather"/>
                <a:ea typeface="Merriweather"/>
                <a:cs typeface="Merriweather"/>
                <a:sym typeface="Merriweather"/>
              </a:rPr>
              <a:t> — Request/response models with automatic OpenAPI documentation generation.</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Dependency Injection</a:t>
            </a:r>
            <a:r>
              <a:rPr b="0" i="0" lang="en-US" sz="1150" u="none" cap="none" strike="noStrike">
                <a:solidFill>
                  <a:srgbClr val="334155"/>
                </a:solidFill>
                <a:latin typeface="Merriweather"/>
                <a:ea typeface="Merriweather"/>
                <a:cs typeface="Merriweather"/>
                <a:sym typeface="Merriweather"/>
              </a:rPr>
              <a:t> — Router dependencies inject DB sessions, auth tokens, and background tasks.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OpenAPI / Swagger UI</a:t>
            </a:r>
            <a:r>
              <a:rPr b="0" i="0" lang="en-US" sz="1150" u="none" cap="none" strike="noStrike">
                <a:solidFill>
                  <a:srgbClr val="334155"/>
                </a:solidFill>
                <a:latin typeface="Merriweather"/>
                <a:ea typeface="Merriweather"/>
                <a:cs typeface="Merriweather"/>
                <a:sym typeface="Merriweather"/>
              </a:rPr>
              <a:t> — Auto-generated interactive documentation available at /docs.</a:t>
            </a:r>
            <a:endParaRPr b="0" i="0" sz="1150" u="none" cap="none" strike="noStrike">
              <a:solidFill>
                <a:schemeClr val="dk1"/>
              </a:solidFill>
              <a:latin typeface="Calibri"/>
              <a:ea typeface="Calibri"/>
              <a:cs typeface="Calibri"/>
              <a:sym typeface="Calibri"/>
            </a:endParaRPr>
          </a:p>
        </p:txBody>
      </p:sp>
      <p:sp>
        <p:nvSpPr>
          <p:cNvPr id="605" name="Google Shape;605;p18"/>
          <p:cNvSpPr/>
          <p:nvPr/>
        </p:nvSpPr>
        <p:spPr>
          <a:xfrm>
            <a:off x="4983480" y="841248"/>
            <a:ext cx="3794760" cy="3931920"/>
          </a:xfrm>
          <a:prstGeom prst="rect">
            <a:avLst/>
          </a:prstGeom>
          <a:solidFill>
            <a:srgbClr val="1E293B"/>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8"/>
          <p:cNvSpPr/>
          <p:nvPr/>
        </p:nvSpPr>
        <p:spPr>
          <a:xfrm>
            <a:off x="5120640" y="950976"/>
            <a:ext cx="3520440" cy="37124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50"/>
              <a:buFont typeface="Courier New"/>
              <a:buNone/>
            </a:pPr>
            <a:r>
              <a:rPr b="0" i="0" lang="en-US" sz="1250" u="none" cap="none" strike="noStrike">
                <a:solidFill>
                  <a:srgbClr val="6B7280"/>
                </a:solidFill>
                <a:latin typeface="Courier New"/>
                <a:ea typeface="Courier New"/>
                <a:cs typeface="Courier New"/>
                <a:sym typeface="Courier New"/>
              </a:rPr>
              <a:t># </a:t>
            </a:r>
            <a:r>
              <a:rPr lang="en-US" sz="1250">
                <a:solidFill>
                  <a:srgbClr val="6B7280"/>
                </a:solidFill>
                <a:latin typeface="Courier New"/>
                <a:ea typeface="Courier New"/>
                <a:cs typeface="Courier New"/>
                <a:sym typeface="Courier New"/>
              </a:rPr>
              <a:t>Fast API</a:t>
            </a:r>
            <a:r>
              <a:rPr b="0" i="0" lang="en-US" sz="1250" u="none" cap="none" strike="noStrike">
                <a:solidFill>
                  <a:srgbClr val="6B7280"/>
                </a:solidFill>
                <a:latin typeface="Courier New"/>
                <a:ea typeface="Courier New"/>
                <a:cs typeface="Courier New"/>
                <a:sym typeface="Courier New"/>
              </a:rPr>
              <a:t> Endpoint Example</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084FC"/>
              </a:buClr>
              <a:buSzPts val="950"/>
              <a:buFont typeface="Courier New"/>
              <a:buNone/>
            </a:pPr>
            <a:r>
              <a:rPr b="0" i="0" lang="en-US" sz="1250" u="none" cap="none" strike="noStrike">
                <a:solidFill>
                  <a:srgbClr val="C084FC"/>
                </a:solidFill>
                <a:latin typeface="Courier New"/>
                <a:ea typeface="Courier New"/>
                <a:cs typeface="Courier New"/>
                <a:sym typeface="Courier New"/>
              </a:rPr>
              <a:t>@router.post('/scans')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084FC"/>
              </a:buClr>
              <a:buSzPts val="950"/>
              <a:buFont typeface="Courier New"/>
              <a:buNone/>
            </a:pPr>
            <a:r>
              <a:rPr b="0" i="0" lang="en-US" sz="1250" u="none" cap="none" strike="noStrike">
                <a:solidFill>
                  <a:srgbClr val="C084FC"/>
                </a:solidFill>
                <a:latin typeface="Courier New"/>
                <a:ea typeface="Courier New"/>
                <a:cs typeface="Courier New"/>
                <a:sym typeface="Courier New"/>
              </a:rPr>
              <a:t>async def create_scan(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5F3FC"/>
              </a:buClr>
              <a:buSzPts val="950"/>
              <a:buFont typeface="Courier New"/>
              <a:buNone/>
            </a:pPr>
            <a:r>
              <a:rPr b="0" i="0" lang="en-US" sz="1250" u="none" cap="none" strike="noStrike">
                <a:solidFill>
                  <a:srgbClr val="A5F3FC"/>
                </a:solidFill>
                <a:latin typeface="Courier New"/>
                <a:ea typeface="Courier New"/>
                <a:cs typeface="Courier New"/>
                <a:sym typeface="Courier New"/>
              </a:rPr>
              <a:t>  payload: ScanRequest,</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1250" u="none" cap="none" strike="noStrike">
                <a:solidFill>
                  <a:srgbClr val="7DD3FC"/>
                </a:solidFill>
                <a:latin typeface="Courier New"/>
                <a:ea typeface="Courier New"/>
                <a:cs typeface="Courier New"/>
                <a:sym typeface="Courier New"/>
              </a:rPr>
              <a:t>  db: AsyncSession = Depends(get_db),</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1250" u="none" cap="none" strike="noStrike">
                <a:solidFill>
                  <a:srgbClr val="7DD3FC"/>
                </a:solidFill>
                <a:latin typeface="Courier New"/>
                <a:ea typeface="Courier New"/>
                <a:cs typeface="Courier New"/>
                <a:sym typeface="Courier New"/>
              </a:rPr>
              <a:t>  user: User = Depends(get_current_user)</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5F3FC"/>
              </a:buClr>
              <a:buSzPts val="950"/>
              <a:buFont typeface="Courier New"/>
              <a:buNone/>
            </a:pPr>
            <a:r>
              <a:rPr b="0" i="0" lang="en-US" sz="1250" u="none" cap="none" strike="noStrike">
                <a:solidFill>
                  <a:srgbClr val="A5F3FC"/>
                </a:solidFill>
                <a:latin typeface="Courier New"/>
                <a:ea typeface="Courier New"/>
                <a:cs typeface="Courier New"/>
                <a:sym typeface="Courier New"/>
              </a:rPr>
              <a:t>):</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1250" u="none" cap="none" strike="noStrike">
                <a:solidFill>
                  <a:srgbClr val="7DD3FC"/>
                </a:solidFill>
                <a:latin typeface="Courier New"/>
                <a:ea typeface="Courier New"/>
                <a:cs typeface="Courier New"/>
                <a:sym typeface="Courier New"/>
              </a:rPr>
              <a:t>  task = celery_app.send_task(</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5F3FC"/>
              </a:buClr>
              <a:buSzPts val="950"/>
              <a:buFont typeface="Courier New"/>
              <a:buNone/>
            </a:pPr>
            <a:r>
              <a:rPr b="0" i="0" lang="en-US" sz="1250" u="none" cap="none" strike="noStrike">
                <a:solidFill>
                  <a:srgbClr val="A5F3FC"/>
                </a:solidFill>
                <a:latin typeface="Courier New"/>
                <a:ea typeface="Courier New"/>
                <a:cs typeface="Courier New"/>
                <a:sym typeface="Courier New"/>
              </a:rPr>
              <a:t>    'tasks.run_scan',</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1250" u="none" cap="none" strike="noStrike">
                <a:solidFill>
                  <a:srgbClr val="7DD3FC"/>
                </a:solidFill>
                <a:latin typeface="Courier New"/>
                <a:ea typeface="Courier New"/>
                <a:cs typeface="Courier New"/>
                <a:sym typeface="Courier New"/>
              </a:rPr>
              <a:t>    args=[payload.target_id]</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5F3FC"/>
              </a:buClr>
              <a:buSzPts val="950"/>
              <a:buFont typeface="Courier New"/>
              <a:buNone/>
            </a:pPr>
            <a:r>
              <a:rPr b="0" i="0" lang="en-US" sz="1250" u="none" cap="none" strike="noStrike">
                <a:solidFill>
                  <a:srgbClr val="A5F3FC"/>
                </a:solidFill>
                <a:latin typeface="Courier New"/>
                <a:ea typeface="Courier New"/>
                <a:cs typeface="Courier New"/>
                <a:sym typeface="Courier New"/>
              </a:rPr>
              <a:t>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5F3FC"/>
              </a:buClr>
              <a:buSzPts val="950"/>
              <a:buFont typeface="Courier New"/>
              <a:buNone/>
            </a:pPr>
            <a:r>
              <a:rPr b="0" i="0" lang="en-US" sz="1250" u="none" cap="none" strike="noStrike">
                <a:solidFill>
                  <a:srgbClr val="A5F3FC"/>
                </a:solidFill>
                <a:latin typeface="Courier New"/>
                <a:ea typeface="Courier New"/>
                <a:cs typeface="Courier New"/>
                <a:sym typeface="Courier New"/>
              </a:rPr>
              <a:t>  return {'task_id': task.id,</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5F3FC"/>
              </a:buClr>
              <a:buSzPts val="950"/>
              <a:buFont typeface="Courier New"/>
              <a:buNone/>
            </a:pPr>
            <a:r>
              <a:rPr b="0" i="0" lang="en-US" sz="1250" u="none" cap="none" strike="noStrike">
                <a:solidFill>
                  <a:srgbClr val="A5F3FC"/>
                </a:solidFill>
                <a:latin typeface="Courier New"/>
                <a:ea typeface="Courier New"/>
                <a:cs typeface="Courier New"/>
                <a:sym typeface="Courier New"/>
              </a:rPr>
              <a:t>          'status': 'queued'}</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7280"/>
              </a:buClr>
              <a:buSzPts val="950"/>
              <a:buFont typeface="Courier New"/>
              <a:buNone/>
            </a:pPr>
            <a:r>
              <a:rPr b="0" i="0" lang="en-US" sz="1250" u="none" cap="none" strike="noStrike">
                <a:solidFill>
                  <a:srgbClr val="6B7280"/>
                </a:solidFill>
                <a:latin typeface="Courier New"/>
                <a:ea typeface="Courier New"/>
                <a:cs typeface="Courier New"/>
                <a:sym typeface="Courier New"/>
              </a:rPr>
              <a:t># Response: 200ms average</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7280"/>
              </a:buClr>
              <a:buSzPts val="950"/>
              <a:buFont typeface="Courier New"/>
              <a:buNone/>
            </a:pPr>
            <a:r>
              <a:rPr b="0" i="0" lang="en-US" sz="1250" u="none" cap="none" strike="noStrike">
                <a:solidFill>
                  <a:srgbClr val="6B7280"/>
                </a:solidFill>
                <a:latin typeface="Courier New"/>
                <a:ea typeface="Courier New"/>
                <a:cs typeface="Courier New"/>
                <a:sym typeface="Courier New"/>
              </a:rPr>
              <a:t># Non-blocking – event loop free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1" name="Shape 611"/>
        <p:cNvGrpSpPr/>
        <p:nvPr/>
      </p:nvGrpSpPr>
      <p:grpSpPr>
        <a:xfrm>
          <a:off x="0" y="0"/>
          <a:ext cx="0" cy="0"/>
          <a:chOff x="0" y="0"/>
          <a:chExt cx="0" cy="0"/>
        </a:xfrm>
      </p:grpSpPr>
      <p:sp>
        <p:nvSpPr>
          <p:cNvPr id="612" name="Google Shape;612;p19"/>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9"/>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9"/>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The Blocking I/O Problem — Why Async Matters</a:t>
            </a:r>
            <a:endParaRPr b="0" i="0" sz="2200" u="none" cap="none" strike="noStrike">
              <a:solidFill>
                <a:schemeClr val="dk1"/>
              </a:solidFill>
              <a:latin typeface="Calibri"/>
              <a:ea typeface="Calibri"/>
              <a:cs typeface="Calibri"/>
              <a:sym typeface="Calibri"/>
            </a:endParaRPr>
          </a:p>
        </p:txBody>
      </p:sp>
      <p:sp>
        <p:nvSpPr>
          <p:cNvPr id="615" name="Google Shape;615;p19"/>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9"/>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19/40</a:t>
            </a:r>
            <a:endParaRPr b="0" i="0" sz="800" u="none" cap="none" strike="noStrike">
              <a:solidFill>
                <a:schemeClr val="dk1"/>
              </a:solidFill>
              <a:latin typeface="Calibri"/>
              <a:ea typeface="Calibri"/>
              <a:cs typeface="Calibri"/>
              <a:sym typeface="Calibri"/>
            </a:endParaRPr>
          </a:p>
        </p:txBody>
      </p:sp>
      <p:cxnSp>
        <p:nvCxnSpPr>
          <p:cNvPr id="617" name="Google Shape;617;p19"/>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618" name="Google Shape;618;p19"/>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619" name="Google Shape;619;p19"/>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9"/>
          <p:cNvSpPr/>
          <p:nvPr/>
        </p:nvSpPr>
        <p:spPr>
          <a:xfrm>
            <a:off x="3020525" y="726578"/>
            <a:ext cx="2700600" cy="228600"/>
          </a:xfrm>
          <a:prstGeom prst="rect">
            <a:avLst/>
          </a:prstGeom>
          <a:solidFill>
            <a:srgbClr val="CFFAFE"/>
          </a:solidFill>
          <a:ln cap="flat" cmpd="sng" w="14425">
            <a:solidFill>
              <a:srgbClr val="BAE6FD"/>
            </a:solidFill>
            <a:prstDash val="solid"/>
            <a:round/>
            <a:headEnd len="sm" w="sm" type="none"/>
            <a:tailEnd len="sm" w="sm" type="none"/>
          </a:ln>
        </p:spPr>
        <p:txBody>
          <a:bodyPr anchorCtr="0" anchor="ctr" bIns="103875" lIns="103875" spcFirstLastPara="1" rIns="103875" wrap="square" tIns="103875">
            <a:noAutofit/>
          </a:bodyPr>
          <a:lstStyle/>
          <a:p>
            <a:pPr indent="0" lvl="0" marL="0" rtl="0" algn="l">
              <a:spcBef>
                <a:spcPts val="0"/>
              </a:spcBef>
              <a:spcAft>
                <a:spcPts val="0"/>
              </a:spcAft>
              <a:buNone/>
            </a:pPr>
            <a:r>
              <a:t/>
            </a:r>
            <a:endParaRPr/>
          </a:p>
        </p:txBody>
      </p:sp>
      <p:sp>
        <p:nvSpPr>
          <p:cNvPr id="621" name="Google Shape;621;p19"/>
          <p:cNvSpPr/>
          <p:nvPr/>
        </p:nvSpPr>
        <p:spPr>
          <a:xfrm>
            <a:off x="3020525" y="726563"/>
            <a:ext cx="27006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909"/>
              <a:buFont typeface="Merriweather"/>
              <a:buNone/>
            </a:pPr>
            <a:r>
              <a:rPr b="1" i="0" lang="en-US" sz="1108" u="none" cap="none" strike="noStrike">
                <a:solidFill>
                  <a:srgbClr val="0E7490"/>
                </a:solidFill>
                <a:latin typeface="Merriweather"/>
                <a:ea typeface="Merriweather"/>
                <a:cs typeface="Merriweather"/>
                <a:sym typeface="Merriweather"/>
              </a:rPr>
              <a:t>Backend — Async</a:t>
            </a:r>
            <a:endParaRPr b="0" i="0" sz="1108" u="none" cap="none" strike="noStrike">
              <a:solidFill>
                <a:schemeClr val="dk1"/>
              </a:solidFill>
              <a:latin typeface="Calibri"/>
              <a:ea typeface="Calibri"/>
              <a:cs typeface="Calibri"/>
              <a:sym typeface="Calibri"/>
            </a:endParaRPr>
          </a:p>
        </p:txBody>
      </p:sp>
      <p:sp>
        <p:nvSpPr>
          <p:cNvPr id="622" name="Google Shape;622;p19"/>
          <p:cNvSpPr/>
          <p:nvPr/>
        </p:nvSpPr>
        <p:spPr>
          <a:xfrm>
            <a:off x="347475" y="1050825"/>
            <a:ext cx="3200400" cy="61020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9"/>
          <p:cNvSpPr/>
          <p:nvPr/>
        </p:nvSpPr>
        <p:spPr>
          <a:xfrm>
            <a:off x="347475" y="1050825"/>
            <a:ext cx="3200400" cy="6102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E7490"/>
              </a:buClr>
              <a:buSzPts val="1000"/>
              <a:buFont typeface="Merriweather"/>
              <a:buNone/>
            </a:pPr>
            <a:r>
              <a:rPr b="1" i="0" lang="en-US" sz="1100" u="none" cap="none" strike="noStrike">
                <a:solidFill>
                  <a:srgbClr val="0E7490"/>
                </a:solidFill>
                <a:latin typeface="Merriweather"/>
                <a:ea typeface="Merriweather"/>
                <a:cs typeface="Merriweather"/>
                <a:sym typeface="Merriweather"/>
              </a:rPr>
              <a:t>User Requests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E7490"/>
              </a:buClr>
              <a:buSzPts val="1000"/>
              <a:buFont typeface="Merriweather"/>
              <a:buNone/>
            </a:pPr>
            <a:r>
              <a:rPr b="1" i="0" lang="en-US" sz="1100" u="none" cap="none" strike="noStrike">
                <a:solidFill>
                  <a:srgbClr val="0E7490"/>
                </a:solidFill>
                <a:latin typeface="Merriweather"/>
                <a:ea typeface="Merriweather"/>
                <a:cs typeface="Merriweather"/>
                <a:sym typeface="Merriweather"/>
              </a:rPr>
              <a:t>Full Port Scan</a:t>
            </a:r>
            <a:endParaRPr b="0" i="0" sz="1100" u="none" cap="none" strike="noStrike">
              <a:solidFill>
                <a:schemeClr val="dk1"/>
              </a:solidFill>
              <a:latin typeface="Calibri"/>
              <a:ea typeface="Calibri"/>
              <a:cs typeface="Calibri"/>
              <a:sym typeface="Calibri"/>
            </a:endParaRPr>
          </a:p>
        </p:txBody>
      </p:sp>
      <p:cxnSp>
        <p:nvCxnSpPr>
          <p:cNvPr id="624" name="Google Shape;624;p19"/>
          <p:cNvCxnSpPr/>
          <p:nvPr/>
        </p:nvCxnSpPr>
        <p:spPr>
          <a:xfrm>
            <a:off x="3547873" y="1355940"/>
            <a:ext cx="1206900" cy="0"/>
          </a:xfrm>
          <a:prstGeom prst="straightConnector1">
            <a:avLst/>
          </a:prstGeom>
          <a:noFill/>
          <a:ln cap="flat" cmpd="sng" w="25400">
            <a:solidFill>
              <a:srgbClr val="06B6D4"/>
            </a:solidFill>
            <a:prstDash val="solid"/>
            <a:round/>
            <a:headEnd len="sm" w="sm" type="none"/>
            <a:tailEnd len="med" w="med" type="stealth"/>
          </a:ln>
        </p:spPr>
      </p:cxnSp>
      <p:sp>
        <p:nvSpPr>
          <p:cNvPr id="625" name="Google Shape;625;p19"/>
          <p:cNvSpPr/>
          <p:nvPr/>
        </p:nvSpPr>
        <p:spPr>
          <a:xfrm>
            <a:off x="4754881" y="1050825"/>
            <a:ext cx="4023300" cy="610200"/>
          </a:xfrm>
          <a:prstGeom prst="rect">
            <a:avLst/>
          </a:prstGeom>
          <a:solidFill>
            <a:srgbClr val="FEE2E2"/>
          </a:solidFill>
          <a:ln cap="flat" cmpd="sng" w="1905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9"/>
          <p:cNvSpPr/>
          <p:nvPr/>
        </p:nvSpPr>
        <p:spPr>
          <a:xfrm>
            <a:off x="4754881" y="1050825"/>
            <a:ext cx="4023300" cy="6102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DC2626"/>
              </a:buClr>
              <a:buSzPts val="1050"/>
              <a:buFont typeface="Merriweather"/>
              <a:buNone/>
            </a:pPr>
            <a:r>
              <a:rPr b="1" i="0" lang="en-US" sz="1150" u="none" cap="none" strike="noStrike">
                <a:solidFill>
                  <a:srgbClr val="DC2626"/>
                </a:solidFill>
                <a:latin typeface="Merriweather"/>
                <a:ea typeface="Merriweather"/>
                <a:cs typeface="Merriweather"/>
                <a:sym typeface="Merriweather"/>
              </a:rPr>
              <a:t>Synchronous</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C2626"/>
              </a:buClr>
              <a:buSzPts val="1050"/>
              <a:buFont typeface="Merriweather"/>
              <a:buNone/>
            </a:pPr>
            <a:r>
              <a:rPr b="1" i="0" lang="en-US" sz="1150" u="none" cap="none" strike="noStrike">
                <a:solidFill>
                  <a:srgbClr val="DC2626"/>
                </a:solidFill>
                <a:latin typeface="Merriweather"/>
                <a:ea typeface="Merriweather"/>
                <a:cs typeface="Merriweather"/>
                <a:sym typeface="Merriweather"/>
              </a:rPr>
              <a:t>Blocked State — 30–90 mins</a:t>
            </a:r>
            <a:endParaRPr b="0" i="0" sz="1150" u="none" cap="none" strike="noStrike">
              <a:solidFill>
                <a:schemeClr val="dk1"/>
              </a:solidFill>
              <a:latin typeface="Calibri"/>
              <a:ea typeface="Calibri"/>
              <a:cs typeface="Calibri"/>
              <a:sym typeface="Calibri"/>
            </a:endParaRPr>
          </a:p>
        </p:txBody>
      </p:sp>
      <p:cxnSp>
        <p:nvCxnSpPr>
          <p:cNvPr id="627" name="Google Shape;627;p19"/>
          <p:cNvCxnSpPr/>
          <p:nvPr/>
        </p:nvCxnSpPr>
        <p:spPr>
          <a:xfrm>
            <a:off x="6766559" y="1661056"/>
            <a:ext cx="0" cy="553200"/>
          </a:xfrm>
          <a:prstGeom prst="straightConnector1">
            <a:avLst/>
          </a:prstGeom>
          <a:noFill/>
          <a:ln cap="flat" cmpd="sng" w="19050">
            <a:solidFill>
              <a:srgbClr val="DC2626"/>
            </a:solidFill>
            <a:prstDash val="solid"/>
            <a:round/>
            <a:headEnd len="sm" w="sm" type="none"/>
            <a:tailEnd len="med" w="med" type="stealth"/>
          </a:ln>
        </p:spPr>
      </p:cxnSp>
      <p:sp>
        <p:nvSpPr>
          <p:cNvPr id="628" name="Google Shape;628;p19"/>
          <p:cNvSpPr/>
          <p:nvPr/>
        </p:nvSpPr>
        <p:spPr>
          <a:xfrm>
            <a:off x="5212090" y="2211956"/>
            <a:ext cx="3108900" cy="528900"/>
          </a:xfrm>
          <a:prstGeom prst="rect">
            <a:avLst/>
          </a:prstGeom>
          <a:solidFill>
            <a:srgbClr val="FEE2E2"/>
          </a:solidFill>
          <a:ln cap="flat" cmpd="sng" w="1905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9"/>
          <p:cNvSpPr/>
          <p:nvPr/>
        </p:nvSpPr>
        <p:spPr>
          <a:xfrm>
            <a:off x="5212090" y="2211956"/>
            <a:ext cx="3108900" cy="5289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DC2626"/>
              </a:buClr>
              <a:buSzPts val="1000"/>
              <a:buFont typeface="Merriweather"/>
              <a:buNone/>
            </a:pPr>
            <a:r>
              <a:rPr b="1" i="0" lang="en-US" sz="1100" u="none" cap="none" strike="noStrike">
                <a:solidFill>
                  <a:srgbClr val="DC2626"/>
                </a:solidFill>
                <a:latin typeface="Merriweather"/>
                <a:ea typeface="Merriweather"/>
                <a:cs typeface="Merriweather"/>
                <a:sym typeface="Merriweather"/>
              </a:rPr>
              <a:t>HTTP 504 Timeout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C2626"/>
              </a:buClr>
              <a:buSzPts val="1000"/>
              <a:buFont typeface="Merriweather"/>
              <a:buNone/>
            </a:pPr>
            <a:r>
              <a:rPr b="1" i="0" lang="en-US" sz="1100" u="none" cap="none" strike="noStrike">
                <a:solidFill>
                  <a:srgbClr val="DC2626"/>
                </a:solidFill>
                <a:latin typeface="Merriweather"/>
                <a:ea typeface="Merriweather"/>
                <a:cs typeface="Merriweather"/>
                <a:sym typeface="Merriweather"/>
              </a:rPr>
              <a:t>All users get errors</a:t>
            </a:r>
            <a:endParaRPr b="0" i="0" sz="1100" u="none" cap="none" strike="noStrike">
              <a:solidFill>
                <a:schemeClr val="dk1"/>
              </a:solidFill>
              <a:latin typeface="Calibri"/>
              <a:ea typeface="Calibri"/>
              <a:cs typeface="Calibri"/>
              <a:sym typeface="Calibri"/>
            </a:endParaRPr>
          </a:p>
        </p:txBody>
      </p:sp>
      <p:sp>
        <p:nvSpPr>
          <p:cNvPr id="630" name="Google Shape;630;p19"/>
          <p:cNvSpPr/>
          <p:nvPr/>
        </p:nvSpPr>
        <p:spPr>
          <a:xfrm>
            <a:off x="347472" y="2944368"/>
            <a:ext cx="84492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000"/>
              <a:buFont typeface="Merriweather"/>
              <a:buNone/>
            </a:pPr>
            <a:r>
              <a:rPr b="1" i="0" lang="en-US" sz="1200" u="none" cap="none" strike="noStrike">
                <a:solidFill>
                  <a:srgbClr val="059669"/>
                </a:solidFill>
                <a:latin typeface="Merriweather"/>
                <a:ea typeface="Merriweather"/>
                <a:cs typeface="Merriweather"/>
                <a:sym typeface="Merriweather"/>
              </a:rPr>
              <a:t>FOUND 404 SOLUTION — Asynchronous Pattern</a:t>
            </a:r>
            <a:endParaRPr b="1" i="0" sz="1200" u="none" cap="none" strike="noStrike">
              <a:solidFill>
                <a:schemeClr val="dk1"/>
              </a:solidFill>
              <a:latin typeface="Calibri"/>
              <a:ea typeface="Calibri"/>
              <a:cs typeface="Calibri"/>
              <a:sym typeface="Calibri"/>
            </a:endParaRPr>
          </a:p>
        </p:txBody>
      </p:sp>
      <p:sp>
        <p:nvSpPr>
          <p:cNvPr id="631" name="Google Shape;631;p19"/>
          <p:cNvSpPr/>
          <p:nvPr/>
        </p:nvSpPr>
        <p:spPr>
          <a:xfrm>
            <a:off x="132663" y="3291775"/>
            <a:ext cx="1625100" cy="65850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9"/>
          <p:cNvSpPr/>
          <p:nvPr/>
        </p:nvSpPr>
        <p:spPr>
          <a:xfrm>
            <a:off x="132663" y="3291775"/>
            <a:ext cx="1625100" cy="658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900"/>
              <a:buFont typeface="Merriweather"/>
              <a:buNone/>
            </a:pPr>
            <a:r>
              <a:rPr b="1" i="0" lang="en-US" sz="1100" u="none" cap="none" strike="noStrike">
                <a:solidFill>
                  <a:srgbClr val="0F172A"/>
                </a:solidFill>
                <a:latin typeface="Merriweather"/>
                <a:ea typeface="Merriweather"/>
                <a:cs typeface="Merriweather"/>
                <a:sym typeface="Merriweather"/>
              </a:rPr>
              <a:t>Request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900"/>
              <a:buFont typeface="Merriweather"/>
              <a:buNone/>
            </a:pPr>
            <a:r>
              <a:rPr b="1" i="0" lang="en-US" sz="1100" u="none" cap="none" strike="noStrike">
                <a:solidFill>
                  <a:srgbClr val="0F172A"/>
                </a:solidFill>
                <a:latin typeface="Merriweather"/>
                <a:ea typeface="Merriweather"/>
                <a:cs typeface="Merriweather"/>
                <a:sym typeface="Merriweather"/>
              </a:rPr>
              <a:t>Received</a:t>
            </a:r>
            <a:endParaRPr b="0" i="0" sz="1100" u="none" cap="none" strike="noStrike">
              <a:solidFill>
                <a:schemeClr val="dk1"/>
              </a:solidFill>
              <a:latin typeface="Calibri"/>
              <a:ea typeface="Calibri"/>
              <a:cs typeface="Calibri"/>
              <a:sym typeface="Calibri"/>
            </a:endParaRPr>
          </a:p>
        </p:txBody>
      </p:sp>
      <p:cxnSp>
        <p:nvCxnSpPr>
          <p:cNvPr id="633" name="Google Shape;633;p19"/>
          <p:cNvCxnSpPr/>
          <p:nvPr/>
        </p:nvCxnSpPr>
        <p:spPr>
          <a:xfrm>
            <a:off x="1757872" y="3620950"/>
            <a:ext cx="188100" cy="0"/>
          </a:xfrm>
          <a:prstGeom prst="straightConnector1">
            <a:avLst/>
          </a:prstGeom>
          <a:noFill/>
          <a:ln cap="flat" cmpd="sng" w="25400">
            <a:solidFill>
              <a:srgbClr val="059669"/>
            </a:solidFill>
            <a:prstDash val="solid"/>
            <a:round/>
            <a:headEnd len="sm" w="sm" type="none"/>
            <a:tailEnd len="med" w="med" type="stealth"/>
          </a:ln>
        </p:spPr>
      </p:cxnSp>
      <p:sp>
        <p:nvSpPr>
          <p:cNvPr id="634" name="Google Shape;634;p19"/>
          <p:cNvSpPr/>
          <p:nvPr/>
        </p:nvSpPr>
        <p:spPr>
          <a:xfrm>
            <a:off x="1946054" y="3291775"/>
            <a:ext cx="1625100" cy="658500"/>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9"/>
          <p:cNvSpPr/>
          <p:nvPr/>
        </p:nvSpPr>
        <p:spPr>
          <a:xfrm>
            <a:off x="1946054" y="3291775"/>
            <a:ext cx="1625100" cy="658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900"/>
              <a:buFont typeface="Merriweather"/>
              <a:buNone/>
            </a:pPr>
            <a:r>
              <a:rPr b="1" i="0" lang="en-US" sz="1100" u="none" cap="none" strike="noStrike">
                <a:solidFill>
                  <a:srgbClr val="0F172A"/>
                </a:solidFill>
                <a:latin typeface="Merriweather"/>
                <a:ea typeface="Merriweather"/>
                <a:cs typeface="Merriweather"/>
                <a:sym typeface="Merriweather"/>
              </a:rPr>
              <a:t>Task ID</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900"/>
              <a:buFont typeface="Merriweather"/>
              <a:buNone/>
            </a:pPr>
            <a:r>
              <a:rPr b="1" i="0" lang="en-US" sz="1100" u="none" cap="none" strike="noStrike">
                <a:solidFill>
                  <a:srgbClr val="0F172A"/>
                </a:solidFill>
                <a:latin typeface="Merriweather"/>
                <a:ea typeface="Merriweather"/>
                <a:cs typeface="Merriweather"/>
                <a:sym typeface="Merriweather"/>
              </a:rPr>
              <a:t>Returned</a:t>
            </a:r>
            <a:endParaRPr b="0" i="0" sz="1100" u="none" cap="none" strike="noStrike">
              <a:solidFill>
                <a:schemeClr val="dk1"/>
              </a:solidFill>
              <a:latin typeface="Calibri"/>
              <a:ea typeface="Calibri"/>
              <a:cs typeface="Calibri"/>
              <a:sym typeface="Calibri"/>
            </a:endParaRPr>
          </a:p>
        </p:txBody>
      </p:sp>
      <p:cxnSp>
        <p:nvCxnSpPr>
          <p:cNvPr id="636" name="Google Shape;636;p19"/>
          <p:cNvCxnSpPr/>
          <p:nvPr/>
        </p:nvCxnSpPr>
        <p:spPr>
          <a:xfrm>
            <a:off x="3571264" y="3620950"/>
            <a:ext cx="188100" cy="0"/>
          </a:xfrm>
          <a:prstGeom prst="straightConnector1">
            <a:avLst/>
          </a:prstGeom>
          <a:noFill/>
          <a:ln cap="flat" cmpd="sng" w="25400">
            <a:solidFill>
              <a:srgbClr val="059669"/>
            </a:solidFill>
            <a:prstDash val="solid"/>
            <a:round/>
            <a:headEnd len="sm" w="sm" type="none"/>
            <a:tailEnd len="med" w="med" type="stealth"/>
          </a:ln>
        </p:spPr>
      </p:cxnSp>
      <p:sp>
        <p:nvSpPr>
          <p:cNvPr id="637" name="Google Shape;637;p19"/>
          <p:cNvSpPr/>
          <p:nvPr/>
        </p:nvSpPr>
        <p:spPr>
          <a:xfrm>
            <a:off x="3759446" y="3291775"/>
            <a:ext cx="1625100" cy="658500"/>
          </a:xfrm>
          <a:prstGeom prst="rect">
            <a:avLst/>
          </a:prstGeom>
          <a:solidFill>
            <a:srgbClr val="FEF3C7"/>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9"/>
          <p:cNvSpPr/>
          <p:nvPr/>
        </p:nvSpPr>
        <p:spPr>
          <a:xfrm>
            <a:off x="3759446" y="3291775"/>
            <a:ext cx="1625100" cy="658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900"/>
              <a:buFont typeface="Merriweather"/>
              <a:buNone/>
            </a:pPr>
            <a:r>
              <a:rPr b="1" i="0" lang="en-US" sz="1100" u="none" cap="none" strike="noStrike">
                <a:solidFill>
                  <a:srgbClr val="0F172A"/>
                </a:solidFill>
                <a:latin typeface="Merriweather"/>
                <a:ea typeface="Merriweather"/>
                <a:cs typeface="Merriweather"/>
                <a:sym typeface="Merriweather"/>
              </a:rPr>
              <a:t>Celery Runs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900"/>
              <a:buFont typeface="Merriweather"/>
              <a:buNone/>
            </a:pPr>
            <a:r>
              <a:rPr b="1" i="0" lang="en-US" sz="1100" u="none" cap="none" strike="noStrike">
                <a:solidFill>
                  <a:srgbClr val="0F172A"/>
                </a:solidFill>
                <a:latin typeface="Merriweather"/>
                <a:ea typeface="Merriweather"/>
                <a:cs typeface="Merriweather"/>
                <a:sym typeface="Merriweather"/>
              </a:rPr>
              <a:t>in Background</a:t>
            </a:r>
            <a:endParaRPr b="0" i="0" sz="1100" u="none" cap="none" strike="noStrike">
              <a:solidFill>
                <a:schemeClr val="dk1"/>
              </a:solidFill>
              <a:latin typeface="Calibri"/>
              <a:ea typeface="Calibri"/>
              <a:cs typeface="Calibri"/>
              <a:sym typeface="Calibri"/>
            </a:endParaRPr>
          </a:p>
        </p:txBody>
      </p:sp>
      <p:cxnSp>
        <p:nvCxnSpPr>
          <p:cNvPr id="639" name="Google Shape;639;p19"/>
          <p:cNvCxnSpPr/>
          <p:nvPr/>
        </p:nvCxnSpPr>
        <p:spPr>
          <a:xfrm>
            <a:off x="5384656" y="3620950"/>
            <a:ext cx="188100" cy="0"/>
          </a:xfrm>
          <a:prstGeom prst="straightConnector1">
            <a:avLst/>
          </a:prstGeom>
          <a:noFill/>
          <a:ln cap="flat" cmpd="sng" w="25400">
            <a:solidFill>
              <a:srgbClr val="059669"/>
            </a:solidFill>
            <a:prstDash val="solid"/>
            <a:round/>
            <a:headEnd len="sm" w="sm" type="none"/>
            <a:tailEnd len="med" w="med" type="stealth"/>
          </a:ln>
        </p:spPr>
      </p:cxnSp>
      <p:sp>
        <p:nvSpPr>
          <p:cNvPr id="640" name="Google Shape;640;p19"/>
          <p:cNvSpPr/>
          <p:nvPr/>
        </p:nvSpPr>
        <p:spPr>
          <a:xfrm>
            <a:off x="5572838" y="3291775"/>
            <a:ext cx="1625100" cy="658500"/>
          </a:xfrm>
          <a:prstGeom prst="rect">
            <a:avLst/>
          </a:prstGeom>
          <a:solidFill>
            <a:srgbClr val="EDE9FE"/>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9"/>
          <p:cNvSpPr/>
          <p:nvPr/>
        </p:nvSpPr>
        <p:spPr>
          <a:xfrm>
            <a:off x="5572838" y="3291775"/>
            <a:ext cx="1625100" cy="658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900"/>
              <a:buFont typeface="Merriweather"/>
              <a:buNone/>
            </a:pPr>
            <a:r>
              <a:rPr b="1" i="0" lang="en-US" sz="1100" u="none" cap="none" strike="noStrike">
                <a:solidFill>
                  <a:srgbClr val="0F172A"/>
                </a:solidFill>
                <a:latin typeface="Merriweather"/>
                <a:ea typeface="Merriweather"/>
                <a:cs typeface="Merriweather"/>
                <a:sym typeface="Merriweather"/>
              </a:rPr>
              <a:t>UI Polls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900"/>
              <a:buFont typeface="Merriweather"/>
              <a:buNone/>
            </a:pPr>
            <a:r>
              <a:rPr b="1" i="0" lang="en-US" sz="1100" u="none" cap="none" strike="noStrike">
                <a:solidFill>
                  <a:srgbClr val="0F172A"/>
                </a:solidFill>
                <a:latin typeface="Merriweather"/>
                <a:ea typeface="Merriweather"/>
                <a:cs typeface="Merriweather"/>
                <a:sym typeface="Merriweather"/>
              </a:rPr>
              <a:t>/tasks/{id}</a:t>
            </a:r>
            <a:endParaRPr b="0" i="0" sz="1100" u="none" cap="none" strike="noStrike">
              <a:solidFill>
                <a:schemeClr val="dk1"/>
              </a:solidFill>
              <a:latin typeface="Calibri"/>
              <a:ea typeface="Calibri"/>
              <a:cs typeface="Calibri"/>
              <a:sym typeface="Calibri"/>
            </a:endParaRPr>
          </a:p>
        </p:txBody>
      </p:sp>
      <p:cxnSp>
        <p:nvCxnSpPr>
          <p:cNvPr id="642" name="Google Shape;642;p19"/>
          <p:cNvCxnSpPr/>
          <p:nvPr/>
        </p:nvCxnSpPr>
        <p:spPr>
          <a:xfrm>
            <a:off x="7198048" y="3620950"/>
            <a:ext cx="188100" cy="0"/>
          </a:xfrm>
          <a:prstGeom prst="straightConnector1">
            <a:avLst/>
          </a:prstGeom>
          <a:noFill/>
          <a:ln cap="flat" cmpd="sng" w="25400">
            <a:solidFill>
              <a:srgbClr val="059669"/>
            </a:solidFill>
            <a:prstDash val="solid"/>
            <a:round/>
            <a:headEnd len="sm" w="sm" type="none"/>
            <a:tailEnd len="med" w="med" type="stealth"/>
          </a:ln>
        </p:spPr>
      </p:cxnSp>
      <p:sp>
        <p:nvSpPr>
          <p:cNvPr id="643" name="Google Shape;643;p19"/>
          <p:cNvSpPr/>
          <p:nvPr/>
        </p:nvSpPr>
        <p:spPr>
          <a:xfrm>
            <a:off x="7386230" y="3291775"/>
            <a:ext cx="1625100" cy="658500"/>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9"/>
          <p:cNvSpPr/>
          <p:nvPr/>
        </p:nvSpPr>
        <p:spPr>
          <a:xfrm>
            <a:off x="7386230" y="3291775"/>
            <a:ext cx="1625100" cy="658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900"/>
              <a:buFont typeface="Merriweather"/>
              <a:buNone/>
            </a:pPr>
            <a:r>
              <a:rPr b="1" i="0" lang="en-US" sz="1100" u="none" cap="none" strike="noStrike">
                <a:solidFill>
                  <a:srgbClr val="0F172A"/>
                </a:solidFill>
                <a:latin typeface="Merriweather"/>
                <a:ea typeface="Merriweather"/>
                <a:cs typeface="Merriweather"/>
                <a:sym typeface="Merriweather"/>
              </a:rPr>
              <a:t>Results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900"/>
              <a:buFont typeface="Merriweather"/>
              <a:buNone/>
            </a:pPr>
            <a:r>
              <a:rPr b="1" i="0" lang="en-US" sz="1100" u="none" cap="none" strike="noStrike">
                <a:solidFill>
                  <a:srgbClr val="0F172A"/>
                </a:solidFill>
                <a:latin typeface="Merriweather"/>
                <a:ea typeface="Merriweather"/>
                <a:cs typeface="Merriweather"/>
                <a:sym typeface="Merriweather"/>
              </a:rPr>
              <a:t>Delivered</a:t>
            </a:r>
            <a:endParaRPr b="0" i="0" sz="1100" u="none" cap="none" strike="noStrike">
              <a:solidFill>
                <a:schemeClr val="dk1"/>
              </a:solidFill>
              <a:latin typeface="Calibri"/>
              <a:ea typeface="Calibri"/>
              <a:cs typeface="Calibri"/>
              <a:sym typeface="Calibri"/>
            </a:endParaRPr>
          </a:p>
        </p:txBody>
      </p:sp>
      <p:sp>
        <p:nvSpPr>
          <p:cNvPr id="645" name="Google Shape;645;p19"/>
          <p:cNvSpPr/>
          <p:nvPr/>
        </p:nvSpPr>
        <p:spPr>
          <a:xfrm>
            <a:off x="347472" y="4041648"/>
            <a:ext cx="8449056"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Merriweather"/>
              <a:buNone/>
            </a:pPr>
            <a:r>
              <a:rPr b="0" i="1" lang="en-US" sz="1100" u="none" cap="none" strike="noStrike">
                <a:solidFill>
                  <a:srgbClr val="64748B"/>
                </a:solidFill>
                <a:latin typeface="Merriweather"/>
                <a:ea typeface="Merriweather"/>
                <a:cs typeface="Merriweather"/>
                <a:sym typeface="Merriweather"/>
              </a:rPr>
              <a:t>API responds in &lt; 200ms  —  Zero blocking  —  Infinite scalability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0" name="Shape 650"/>
        <p:cNvGrpSpPr/>
        <p:nvPr/>
      </p:nvGrpSpPr>
      <p:grpSpPr>
        <a:xfrm>
          <a:off x="0" y="0"/>
          <a:ext cx="0" cy="0"/>
          <a:chOff x="0" y="0"/>
          <a:chExt cx="0" cy="0"/>
        </a:xfrm>
      </p:grpSpPr>
      <p:sp>
        <p:nvSpPr>
          <p:cNvPr id="651" name="Google Shape;651;p20"/>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0"/>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0"/>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Asynchronous Task Delegation</a:t>
            </a:r>
            <a:endParaRPr b="0" i="0" sz="2200" u="none" cap="none" strike="noStrike">
              <a:solidFill>
                <a:schemeClr val="dk1"/>
              </a:solidFill>
              <a:latin typeface="Calibri"/>
              <a:ea typeface="Calibri"/>
              <a:cs typeface="Calibri"/>
              <a:sym typeface="Calibri"/>
            </a:endParaRPr>
          </a:p>
        </p:txBody>
      </p:sp>
      <p:sp>
        <p:nvSpPr>
          <p:cNvPr id="654" name="Google Shape;654;p20"/>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0"/>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20/40</a:t>
            </a:r>
            <a:endParaRPr b="0" i="0" sz="800" u="none" cap="none" strike="noStrike">
              <a:solidFill>
                <a:schemeClr val="dk1"/>
              </a:solidFill>
              <a:latin typeface="Calibri"/>
              <a:ea typeface="Calibri"/>
              <a:cs typeface="Calibri"/>
              <a:sym typeface="Calibri"/>
            </a:endParaRPr>
          </a:p>
        </p:txBody>
      </p:sp>
      <p:cxnSp>
        <p:nvCxnSpPr>
          <p:cNvPr id="656" name="Google Shape;656;p20"/>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657" name="Google Shape;657;p20"/>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658" name="Google Shape;658;p20"/>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0"/>
          <p:cNvSpPr/>
          <p:nvPr/>
        </p:nvSpPr>
        <p:spPr>
          <a:xfrm>
            <a:off x="3182085" y="774546"/>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0"/>
          <p:cNvSpPr/>
          <p:nvPr/>
        </p:nvSpPr>
        <p:spPr>
          <a:xfrm>
            <a:off x="3182085" y="774546"/>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Backend — Async</a:t>
            </a:r>
            <a:endParaRPr b="0" i="0" sz="1000" u="none" cap="none" strike="noStrike">
              <a:solidFill>
                <a:schemeClr val="dk1"/>
              </a:solidFill>
              <a:latin typeface="Calibri"/>
              <a:ea typeface="Calibri"/>
              <a:cs typeface="Calibri"/>
              <a:sym typeface="Calibri"/>
            </a:endParaRPr>
          </a:p>
        </p:txBody>
      </p:sp>
      <p:sp>
        <p:nvSpPr>
          <p:cNvPr id="661" name="Google Shape;661;p20"/>
          <p:cNvSpPr/>
          <p:nvPr/>
        </p:nvSpPr>
        <p:spPr>
          <a:xfrm>
            <a:off x="347475" y="1073737"/>
            <a:ext cx="1920300" cy="63510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0"/>
          <p:cNvSpPr/>
          <p:nvPr/>
        </p:nvSpPr>
        <p:spPr>
          <a:xfrm>
            <a:off x="347475" y="1073737"/>
            <a:ext cx="1920300" cy="6351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E7490"/>
              </a:buClr>
              <a:buSzPts val="950"/>
              <a:buFont typeface="Merriweather"/>
              <a:buNone/>
            </a:pPr>
            <a:r>
              <a:rPr b="1" i="0" lang="en-US" sz="1050" u="none" cap="none" strike="noStrike">
                <a:solidFill>
                  <a:srgbClr val="0E7490"/>
                </a:solidFill>
                <a:latin typeface="Merriweather"/>
                <a:ea typeface="Merriweather"/>
                <a:cs typeface="Merriweather"/>
                <a:sym typeface="Merriweather"/>
              </a:rPr>
              <a:t>POST /scans</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E7490"/>
              </a:buClr>
              <a:buSzPts val="950"/>
              <a:buFont typeface="Merriweather"/>
              <a:buNone/>
            </a:pPr>
            <a:r>
              <a:rPr b="1" i="0" lang="en-US" sz="1050" u="none" cap="none" strike="noStrike">
                <a:solidFill>
                  <a:srgbClr val="0E7490"/>
                </a:solidFill>
                <a:latin typeface="Merriweather"/>
                <a:ea typeface="Merriweather"/>
                <a:cs typeface="Merriweather"/>
                <a:sym typeface="Merriweather"/>
              </a:rPr>
              <a:t>(HTTP Request)</a:t>
            </a:r>
            <a:endParaRPr b="0" i="0" sz="1050" u="none" cap="none" strike="noStrike">
              <a:solidFill>
                <a:schemeClr val="dk1"/>
              </a:solidFill>
              <a:latin typeface="Calibri"/>
              <a:ea typeface="Calibri"/>
              <a:cs typeface="Calibri"/>
              <a:sym typeface="Calibri"/>
            </a:endParaRPr>
          </a:p>
        </p:txBody>
      </p:sp>
      <p:cxnSp>
        <p:nvCxnSpPr>
          <p:cNvPr id="663" name="Google Shape;663;p20"/>
          <p:cNvCxnSpPr/>
          <p:nvPr/>
        </p:nvCxnSpPr>
        <p:spPr>
          <a:xfrm>
            <a:off x="2267712" y="1257300"/>
            <a:ext cx="658368" cy="0"/>
          </a:xfrm>
          <a:prstGeom prst="straightConnector1">
            <a:avLst/>
          </a:prstGeom>
          <a:noFill/>
          <a:ln cap="flat" cmpd="sng" w="25400">
            <a:solidFill>
              <a:srgbClr val="06B6D4"/>
            </a:solidFill>
            <a:prstDash val="solid"/>
            <a:round/>
            <a:headEnd len="sm" w="sm" type="none"/>
            <a:tailEnd len="med" w="med" type="stealth"/>
          </a:ln>
        </p:spPr>
      </p:cxnSp>
      <p:sp>
        <p:nvSpPr>
          <p:cNvPr id="664" name="Google Shape;664;p20"/>
          <p:cNvSpPr/>
          <p:nvPr/>
        </p:nvSpPr>
        <p:spPr>
          <a:xfrm>
            <a:off x="2926085" y="1073737"/>
            <a:ext cx="1920300" cy="635100"/>
          </a:xfrm>
          <a:prstGeom prst="rect">
            <a:avLst/>
          </a:prstGeom>
          <a:solidFill>
            <a:srgbClr val="EDE9FE"/>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0"/>
          <p:cNvSpPr/>
          <p:nvPr/>
        </p:nvSpPr>
        <p:spPr>
          <a:xfrm>
            <a:off x="2926085" y="1073737"/>
            <a:ext cx="1920300" cy="6351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7C3AED"/>
              </a:buClr>
              <a:buSzPts val="950"/>
              <a:buFont typeface="Merriweather"/>
              <a:buNone/>
            </a:pPr>
            <a:r>
              <a:rPr b="1" i="0" lang="en-US" sz="1050" u="none" cap="none" strike="noStrike">
                <a:solidFill>
                  <a:srgbClr val="7C3AED"/>
                </a:solidFill>
                <a:latin typeface="Merriweather"/>
                <a:ea typeface="Merriweather"/>
                <a:cs typeface="Merriweather"/>
                <a:sym typeface="Merriweather"/>
              </a:rPr>
              <a:t>Validate &amp;</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C3AED"/>
              </a:buClr>
              <a:buSzPts val="950"/>
              <a:buFont typeface="Merriweather"/>
              <a:buNone/>
            </a:pPr>
            <a:r>
              <a:rPr b="1" i="0" lang="en-US" sz="1050" u="none" cap="none" strike="noStrike">
                <a:solidFill>
                  <a:srgbClr val="7C3AED"/>
                </a:solidFill>
                <a:latin typeface="Merriweather"/>
                <a:ea typeface="Merriweather"/>
                <a:cs typeface="Merriweather"/>
                <a:sym typeface="Merriweather"/>
              </a:rPr>
              <a:t>Enqueue Task</a:t>
            </a:r>
            <a:endParaRPr b="0" i="0" sz="1050" u="none" cap="none" strike="noStrike">
              <a:solidFill>
                <a:schemeClr val="dk1"/>
              </a:solidFill>
              <a:latin typeface="Calibri"/>
              <a:ea typeface="Calibri"/>
              <a:cs typeface="Calibri"/>
              <a:sym typeface="Calibri"/>
            </a:endParaRPr>
          </a:p>
        </p:txBody>
      </p:sp>
      <p:cxnSp>
        <p:nvCxnSpPr>
          <p:cNvPr id="666" name="Google Shape;666;p20"/>
          <p:cNvCxnSpPr/>
          <p:nvPr/>
        </p:nvCxnSpPr>
        <p:spPr>
          <a:xfrm>
            <a:off x="4846320" y="1257300"/>
            <a:ext cx="640080" cy="0"/>
          </a:xfrm>
          <a:prstGeom prst="straightConnector1">
            <a:avLst/>
          </a:prstGeom>
          <a:noFill/>
          <a:ln cap="flat" cmpd="sng" w="25400">
            <a:solidFill>
              <a:srgbClr val="06B6D4"/>
            </a:solidFill>
            <a:prstDash val="solid"/>
            <a:round/>
            <a:headEnd len="sm" w="sm" type="none"/>
            <a:tailEnd len="med" w="med" type="stealth"/>
          </a:ln>
        </p:spPr>
      </p:cxnSp>
      <p:sp>
        <p:nvSpPr>
          <p:cNvPr id="667" name="Google Shape;667;p20"/>
          <p:cNvSpPr/>
          <p:nvPr/>
        </p:nvSpPr>
        <p:spPr>
          <a:xfrm>
            <a:off x="5486407" y="1073737"/>
            <a:ext cx="3291900" cy="635100"/>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0"/>
          <p:cNvSpPr/>
          <p:nvPr/>
        </p:nvSpPr>
        <p:spPr>
          <a:xfrm>
            <a:off x="5486407" y="1073737"/>
            <a:ext cx="3291900" cy="6351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59669"/>
              </a:buClr>
              <a:buSzPts val="950"/>
              <a:buFont typeface="Merriweather"/>
              <a:buNone/>
            </a:pPr>
            <a:r>
              <a:rPr b="1" i="0" lang="en-US" sz="1050" u="none" cap="none" strike="noStrike">
                <a:solidFill>
                  <a:srgbClr val="059669"/>
                </a:solidFill>
                <a:latin typeface="Merriweather"/>
                <a:ea typeface="Merriweather"/>
                <a:cs typeface="Merriweather"/>
                <a:sym typeface="Merriweather"/>
              </a:rPr>
              <a:t>{"task_id": "abc-123"</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59669"/>
              </a:buClr>
              <a:buSzPts val="950"/>
              <a:buFont typeface="Merriweather"/>
              <a:buNone/>
            </a:pPr>
            <a:r>
              <a:rPr b="1" i="0" lang="en-US" sz="1050" u="none" cap="none" strike="noStrike">
                <a:solidFill>
                  <a:srgbClr val="059669"/>
                </a:solidFill>
                <a:latin typeface="Merriweather"/>
                <a:ea typeface="Merriweather"/>
                <a:cs typeface="Merriweather"/>
                <a:sym typeface="Merriweather"/>
              </a:rPr>
              <a:t>"status": "queued"}</a:t>
            </a:r>
            <a:endParaRPr b="0" i="0" sz="1050" u="none" cap="none" strike="noStrike">
              <a:solidFill>
                <a:schemeClr val="dk1"/>
              </a:solidFill>
              <a:latin typeface="Calibri"/>
              <a:ea typeface="Calibri"/>
              <a:cs typeface="Calibri"/>
              <a:sym typeface="Calibri"/>
            </a:endParaRPr>
          </a:p>
        </p:txBody>
      </p:sp>
      <p:sp>
        <p:nvSpPr>
          <p:cNvPr id="669" name="Google Shape;669;p20"/>
          <p:cNvSpPr/>
          <p:nvPr/>
        </p:nvSpPr>
        <p:spPr>
          <a:xfrm>
            <a:off x="347475" y="1767948"/>
            <a:ext cx="8430900" cy="186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950"/>
              <a:buFont typeface="Merriweather"/>
              <a:buNone/>
            </a:pPr>
            <a:r>
              <a:rPr b="0" i="1" lang="en-US" sz="1050" u="none" cap="none" strike="noStrike">
                <a:solidFill>
                  <a:srgbClr val="059669"/>
                </a:solidFill>
                <a:latin typeface="Merriweather"/>
                <a:ea typeface="Merriweather"/>
                <a:cs typeface="Merriweather"/>
                <a:sym typeface="Merriweather"/>
              </a:rPr>
              <a:t>API responds in &lt; 200ms — User gets Task ID immediately</a:t>
            </a:r>
            <a:endParaRPr b="0" i="0" sz="1050" u="none" cap="none" strike="noStrike">
              <a:solidFill>
                <a:schemeClr val="dk1"/>
              </a:solidFill>
              <a:latin typeface="Calibri"/>
              <a:ea typeface="Calibri"/>
              <a:cs typeface="Calibri"/>
              <a:sym typeface="Calibri"/>
            </a:endParaRPr>
          </a:p>
        </p:txBody>
      </p:sp>
      <p:cxnSp>
        <p:nvCxnSpPr>
          <p:cNvPr id="670" name="Google Shape;670;p20"/>
          <p:cNvCxnSpPr/>
          <p:nvPr/>
        </p:nvCxnSpPr>
        <p:spPr>
          <a:xfrm>
            <a:off x="1360529" y="1729886"/>
            <a:ext cx="0" cy="719700"/>
          </a:xfrm>
          <a:prstGeom prst="straightConnector1">
            <a:avLst/>
          </a:prstGeom>
          <a:noFill/>
          <a:ln cap="flat" cmpd="sng" w="19050">
            <a:solidFill>
              <a:srgbClr val="64748B"/>
            </a:solidFill>
            <a:prstDash val="solid"/>
            <a:round/>
            <a:headEnd len="sm" w="sm" type="none"/>
            <a:tailEnd len="med" w="med" type="stealth"/>
          </a:ln>
        </p:spPr>
      </p:cxnSp>
      <p:sp>
        <p:nvSpPr>
          <p:cNvPr id="671" name="Google Shape;671;p20"/>
          <p:cNvSpPr/>
          <p:nvPr/>
        </p:nvSpPr>
        <p:spPr>
          <a:xfrm>
            <a:off x="640083" y="2470624"/>
            <a:ext cx="2560200" cy="592500"/>
          </a:xfrm>
          <a:prstGeom prst="rect">
            <a:avLst/>
          </a:prstGeom>
          <a:solidFill>
            <a:srgbClr val="FEF3C7"/>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0"/>
          <p:cNvSpPr/>
          <p:nvPr/>
        </p:nvSpPr>
        <p:spPr>
          <a:xfrm>
            <a:off x="640083" y="2470624"/>
            <a:ext cx="2560200" cy="592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D97706"/>
              </a:buClr>
              <a:buSzPts val="950"/>
              <a:buFont typeface="Merriweather"/>
              <a:buNone/>
            </a:pPr>
            <a:r>
              <a:rPr b="1" i="0" lang="en-US" sz="1050" u="none" cap="none" strike="noStrike">
                <a:solidFill>
                  <a:srgbClr val="D97706"/>
                </a:solidFill>
                <a:latin typeface="Merriweather"/>
                <a:ea typeface="Merriweather"/>
                <a:cs typeface="Merriweather"/>
                <a:sym typeface="Merriweather"/>
              </a:rPr>
              <a:t>Redis</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7706"/>
              </a:buClr>
              <a:buSzPts val="950"/>
              <a:buFont typeface="Merriweather"/>
              <a:buNone/>
            </a:pPr>
            <a:r>
              <a:rPr b="1" i="0" lang="en-US" sz="1050" u="none" cap="none" strike="noStrike">
                <a:solidFill>
                  <a:srgbClr val="D97706"/>
                </a:solidFill>
                <a:latin typeface="Merriweather"/>
                <a:ea typeface="Merriweather"/>
                <a:cs typeface="Merriweather"/>
                <a:sym typeface="Merriweather"/>
              </a:rPr>
              <a:t>Message Queue</a:t>
            </a:r>
            <a:endParaRPr b="0" i="0" sz="1050" u="none" cap="none" strike="noStrike">
              <a:solidFill>
                <a:schemeClr val="dk1"/>
              </a:solidFill>
              <a:latin typeface="Calibri"/>
              <a:ea typeface="Calibri"/>
              <a:cs typeface="Calibri"/>
              <a:sym typeface="Calibri"/>
            </a:endParaRPr>
          </a:p>
        </p:txBody>
      </p:sp>
      <p:cxnSp>
        <p:nvCxnSpPr>
          <p:cNvPr id="673" name="Google Shape;673;p20"/>
          <p:cNvCxnSpPr/>
          <p:nvPr/>
        </p:nvCxnSpPr>
        <p:spPr>
          <a:xfrm>
            <a:off x="3200400" y="2743200"/>
            <a:ext cx="640080" cy="0"/>
          </a:xfrm>
          <a:prstGeom prst="straightConnector1">
            <a:avLst/>
          </a:prstGeom>
          <a:noFill/>
          <a:ln cap="flat" cmpd="sng" w="25400">
            <a:solidFill>
              <a:srgbClr val="D97706"/>
            </a:solidFill>
            <a:prstDash val="solid"/>
            <a:round/>
            <a:headEnd len="sm" w="sm" type="none"/>
            <a:tailEnd len="med" w="med" type="stealth"/>
          </a:ln>
        </p:spPr>
      </p:cxnSp>
      <p:sp>
        <p:nvSpPr>
          <p:cNvPr id="674" name="Google Shape;674;p20"/>
          <p:cNvSpPr/>
          <p:nvPr/>
        </p:nvSpPr>
        <p:spPr>
          <a:xfrm>
            <a:off x="3840486" y="2470624"/>
            <a:ext cx="2286000" cy="59250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0"/>
          <p:cNvSpPr/>
          <p:nvPr/>
        </p:nvSpPr>
        <p:spPr>
          <a:xfrm>
            <a:off x="3840486" y="2470624"/>
            <a:ext cx="2286000" cy="592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E7490"/>
              </a:buClr>
              <a:buSzPts val="950"/>
              <a:buFont typeface="Merriweather"/>
              <a:buNone/>
            </a:pPr>
            <a:r>
              <a:rPr b="1" i="0" lang="en-US" sz="1050" u="none" cap="none" strike="noStrike">
                <a:solidFill>
                  <a:srgbClr val="0E7490"/>
                </a:solidFill>
                <a:latin typeface="Merriweather"/>
                <a:ea typeface="Merriweather"/>
                <a:cs typeface="Merriweather"/>
                <a:sym typeface="Merriweather"/>
              </a:rPr>
              <a:t>Celery Worker</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E7490"/>
              </a:buClr>
              <a:buSzPts val="950"/>
              <a:buFont typeface="Merriweather"/>
              <a:buNone/>
            </a:pPr>
            <a:r>
              <a:rPr b="1" i="0" lang="en-US" sz="1050" u="none" cap="none" strike="noStrike">
                <a:solidFill>
                  <a:srgbClr val="0E7490"/>
                </a:solidFill>
                <a:latin typeface="Merriweather"/>
                <a:ea typeface="Merriweather"/>
                <a:cs typeface="Merriweather"/>
                <a:sym typeface="Merriweather"/>
              </a:rPr>
              <a:t>Executes Scan</a:t>
            </a:r>
            <a:endParaRPr b="0" i="0" sz="1050" u="none" cap="none" strike="noStrike">
              <a:solidFill>
                <a:schemeClr val="dk1"/>
              </a:solidFill>
              <a:latin typeface="Calibri"/>
              <a:ea typeface="Calibri"/>
              <a:cs typeface="Calibri"/>
              <a:sym typeface="Calibri"/>
            </a:endParaRPr>
          </a:p>
        </p:txBody>
      </p:sp>
      <p:cxnSp>
        <p:nvCxnSpPr>
          <p:cNvPr id="676" name="Google Shape;676;p20"/>
          <p:cNvCxnSpPr/>
          <p:nvPr/>
        </p:nvCxnSpPr>
        <p:spPr>
          <a:xfrm>
            <a:off x="6126480" y="2743200"/>
            <a:ext cx="640080" cy="0"/>
          </a:xfrm>
          <a:prstGeom prst="straightConnector1">
            <a:avLst/>
          </a:prstGeom>
          <a:noFill/>
          <a:ln cap="flat" cmpd="sng" w="25400">
            <a:solidFill>
              <a:srgbClr val="06B6D4"/>
            </a:solidFill>
            <a:prstDash val="solid"/>
            <a:round/>
            <a:headEnd len="sm" w="sm" type="none"/>
            <a:tailEnd len="med" w="med" type="stealth"/>
          </a:ln>
        </p:spPr>
      </p:cxnSp>
      <p:sp>
        <p:nvSpPr>
          <p:cNvPr id="677" name="Google Shape;677;p20"/>
          <p:cNvSpPr/>
          <p:nvPr/>
        </p:nvSpPr>
        <p:spPr>
          <a:xfrm>
            <a:off x="6766568" y="2470624"/>
            <a:ext cx="2011800" cy="592500"/>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0"/>
          <p:cNvSpPr/>
          <p:nvPr/>
        </p:nvSpPr>
        <p:spPr>
          <a:xfrm>
            <a:off x="6766568" y="2470624"/>
            <a:ext cx="2011800" cy="592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59669"/>
              </a:buClr>
              <a:buSzPts val="950"/>
              <a:buFont typeface="Merriweather"/>
              <a:buNone/>
            </a:pPr>
            <a:r>
              <a:rPr b="1" i="0" lang="en-US" sz="1050" u="none" cap="none" strike="noStrike">
                <a:solidFill>
                  <a:srgbClr val="059669"/>
                </a:solidFill>
                <a:latin typeface="Merriweather"/>
                <a:ea typeface="Merriweather"/>
                <a:cs typeface="Merriweather"/>
                <a:sym typeface="Merriweather"/>
              </a:rPr>
              <a:t>Results Stored</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59669"/>
              </a:buClr>
              <a:buSzPts val="950"/>
              <a:buFont typeface="Merriweather"/>
              <a:buNone/>
            </a:pPr>
            <a:r>
              <a:rPr b="1" i="0" lang="en-US" sz="1050" u="none" cap="none" strike="noStrike">
                <a:solidFill>
                  <a:srgbClr val="059669"/>
                </a:solidFill>
                <a:latin typeface="Merriweather"/>
                <a:ea typeface="Merriweather"/>
                <a:cs typeface="Merriweather"/>
                <a:sym typeface="Merriweather"/>
              </a:rPr>
              <a:t>in PostgreSQL</a:t>
            </a:r>
            <a:endParaRPr b="0" i="0" sz="1050" u="none" cap="none" strike="noStrike">
              <a:solidFill>
                <a:schemeClr val="dk1"/>
              </a:solidFill>
              <a:latin typeface="Calibri"/>
              <a:ea typeface="Calibri"/>
              <a:cs typeface="Calibri"/>
              <a:sym typeface="Calibri"/>
            </a:endParaRPr>
          </a:p>
        </p:txBody>
      </p:sp>
      <p:sp>
        <p:nvSpPr>
          <p:cNvPr id="679" name="Google Shape;679;p20"/>
          <p:cNvSpPr/>
          <p:nvPr/>
        </p:nvSpPr>
        <p:spPr>
          <a:xfrm>
            <a:off x="347472" y="3218688"/>
            <a:ext cx="843076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Merriweather"/>
              <a:buNone/>
            </a:pPr>
            <a:r>
              <a:rPr b="1" i="1" lang="en-US" sz="1150" u="none" cap="none" strike="noStrike">
                <a:solidFill>
                  <a:srgbClr val="64748B"/>
                </a:solidFill>
                <a:latin typeface="Merriweather"/>
                <a:ea typeface="Merriweather"/>
                <a:cs typeface="Merriweather"/>
                <a:sym typeface="Merriweather"/>
              </a:rPr>
              <a:t>Frontend polls GET /tasks/{task_id} every 3s — Non-blocking UI</a:t>
            </a:r>
            <a:endParaRPr b="1" i="0" sz="1150" u="none" cap="none" strike="noStrike">
              <a:solidFill>
                <a:schemeClr val="dk1"/>
              </a:solidFill>
              <a:latin typeface="Calibri"/>
              <a:ea typeface="Calibri"/>
              <a:cs typeface="Calibri"/>
              <a:sym typeface="Calibri"/>
            </a:endParaRPr>
          </a:p>
        </p:txBody>
      </p:sp>
      <p:sp>
        <p:nvSpPr>
          <p:cNvPr id="680" name="Google Shape;680;p20"/>
          <p:cNvSpPr/>
          <p:nvPr/>
        </p:nvSpPr>
        <p:spPr>
          <a:xfrm>
            <a:off x="347472" y="3493008"/>
            <a:ext cx="8449056" cy="118872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0"/>
          <p:cNvSpPr/>
          <p:nvPr/>
        </p:nvSpPr>
        <p:spPr>
          <a:xfrm>
            <a:off x="548640" y="3657600"/>
            <a:ext cx="8046720" cy="896112"/>
          </a:xfrm>
          <a:prstGeom prst="rect">
            <a:avLst/>
          </a:prstGeom>
          <a:noFill/>
          <a:ln>
            <a:noFill/>
          </a:ln>
        </p:spPr>
        <p:txBody>
          <a:bodyPr anchorCtr="0" anchor="t" bIns="45700" lIns="91425" spcFirstLastPara="1" rIns="91425" wrap="square" tIns="45700">
            <a:noAutofit/>
          </a:bodyPr>
          <a:lstStyle/>
          <a:p>
            <a:pPr indent="-349250" lvl="0" marL="342900" marR="0" rtl="0" algn="l">
              <a:spcBef>
                <a:spcPts val="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Return Task ID immediately</a:t>
            </a:r>
            <a:r>
              <a:rPr b="0" i="0" lang="en-US" sz="1200" u="none" cap="none" strike="noStrike">
                <a:solidFill>
                  <a:srgbClr val="334155"/>
                </a:solidFill>
                <a:latin typeface="Merriweather"/>
                <a:ea typeface="Merriweather"/>
                <a:cs typeface="Merriweather"/>
                <a:sym typeface="Merriweather"/>
              </a:rPr>
              <a:t> — the user can continue using the app while the scan runs</a:t>
            </a:r>
            <a:endParaRPr b="0" i="0" sz="1200" u="none" cap="none" strike="noStrike">
              <a:solidFill>
                <a:schemeClr val="dk1"/>
              </a:solidFill>
              <a:latin typeface="Calibri"/>
              <a:ea typeface="Calibri"/>
              <a:cs typeface="Calibri"/>
              <a:sym typeface="Calibri"/>
            </a:endParaRPr>
          </a:p>
          <a:p>
            <a:pPr indent="-349250" lvl="0" marL="342900" marR="0" rtl="0" algn="l">
              <a:spcBef>
                <a:spcPts val="50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Polling endpoint delivers live progress updates</a:t>
            </a:r>
            <a:r>
              <a:rPr b="0" i="0" lang="en-US" sz="1200" u="none" cap="none" strike="noStrike">
                <a:solidFill>
                  <a:srgbClr val="334155"/>
                </a:solidFill>
                <a:latin typeface="Merriweather"/>
                <a:ea typeface="Merriweather"/>
                <a:cs typeface="Merriweather"/>
                <a:sym typeface="Merriweather"/>
              </a:rPr>
              <a:t> (0% → 25% Discovery → 75% Scanning → 100% Complete).</a:t>
            </a:r>
            <a:endParaRPr b="0" i="0" sz="1200" u="none" cap="none" strike="noStrike">
              <a:solidFill>
                <a:schemeClr val="dk1"/>
              </a:solidFill>
              <a:latin typeface="Calibri"/>
              <a:ea typeface="Calibri"/>
              <a:cs typeface="Calibri"/>
              <a:sym typeface="Calibri"/>
            </a:endParaRPr>
          </a:p>
          <a:p>
            <a:pPr indent="-349250" lvl="0" marL="342900" marR="0" rtl="0" algn="l">
              <a:spcBef>
                <a:spcPts val="50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Completely Non-Blocking</a:t>
            </a:r>
            <a:r>
              <a:rPr b="0" i="0" lang="en-US" sz="1200" u="none" cap="none" strike="noStrike">
                <a:solidFill>
                  <a:srgbClr val="334155"/>
                </a:solidFill>
                <a:latin typeface="Merriweather"/>
                <a:ea typeface="Merriweather"/>
                <a:cs typeface="Merriweather"/>
                <a:sym typeface="Merriweather"/>
              </a:rPr>
              <a:t> — dozens of concurrent scans can run simultaneously with no degradation.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6" name="Shape 686"/>
        <p:cNvGrpSpPr/>
        <p:nvPr/>
      </p:nvGrpSpPr>
      <p:grpSpPr>
        <a:xfrm>
          <a:off x="0" y="0"/>
          <a:ext cx="0" cy="0"/>
          <a:chOff x="0" y="0"/>
          <a:chExt cx="0" cy="0"/>
        </a:xfrm>
      </p:grpSpPr>
      <p:sp>
        <p:nvSpPr>
          <p:cNvPr id="687" name="Google Shape;687;p21"/>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1"/>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1"/>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Deep Dive: Celery &amp; Redis Architecture</a:t>
            </a:r>
            <a:endParaRPr b="0" i="0" sz="2200" u="none" cap="none" strike="noStrike">
              <a:solidFill>
                <a:schemeClr val="dk1"/>
              </a:solidFill>
              <a:latin typeface="Calibri"/>
              <a:ea typeface="Calibri"/>
              <a:cs typeface="Calibri"/>
              <a:sym typeface="Calibri"/>
            </a:endParaRPr>
          </a:p>
        </p:txBody>
      </p:sp>
      <p:sp>
        <p:nvSpPr>
          <p:cNvPr id="690" name="Google Shape;690;p21"/>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1"/>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21/40</a:t>
            </a:r>
            <a:endParaRPr b="0" i="0" sz="800" u="none" cap="none" strike="noStrike">
              <a:solidFill>
                <a:schemeClr val="dk1"/>
              </a:solidFill>
              <a:latin typeface="Calibri"/>
              <a:ea typeface="Calibri"/>
              <a:cs typeface="Calibri"/>
              <a:sym typeface="Calibri"/>
            </a:endParaRPr>
          </a:p>
        </p:txBody>
      </p:sp>
      <p:cxnSp>
        <p:nvCxnSpPr>
          <p:cNvPr id="692" name="Google Shape;692;p21"/>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693" name="Google Shape;693;p21"/>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694" name="Google Shape;694;p21"/>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1"/>
          <p:cNvSpPr/>
          <p:nvPr/>
        </p:nvSpPr>
        <p:spPr>
          <a:xfrm>
            <a:off x="848372" y="804071"/>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1"/>
          <p:cNvSpPr/>
          <p:nvPr/>
        </p:nvSpPr>
        <p:spPr>
          <a:xfrm>
            <a:off x="822125" y="804073"/>
            <a:ext cx="24300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Backend — Task Queue</a:t>
            </a:r>
            <a:endParaRPr b="0" i="0" sz="1000" u="none" cap="none" strike="noStrike">
              <a:solidFill>
                <a:schemeClr val="dk1"/>
              </a:solidFill>
              <a:latin typeface="Calibri"/>
              <a:ea typeface="Calibri"/>
              <a:cs typeface="Calibri"/>
              <a:sym typeface="Calibri"/>
            </a:endParaRPr>
          </a:p>
        </p:txBody>
      </p:sp>
      <p:sp>
        <p:nvSpPr>
          <p:cNvPr id="697" name="Google Shape;697;p21"/>
          <p:cNvSpPr/>
          <p:nvPr/>
        </p:nvSpPr>
        <p:spPr>
          <a:xfrm>
            <a:off x="180875" y="1069850"/>
            <a:ext cx="3765000" cy="36849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1"/>
          <p:cNvSpPr/>
          <p:nvPr/>
        </p:nvSpPr>
        <p:spPr>
          <a:xfrm>
            <a:off x="364954" y="1224106"/>
            <a:ext cx="3396900" cy="34107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Redis</a:t>
            </a:r>
            <a:r>
              <a:rPr b="0" i="0" lang="en-US" sz="1150" u="none" cap="none" strike="noStrike">
                <a:solidFill>
                  <a:srgbClr val="334155"/>
                </a:solidFill>
                <a:latin typeface="Merriweather"/>
                <a:ea typeface="Merriweather"/>
                <a:cs typeface="Merriweather"/>
                <a:sym typeface="Merriweather"/>
              </a:rPr>
              <a:t> — In-memory data structure store acting as the message broker and result backend.</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Celery Workers</a:t>
            </a:r>
            <a:r>
              <a:rPr b="0" i="0" lang="en-US" sz="1150" u="none" cap="none" strike="noStrike">
                <a:solidFill>
                  <a:srgbClr val="334155"/>
                </a:solidFill>
                <a:latin typeface="Merriweather"/>
                <a:ea typeface="Merriweather"/>
                <a:cs typeface="Merriweather"/>
                <a:sym typeface="Merriweather"/>
              </a:rPr>
              <a:t> — Python processes subscribed to Redis queues; each worker can handle multiple tasks.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Task Routing</a:t>
            </a:r>
            <a:r>
              <a:rPr b="0" i="0" lang="en-US" sz="1150" u="none" cap="none" strike="noStrike">
                <a:solidFill>
                  <a:srgbClr val="334155"/>
                </a:solidFill>
                <a:latin typeface="Merriweather"/>
                <a:ea typeface="Merriweather"/>
                <a:cs typeface="Merriweather"/>
                <a:sym typeface="Merriweather"/>
              </a:rPr>
              <a:t> — Separate queues for quick tasks (validation) vs long tasks (full port scans).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Retry Logic </a:t>
            </a:r>
            <a:r>
              <a:rPr b="0" i="0" lang="en-US" sz="1150" u="none" cap="none" strike="noStrike">
                <a:solidFill>
                  <a:srgbClr val="334155"/>
                </a:solidFill>
                <a:latin typeface="Merriweather"/>
                <a:ea typeface="Merriweather"/>
                <a:cs typeface="Merriweather"/>
                <a:sym typeface="Merriweather"/>
              </a:rPr>
              <a:t>— Failed tasks auto-retry with exponential backoff; max 3 retries per task.</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Scalable by Design</a:t>
            </a:r>
            <a:r>
              <a:rPr b="0" i="0" lang="en-US" sz="1150" u="none" cap="none" strike="noStrike">
                <a:solidFill>
                  <a:srgbClr val="334155"/>
                </a:solidFill>
                <a:latin typeface="Merriweather"/>
                <a:ea typeface="Merriweather"/>
                <a:cs typeface="Merriweather"/>
                <a:sym typeface="Merriweather"/>
              </a:rPr>
              <a:t> — Adding workers requires only one Docker container; no code changes needed.</a:t>
            </a:r>
            <a:endParaRPr b="0" i="0" sz="1150" u="none" cap="none" strike="noStrike">
              <a:solidFill>
                <a:schemeClr val="dk1"/>
              </a:solidFill>
              <a:latin typeface="Calibri"/>
              <a:ea typeface="Calibri"/>
              <a:cs typeface="Calibri"/>
              <a:sym typeface="Calibri"/>
            </a:endParaRPr>
          </a:p>
        </p:txBody>
      </p:sp>
      <p:sp>
        <p:nvSpPr>
          <p:cNvPr id="699" name="Google Shape;699;p21"/>
          <p:cNvSpPr/>
          <p:nvPr/>
        </p:nvSpPr>
        <p:spPr>
          <a:xfrm>
            <a:off x="4053163" y="1248167"/>
            <a:ext cx="1338300" cy="74070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1"/>
          <p:cNvSpPr/>
          <p:nvPr/>
        </p:nvSpPr>
        <p:spPr>
          <a:xfrm>
            <a:off x="4053163" y="1248167"/>
            <a:ext cx="1338300" cy="7407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E7490"/>
              </a:buClr>
              <a:buSzPts val="1000"/>
              <a:buFont typeface="Merriweather"/>
              <a:buNone/>
            </a:pPr>
            <a:r>
              <a:rPr b="1" i="0" lang="en-US" sz="1100" u="none" cap="none" strike="noStrike">
                <a:solidFill>
                  <a:srgbClr val="0E7490"/>
                </a:solidFill>
                <a:latin typeface="Merriweather"/>
                <a:ea typeface="Merriweather"/>
                <a:cs typeface="Merriweather"/>
                <a:sym typeface="Merriweather"/>
              </a:rPr>
              <a:t>FastAPI</a:t>
            </a:r>
            <a:endParaRPr b="0" i="0" sz="1100" u="none" cap="none" strike="noStrike">
              <a:solidFill>
                <a:schemeClr val="dk1"/>
              </a:solidFill>
              <a:latin typeface="Calibri"/>
              <a:ea typeface="Calibri"/>
              <a:cs typeface="Calibri"/>
              <a:sym typeface="Calibri"/>
            </a:endParaRPr>
          </a:p>
        </p:txBody>
      </p:sp>
      <p:cxnSp>
        <p:nvCxnSpPr>
          <p:cNvPr id="701" name="Google Shape;701;p21"/>
          <p:cNvCxnSpPr/>
          <p:nvPr/>
        </p:nvCxnSpPr>
        <p:spPr>
          <a:xfrm>
            <a:off x="5312837" y="1619962"/>
            <a:ext cx="520500" cy="0"/>
          </a:xfrm>
          <a:prstGeom prst="straightConnector1">
            <a:avLst/>
          </a:prstGeom>
          <a:noFill/>
          <a:ln cap="flat" cmpd="sng" w="25400">
            <a:solidFill>
              <a:srgbClr val="06B6D4"/>
            </a:solidFill>
            <a:prstDash val="solid"/>
            <a:round/>
            <a:headEnd len="sm" w="sm" type="none"/>
            <a:tailEnd len="med" w="med" type="stealth"/>
          </a:ln>
        </p:spPr>
      </p:cxnSp>
      <p:sp>
        <p:nvSpPr>
          <p:cNvPr id="702" name="Google Shape;702;p21"/>
          <p:cNvSpPr/>
          <p:nvPr/>
        </p:nvSpPr>
        <p:spPr>
          <a:xfrm>
            <a:off x="5833325" y="876999"/>
            <a:ext cx="1338300" cy="1485900"/>
          </a:xfrm>
          <a:prstGeom prst="rect">
            <a:avLst/>
          </a:prstGeom>
          <a:solidFill>
            <a:srgbClr val="FEF3C7"/>
          </a:solidFill>
          <a:ln cap="flat" cmpd="sng" w="254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1"/>
          <p:cNvSpPr/>
          <p:nvPr/>
        </p:nvSpPr>
        <p:spPr>
          <a:xfrm>
            <a:off x="5833325" y="876999"/>
            <a:ext cx="1338300" cy="14859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D97706"/>
              </a:buClr>
              <a:buSzPts val="1050"/>
              <a:buFont typeface="Merriweather"/>
              <a:buNone/>
            </a:pPr>
            <a:r>
              <a:rPr b="1" i="0" lang="en-US" sz="1150" u="none" cap="none" strike="noStrike">
                <a:solidFill>
                  <a:srgbClr val="D97706"/>
                </a:solidFill>
                <a:latin typeface="Merriweather"/>
                <a:ea typeface="Merriweather"/>
                <a:cs typeface="Merriweather"/>
                <a:sym typeface="Merriweather"/>
              </a:rPr>
              <a:t>Redis</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7706"/>
              </a:buClr>
              <a:buSzPts val="1050"/>
              <a:buFont typeface="Merriweather"/>
              <a:buNone/>
            </a:pPr>
            <a:r>
              <a:rPr b="1" i="0" lang="en-US" sz="1150" u="none" cap="none" strike="noStrike">
                <a:solidFill>
                  <a:srgbClr val="D97706"/>
                </a:solidFill>
                <a:latin typeface="Merriweather"/>
                <a:ea typeface="Merriweather"/>
                <a:cs typeface="Merriweather"/>
                <a:sym typeface="Merriweather"/>
              </a:rPr>
              <a:t>Broker</a:t>
            </a:r>
            <a:endParaRPr b="0" i="0" sz="1150" u="none" cap="none" strike="noStrike">
              <a:solidFill>
                <a:schemeClr val="dk1"/>
              </a:solidFill>
              <a:latin typeface="Calibri"/>
              <a:ea typeface="Calibri"/>
              <a:cs typeface="Calibri"/>
              <a:sym typeface="Calibri"/>
            </a:endParaRPr>
          </a:p>
        </p:txBody>
      </p:sp>
      <p:cxnSp>
        <p:nvCxnSpPr>
          <p:cNvPr id="704" name="Google Shape;704;p21"/>
          <p:cNvCxnSpPr/>
          <p:nvPr/>
        </p:nvCxnSpPr>
        <p:spPr>
          <a:xfrm>
            <a:off x="7200263" y="989225"/>
            <a:ext cx="474000" cy="7800"/>
          </a:xfrm>
          <a:prstGeom prst="straightConnector1">
            <a:avLst/>
          </a:prstGeom>
          <a:noFill/>
          <a:ln cap="flat" cmpd="sng" w="19050">
            <a:solidFill>
              <a:srgbClr val="D97706"/>
            </a:solidFill>
            <a:prstDash val="solid"/>
            <a:round/>
            <a:headEnd len="sm" w="sm" type="none"/>
            <a:tailEnd len="med" w="med" type="stealth"/>
          </a:ln>
        </p:spPr>
      </p:cxnSp>
      <p:sp>
        <p:nvSpPr>
          <p:cNvPr id="705" name="Google Shape;705;p21"/>
          <p:cNvSpPr/>
          <p:nvPr/>
        </p:nvSpPr>
        <p:spPr>
          <a:xfrm>
            <a:off x="7656073" y="794225"/>
            <a:ext cx="1263900" cy="478500"/>
          </a:xfrm>
          <a:prstGeom prst="rect">
            <a:avLst/>
          </a:prstGeom>
          <a:solidFill>
            <a:srgbClr val="D1FAE5"/>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1"/>
          <p:cNvSpPr/>
          <p:nvPr/>
        </p:nvSpPr>
        <p:spPr>
          <a:xfrm>
            <a:off x="7656073" y="794225"/>
            <a:ext cx="1263900" cy="478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59669"/>
              </a:buClr>
              <a:buSzPts val="900"/>
              <a:buFont typeface="Merriweather"/>
              <a:buNone/>
            </a:pPr>
            <a:r>
              <a:rPr b="1" i="0" lang="en-US" sz="1000" u="none" cap="none" strike="noStrike">
                <a:solidFill>
                  <a:srgbClr val="059669"/>
                </a:solidFill>
                <a:latin typeface="Merriweather"/>
                <a:ea typeface="Merriweather"/>
                <a:cs typeface="Merriweather"/>
                <a:sym typeface="Merriweather"/>
              </a:rPr>
              <a:t>Worker 1</a:t>
            </a:r>
            <a:endParaRPr b="0" i="0" sz="1000" u="none" cap="none" strike="noStrike">
              <a:solidFill>
                <a:schemeClr val="dk1"/>
              </a:solidFill>
              <a:latin typeface="Calibri"/>
              <a:ea typeface="Calibri"/>
              <a:cs typeface="Calibri"/>
              <a:sym typeface="Calibri"/>
            </a:endParaRPr>
          </a:p>
        </p:txBody>
      </p:sp>
      <p:cxnSp>
        <p:nvCxnSpPr>
          <p:cNvPr id="707" name="Google Shape;707;p21"/>
          <p:cNvCxnSpPr/>
          <p:nvPr/>
        </p:nvCxnSpPr>
        <p:spPr>
          <a:xfrm>
            <a:off x="7214235" y="1650030"/>
            <a:ext cx="446100" cy="0"/>
          </a:xfrm>
          <a:prstGeom prst="straightConnector1">
            <a:avLst/>
          </a:prstGeom>
          <a:noFill/>
          <a:ln cap="flat" cmpd="sng" w="19050">
            <a:solidFill>
              <a:srgbClr val="D97706"/>
            </a:solidFill>
            <a:prstDash val="solid"/>
            <a:round/>
            <a:headEnd len="sm" w="sm" type="none"/>
            <a:tailEnd len="med" w="med" type="stealth"/>
          </a:ln>
        </p:spPr>
      </p:cxnSp>
      <p:sp>
        <p:nvSpPr>
          <p:cNvPr id="708" name="Google Shape;708;p21"/>
          <p:cNvSpPr/>
          <p:nvPr/>
        </p:nvSpPr>
        <p:spPr>
          <a:xfrm>
            <a:off x="7656073" y="1421046"/>
            <a:ext cx="1263900" cy="478500"/>
          </a:xfrm>
          <a:prstGeom prst="rect">
            <a:avLst/>
          </a:prstGeom>
          <a:solidFill>
            <a:srgbClr val="D1FAE5"/>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1"/>
          <p:cNvSpPr/>
          <p:nvPr/>
        </p:nvSpPr>
        <p:spPr>
          <a:xfrm>
            <a:off x="7656073" y="1421046"/>
            <a:ext cx="1263900" cy="478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59669"/>
              </a:buClr>
              <a:buSzPts val="900"/>
              <a:buFont typeface="Merriweather"/>
              <a:buNone/>
            </a:pPr>
            <a:r>
              <a:rPr b="1" i="0" lang="en-US" sz="1000" u="none" cap="none" strike="noStrike">
                <a:solidFill>
                  <a:srgbClr val="059669"/>
                </a:solidFill>
                <a:latin typeface="Merriweather"/>
                <a:ea typeface="Merriweather"/>
                <a:cs typeface="Merriweather"/>
                <a:sym typeface="Merriweather"/>
              </a:rPr>
              <a:t>Worker 2</a:t>
            </a:r>
            <a:endParaRPr b="0" i="0" sz="1000" u="none" cap="none" strike="noStrike">
              <a:solidFill>
                <a:schemeClr val="dk1"/>
              </a:solidFill>
              <a:latin typeface="Calibri"/>
              <a:ea typeface="Calibri"/>
              <a:cs typeface="Calibri"/>
              <a:sym typeface="Calibri"/>
            </a:endParaRPr>
          </a:p>
        </p:txBody>
      </p:sp>
      <p:cxnSp>
        <p:nvCxnSpPr>
          <p:cNvPr id="710" name="Google Shape;710;p21"/>
          <p:cNvCxnSpPr/>
          <p:nvPr/>
        </p:nvCxnSpPr>
        <p:spPr>
          <a:xfrm>
            <a:off x="7214223" y="2218775"/>
            <a:ext cx="446100" cy="0"/>
          </a:xfrm>
          <a:prstGeom prst="straightConnector1">
            <a:avLst/>
          </a:prstGeom>
          <a:noFill/>
          <a:ln cap="flat" cmpd="sng" w="19050">
            <a:solidFill>
              <a:srgbClr val="D97706"/>
            </a:solidFill>
            <a:prstDash val="solid"/>
            <a:round/>
            <a:headEnd len="sm" w="sm" type="none"/>
            <a:tailEnd len="med" w="med" type="stealth"/>
          </a:ln>
        </p:spPr>
      </p:cxnSp>
      <p:sp>
        <p:nvSpPr>
          <p:cNvPr id="711" name="Google Shape;711;p21"/>
          <p:cNvSpPr/>
          <p:nvPr/>
        </p:nvSpPr>
        <p:spPr>
          <a:xfrm>
            <a:off x="7656073" y="2047867"/>
            <a:ext cx="1263900" cy="478500"/>
          </a:xfrm>
          <a:prstGeom prst="rect">
            <a:avLst/>
          </a:prstGeom>
          <a:solidFill>
            <a:srgbClr val="D1FAE5"/>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1"/>
          <p:cNvSpPr/>
          <p:nvPr/>
        </p:nvSpPr>
        <p:spPr>
          <a:xfrm>
            <a:off x="7656073" y="2047867"/>
            <a:ext cx="1263900" cy="478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59669"/>
              </a:buClr>
              <a:buSzPts val="900"/>
              <a:buFont typeface="Merriweather"/>
              <a:buNone/>
            </a:pPr>
            <a:r>
              <a:rPr b="1" i="0" lang="en-US" sz="1000" u="none" cap="none" strike="noStrike">
                <a:solidFill>
                  <a:srgbClr val="059669"/>
                </a:solidFill>
                <a:latin typeface="Merriweather"/>
                <a:ea typeface="Merriweather"/>
                <a:cs typeface="Merriweather"/>
                <a:sym typeface="Merriweather"/>
              </a:rPr>
              <a:t>Worker 3</a:t>
            </a:r>
            <a:endParaRPr b="0" i="0" sz="1000" u="none" cap="none" strike="noStrike">
              <a:solidFill>
                <a:schemeClr val="dk1"/>
              </a:solidFill>
              <a:latin typeface="Calibri"/>
              <a:ea typeface="Calibri"/>
              <a:cs typeface="Calibri"/>
              <a:sym typeface="Calibri"/>
            </a:endParaRPr>
          </a:p>
        </p:txBody>
      </p:sp>
      <p:sp>
        <p:nvSpPr>
          <p:cNvPr id="713" name="Google Shape;713;p21"/>
          <p:cNvSpPr/>
          <p:nvPr/>
        </p:nvSpPr>
        <p:spPr>
          <a:xfrm>
            <a:off x="5870524" y="2486015"/>
            <a:ext cx="1263900" cy="28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Merriweather"/>
              <a:buNone/>
            </a:pPr>
            <a:r>
              <a:rPr b="1" i="0" lang="en-US" sz="1150" u="none" cap="none" strike="noStrike">
                <a:solidFill>
                  <a:srgbClr val="64748B"/>
                </a:solidFill>
                <a:latin typeface="Merriweather"/>
                <a:ea typeface="Merriweather"/>
                <a:cs typeface="Merriweather"/>
                <a:sym typeface="Merriweather"/>
              </a:rPr>
              <a:t>Scalable →</a:t>
            </a:r>
            <a:endParaRPr b="1" i="0" sz="1150" u="none" cap="none" strike="noStrike">
              <a:solidFill>
                <a:schemeClr val="dk1"/>
              </a:solidFill>
              <a:latin typeface="Calibri"/>
              <a:ea typeface="Calibri"/>
              <a:cs typeface="Calibri"/>
              <a:sym typeface="Calibri"/>
            </a:endParaRPr>
          </a:p>
        </p:txBody>
      </p:sp>
      <p:sp>
        <p:nvSpPr>
          <p:cNvPr id="714" name="Google Shape;714;p21"/>
          <p:cNvSpPr/>
          <p:nvPr/>
        </p:nvSpPr>
        <p:spPr>
          <a:xfrm>
            <a:off x="6304040" y="3261171"/>
            <a:ext cx="2602200" cy="798000"/>
          </a:xfrm>
          <a:prstGeom prst="rect">
            <a:avLst/>
          </a:prstGeom>
          <a:solidFill>
            <a:srgbClr val="EDE9FE"/>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1"/>
          <p:cNvSpPr/>
          <p:nvPr/>
        </p:nvSpPr>
        <p:spPr>
          <a:xfrm>
            <a:off x="6304040" y="3261171"/>
            <a:ext cx="2602200" cy="7980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7C3AED"/>
              </a:buClr>
              <a:buSzPts val="950"/>
              <a:buFont typeface="Merriweather"/>
              <a:buNone/>
            </a:pPr>
            <a:r>
              <a:rPr b="1" i="0" lang="en-US" sz="1050" u="none" cap="none" strike="noStrike">
                <a:solidFill>
                  <a:srgbClr val="7C3AED"/>
                </a:solidFill>
                <a:latin typeface="Merriweather"/>
                <a:ea typeface="Merriweather"/>
                <a:cs typeface="Merriweather"/>
                <a:sym typeface="Merriweather"/>
              </a:rPr>
              <a:t>Nmap · Nuclei · Wazuh</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C3AED"/>
              </a:buClr>
              <a:buSzPts val="950"/>
              <a:buFont typeface="Merriweather"/>
              <a:buNone/>
            </a:pPr>
            <a:r>
              <a:rPr b="1" i="0" lang="en-US" sz="1050" u="none" cap="none" strike="noStrike">
                <a:solidFill>
                  <a:srgbClr val="7C3AED"/>
                </a:solidFill>
                <a:latin typeface="Merriweather"/>
                <a:ea typeface="Merriweather"/>
                <a:cs typeface="Merriweather"/>
                <a:sym typeface="Merriweather"/>
              </a:rPr>
              <a:t>Security Tool Executors</a:t>
            </a:r>
            <a:endParaRPr b="0" i="0" sz="1050" u="none" cap="none" strike="noStrike">
              <a:solidFill>
                <a:schemeClr val="dk1"/>
              </a:solidFill>
              <a:latin typeface="Calibri"/>
              <a:ea typeface="Calibri"/>
              <a:cs typeface="Calibri"/>
              <a:sym typeface="Calibri"/>
            </a:endParaRPr>
          </a:p>
        </p:txBody>
      </p:sp>
      <p:cxnSp>
        <p:nvCxnSpPr>
          <p:cNvPr id="716" name="Google Shape;716;p21"/>
          <p:cNvCxnSpPr/>
          <p:nvPr/>
        </p:nvCxnSpPr>
        <p:spPr>
          <a:xfrm>
            <a:off x="8329612" y="2617093"/>
            <a:ext cx="0" cy="513000"/>
          </a:xfrm>
          <a:prstGeom prst="straightConnector1">
            <a:avLst/>
          </a:prstGeom>
          <a:noFill/>
          <a:ln cap="flat" cmpd="sng" w="19050">
            <a:solidFill>
              <a:srgbClr val="059669"/>
            </a:solidFill>
            <a:prstDash val="solid"/>
            <a:round/>
            <a:headEnd len="sm" w="sm" type="none"/>
            <a:tailEnd len="med" w="med" type="stealth"/>
          </a:ln>
        </p:spPr>
      </p:cxnSp>
      <p:sp>
        <p:nvSpPr>
          <p:cNvPr id="717" name="Google Shape;717;p21"/>
          <p:cNvSpPr/>
          <p:nvPr/>
        </p:nvSpPr>
        <p:spPr>
          <a:xfrm>
            <a:off x="6304040" y="4252688"/>
            <a:ext cx="2602200" cy="740700"/>
          </a:xfrm>
          <a:prstGeom prst="rect">
            <a:avLst/>
          </a:prstGeom>
          <a:solidFill>
            <a:srgbClr val="CFFAFE"/>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1"/>
          <p:cNvSpPr/>
          <p:nvPr/>
        </p:nvSpPr>
        <p:spPr>
          <a:xfrm>
            <a:off x="6304040" y="4252688"/>
            <a:ext cx="2602200" cy="7407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E7490"/>
              </a:buClr>
              <a:buSzPts val="950"/>
              <a:buFont typeface="Merriweather"/>
              <a:buNone/>
            </a:pPr>
            <a:r>
              <a:rPr b="1" i="0" lang="en-US" sz="1050" u="none" cap="none" strike="noStrike">
                <a:solidFill>
                  <a:srgbClr val="0E7490"/>
                </a:solidFill>
                <a:latin typeface="Merriweather"/>
                <a:ea typeface="Merriweather"/>
                <a:cs typeface="Merriweather"/>
                <a:sym typeface="Merriweather"/>
              </a:rPr>
              <a:t>PostgreSQL</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E7490"/>
              </a:buClr>
              <a:buSzPts val="950"/>
              <a:buFont typeface="Merriweather"/>
              <a:buNone/>
            </a:pPr>
            <a:r>
              <a:rPr b="1" i="0" lang="en-US" sz="1050" u="none" cap="none" strike="noStrike">
                <a:solidFill>
                  <a:srgbClr val="0E7490"/>
                </a:solidFill>
                <a:latin typeface="Merriweather"/>
                <a:ea typeface="Merriweather"/>
                <a:cs typeface="Merriweather"/>
                <a:sym typeface="Merriweather"/>
              </a:rPr>
              <a:t>Result Storage</a:t>
            </a:r>
            <a:endParaRPr b="0" i="0" sz="1050" u="none" cap="none" strike="noStrike">
              <a:solidFill>
                <a:schemeClr val="dk1"/>
              </a:solidFill>
              <a:latin typeface="Calibri"/>
              <a:ea typeface="Calibri"/>
              <a:cs typeface="Calibri"/>
              <a:sym typeface="Calibri"/>
            </a:endParaRPr>
          </a:p>
        </p:txBody>
      </p:sp>
      <p:cxnSp>
        <p:nvCxnSpPr>
          <p:cNvPr id="719" name="Google Shape;719;p21"/>
          <p:cNvCxnSpPr/>
          <p:nvPr/>
        </p:nvCxnSpPr>
        <p:spPr>
          <a:xfrm>
            <a:off x="7605128" y="4058943"/>
            <a:ext cx="0" cy="193800"/>
          </a:xfrm>
          <a:prstGeom prst="straightConnector1">
            <a:avLst/>
          </a:prstGeom>
          <a:noFill/>
          <a:ln cap="flat" cmpd="sng" w="19050">
            <a:solidFill>
              <a:srgbClr val="06B6D4"/>
            </a:solidFill>
            <a:prstDash val="solid"/>
            <a:round/>
            <a:headEnd len="sm" w="sm" type="none"/>
            <a:tailEnd len="med" w="med" type="stealth"/>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4" name="Shape 724"/>
        <p:cNvGrpSpPr/>
        <p:nvPr/>
      </p:nvGrpSpPr>
      <p:grpSpPr>
        <a:xfrm>
          <a:off x="0" y="0"/>
          <a:ext cx="0" cy="0"/>
          <a:chOff x="0" y="0"/>
          <a:chExt cx="0" cy="0"/>
        </a:xfrm>
      </p:grpSpPr>
      <p:sp>
        <p:nvSpPr>
          <p:cNvPr id="725" name="Google Shape;725;p22"/>
          <p:cNvSpPr/>
          <p:nvPr/>
        </p:nvSpPr>
        <p:spPr>
          <a:xfrm>
            <a:off x="7424920" y="3891190"/>
            <a:ext cx="1554600" cy="567000"/>
          </a:xfrm>
          <a:prstGeom prst="rect">
            <a:avLst/>
          </a:prstGeom>
          <a:solidFill>
            <a:srgbClr val="FEF3C7"/>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2"/>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2"/>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2"/>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The Agent Orchestration System</a:t>
            </a:r>
            <a:endParaRPr b="0" i="0" sz="2200" u="none" cap="none" strike="noStrike">
              <a:solidFill>
                <a:schemeClr val="dk1"/>
              </a:solidFill>
              <a:latin typeface="Calibri"/>
              <a:ea typeface="Calibri"/>
              <a:cs typeface="Calibri"/>
              <a:sym typeface="Calibri"/>
            </a:endParaRPr>
          </a:p>
        </p:txBody>
      </p:sp>
      <p:sp>
        <p:nvSpPr>
          <p:cNvPr id="729" name="Google Shape;729;p22"/>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2"/>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22/40</a:t>
            </a:r>
            <a:endParaRPr b="0" i="0" sz="800" u="none" cap="none" strike="noStrike">
              <a:solidFill>
                <a:schemeClr val="dk1"/>
              </a:solidFill>
              <a:latin typeface="Calibri"/>
              <a:ea typeface="Calibri"/>
              <a:cs typeface="Calibri"/>
              <a:sym typeface="Calibri"/>
            </a:endParaRPr>
          </a:p>
        </p:txBody>
      </p:sp>
      <p:cxnSp>
        <p:nvCxnSpPr>
          <p:cNvPr id="731" name="Google Shape;731;p22"/>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732" name="Google Shape;732;p22"/>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733" name="Google Shape;733;p22"/>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2"/>
          <p:cNvSpPr/>
          <p:nvPr/>
        </p:nvSpPr>
        <p:spPr>
          <a:xfrm>
            <a:off x="1268322" y="777233"/>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2"/>
          <p:cNvSpPr/>
          <p:nvPr/>
        </p:nvSpPr>
        <p:spPr>
          <a:xfrm>
            <a:off x="1268322" y="777233"/>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Backend — Agents</a:t>
            </a:r>
            <a:endParaRPr b="0" i="0" sz="1000" u="none" cap="none" strike="noStrike">
              <a:solidFill>
                <a:schemeClr val="dk1"/>
              </a:solidFill>
              <a:latin typeface="Calibri"/>
              <a:ea typeface="Calibri"/>
              <a:cs typeface="Calibri"/>
              <a:sym typeface="Calibri"/>
            </a:endParaRPr>
          </a:p>
        </p:txBody>
      </p:sp>
      <p:sp>
        <p:nvSpPr>
          <p:cNvPr id="736" name="Google Shape;736;p22"/>
          <p:cNvSpPr/>
          <p:nvPr/>
        </p:nvSpPr>
        <p:spPr>
          <a:xfrm>
            <a:off x="347475" y="1078975"/>
            <a:ext cx="4114800" cy="36576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2"/>
          <p:cNvSpPr/>
          <p:nvPr/>
        </p:nvSpPr>
        <p:spPr>
          <a:xfrm>
            <a:off x="548643" y="1232085"/>
            <a:ext cx="3712500" cy="33855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Agent Orchestrator</a:t>
            </a:r>
            <a:r>
              <a:rPr b="0" i="0" lang="en-US" sz="1150" u="none" cap="none" strike="noStrike">
                <a:solidFill>
                  <a:srgbClr val="334155"/>
                </a:solidFill>
                <a:latin typeface="Merriweather"/>
                <a:ea typeface="Merriweather"/>
                <a:cs typeface="Merriweather"/>
                <a:sym typeface="Merriweather"/>
              </a:rPr>
              <a:t> — Central dispatcher that receives scan tasks and routes to the correct agent.</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BaseAgent ABC</a:t>
            </a:r>
            <a:r>
              <a:rPr b="0" i="0" lang="en-US" sz="1150" u="none" cap="none" strike="noStrike">
                <a:solidFill>
                  <a:srgbClr val="334155"/>
                </a:solidFill>
                <a:latin typeface="Merriweather"/>
                <a:ea typeface="Merriweather"/>
                <a:cs typeface="Merriweather"/>
                <a:sym typeface="Merriweather"/>
              </a:rPr>
              <a:t> — Abstract base class enforcing a run() contract on all agent implementations.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Rule-based execution </a:t>
            </a:r>
            <a:r>
              <a:rPr b="0" i="0" lang="en-US" sz="1150" u="none" cap="none" strike="noStrike">
                <a:solidFill>
                  <a:srgbClr val="334155"/>
                </a:solidFill>
                <a:latin typeface="Merriweather"/>
                <a:ea typeface="Merriweather"/>
                <a:cs typeface="Merriweather"/>
                <a:sym typeface="Merriweather"/>
              </a:rPr>
              <a:t>— No probabilistic decision-making; routing logic is deterministic Python.</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Pipeline control</a:t>
            </a:r>
            <a:r>
              <a:rPr b="0" i="0" lang="en-US" sz="1150" u="none" cap="none" strike="noStrike">
                <a:solidFill>
                  <a:srgbClr val="334155"/>
                </a:solidFill>
                <a:latin typeface="Merriweather"/>
                <a:ea typeface="Merriweather"/>
                <a:cs typeface="Merriweather"/>
                <a:sym typeface="Merriweather"/>
              </a:rPr>
              <a:t> — ReconAgent always runs first; AttackAgent receives ReconAgent's results.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Fault isolation</a:t>
            </a:r>
            <a:r>
              <a:rPr b="0" i="0" lang="en-US" sz="1150" u="none" cap="none" strike="noStrike">
                <a:solidFill>
                  <a:srgbClr val="334155"/>
                </a:solidFill>
                <a:latin typeface="Merriweather"/>
                <a:ea typeface="Merriweather"/>
                <a:cs typeface="Merriweather"/>
                <a:sym typeface="Merriweather"/>
              </a:rPr>
              <a:t> — Each agent runs in its own subprocess; a crash in one does not kill others.</a:t>
            </a:r>
            <a:endParaRPr b="0" i="0" sz="1150" u="none" cap="none" strike="noStrike">
              <a:solidFill>
                <a:schemeClr val="dk1"/>
              </a:solidFill>
              <a:latin typeface="Calibri"/>
              <a:ea typeface="Calibri"/>
              <a:cs typeface="Calibri"/>
              <a:sym typeface="Calibri"/>
            </a:endParaRPr>
          </a:p>
        </p:txBody>
      </p:sp>
      <p:sp>
        <p:nvSpPr>
          <p:cNvPr id="738" name="Google Shape;738;p22"/>
          <p:cNvSpPr/>
          <p:nvPr/>
        </p:nvSpPr>
        <p:spPr>
          <a:xfrm>
            <a:off x="5486400" y="914400"/>
            <a:ext cx="3200400" cy="594360"/>
          </a:xfrm>
          <a:prstGeom prst="rect">
            <a:avLst/>
          </a:prstGeom>
          <a:solidFill>
            <a:srgbClr val="06B6D4"/>
          </a:solidFill>
          <a:ln cap="flat" cmpd="sng" w="254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2"/>
          <p:cNvSpPr/>
          <p:nvPr/>
        </p:nvSpPr>
        <p:spPr>
          <a:xfrm>
            <a:off x="5486400" y="914400"/>
            <a:ext cx="3200400" cy="59436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FFFFFF"/>
              </a:buClr>
              <a:buSzPts val="1100"/>
              <a:buFont typeface="Merriweather"/>
              <a:buNone/>
            </a:pPr>
            <a:r>
              <a:rPr b="1" i="0" lang="en-US" sz="1200" u="none" cap="none" strike="noStrike">
                <a:solidFill>
                  <a:srgbClr val="FFFFFF"/>
                </a:solidFill>
                <a:latin typeface="Merriweather"/>
                <a:ea typeface="Merriweather"/>
                <a:cs typeface="Merriweather"/>
                <a:sym typeface="Merriweather"/>
              </a:rPr>
              <a:t>Agent Orchestrator</a:t>
            </a:r>
            <a:endParaRPr b="0" i="0" sz="1200" u="none" cap="none" strike="noStrike">
              <a:solidFill>
                <a:schemeClr val="dk1"/>
              </a:solidFill>
              <a:latin typeface="Calibri"/>
              <a:ea typeface="Calibri"/>
              <a:cs typeface="Calibri"/>
              <a:sym typeface="Calibri"/>
            </a:endParaRPr>
          </a:p>
        </p:txBody>
      </p:sp>
      <p:cxnSp>
        <p:nvCxnSpPr>
          <p:cNvPr id="740" name="Google Shape;740;p22"/>
          <p:cNvCxnSpPr/>
          <p:nvPr/>
        </p:nvCxnSpPr>
        <p:spPr>
          <a:xfrm>
            <a:off x="5989320" y="1508760"/>
            <a:ext cx="0" cy="502920"/>
          </a:xfrm>
          <a:prstGeom prst="straightConnector1">
            <a:avLst/>
          </a:prstGeom>
          <a:noFill/>
          <a:ln cap="flat" cmpd="sng" w="25400">
            <a:solidFill>
              <a:srgbClr val="06B6D4"/>
            </a:solidFill>
            <a:prstDash val="solid"/>
            <a:round/>
            <a:headEnd len="sm" w="sm" type="none"/>
            <a:tailEnd len="med" w="med" type="stealth"/>
          </a:ln>
        </p:spPr>
      </p:cxnSp>
      <p:cxnSp>
        <p:nvCxnSpPr>
          <p:cNvPr id="741" name="Google Shape;741;p22"/>
          <p:cNvCxnSpPr/>
          <p:nvPr/>
        </p:nvCxnSpPr>
        <p:spPr>
          <a:xfrm>
            <a:off x="8183880" y="1508760"/>
            <a:ext cx="0" cy="502920"/>
          </a:xfrm>
          <a:prstGeom prst="straightConnector1">
            <a:avLst/>
          </a:prstGeom>
          <a:noFill/>
          <a:ln cap="flat" cmpd="sng" w="25400">
            <a:solidFill>
              <a:srgbClr val="06B6D4"/>
            </a:solidFill>
            <a:prstDash val="solid"/>
            <a:round/>
            <a:headEnd len="sm" w="sm" type="none"/>
            <a:tailEnd len="med" w="med" type="stealth"/>
          </a:ln>
        </p:spPr>
      </p:cxnSp>
      <p:sp>
        <p:nvSpPr>
          <p:cNvPr id="742" name="Google Shape;742;p22"/>
          <p:cNvSpPr/>
          <p:nvPr/>
        </p:nvSpPr>
        <p:spPr>
          <a:xfrm>
            <a:off x="5107550" y="2011675"/>
            <a:ext cx="1750500" cy="59430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2"/>
          <p:cNvSpPr/>
          <p:nvPr/>
        </p:nvSpPr>
        <p:spPr>
          <a:xfrm>
            <a:off x="5093525" y="2011663"/>
            <a:ext cx="1791600" cy="5943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E7490"/>
              </a:buClr>
              <a:buSzPts val="1050"/>
              <a:buFont typeface="Merriweather"/>
              <a:buNone/>
            </a:pPr>
            <a:r>
              <a:rPr b="1" i="0" lang="en-US" sz="1150" u="none" cap="none" strike="noStrike">
                <a:solidFill>
                  <a:srgbClr val="0E7490"/>
                </a:solidFill>
                <a:latin typeface="Merriweather"/>
                <a:ea typeface="Merriweather"/>
                <a:cs typeface="Merriweather"/>
                <a:sym typeface="Merriweather"/>
              </a:rPr>
              <a:t>Recon Agent</a:t>
            </a:r>
            <a:endParaRPr b="0" i="0" sz="1150" u="none" cap="none" strike="noStrike">
              <a:solidFill>
                <a:schemeClr val="dk1"/>
              </a:solidFill>
              <a:latin typeface="Calibri"/>
              <a:ea typeface="Calibri"/>
              <a:cs typeface="Calibri"/>
              <a:sym typeface="Calibri"/>
            </a:endParaRPr>
          </a:p>
        </p:txBody>
      </p:sp>
      <p:sp>
        <p:nvSpPr>
          <p:cNvPr id="744" name="Google Shape;744;p22"/>
          <p:cNvSpPr/>
          <p:nvPr/>
        </p:nvSpPr>
        <p:spPr>
          <a:xfrm>
            <a:off x="7406633" y="2011680"/>
            <a:ext cx="1554600" cy="594300"/>
          </a:xfrm>
          <a:prstGeom prst="rect">
            <a:avLst/>
          </a:prstGeom>
          <a:solidFill>
            <a:srgbClr val="EDE9FE"/>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2"/>
          <p:cNvSpPr/>
          <p:nvPr/>
        </p:nvSpPr>
        <p:spPr>
          <a:xfrm>
            <a:off x="7424920" y="1988855"/>
            <a:ext cx="1554600" cy="5943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7C3AED"/>
              </a:buClr>
              <a:buSzPts val="1000"/>
              <a:buFont typeface="Merriweather"/>
              <a:buNone/>
            </a:pPr>
            <a:r>
              <a:rPr b="1" i="0" lang="en-US" sz="1100" u="none" cap="none" strike="noStrike">
                <a:solidFill>
                  <a:srgbClr val="7C3AED"/>
                </a:solidFill>
                <a:latin typeface="Merriweather"/>
                <a:ea typeface="Merriweather"/>
                <a:cs typeface="Merriweather"/>
                <a:sym typeface="Merriweather"/>
              </a:rPr>
              <a:t>Attack Agent</a:t>
            </a:r>
            <a:endParaRPr b="0" i="0" sz="1100" u="none" cap="none" strike="noStrike">
              <a:solidFill>
                <a:schemeClr val="dk1"/>
              </a:solidFill>
              <a:latin typeface="Calibri"/>
              <a:ea typeface="Calibri"/>
              <a:cs typeface="Calibri"/>
              <a:sym typeface="Calibri"/>
            </a:endParaRPr>
          </a:p>
        </p:txBody>
      </p:sp>
      <p:cxnSp>
        <p:nvCxnSpPr>
          <p:cNvPr id="746" name="Google Shape;746;p22"/>
          <p:cNvCxnSpPr/>
          <p:nvPr/>
        </p:nvCxnSpPr>
        <p:spPr>
          <a:xfrm>
            <a:off x="5989315" y="2605890"/>
            <a:ext cx="0" cy="457200"/>
          </a:xfrm>
          <a:prstGeom prst="straightConnector1">
            <a:avLst/>
          </a:prstGeom>
          <a:noFill/>
          <a:ln cap="flat" cmpd="sng" w="19050">
            <a:solidFill>
              <a:srgbClr val="0891B2"/>
            </a:solidFill>
            <a:prstDash val="solid"/>
            <a:round/>
            <a:headEnd len="sm" w="sm" type="none"/>
            <a:tailEnd len="med" w="med" type="stealth"/>
          </a:ln>
        </p:spPr>
      </p:cxnSp>
      <p:cxnSp>
        <p:nvCxnSpPr>
          <p:cNvPr id="747" name="Google Shape;747;p22"/>
          <p:cNvCxnSpPr>
            <a:endCxn id="748" idx="0"/>
          </p:cNvCxnSpPr>
          <p:nvPr/>
        </p:nvCxnSpPr>
        <p:spPr>
          <a:xfrm>
            <a:off x="8202225" y="2605849"/>
            <a:ext cx="0" cy="480000"/>
          </a:xfrm>
          <a:prstGeom prst="straightConnector1">
            <a:avLst/>
          </a:prstGeom>
          <a:noFill/>
          <a:ln cap="flat" cmpd="sng" w="19050">
            <a:solidFill>
              <a:srgbClr val="7C3AED"/>
            </a:solidFill>
            <a:prstDash val="solid"/>
            <a:round/>
            <a:headEnd len="sm" w="sm" type="none"/>
            <a:tailEnd len="med" w="med" type="stealth"/>
          </a:ln>
        </p:spPr>
      </p:cxnSp>
      <p:sp>
        <p:nvSpPr>
          <p:cNvPr id="749" name="Google Shape;749;p22"/>
          <p:cNvSpPr/>
          <p:nvPr/>
        </p:nvSpPr>
        <p:spPr>
          <a:xfrm>
            <a:off x="5107500" y="3063250"/>
            <a:ext cx="1684200" cy="567000"/>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2"/>
          <p:cNvSpPr/>
          <p:nvPr/>
        </p:nvSpPr>
        <p:spPr>
          <a:xfrm>
            <a:off x="5197800" y="3063250"/>
            <a:ext cx="1554600" cy="5670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59669"/>
              </a:buClr>
              <a:buSzPts val="950"/>
              <a:buFont typeface="Merriweather"/>
              <a:buNone/>
            </a:pPr>
            <a:r>
              <a:rPr b="1" i="0" lang="en-US" sz="1050" u="none" cap="none" strike="noStrike">
                <a:solidFill>
                  <a:srgbClr val="059669"/>
                </a:solidFill>
                <a:latin typeface="Merriweather"/>
                <a:ea typeface="Merriweather"/>
                <a:cs typeface="Merriweather"/>
                <a:sym typeface="Merriweather"/>
              </a:rPr>
              <a:t>Nmap Scanner</a:t>
            </a:r>
            <a:endParaRPr b="0" i="0" sz="1050" u="none" cap="none" strike="noStrike">
              <a:solidFill>
                <a:schemeClr val="dk1"/>
              </a:solidFill>
              <a:latin typeface="Calibri"/>
              <a:ea typeface="Calibri"/>
              <a:cs typeface="Calibri"/>
              <a:sym typeface="Calibri"/>
            </a:endParaRPr>
          </a:p>
        </p:txBody>
      </p:sp>
      <p:sp>
        <p:nvSpPr>
          <p:cNvPr id="751" name="Google Shape;751;p22"/>
          <p:cNvSpPr/>
          <p:nvPr/>
        </p:nvSpPr>
        <p:spPr>
          <a:xfrm>
            <a:off x="5107538" y="3928875"/>
            <a:ext cx="1684200" cy="567000"/>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2"/>
          <p:cNvSpPr/>
          <p:nvPr/>
        </p:nvSpPr>
        <p:spPr>
          <a:xfrm>
            <a:off x="7196325" y="3891190"/>
            <a:ext cx="2011800" cy="5670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59669"/>
              </a:buClr>
              <a:buSzPts val="950"/>
              <a:buFont typeface="Merriweather"/>
              <a:buNone/>
            </a:pPr>
            <a:r>
              <a:rPr b="1" i="0" lang="en-US" sz="1050" u="none" cap="none" strike="noStrike">
                <a:solidFill>
                  <a:srgbClr val="059669"/>
                </a:solidFill>
                <a:latin typeface="Merriweather"/>
                <a:ea typeface="Merriweather"/>
                <a:cs typeface="Merriweather"/>
                <a:sym typeface="Merriweather"/>
              </a:rPr>
              <a:t>DOM Crawler</a:t>
            </a:r>
            <a:endParaRPr b="0" i="0" sz="1050" u="none" cap="none" strike="noStrike">
              <a:solidFill>
                <a:schemeClr val="dk1"/>
              </a:solidFill>
              <a:latin typeface="Calibri"/>
              <a:ea typeface="Calibri"/>
              <a:cs typeface="Calibri"/>
              <a:sym typeface="Calibri"/>
            </a:endParaRPr>
          </a:p>
        </p:txBody>
      </p:sp>
      <p:sp>
        <p:nvSpPr>
          <p:cNvPr id="753" name="Google Shape;753;p22"/>
          <p:cNvSpPr/>
          <p:nvPr/>
        </p:nvSpPr>
        <p:spPr>
          <a:xfrm>
            <a:off x="7424925" y="3085925"/>
            <a:ext cx="1554600" cy="502800"/>
          </a:xfrm>
          <a:prstGeom prst="rect">
            <a:avLst/>
          </a:prstGeom>
          <a:solidFill>
            <a:srgbClr val="FEF3C7"/>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2"/>
          <p:cNvSpPr/>
          <p:nvPr/>
        </p:nvSpPr>
        <p:spPr>
          <a:xfrm>
            <a:off x="7424925" y="3085849"/>
            <a:ext cx="1554600" cy="5028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D97706"/>
              </a:buClr>
              <a:buSzPts val="950"/>
              <a:buFont typeface="Merriweather"/>
              <a:buNone/>
            </a:pPr>
            <a:r>
              <a:rPr b="1" i="0" lang="en-US" sz="1050" u="none" cap="none" strike="noStrike">
                <a:solidFill>
                  <a:srgbClr val="D97706"/>
                </a:solidFill>
                <a:latin typeface="Merriweather"/>
                <a:ea typeface="Merriweather"/>
                <a:cs typeface="Merriweather"/>
                <a:sym typeface="Merriweather"/>
              </a:rPr>
              <a:t>Nuclei</a:t>
            </a:r>
            <a:endParaRPr b="0" i="0" sz="1050" u="none" cap="none" strike="noStrike">
              <a:solidFill>
                <a:schemeClr val="dk1"/>
              </a:solidFill>
              <a:latin typeface="Calibri"/>
              <a:ea typeface="Calibri"/>
              <a:cs typeface="Calibri"/>
              <a:sym typeface="Calibri"/>
            </a:endParaRPr>
          </a:p>
        </p:txBody>
      </p:sp>
      <p:sp>
        <p:nvSpPr>
          <p:cNvPr id="754" name="Google Shape;754;p22"/>
          <p:cNvSpPr/>
          <p:nvPr/>
        </p:nvSpPr>
        <p:spPr>
          <a:xfrm>
            <a:off x="5166308" y="3891190"/>
            <a:ext cx="1554600" cy="5670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D97706"/>
              </a:buClr>
              <a:buSzPts val="950"/>
              <a:buFont typeface="Merriweather"/>
              <a:buNone/>
            </a:pPr>
            <a:r>
              <a:rPr b="1" i="0" lang="en-US" sz="1050" u="none" cap="none" strike="noStrike">
                <a:solidFill>
                  <a:srgbClr val="D97706"/>
                </a:solidFill>
                <a:latin typeface="Merriweather"/>
                <a:ea typeface="Merriweather"/>
                <a:cs typeface="Merriweather"/>
                <a:sym typeface="Merriweather"/>
              </a:rPr>
              <a:t>Wazuh</a:t>
            </a:r>
            <a:endParaRPr b="0" i="0" sz="1050" u="none" cap="none" strike="noStrike">
              <a:solidFill>
                <a:schemeClr val="dk1"/>
              </a:solidFill>
              <a:latin typeface="Calibri"/>
              <a:ea typeface="Calibri"/>
              <a:cs typeface="Calibri"/>
              <a:sym typeface="Calibri"/>
            </a:endParaRPr>
          </a:p>
        </p:txBody>
      </p:sp>
      <p:cxnSp>
        <p:nvCxnSpPr>
          <p:cNvPr id="755" name="Google Shape;755;p22"/>
          <p:cNvCxnSpPr/>
          <p:nvPr/>
        </p:nvCxnSpPr>
        <p:spPr>
          <a:xfrm>
            <a:off x="5949650" y="3676895"/>
            <a:ext cx="0" cy="252000"/>
          </a:xfrm>
          <a:prstGeom prst="straightConnector1">
            <a:avLst/>
          </a:prstGeom>
          <a:noFill/>
          <a:ln cap="flat" cmpd="sng" w="19050">
            <a:solidFill>
              <a:srgbClr val="059669"/>
            </a:solidFill>
            <a:prstDash val="solid"/>
            <a:round/>
            <a:headEnd len="sm" w="sm" type="none"/>
            <a:tailEnd len="med" w="med" type="stealth"/>
          </a:ln>
        </p:spPr>
      </p:cxnSp>
      <p:cxnSp>
        <p:nvCxnSpPr>
          <p:cNvPr id="756" name="Google Shape;756;p22"/>
          <p:cNvCxnSpPr/>
          <p:nvPr/>
        </p:nvCxnSpPr>
        <p:spPr>
          <a:xfrm>
            <a:off x="8202225" y="3588807"/>
            <a:ext cx="0" cy="252000"/>
          </a:xfrm>
          <a:prstGeom prst="straightConnector1">
            <a:avLst/>
          </a:prstGeom>
          <a:noFill/>
          <a:ln cap="flat" cmpd="sng" w="19050">
            <a:solidFill>
              <a:srgbClr val="D97706"/>
            </a:solidFill>
            <a:prstDash val="solid"/>
            <a:round/>
            <a:headEnd len="sm" w="sm" type="none"/>
            <a:tailEnd len="med" w="med" type="stealth"/>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0C18"/>
        </a:solidFill>
      </p:bgPr>
    </p:bg>
    <p:spTree>
      <p:nvGrpSpPr>
        <p:cNvPr id="761" name="Shape 761"/>
        <p:cNvGrpSpPr/>
        <p:nvPr/>
      </p:nvGrpSpPr>
      <p:grpSpPr>
        <a:xfrm>
          <a:off x="0" y="0"/>
          <a:ext cx="0" cy="0"/>
          <a:chOff x="0" y="0"/>
          <a:chExt cx="0" cy="0"/>
        </a:xfrm>
      </p:grpSpPr>
      <p:sp>
        <p:nvSpPr>
          <p:cNvPr id="762" name="Google Shape;762;g3d2d178f3e5_7_0"/>
          <p:cNvSpPr/>
          <p:nvPr/>
        </p:nvSpPr>
        <p:spPr>
          <a:xfrm>
            <a:off x="0" y="0"/>
            <a:ext cx="164700" cy="5143500"/>
          </a:xfrm>
          <a:prstGeom prst="rect">
            <a:avLst/>
          </a:prstGeom>
          <a:solidFill>
            <a:srgbClr val="00C2E0"/>
          </a:solidFill>
          <a:ln cap="flat" cmpd="sng" w="12700">
            <a:solidFill>
              <a:srgbClr val="00C2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g3d2d178f3e5_7_0"/>
          <p:cNvSpPr/>
          <p:nvPr/>
        </p:nvSpPr>
        <p:spPr>
          <a:xfrm>
            <a:off x="5303520" y="0"/>
            <a:ext cx="3840600" cy="5143500"/>
          </a:xfrm>
          <a:prstGeom prst="rect">
            <a:avLst/>
          </a:prstGeom>
          <a:solidFill>
            <a:srgbClr val="040810"/>
          </a:solidFill>
          <a:ln cap="flat" cmpd="sng" w="12700">
            <a:solidFill>
              <a:srgbClr val="0408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64" name="Google Shape;764;g3d2d178f3e5_7_0"/>
          <p:cNvPicPr preferRelativeResize="0"/>
          <p:nvPr/>
        </p:nvPicPr>
        <p:blipFill rotWithShape="1">
          <a:blip r:embed="rId3">
            <a:alphaModFix/>
          </a:blip>
          <a:srcRect b="0" l="0" r="0" t="0"/>
          <a:stretch/>
        </p:blipFill>
        <p:spPr>
          <a:xfrm>
            <a:off x="6075050" y="1518889"/>
            <a:ext cx="2105725" cy="2105725"/>
          </a:xfrm>
          <a:prstGeom prst="rect">
            <a:avLst/>
          </a:prstGeom>
          <a:noFill/>
          <a:ln>
            <a:noFill/>
          </a:ln>
        </p:spPr>
      </p:pic>
      <p:sp>
        <p:nvSpPr>
          <p:cNvPr id="765" name="Google Shape;765;g3d2d178f3e5_7_0"/>
          <p:cNvSpPr/>
          <p:nvPr/>
        </p:nvSpPr>
        <p:spPr>
          <a:xfrm>
            <a:off x="347472" y="274320"/>
            <a:ext cx="4755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E0"/>
              </a:buClr>
              <a:buSzPts val="850"/>
              <a:buFont typeface="Calibri"/>
              <a:buNone/>
            </a:pPr>
            <a:r>
              <a:rPr b="1" lang="en-US" sz="850">
                <a:solidFill>
                  <a:srgbClr val="00C2E0"/>
                </a:solidFill>
                <a:latin typeface="Merriweather"/>
                <a:ea typeface="Merriweather"/>
                <a:cs typeface="Merriweather"/>
                <a:sym typeface="Merriweather"/>
              </a:rPr>
              <a:t>security tools &amp; security flow</a:t>
            </a:r>
            <a:endParaRPr i="0" sz="850" u="none" cap="none" strike="noStrike">
              <a:solidFill>
                <a:schemeClr val="dk1"/>
              </a:solidFill>
              <a:latin typeface="Merriweather"/>
              <a:ea typeface="Merriweather"/>
              <a:cs typeface="Merriweather"/>
              <a:sym typeface="Merriweather"/>
            </a:endParaRPr>
          </a:p>
        </p:txBody>
      </p:sp>
      <p:sp>
        <p:nvSpPr>
          <p:cNvPr id="766" name="Google Shape;766;g3d2d178f3e5_7_0"/>
          <p:cNvSpPr/>
          <p:nvPr/>
        </p:nvSpPr>
        <p:spPr>
          <a:xfrm>
            <a:off x="347475" y="1838175"/>
            <a:ext cx="4297800" cy="128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US" sz="3500">
                <a:solidFill>
                  <a:schemeClr val="lt1"/>
                </a:solidFill>
                <a:latin typeface="Merriweather"/>
                <a:ea typeface="Merriweather"/>
                <a:cs typeface="Merriweather"/>
                <a:sym typeface="Merriweather"/>
              </a:rPr>
              <a:t>Security &amp;</a:t>
            </a:r>
            <a:endParaRPr sz="3500">
              <a:solidFill>
                <a:schemeClr val="lt1"/>
              </a:solidFill>
              <a:latin typeface="Merriweather"/>
              <a:ea typeface="Merriweather"/>
              <a:cs typeface="Merriweather"/>
              <a:sym typeface="Merriweather"/>
            </a:endParaRPr>
          </a:p>
          <a:p>
            <a:pPr indent="0" lvl="0" marL="0" rtl="0" algn="ctr">
              <a:spcBef>
                <a:spcPts val="0"/>
              </a:spcBef>
              <a:spcAft>
                <a:spcPts val="0"/>
              </a:spcAft>
              <a:buClr>
                <a:schemeClr val="dk1"/>
              </a:buClr>
              <a:buSzPts val="1100"/>
              <a:buFont typeface="Arial"/>
              <a:buNone/>
            </a:pPr>
            <a:r>
              <a:rPr lang="en-US" sz="3500">
                <a:solidFill>
                  <a:schemeClr val="lt1"/>
                </a:solidFill>
                <a:latin typeface="Merriweather"/>
                <a:ea typeface="Merriweather"/>
                <a:cs typeface="Merriweather"/>
                <a:sym typeface="Merriweather"/>
              </a:rPr>
              <a:t> Risk Engine</a:t>
            </a:r>
            <a:endParaRPr b="1" sz="6800">
              <a:solidFill>
                <a:srgbClr val="F8FAFC"/>
              </a:solidFill>
              <a:latin typeface="Merriweather"/>
              <a:ea typeface="Merriweather"/>
              <a:cs typeface="Merriweather"/>
              <a:sym typeface="Merriweather"/>
            </a:endParaRPr>
          </a:p>
        </p:txBody>
      </p:sp>
      <p:sp>
        <p:nvSpPr>
          <p:cNvPr id="767" name="Google Shape;767;g3d2d178f3e5_7_0"/>
          <p:cNvSpPr/>
          <p:nvPr/>
        </p:nvSpPr>
        <p:spPr>
          <a:xfrm>
            <a:off x="347472" y="3268722"/>
            <a:ext cx="4297800" cy="36600"/>
          </a:xfrm>
          <a:prstGeom prst="rect">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2" name="Shape 772"/>
        <p:cNvGrpSpPr/>
        <p:nvPr/>
      </p:nvGrpSpPr>
      <p:grpSpPr>
        <a:xfrm>
          <a:off x="0" y="0"/>
          <a:ext cx="0" cy="0"/>
          <a:chOff x="0" y="0"/>
          <a:chExt cx="0" cy="0"/>
        </a:xfrm>
      </p:grpSpPr>
      <p:sp>
        <p:nvSpPr>
          <p:cNvPr id="773" name="Google Shape;773;p23"/>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3"/>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3"/>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ReconAgent: Network Infrastructure Discovery</a:t>
            </a:r>
            <a:endParaRPr b="0" i="0" sz="2200" u="none" cap="none" strike="noStrike">
              <a:solidFill>
                <a:schemeClr val="dk1"/>
              </a:solidFill>
              <a:latin typeface="Calibri"/>
              <a:ea typeface="Calibri"/>
              <a:cs typeface="Calibri"/>
              <a:sym typeface="Calibri"/>
            </a:endParaRPr>
          </a:p>
        </p:txBody>
      </p:sp>
      <p:sp>
        <p:nvSpPr>
          <p:cNvPr id="776" name="Google Shape;776;p23"/>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3"/>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23/40</a:t>
            </a:r>
            <a:endParaRPr b="0" i="0" sz="800" u="none" cap="none" strike="noStrike">
              <a:solidFill>
                <a:schemeClr val="dk1"/>
              </a:solidFill>
              <a:latin typeface="Calibri"/>
              <a:ea typeface="Calibri"/>
              <a:cs typeface="Calibri"/>
              <a:sym typeface="Calibri"/>
            </a:endParaRPr>
          </a:p>
        </p:txBody>
      </p:sp>
      <p:cxnSp>
        <p:nvCxnSpPr>
          <p:cNvPr id="778" name="Google Shape;778;p23"/>
          <p:cNvCxnSpPr/>
          <p:nvPr/>
        </p:nvCxnSpPr>
        <p:spPr>
          <a:xfrm>
            <a:off x="347472" y="676656"/>
            <a:ext cx="8449200" cy="0"/>
          </a:xfrm>
          <a:prstGeom prst="straightConnector1">
            <a:avLst/>
          </a:prstGeom>
          <a:noFill/>
          <a:ln cap="flat" cmpd="sng" w="19050">
            <a:solidFill>
              <a:srgbClr val="CFFAFE"/>
            </a:solidFill>
            <a:prstDash val="solid"/>
            <a:round/>
            <a:headEnd len="sm" w="sm" type="none"/>
            <a:tailEnd len="sm" w="sm" type="none"/>
          </a:ln>
        </p:spPr>
      </p:cxnSp>
      <p:sp>
        <p:nvSpPr>
          <p:cNvPr id="779" name="Google Shape;779;p23"/>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780" name="Google Shape;780;p23"/>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3"/>
          <p:cNvSpPr/>
          <p:nvPr/>
        </p:nvSpPr>
        <p:spPr>
          <a:xfrm>
            <a:off x="1412397" y="749783"/>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3"/>
          <p:cNvSpPr/>
          <p:nvPr/>
        </p:nvSpPr>
        <p:spPr>
          <a:xfrm>
            <a:off x="1412397" y="749783"/>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Security — Recon</a:t>
            </a:r>
            <a:endParaRPr b="0" i="0" sz="1000" u="none" cap="none" strike="noStrike">
              <a:solidFill>
                <a:schemeClr val="dk1"/>
              </a:solidFill>
              <a:latin typeface="Calibri"/>
              <a:ea typeface="Calibri"/>
              <a:cs typeface="Calibri"/>
              <a:sym typeface="Calibri"/>
            </a:endParaRPr>
          </a:p>
        </p:txBody>
      </p:sp>
      <p:sp>
        <p:nvSpPr>
          <p:cNvPr id="783" name="Google Shape;783;p23"/>
          <p:cNvSpPr/>
          <p:nvPr/>
        </p:nvSpPr>
        <p:spPr>
          <a:xfrm>
            <a:off x="347475" y="1024200"/>
            <a:ext cx="4507500" cy="37125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3"/>
          <p:cNvSpPr/>
          <p:nvPr/>
        </p:nvSpPr>
        <p:spPr>
          <a:xfrm>
            <a:off x="347475" y="1179600"/>
            <a:ext cx="4440300" cy="3436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Network Infrastructure Scanning</a:t>
            </a:r>
            <a:r>
              <a:rPr b="0" i="0" lang="en-US" sz="1150" u="none" cap="none" strike="noStrike">
                <a:solidFill>
                  <a:srgbClr val="334155"/>
                </a:solidFill>
                <a:latin typeface="Merriweather"/>
                <a:ea typeface="Merriweather"/>
                <a:cs typeface="Merriweather"/>
                <a:sym typeface="Merriweather"/>
              </a:rPr>
              <a:t> — Full SYN scan on all 65,535 TCP ports using Nmap.</a:t>
            </a:r>
            <a:endParaRPr b="0" i="0" sz="1150" u="none" cap="none" strike="noStrike">
              <a:solidFill>
                <a:schemeClr val="dk1"/>
              </a:solidFill>
              <a:latin typeface="Calibri"/>
              <a:ea typeface="Calibri"/>
              <a:cs typeface="Calibri"/>
              <a:sym typeface="Calibri"/>
            </a:endParaRPr>
          </a:p>
          <a:p>
            <a:pPr indent="-342900" lvl="0" marL="342900" marR="0" rtl="0" algn="l">
              <a:lnSpc>
                <a:spcPct val="150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OS Fingerprinting </a:t>
            </a:r>
            <a:r>
              <a:rPr b="0" i="0" lang="en-US" sz="1150" u="none" cap="none" strike="noStrike">
                <a:solidFill>
                  <a:srgbClr val="334155"/>
                </a:solidFill>
                <a:latin typeface="Merriweather"/>
                <a:ea typeface="Merriweather"/>
                <a:cs typeface="Merriweather"/>
                <a:sym typeface="Merriweather"/>
              </a:rPr>
              <a:t>— Nmap's -O flag identifies operating system from TCP/IP stack signatures.</a:t>
            </a:r>
            <a:endParaRPr b="0" i="0" sz="1150" u="none" cap="none" strike="noStrike">
              <a:solidFill>
                <a:schemeClr val="dk1"/>
              </a:solidFill>
              <a:latin typeface="Calibri"/>
              <a:ea typeface="Calibri"/>
              <a:cs typeface="Calibri"/>
              <a:sym typeface="Calibri"/>
            </a:endParaRPr>
          </a:p>
          <a:p>
            <a:pPr indent="-342900" lvl="0" marL="342900" marR="0" rtl="0" algn="l">
              <a:lnSpc>
                <a:spcPct val="150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Service Version Detection</a:t>
            </a:r>
            <a:r>
              <a:rPr b="0" i="0" lang="en-US" sz="1150" u="none" cap="none" strike="noStrike">
                <a:solidFill>
                  <a:srgbClr val="334155"/>
                </a:solidFill>
                <a:latin typeface="Merriweather"/>
                <a:ea typeface="Merriweather"/>
                <a:cs typeface="Merriweather"/>
                <a:sym typeface="Merriweather"/>
              </a:rPr>
              <a:t> — -sV flag detects Apache 2.4.49, OpenSSH 7.4, MySQL 5.7 etc.</a:t>
            </a:r>
            <a:endParaRPr b="0" i="0" sz="1150" u="none" cap="none" strike="noStrike">
              <a:solidFill>
                <a:schemeClr val="dk1"/>
              </a:solidFill>
              <a:latin typeface="Calibri"/>
              <a:ea typeface="Calibri"/>
              <a:cs typeface="Calibri"/>
              <a:sym typeface="Calibri"/>
            </a:endParaRPr>
          </a:p>
          <a:p>
            <a:pPr indent="-342900" lvl="0" marL="342900" marR="0" rtl="0" algn="l">
              <a:lnSpc>
                <a:spcPct val="150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Script Scanning </a:t>
            </a:r>
            <a:r>
              <a:rPr b="0" i="0" lang="en-US" sz="1150" u="none" cap="none" strike="noStrike">
                <a:solidFill>
                  <a:srgbClr val="334155"/>
                </a:solidFill>
                <a:latin typeface="Merriweather"/>
                <a:ea typeface="Merriweather"/>
                <a:cs typeface="Merriweather"/>
                <a:sym typeface="Merriweather"/>
              </a:rPr>
              <a:t>— NSE (Nmap Scripting Engine) scripts detect default credentials and banner info.</a:t>
            </a:r>
            <a:endParaRPr b="0" i="0" sz="1150" u="none" cap="none" strike="noStrike">
              <a:solidFill>
                <a:schemeClr val="dk1"/>
              </a:solidFill>
              <a:latin typeface="Calibri"/>
              <a:ea typeface="Calibri"/>
              <a:cs typeface="Calibri"/>
              <a:sym typeface="Calibri"/>
            </a:endParaRPr>
          </a:p>
          <a:p>
            <a:pPr indent="-342900" lvl="0" marL="342900" marR="0" rtl="0" algn="l">
              <a:lnSpc>
                <a:spcPct val="150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Structured Outpu</a:t>
            </a:r>
            <a:r>
              <a:rPr b="0" i="0" lang="en-US" sz="1150" u="none" cap="none" strike="noStrike">
                <a:solidFill>
                  <a:srgbClr val="334155"/>
                </a:solidFill>
                <a:latin typeface="Merriweather"/>
                <a:ea typeface="Merriweather"/>
                <a:cs typeface="Merriweather"/>
                <a:sym typeface="Merriweather"/>
              </a:rPr>
              <a:t>t — --oX flag generates XML output parsed into normalized Python dataclasses.</a:t>
            </a:r>
            <a:endParaRPr b="0" i="0" sz="1150" u="none" cap="none" strike="noStrike">
              <a:solidFill>
                <a:schemeClr val="dk1"/>
              </a:solidFill>
              <a:latin typeface="Calibri"/>
              <a:ea typeface="Calibri"/>
              <a:cs typeface="Calibri"/>
              <a:sym typeface="Calibri"/>
            </a:endParaRPr>
          </a:p>
        </p:txBody>
      </p:sp>
      <p:sp>
        <p:nvSpPr>
          <p:cNvPr id="785" name="Google Shape;785;p23"/>
          <p:cNvSpPr/>
          <p:nvPr/>
        </p:nvSpPr>
        <p:spPr>
          <a:xfrm>
            <a:off x="4999250" y="1146625"/>
            <a:ext cx="3749100" cy="65850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3"/>
          <p:cNvSpPr/>
          <p:nvPr/>
        </p:nvSpPr>
        <p:spPr>
          <a:xfrm>
            <a:off x="4999250" y="1146625"/>
            <a:ext cx="3749100" cy="658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Target IP</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/CIDR Range</a:t>
            </a:r>
            <a:endParaRPr b="0" i="0" sz="1100" u="none" cap="none" strike="noStrike">
              <a:solidFill>
                <a:schemeClr val="dk1"/>
              </a:solidFill>
              <a:latin typeface="Calibri"/>
              <a:ea typeface="Calibri"/>
              <a:cs typeface="Calibri"/>
              <a:sym typeface="Calibri"/>
            </a:endParaRPr>
          </a:p>
        </p:txBody>
      </p:sp>
      <p:cxnSp>
        <p:nvCxnSpPr>
          <p:cNvPr id="787" name="Google Shape;787;p23"/>
          <p:cNvCxnSpPr/>
          <p:nvPr/>
        </p:nvCxnSpPr>
        <p:spPr>
          <a:xfrm>
            <a:off x="6873770" y="1804993"/>
            <a:ext cx="0" cy="183000"/>
          </a:xfrm>
          <a:prstGeom prst="straightConnector1">
            <a:avLst/>
          </a:prstGeom>
          <a:noFill/>
          <a:ln cap="flat" cmpd="sng" w="25400">
            <a:solidFill>
              <a:srgbClr val="06B6D4"/>
            </a:solidFill>
            <a:prstDash val="solid"/>
            <a:round/>
            <a:headEnd len="sm" w="sm" type="none"/>
            <a:tailEnd len="med" w="med" type="stealth"/>
          </a:ln>
        </p:spPr>
      </p:cxnSp>
      <p:sp>
        <p:nvSpPr>
          <p:cNvPr id="788" name="Google Shape;788;p23"/>
          <p:cNvSpPr/>
          <p:nvPr/>
        </p:nvSpPr>
        <p:spPr>
          <a:xfrm>
            <a:off x="4999250" y="1969585"/>
            <a:ext cx="3749100" cy="658500"/>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3"/>
          <p:cNvSpPr/>
          <p:nvPr/>
        </p:nvSpPr>
        <p:spPr>
          <a:xfrm>
            <a:off x="4999250" y="1969585"/>
            <a:ext cx="3749100" cy="658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Host Discovery</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(ICMP/ARP)</a:t>
            </a:r>
            <a:endParaRPr b="0" i="0" sz="1100" u="none" cap="none" strike="noStrike">
              <a:solidFill>
                <a:schemeClr val="dk1"/>
              </a:solidFill>
              <a:latin typeface="Calibri"/>
              <a:ea typeface="Calibri"/>
              <a:cs typeface="Calibri"/>
              <a:sym typeface="Calibri"/>
            </a:endParaRPr>
          </a:p>
        </p:txBody>
      </p:sp>
      <p:cxnSp>
        <p:nvCxnSpPr>
          <p:cNvPr id="790" name="Google Shape;790;p23"/>
          <p:cNvCxnSpPr/>
          <p:nvPr/>
        </p:nvCxnSpPr>
        <p:spPr>
          <a:xfrm>
            <a:off x="6873770" y="2627953"/>
            <a:ext cx="0" cy="183000"/>
          </a:xfrm>
          <a:prstGeom prst="straightConnector1">
            <a:avLst/>
          </a:prstGeom>
          <a:noFill/>
          <a:ln cap="flat" cmpd="sng" w="25400">
            <a:solidFill>
              <a:srgbClr val="06B6D4"/>
            </a:solidFill>
            <a:prstDash val="solid"/>
            <a:round/>
            <a:headEnd len="sm" w="sm" type="none"/>
            <a:tailEnd len="med" w="med" type="stealth"/>
          </a:ln>
        </p:spPr>
      </p:cxnSp>
      <p:sp>
        <p:nvSpPr>
          <p:cNvPr id="791" name="Google Shape;791;p23"/>
          <p:cNvSpPr/>
          <p:nvPr/>
        </p:nvSpPr>
        <p:spPr>
          <a:xfrm>
            <a:off x="4999250" y="2792545"/>
            <a:ext cx="3749100" cy="658500"/>
          </a:xfrm>
          <a:prstGeom prst="rect">
            <a:avLst/>
          </a:prstGeom>
          <a:solidFill>
            <a:srgbClr val="FEF3C7"/>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3"/>
          <p:cNvSpPr/>
          <p:nvPr/>
        </p:nvSpPr>
        <p:spPr>
          <a:xfrm>
            <a:off x="4999250" y="2792545"/>
            <a:ext cx="3749100" cy="658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Port Scan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(SYN/TCP)</a:t>
            </a:r>
            <a:endParaRPr b="0" i="0" sz="1100" u="none" cap="none" strike="noStrike">
              <a:solidFill>
                <a:schemeClr val="dk1"/>
              </a:solidFill>
              <a:latin typeface="Calibri"/>
              <a:ea typeface="Calibri"/>
              <a:cs typeface="Calibri"/>
              <a:sym typeface="Calibri"/>
            </a:endParaRPr>
          </a:p>
        </p:txBody>
      </p:sp>
      <p:cxnSp>
        <p:nvCxnSpPr>
          <p:cNvPr id="793" name="Google Shape;793;p23"/>
          <p:cNvCxnSpPr/>
          <p:nvPr/>
        </p:nvCxnSpPr>
        <p:spPr>
          <a:xfrm>
            <a:off x="6873770" y="3450913"/>
            <a:ext cx="0" cy="183000"/>
          </a:xfrm>
          <a:prstGeom prst="straightConnector1">
            <a:avLst/>
          </a:prstGeom>
          <a:noFill/>
          <a:ln cap="flat" cmpd="sng" w="25400">
            <a:solidFill>
              <a:srgbClr val="06B6D4"/>
            </a:solidFill>
            <a:prstDash val="solid"/>
            <a:round/>
            <a:headEnd len="sm" w="sm" type="none"/>
            <a:tailEnd len="med" w="med" type="stealth"/>
          </a:ln>
        </p:spPr>
      </p:cxnSp>
      <p:sp>
        <p:nvSpPr>
          <p:cNvPr id="794" name="Google Shape;794;p23"/>
          <p:cNvSpPr/>
          <p:nvPr/>
        </p:nvSpPr>
        <p:spPr>
          <a:xfrm>
            <a:off x="4999250" y="3615505"/>
            <a:ext cx="3749100" cy="658500"/>
          </a:xfrm>
          <a:prstGeom prst="rect">
            <a:avLst/>
          </a:prstGeom>
          <a:solidFill>
            <a:srgbClr val="EDE9FE"/>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3"/>
          <p:cNvSpPr/>
          <p:nvPr/>
        </p:nvSpPr>
        <p:spPr>
          <a:xfrm>
            <a:off x="4999250" y="3615505"/>
            <a:ext cx="3749100" cy="658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Service &amp; OS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Fingerprint</a:t>
            </a:r>
            <a:endParaRPr b="0" i="0" sz="1100" u="none" cap="none" strike="noStrike">
              <a:solidFill>
                <a:schemeClr val="dk1"/>
              </a:solidFill>
              <a:latin typeface="Calibri"/>
              <a:ea typeface="Calibri"/>
              <a:cs typeface="Calibri"/>
              <a:sym typeface="Calibri"/>
            </a:endParaRPr>
          </a:p>
        </p:txBody>
      </p:sp>
      <p:sp>
        <p:nvSpPr>
          <p:cNvPr id="796" name="Google Shape;796;p23"/>
          <p:cNvSpPr/>
          <p:nvPr/>
        </p:nvSpPr>
        <p:spPr>
          <a:xfrm>
            <a:off x="4999250" y="4420177"/>
            <a:ext cx="37491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Merriweather"/>
              <a:buNone/>
            </a:pPr>
            <a:r>
              <a:rPr b="1" i="1" lang="en-US" sz="1100" u="none" cap="none" strike="noStrike">
                <a:solidFill>
                  <a:srgbClr val="64748B"/>
                </a:solidFill>
                <a:latin typeface="Merriweather"/>
                <a:ea typeface="Merriweather"/>
                <a:cs typeface="Merriweather"/>
                <a:sym typeface="Merriweather"/>
              </a:rPr>
              <a:t>Output: Parsed XML → </a:t>
            </a:r>
            <a:r>
              <a:rPr b="1" i="1" lang="en-US" sz="1100">
                <a:solidFill>
                  <a:srgbClr val="64748B"/>
                </a:solidFill>
                <a:latin typeface="Merriweather"/>
                <a:ea typeface="Merriweather"/>
                <a:cs typeface="Merriweather"/>
                <a:sym typeface="Merriweather"/>
              </a:rPr>
              <a:t>Nmap Result</a:t>
            </a:r>
            <a:r>
              <a:rPr b="1" i="1" lang="en-US" sz="1100" u="none" cap="none" strike="noStrike">
                <a:solidFill>
                  <a:srgbClr val="64748B"/>
                </a:solidFill>
                <a:latin typeface="Merriweather"/>
                <a:ea typeface="Merriweather"/>
                <a:cs typeface="Merriweather"/>
                <a:sym typeface="Merriweather"/>
              </a:rPr>
              <a:t> </a:t>
            </a:r>
            <a:r>
              <a:rPr b="1" i="1" lang="en-US" sz="1100">
                <a:solidFill>
                  <a:srgbClr val="64748B"/>
                </a:solidFill>
                <a:latin typeface="Merriweather"/>
                <a:ea typeface="Merriweather"/>
                <a:cs typeface="Merriweather"/>
                <a:sym typeface="Merriweather"/>
              </a:rPr>
              <a:t>data class</a:t>
            </a:r>
            <a:endParaRPr b="1" i="0" sz="1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1" name="Shape 801"/>
        <p:cNvGrpSpPr/>
        <p:nvPr/>
      </p:nvGrpSpPr>
      <p:grpSpPr>
        <a:xfrm>
          <a:off x="0" y="0"/>
          <a:ext cx="0" cy="0"/>
          <a:chOff x="0" y="0"/>
          <a:chExt cx="0" cy="0"/>
        </a:xfrm>
      </p:grpSpPr>
      <p:sp>
        <p:nvSpPr>
          <p:cNvPr id="802" name="Google Shape;802;p24"/>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4"/>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4"/>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ReconAgent: DOM Extraction &amp; Web Footprinting</a:t>
            </a:r>
            <a:endParaRPr b="0" i="0" sz="2200" u="none" cap="none" strike="noStrike">
              <a:solidFill>
                <a:schemeClr val="dk1"/>
              </a:solidFill>
              <a:latin typeface="Calibri"/>
              <a:ea typeface="Calibri"/>
              <a:cs typeface="Calibri"/>
              <a:sym typeface="Calibri"/>
            </a:endParaRPr>
          </a:p>
        </p:txBody>
      </p:sp>
      <p:sp>
        <p:nvSpPr>
          <p:cNvPr id="805" name="Google Shape;805;p24"/>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4"/>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24/40</a:t>
            </a:r>
            <a:endParaRPr b="0" i="0" sz="800" u="none" cap="none" strike="noStrike">
              <a:solidFill>
                <a:schemeClr val="dk1"/>
              </a:solidFill>
              <a:latin typeface="Calibri"/>
              <a:ea typeface="Calibri"/>
              <a:cs typeface="Calibri"/>
              <a:sym typeface="Calibri"/>
            </a:endParaRPr>
          </a:p>
        </p:txBody>
      </p:sp>
      <p:cxnSp>
        <p:nvCxnSpPr>
          <p:cNvPr id="807" name="Google Shape;807;p24"/>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808" name="Google Shape;808;p24"/>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809" name="Google Shape;809;p24"/>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4"/>
          <p:cNvSpPr/>
          <p:nvPr/>
        </p:nvSpPr>
        <p:spPr>
          <a:xfrm>
            <a:off x="1510750" y="780275"/>
            <a:ext cx="2400300" cy="246600"/>
          </a:xfrm>
          <a:prstGeom prst="rect">
            <a:avLst/>
          </a:prstGeom>
          <a:solidFill>
            <a:srgbClr val="CFFAFE"/>
          </a:solidFill>
          <a:ln cap="flat" cmpd="sng" w="15575">
            <a:solidFill>
              <a:srgbClr val="BAE6FD"/>
            </a:solidFill>
            <a:prstDash val="solid"/>
            <a:round/>
            <a:headEnd len="sm" w="sm" type="none"/>
            <a:tailEnd len="sm" w="sm" type="none"/>
          </a:ln>
        </p:spPr>
        <p:txBody>
          <a:bodyPr anchorCtr="0" anchor="ctr" bIns="112125" lIns="112125" spcFirstLastPara="1" rIns="112125" wrap="square" tIns="112125">
            <a:noAutofit/>
          </a:bodyPr>
          <a:lstStyle/>
          <a:p>
            <a:pPr indent="0" lvl="0" marL="0" rtl="0" algn="l">
              <a:spcBef>
                <a:spcPts val="0"/>
              </a:spcBef>
              <a:spcAft>
                <a:spcPts val="0"/>
              </a:spcAft>
              <a:buNone/>
            </a:pPr>
            <a:r>
              <a:t/>
            </a:r>
            <a:endParaRPr/>
          </a:p>
        </p:txBody>
      </p:sp>
      <p:sp>
        <p:nvSpPr>
          <p:cNvPr id="811" name="Google Shape;811;p24"/>
          <p:cNvSpPr/>
          <p:nvPr/>
        </p:nvSpPr>
        <p:spPr>
          <a:xfrm>
            <a:off x="1510750" y="780275"/>
            <a:ext cx="24003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981"/>
              <a:buFont typeface="Merriweather"/>
              <a:buNone/>
            </a:pPr>
            <a:r>
              <a:rPr b="1" i="0" lang="en-US" sz="1000" u="none" cap="none" strike="noStrike">
                <a:solidFill>
                  <a:srgbClr val="0E7490"/>
                </a:solidFill>
                <a:latin typeface="Merriweather"/>
                <a:ea typeface="Merriweather"/>
                <a:cs typeface="Merriweather"/>
                <a:sym typeface="Merriweather"/>
              </a:rPr>
              <a:t>Security — Recon</a:t>
            </a:r>
            <a:endParaRPr b="0" i="0" sz="1000" u="none" cap="none" strike="noStrike">
              <a:solidFill>
                <a:schemeClr val="dk1"/>
              </a:solidFill>
              <a:latin typeface="Calibri"/>
              <a:ea typeface="Calibri"/>
              <a:cs typeface="Calibri"/>
              <a:sym typeface="Calibri"/>
            </a:endParaRPr>
          </a:p>
        </p:txBody>
      </p:sp>
      <p:sp>
        <p:nvSpPr>
          <p:cNvPr id="812" name="Google Shape;812;p24"/>
          <p:cNvSpPr/>
          <p:nvPr/>
        </p:nvSpPr>
        <p:spPr>
          <a:xfrm>
            <a:off x="347475" y="1130800"/>
            <a:ext cx="4727100" cy="36516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4"/>
          <p:cNvSpPr/>
          <p:nvPr/>
        </p:nvSpPr>
        <p:spPr>
          <a:xfrm>
            <a:off x="568739" y="1283645"/>
            <a:ext cx="4284300" cy="33795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Headless Browser Crawling</a:t>
            </a:r>
            <a:r>
              <a:rPr b="0" i="0" lang="en-US" sz="1150" u="none" cap="none" strike="noStrike">
                <a:solidFill>
                  <a:srgbClr val="334155"/>
                </a:solidFill>
                <a:latin typeface="Merriweather"/>
                <a:ea typeface="Merriweather"/>
                <a:cs typeface="Merriweather"/>
                <a:sym typeface="Merriweather"/>
              </a:rPr>
              <a:t> — Playwright launches a headless Chromium instance to render JavaScript-heavy SPAs.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DOM Footprinting</a:t>
            </a:r>
            <a:r>
              <a:rPr b="0" i="0" lang="en-US" sz="1150" u="none" cap="none" strike="noStrike">
                <a:solidFill>
                  <a:srgbClr val="334155"/>
                </a:solidFill>
                <a:latin typeface="Merriweather"/>
                <a:ea typeface="Merriweather"/>
                <a:cs typeface="Merriweather"/>
                <a:sym typeface="Merriweather"/>
              </a:rPr>
              <a:t> — Extracts all links, forms, input fields, hidden fields, and API endpoints.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Cookie &amp; Header Analysis</a:t>
            </a:r>
            <a:r>
              <a:rPr b="0" i="0" lang="en-US" sz="1150" u="none" cap="none" strike="noStrike">
                <a:solidFill>
                  <a:srgbClr val="334155"/>
                </a:solidFill>
                <a:latin typeface="Merriweather"/>
                <a:ea typeface="Merriweather"/>
                <a:cs typeface="Merriweather"/>
                <a:sym typeface="Merriweather"/>
              </a:rPr>
              <a:t> — Captures security-relevant HTTP headers (CSP, HSTS, X-Frame-Options).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Attack Surface Mapping</a:t>
            </a:r>
            <a:r>
              <a:rPr b="0" i="0" lang="en-US" sz="1150" u="none" cap="none" strike="noStrike">
                <a:solidFill>
                  <a:srgbClr val="334155"/>
                </a:solidFill>
                <a:latin typeface="Merriweather"/>
                <a:ea typeface="Merriweather"/>
                <a:cs typeface="Merriweather"/>
                <a:sym typeface="Merriweather"/>
              </a:rPr>
              <a:t> — Every discovered endpoint is catalogued as a potential injection point.</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Data passed to AttackAgent</a:t>
            </a:r>
            <a:r>
              <a:rPr b="0" i="0" lang="en-US" sz="1150" u="none" cap="none" strike="noStrike">
                <a:solidFill>
                  <a:srgbClr val="334155"/>
                </a:solidFill>
                <a:latin typeface="Merriweather"/>
                <a:ea typeface="Merriweather"/>
                <a:cs typeface="Merriweather"/>
                <a:sym typeface="Merriweather"/>
              </a:rPr>
              <a:t> — Rich context about the web layer feeds directly into Nuclei template selection.</a:t>
            </a:r>
            <a:endParaRPr b="0" i="0" sz="1150" u="none" cap="none" strike="noStrike">
              <a:solidFill>
                <a:schemeClr val="dk1"/>
              </a:solidFill>
              <a:latin typeface="Calibri"/>
              <a:ea typeface="Calibri"/>
              <a:cs typeface="Calibri"/>
              <a:sym typeface="Calibri"/>
            </a:endParaRPr>
          </a:p>
        </p:txBody>
      </p:sp>
      <p:sp>
        <p:nvSpPr>
          <p:cNvPr id="814" name="Google Shape;814;p24"/>
          <p:cNvSpPr/>
          <p:nvPr/>
        </p:nvSpPr>
        <p:spPr>
          <a:xfrm>
            <a:off x="5208975" y="1213150"/>
            <a:ext cx="3749100" cy="3520500"/>
          </a:xfrm>
          <a:prstGeom prst="rect">
            <a:avLst/>
          </a:prstGeom>
          <a:solidFill>
            <a:srgbClr val="E8F9FD"/>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4"/>
          <p:cNvSpPr/>
          <p:nvPr/>
        </p:nvSpPr>
        <p:spPr>
          <a:xfrm>
            <a:off x="5300415" y="1268014"/>
            <a:ext cx="35661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950"/>
              <a:buFont typeface="Merriweather"/>
              <a:buNone/>
            </a:pPr>
            <a:r>
              <a:rPr b="1" i="0" lang="en-US" sz="1150" u="none" cap="none" strike="noStrike">
                <a:solidFill>
                  <a:srgbClr val="0E7490"/>
                </a:solidFill>
                <a:latin typeface="Merriweather"/>
                <a:ea typeface="Merriweather"/>
                <a:cs typeface="Merriweather"/>
                <a:sym typeface="Merriweather"/>
              </a:rPr>
              <a:t>Web Application DOM Tree</a:t>
            </a:r>
            <a:endParaRPr b="0" i="0" sz="1150" u="none" cap="none" strike="noStrike">
              <a:solidFill>
                <a:schemeClr val="dk1"/>
              </a:solidFill>
              <a:latin typeface="Calibri"/>
              <a:ea typeface="Calibri"/>
              <a:cs typeface="Calibri"/>
              <a:sym typeface="Calibri"/>
            </a:endParaRPr>
          </a:p>
        </p:txBody>
      </p:sp>
      <p:sp>
        <p:nvSpPr>
          <p:cNvPr id="816" name="Google Shape;816;p24"/>
          <p:cNvSpPr/>
          <p:nvPr/>
        </p:nvSpPr>
        <p:spPr>
          <a:xfrm>
            <a:off x="5986215" y="1652062"/>
            <a:ext cx="2011800" cy="438900"/>
          </a:xfrm>
          <a:prstGeom prst="rect">
            <a:avLst/>
          </a:prstGeom>
          <a:solidFill>
            <a:srgbClr val="FFFFFF"/>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4"/>
          <p:cNvSpPr/>
          <p:nvPr/>
        </p:nvSpPr>
        <p:spPr>
          <a:xfrm>
            <a:off x="5986215" y="1652062"/>
            <a:ext cx="2011800" cy="4389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950"/>
              <a:buFont typeface="Merriweather"/>
              <a:buNone/>
            </a:pPr>
            <a:r>
              <a:rPr b="1" i="0" lang="en-US" sz="1150" u="none" cap="none" strike="noStrike">
                <a:solidFill>
                  <a:srgbClr val="0F172A"/>
                </a:solidFill>
                <a:latin typeface="Merriweather"/>
                <a:ea typeface="Merriweather"/>
                <a:cs typeface="Merriweather"/>
                <a:sym typeface="Merriweather"/>
              </a:rPr>
              <a:t>&lt;html&gt; root</a:t>
            </a:r>
            <a:endParaRPr b="0" i="0" sz="1150" u="none" cap="none" strike="noStrike">
              <a:solidFill>
                <a:schemeClr val="dk1"/>
              </a:solidFill>
              <a:latin typeface="Calibri"/>
              <a:ea typeface="Calibri"/>
              <a:cs typeface="Calibri"/>
              <a:sym typeface="Calibri"/>
            </a:endParaRPr>
          </a:p>
        </p:txBody>
      </p:sp>
      <p:cxnSp>
        <p:nvCxnSpPr>
          <p:cNvPr id="818" name="Google Shape;818;p24"/>
          <p:cNvCxnSpPr/>
          <p:nvPr/>
        </p:nvCxnSpPr>
        <p:spPr>
          <a:xfrm>
            <a:off x="6992055" y="2090974"/>
            <a:ext cx="0" cy="274200"/>
          </a:xfrm>
          <a:prstGeom prst="straightConnector1">
            <a:avLst/>
          </a:prstGeom>
          <a:noFill/>
          <a:ln cap="flat" cmpd="sng" w="12700">
            <a:solidFill>
              <a:srgbClr val="06B6D4"/>
            </a:solidFill>
            <a:prstDash val="solid"/>
            <a:round/>
            <a:headEnd len="sm" w="sm" type="none"/>
            <a:tailEnd len="med" w="med" type="stealth"/>
          </a:ln>
        </p:spPr>
      </p:cxnSp>
      <p:sp>
        <p:nvSpPr>
          <p:cNvPr id="819" name="Google Shape;819;p24"/>
          <p:cNvSpPr/>
          <p:nvPr/>
        </p:nvSpPr>
        <p:spPr>
          <a:xfrm>
            <a:off x="5346135" y="2365294"/>
            <a:ext cx="1600200" cy="384000"/>
          </a:xfrm>
          <a:prstGeom prst="rect">
            <a:avLst/>
          </a:prstGeom>
          <a:solidFill>
            <a:srgbClr val="FFFFFF"/>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4"/>
          <p:cNvSpPr/>
          <p:nvPr/>
        </p:nvSpPr>
        <p:spPr>
          <a:xfrm>
            <a:off x="5346135" y="2365294"/>
            <a:ext cx="1600200" cy="3840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6B6D4"/>
              </a:buClr>
              <a:buSzPts val="900"/>
              <a:buFont typeface="Merriweather"/>
              <a:buNone/>
            </a:pPr>
            <a:r>
              <a:rPr b="1" i="0" lang="en-US" sz="1100" u="none" cap="none" strike="noStrike">
                <a:solidFill>
                  <a:srgbClr val="06B6D4"/>
                </a:solidFill>
                <a:latin typeface="Merriweather"/>
                <a:ea typeface="Merriweather"/>
                <a:cs typeface="Merriweather"/>
                <a:sym typeface="Merriweather"/>
              </a:rPr>
              <a:t>&lt;header&gt;</a:t>
            </a:r>
            <a:endParaRPr b="0" i="0" sz="1100" u="none" cap="none" strike="noStrike">
              <a:solidFill>
                <a:schemeClr val="dk1"/>
              </a:solidFill>
              <a:latin typeface="Calibri"/>
              <a:ea typeface="Calibri"/>
              <a:cs typeface="Calibri"/>
              <a:sym typeface="Calibri"/>
            </a:endParaRPr>
          </a:p>
        </p:txBody>
      </p:sp>
      <p:sp>
        <p:nvSpPr>
          <p:cNvPr id="821" name="Google Shape;821;p24"/>
          <p:cNvSpPr/>
          <p:nvPr/>
        </p:nvSpPr>
        <p:spPr>
          <a:xfrm>
            <a:off x="7083495" y="2365294"/>
            <a:ext cx="1737300" cy="384000"/>
          </a:xfrm>
          <a:prstGeom prst="rect">
            <a:avLst/>
          </a:prstGeom>
          <a:solidFill>
            <a:srgbClr val="FFFFFF"/>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4"/>
          <p:cNvSpPr/>
          <p:nvPr/>
        </p:nvSpPr>
        <p:spPr>
          <a:xfrm>
            <a:off x="7083495" y="2365294"/>
            <a:ext cx="1737300" cy="3840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59669"/>
              </a:buClr>
              <a:buSzPts val="900"/>
              <a:buFont typeface="Merriweather"/>
              <a:buNone/>
            </a:pPr>
            <a:r>
              <a:rPr b="1" i="0" lang="en-US" sz="1100" u="none" cap="none" strike="noStrike">
                <a:solidFill>
                  <a:srgbClr val="059669"/>
                </a:solidFill>
                <a:latin typeface="Merriweather"/>
                <a:ea typeface="Merriweather"/>
                <a:cs typeface="Merriweather"/>
                <a:sym typeface="Merriweather"/>
              </a:rPr>
              <a:t>&lt;main&gt;</a:t>
            </a:r>
            <a:endParaRPr b="0" i="0" sz="1100" u="none" cap="none" strike="noStrike">
              <a:solidFill>
                <a:schemeClr val="dk1"/>
              </a:solidFill>
              <a:latin typeface="Calibri"/>
              <a:ea typeface="Calibri"/>
              <a:cs typeface="Calibri"/>
              <a:sym typeface="Calibri"/>
            </a:endParaRPr>
          </a:p>
        </p:txBody>
      </p:sp>
      <p:cxnSp>
        <p:nvCxnSpPr>
          <p:cNvPr id="823" name="Google Shape;823;p24"/>
          <p:cNvCxnSpPr/>
          <p:nvPr/>
        </p:nvCxnSpPr>
        <p:spPr>
          <a:xfrm>
            <a:off x="6141663" y="2749342"/>
            <a:ext cx="0" cy="365700"/>
          </a:xfrm>
          <a:prstGeom prst="straightConnector1">
            <a:avLst/>
          </a:prstGeom>
          <a:noFill/>
          <a:ln cap="flat" cmpd="sng" w="12700">
            <a:solidFill>
              <a:srgbClr val="06B6D4"/>
            </a:solidFill>
            <a:prstDash val="solid"/>
            <a:round/>
            <a:headEnd len="sm" w="sm" type="none"/>
            <a:tailEnd len="med" w="med" type="stealth"/>
          </a:ln>
        </p:spPr>
      </p:cxnSp>
      <p:cxnSp>
        <p:nvCxnSpPr>
          <p:cNvPr id="824" name="Google Shape;824;p24"/>
          <p:cNvCxnSpPr/>
          <p:nvPr/>
        </p:nvCxnSpPr>
        <p:spPr>
          <a:xfrm>
            <a:off x="7992125" y="2709767"/>
            <a:ext cx="0" cy="365700"/>
          </a:xfrm>
          <a:prstGeom prst="straightConnector1">
            <a:avLst/>
          </a:prstGeom>
          <a:noFill/>
          <a:ln cap="flat" cmpd="sng" w="12700">
            <a:solidFill>
              <a:srgbClr val="059669"/>
            </a:solidFill>
            <a:prstDash val="solid"/>
            <a:round/>
            <a:headEnd len="sm" w="sm" type="none"/>
            <a:tailEnd len="med" w="med" type="stealth"/>
          </a:ln>
        </p:spPr>
      </p:cxnSp>
      <p:sp>
        <p:nvSpPr>
          <p:cNvPr id="825" name="Google Shape;825;p24"/>
          <p:cNvSpPr/>
          <p:nvPr/>
        </p:nvSpPr>
        <p:spPr>
          <a:xfrm>
            <a:off x="5346135" y="3115102"/>
            <a:ext cx="1600200" cy="384000"/>
          </a:xfrm>
          <a:prstGeom prst="rect">
            <a:avLst/>
          </a:prstGeom>
          <a:solidFill>
            <a:srgbClr val="FEF3C7"/>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4"/>
          <p:cNvSpPr/>
          <p:nvPr/>
        </p:nvSpPr>
        <p:spPr>
          <a:xfrm>
            <a:off x="5346135" y="3115102"/>
            <a:ext cx="1600200" cy="3840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D97706"/>
              </a:buClr>
              <a:buSzPts val="850"/>
              <a:buFont typeface="Merriweather"/>
              <a:buNone/>
            </a:pPr>
            <a:r>
              <a:rPr b="1" i="0" lang="en-US" sz="1050" u="none" cap="none" strike="noStrike">
                <a:solidFill>
                  <a:srgbClr val="D97706"/>
                </a:solidFill>
                <a:latin typeface="Merriweather"/>
                <a:ea typeface="Merriweather"/>
                <a:cs typeface="Merriweather"/>
                <a:sym typeface="Merriweather"/>
              </a:rPr>
              <a:t>&lt;form&gt;</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7706"/>
              </a:buClr>
              <a:buSzPts val="850"/>
              <a:buFont typeface="Merriweather"/>
              <a:buNone/>
            </a:pPr>
            <a:r>
              <a:rPr b="1" i="0" lang="en-US" sz="1050" u="none" cap="none" strike="noStrike">
                <a:solidFill>
                  <a:srgbClr val="D97706"/>
                </a:solidFill>
                <a:latin typeface="Merriweather"/>
                <a:ea typeface="Merriweather"/>
                <a:cs typeface="Merriweather"/>
                <a:sym typeface="Merriweather"/>
              </a:rPr>
              <a:t>/login</a:t>
            </a:r>
            <a:endParaRPr b="0" i="0" sz="1050" u="none" cap="none" strike="noStrike">
              <a:solidFill>
                <a:schemeClr val="dk1"/>
              </a:solidFill>
              <a:latin typeface="Calibri"/>
              <a:ea typeface="Calibri"/>
              <a:cs typeface="Calibri"/>
              <a:sym typeface="Calibri"/>
            </a:endParaRPr>
          </a:p>
        </p:txBody>
      </p:sp>
      <p:sp>
        <p:nvSpPr>
          <p:cNvPr id="827" name="Google Shape;827;p24"/>
          <p:cNvSpPr/>
          <p:nvPr/>
        </p:nvSpPr>
        <p:spPr>
          <a:xfrm>
            <a:off x="7083495" y="3115102"/>
            <a:ext cx="1737300" cy="384000"/>
          </a:xfrm>
          <a:prstGeom prst="rect">
            <a:avLst/>
          </a:prstGeom>
          <a:solidFill>
            <a:srgbClr val="FEF3C7"/>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4"/>
          <p:cNvSpPr/>
          <p:nvPr/>
        </p:nvSpPr>
        <p:spPr>
          <a:xfrm>
            <a:off x="7083495" y="3115102"/>
            <a:ext cx="1737300" cy="3840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D97706"/>
              </a:buClr>
              <a:buSzPts val="850"/>
              <a:buFont typeface="Merriweather"/>
              <a:buNone/>
            </a:pPr>
            <a:r>
              <a:rPr b="1" i="0" lang="en-US" sz="1050" u="none" cap="none" strike="noStrike">
                <a:solidFill>
                  <a:srgbClr val="D97706"/>
                </a:solidFill>
                <a:latin typeface="Merriweather"/>
                <a:ea typeface="Merriweather"/>
                <a:cs typeface="Merriweather"/>
                <a:sym typeface="Merriweather"/>
              </a:rPr>
              <a:t>&lt;input&gt;</a:t>
            </a:r>
            <a:endParaRPr b="0" i="0" sz="10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7706"/>
              </a:buClr>
              <a:buSzPts val="850"/>
              <a:buFont typeface="Merriweather"/>
              <a:buNone/>
            </a:pPr>
            <a:r>
              <a:rPr b="1" i="0" lang="en-US" sz="1050" u="none" cap="none" strike="noStrike">
                <a:solidFill>
                  <a:srgbClr val="D97706"/>
                </a:solidFill>
                <a:latin typeface="Merriweather"/>
                <a:ea typeface="Merriweather"/>
                <a:cs typeface="Merriweather"/>
                <a:sym typeface="Merriweather"/>
              </a:rPr>
              <a:t>username</a:t>
            </a:r>
            <a:endParaRPr b="0" i="0" sz="1050" u="none" cap="none" strike="noStrike">
              <a:solidFill>
                <a:schemeClr val="dk1"/>
              </a:solidFill>
              <a:latin typeface="Calibri"/>
              <a:ea typeface="Calibri"/>
              <a:cs typeface="Calibri"/>
              <a:sym typeface="Calibri"/>
            </a:endParaRPr>
          </a:p>
        </p:txBody>
      </p:sp>
      <p:sp>
        <p:nvSpPr>
          <p:cNvPr id="829" name="Google Shape;829;p24"/>
          <p:cNvSpPr/>
          <p:nvPr/>
        </p:nvSpPr>
        <p:spPr>
          <a:xfrm>
            <a:off x="5300415" y="3636310"/>
            <a:ext cx="36576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900"/>
              <a:buFont typeface="Merriweather"/>
              <a:buNone/>
            </a:pPr>
            <a:r>
              <a:rPr b="1" i="0" lang="en-US" sz="1100" u="none" cap="none" strike="noStrike">
                <a:solidFill>
                  <a:srgbClr val="DC2626"/>
                </a:solidFill>
                <a:latin typeface="Merriweather"/>
                <a:ea typeface="Merriweather"/>
                <a:cs typeface="Merriweather"/>
                <a:sym typeface="Merriweather"/>
              </a:rPr>
              <a:t>→ Injection targets identified</a:t>
            </a:r>
            <a:endParaRPr b="0" i="0" sz="1100" u="none" cap="none" strike="noStrike">
              <a:solidFill>
                <a:schemeClr val="dk1"/>
              </a:solidFill>
              <a:latin typeface="Calibri"/>
              <a:ea typeface="Calibri"/>
              <a:cs typeface="Calibri"/>
              <a:sym typeface="Calibri"/>
            </a:endParaRPr>
          </a:p>
        </p:txBody>
      </p:sp>
      <p:sp>
        <p:nvSpPr>
          <p:cNvPr id="830" name="Google Shape;830;p24"/>
          <p:cNvSpPr/>
          <p:nvPr/>
        </p:nvSpPr>
        <p:spPr>
          <a:xfrm>
            <a:off x="5300415" y="3956350"/>
            <a:ext cx="3657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Merriweather"/>
              <a:buNone/>
            </a:pPr>
            <a:r>
              <a:rPr b="0" i="0" lang="en-US" sz="1100" u="none" cap="none" strike="noStrike">
                <a:solidFill>
                  <a:srgbClr val="64748B"/>
                </a:solidFill>
                <a:latin typeface="Merriweather"/>
                <a:ea typeface="Merriweather"/>
                <a:cs typeface="Merriweather"/>
                <a:sym typeface="Merriweather"/>
              </a:rPr>
              <a:t>Forms · Inputs · API routes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900"/>
              <a:buFont typeface="Merriweather"/>
              <a:buNone/>
            </a:pPr>
            <a:r>
              <a:rPr b="0" i="0" lang="en-US" sz="1100" u="none" cap="none" strike="noStrike">
                <a:solidFill>
                  <a:srgbClr val="64748B"/>
                </a:solidFill>
                <a:latin typeface="Merriweather"/>
                <a:ea typeface="Merriweather"/>
                <a:cs typeface="Merriweather"/>
                <a:sym typeface="Merriweather"/>
              </a:rPr>
              <a:t>passed to AttackAgent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5" name="Shape 835"/>
        <p:cNvGrpSpPr/>
        <p:nvPr/>
      </p:nvGrpSpPr>
      <p:grpSpPr>
        <a:xfrm>
          <a:off x="0" y="0"/>
          <a:ext cx="0" cy="0"/>
          <a:chOff x="0" y="0"/>
          <a:chExt cx="0" cy="0"/>
        </a:xfrm>
      </p:grpSpPr>
      <p:sp>
        <p:nvSpPr>
          <p:cNvPr id="836" name="Google Shape;836;p25"/>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5"/>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5"/>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AttackAgent: Execution &amp; Tool Chaining</a:t>
            </a:r>
            <a:endParaRPr b="0" i="0" sz="2200" u="none" cap="none" strike="noStrike">
              <a:solidFill>
                <a:schemeClr val="dk1"/>
              </a:solidFill>
              <a:latin typeface="Calibri"/>
              <a:ea typeface="Calibri"/>
              <a:cs typeface="Calibri"/>
              <a:sym typeface="Calibri"/>
            </a:endParaRPr>
          </a:p>
        </p:txBody>
      </p:sp>
      <p:sp>
        <p:nvSpPr>
          <p:cNvPr id="839" name="Google Shape;839;p25"/>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5"/>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25/40</a:t>
            </a:r>
            <a:endParaRPr b="0" i="0" sz="800" u="none" cap="none" strike="noStrike">
              <a:solidFill>
                <a:schemeClr val="dk1"/>
              </a:solidFill>
              <a:latin typeface="Calibri"/>
              <a:ea typeface="Calibri"/>
              <a:cs typeface="Calibri"/>
              <a:sym typeface="Calibri"/>
            </a:endParaRPr>
          </a:p>
        </p:txBody>
      </p:sp>
      <p:cxnSp>
        <p:nvCxnSpPr>
          <p:cNvPr id="841" name="Google Shape;841;p25"/>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842" name="Google Shape;842;p25"/>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843" name="Google Shape;843;p25"/>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5"/>
          <p:cNvSpPr/>
          <p:nvPr/>
        </p:nvSpPr>
        <p:spPr>
          <a:xfrm>
            <a:off x="1402525" y="754360"/>
            <a:ext cx="2377500" cy="2469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5"/>
          <p:cNvSpPr/>
          <p:nvPr/>
        </p:nvSpPr>
        <p:spPr>
          <a:xfrm>
            <a:off x="1402525" y="754360"/>
            <a:ext cx="23775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Security — Attack</a:t>
            </a:r>
            <a:endParaRPr b="0" i="0" sz="1000" u="none" cap="none" strike="noStrike">
              <a:solidFill>
                <a:schemeClr val="dk1"/>
              </a:solidFill>
              <a:latin typeface="Calibri"/>
              <a:ea typeface="Calibri"/>
              <a:cs typeface="Calibri"/>
              <a:sym typeface="Calibri"/>
            </a:endParaRPr>
          </a:p>
        </p:txBody>
      </p:sp>
      <p:sp>
        <p:nvSpPr>
          <p:cNvPr id="846" name="Google Shape;846;p25"/>
          <p:cNvSpPr/>
          <p:nvPr/>
        </p:nvSpPr>
        <p:spPr>
          <a:xfrm>
            <a:off x="347475" y="1078975"/>
            <a:ext cx="4487400" cy="36576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5"/>
          <p:cNvSpPr/>
          <p:nvPr/>
        </p:nvSpPr>
        <p:spPr>
          <a:xfrm>
            <a:off x="566865" y="1232085"/>
            <a:ext cx="4048800" cy="33855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Receives Filtered Target Inputs </a:t>
            </a:r>
            <a:r>
              <a:rPr b="0" i="0" lang="en-US" sz="1150" u="none" cap="none" strike="noStrike">
                <a:solidFill>
                  <a:srgbClr val="334155"/>
                </a:solidFill>
                <a:latin typeface="Merriweather"/>
                <a:ea typeface="Merriweather"/>
                <a:cs typeface="Merriweather"/>
                <a:sym typeface="Merriweather"/>
              </a:rPr>
              <a:t>— ReconAgent's structured output is the AttackAgent's starting point.</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Intelligent Port-to-Scanner Mapping </a:t>
            </a:r>
            <a:r>
              <a:rPr b="0" i="0" lang="en-US" sz="1150" u="none" cap="none" strike="noStrike">
                <a:solidFill>
                  <a:srgbClr val="334155"/>
                </a:solidFill>
                <a:latin typeface="Merriweather"/>
                <a:ea typeface="Merriweather"/>
                <a:cs typeface="Merriweather"/>
                <a:sym typeface="Merriweather"/>
              </a:rPr>
              <a:t>— Port 80/443 triggers HTTP templates; Port 3306 triggers MySQL templates.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Executes Exact Tool Chaining</a:t>
            </a:r>
            <a:r>
              <a:rPr b="0" i="0" lang="en-US" sz="1150" u="none" cap="none" strike="noStrike">
                <a:solidFill>
                  <a:srgbClr val="334155"/>
                </a:solidFill>
                <a:latin typeface="Merriweather"/>
                <a:ea typeface="Merriweather"/>
                <a:cs typeface="Merriweather"/>
                <a:sym typeface="Merriweather"/>
              </a:rPr>
              <a:t> — Nuclei YAML templates chosen deterministically by service type.</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No Guesswork </a:t>
            </a:r>
            <a:r>
              <a:rPr b="0" i="0" lang="en-US" sz="1150" u="none" cap="none" strike="noStrike">
                <a:solidFill>
                  <a:srgbClr val="334155"/>
                </a:solidFill>
                <a:latin typeface="Merriweather"/>
                <a:ea typeface="Merriweather"/>
                <a:cs typeface="Merriweather"/>
                <a:sym typeface="Merriweather"/>
              </a:rPr>
              <a:t>— The tool chain is a fixed, auditable decision tree, not an AI prompt.</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Structured output persisted</a:t>
            </a:r>
            <a:r>
              <a:rPr b="0" i="0" lang="en-US" sz="1150" u="none" cap="none" strike="noStrike">
                <a:solidFill>
                  <a:srgbClr val="334155"/>
                </a:solidFill>
                <a:latin typeface="Merriweather"/>
                <a:ea typeface="Merriweather"/>
                <a:cs typeface="Merriweather"/>
                <a:sym typeface="Merriweather"/>
              </a:rPr>
              <a:t> — All findings mapped to (host, port, vuln_id, cvss_score) schema.</a:t>
            </a:r>
            <a:endParaRPr b="0" i="0" sz="1150" u="none" cap="none" strike="noStrike">
              <a:solidFill>
                <a:schemeClr val="dk1"/>
              </a:solidFill>
              <a:latin typeface="Calibri"/>
              <a:ea typeface="Calibri"/>
              <a:cs typeface="Calibri"/>
              <a:sym typeface="Calibri"/>
            </a:endParaRPr>
          </a:p>
        </p:txBody>
      </p:sp>
      <p:sp>
        <p:nvSpPr>
          <p:cNvPr id="848" name="Google Shape;848;p25"/>
          <p:cNvSpPr/>
          <p:nvPr/>
        </p:nvSpPr>
        <p:spPr>
          <a:xfrm>
            <a:off x="4983355" y="1086933"/>
            <a:ext cx="3840600" cy="62190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5"/>
          <p:cNvSpPr/>
          <p:nvPr/>
        </p:nvSpPr>
        <p:spPr>
          <a:xfrm>
            <a:off x="4983355" y="1086933"/>
            <a:ext cx="3840600" cy="6219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E7490"/>
              </a:buClr>
              <a:buSzPts val="1000"/>
              <a:buFont typeface="Merriweather"/>
              <a:buNone/>
            </a:pPr>
            <a:r>
              <a:rPr b="1" i="0" lang="en-US" sz="1200" u="none" cap="none" strike="noStrike">
                <a:solidFill>
                  <a:srgbClr val="0E7490"/>
                </a:solidFill>
                <a:latin typeface="Merriweather"/>
                <a:ea typeface="Merriweather"/>
                <a:cs typeface="Merriweather"/>
                <a:sym typeface="Merriweather"/>
              </a:rPr>
              <a:t>ReconAgent Results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E7490"/>
              </a:buClr>
              <a:buSzPts val="1000"/>
              <a:buFont typeface="Merriweather"/>
              <a:buNone/>
            </a:pPr>
            <a:r>
              <a:rPr b="1" i="0" lang="en-US" sz="1200" u="none" cap="none" strike="noStrike">
                <a:solidFill>
                  <a:srgbClr val="0E7490"/>
                </a:solidFill>
                <a:latin typeface="Merriweather"/>
                <a:ea typeface="Merriweather"/>
                <a:cs typeface="Merriweather"/>
                <a:sym typeface="Merriweather"/>
              </a:rPr>
              <a:t>(Ports · Services · DOM)</a:t>
            </a:r>
            <a:endParaRPr b="0" i="0" sz="1200" u="none" cap="none" strike="noStrike">
              <a:solidFill>
                <a:schemeClr val="dk1"/>
              </a:solidFill>
              <a:latin typeface="Calibri"/>
              <a:ea typeface="Calibri"/>
              <a:cs typeface="Calibri"/>
              <a:sym typeface="Calibri"/>
            </a:endParaRPr>
          </a:p>
        </p:txBody>
      </p:sp>
      <p:cxnSp>
        <p:nvCxnSpPr>
          <p:cNvPr id="850" name="Google Shape;850;p25"/>
          <p:cNvCxnSpPr/>
          <p:nvPr/>
        </p:nvCxnSpPr>
        <p:spPr>
          <a:xfrm>
            <a:off x="6903595" y="1708725"/>
            <a:ext cx="0" cy="429900"/>
          </a:xfrm>
          <a:prstGeom prst="straightConnector1">
            <a:avLst/>
          </a:prstGeom>
          <a:noFill/>
          <a:ln cap="flat" cmpd="sng" w="25400">
            <a:solidFill>
              <a:srgbClr val="06B6D4"/>
            </a:solidFill>
            <a:prstDash val="solid"/>
            <a:round/>
            <a:headEnd len="sm" w="sm" type="none"/>
            <a:tailEnd len="med" w="med" type="stealth"/>
          </a:ln>
        </p:spPr>
      </p:cxnSp>
      <p:sp>
        <p:nvSpPr>
          <p:cNvPr id="851" name="Google Shape;851;p25"/>
          <p:cNvSpPr/>
          <p:nvPr/>
        </p:nvSpPr>
        <p:spPr>
          <a:xfrm>
            <a:off x="4983355" y="2138493"/>
            <a:ext cx="3840600" cy="621900"/>
          </a:xfrm>
          <a:prstGeom prst="rect">
            <a:avLst/>
          </a:prstGeom>
          <a:solidFill>
            <a:srgbClr val="EDE9FE"/>
          </a:solidFill>
          <a:ln cap="flat" cmpd="sng" w="254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5"/>
          <p:cNvSpPr/>
          <p:nvPr/>
        </p:nvSpPr>
        <p:spPr>
          <a:xfrm>
            <a:off x="4983355" y="2138493"/>
            <a:ext cx="3840600" cy="6219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7C3AED"/>
              </a:buClr>
              <a:buSzPts val="1050"/>
              <a:buFont typeface="Merriweather"/>
              <a:buNone/>
            </a:pPr>
            <a:r>
              <a:rPr b="1" i="0" lang="en-US" sz="1250" u="none" cap="none" strike="noStrike">
                <a:solidFill>
                  <a:srgbClr val="7C3AED"/>
                </a:solidFill>
                <a:latin typeface="Merriweather"/>
                <a:ea typeface="Merriweather"/>
                <a:cs typeface="Merriweather"/>
                <a:sym typeface="Merriweather"/>
              </a:rPr>
              <a:t>AttackAgent</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C3AED"/>
              </a:buClr>
              <a:buSzPts val="1050"/>
              <a:buFont typeface="Merriweather"/>
              <a:buNone/>
            </a:pPr>
            <a:r>
              <a:rPr b="1" i="0" lang="en-US" sz="1250" u="none" cap="none" strike="noStrike">
                <a:solidFill>
                  <a:srgbClr val="7C3AED"/>
                </a:solidFill>
                <a:latin typeface="Merriweather"/>
                <a:ea typeface="Merriweather"/>
                <a:cs typeface="Merriweather"/>
                <a:sym typeface="Merriweather"/>
              </a:rPr>
              <a:t>Decision Router</a:t>
            </a:r>
            <a:endParaRPr b="0" i="0" sz="1250" u="none" cap="none" strike="noStrike">
              <a:solidFill>
                <a:schemeClr val="dk1"/>
              </a:solidFill>
              <a:latin typeface="Calibri"/>
              <a:ea typeface="Calibri"/>
              <a:cs typeface="Calibri"/>
              <a:sym typeface="Calibri"/>
            </a:endParaRPr>
          </a:p>
        </p:txBody>
      </p:sp>
      <p:cxnSp>
        <p:nvCxnSpPr>
          <p:cNvPr id="853" name="Google Shape;853;p25"/>
          <p:cNvCxnSpPr/>
          <p:nvPr/>
        </p:nvCxnSpPr>
        <p:spPr>
          <a:xfrm>
            <a:off x="6903595" y="2760285"/>
            <a:ext cx="0" cy="0"/>
          </a:xfrm>
          <a:prstGeom prst="straightConnector1">
            <a:avLst/>
          </a:prstGeom>
          <a:noFill/>
          <a:ln cap="flat" cmpd="sng" w="25400">
            <a:solidFill>
              <a:srgbClr val="06B6D4"/>
            </a:solidFill>
            <a:prstDash val="solid"/>
            <a:round/>
            <a:headEnd len="sm" w="sm" type="none"/>
            <a:tailEnd len="med" w="med" type="stealth"/>
          </a:ln>
        </p:spPr>
      </p:cxnSp>
      <p:cxnSp>
        <p:nvCxnSpPr>
          <p:cNvPr id="854" name="Google Shape;854;p25"/>
          <p:cNvCxnSpPr/>
          <p:nvPr/>
        </p:nvCxnSpPr>
        <p:spPr>
          <a:xfrm>
            <a:off x="5897755" y="2760285"/>
            <a:ext cx="0" cy="521100"/>
          </a:xfrm>
          <a:prstGeom prst="straightConnector1">
            <a:avLst/>
          </a:prstGeom>
          <a:noFill/>
          <a:ln cap="flat" cmpd="sng" w="19050">
            <a:solidFill>
              <a:srgbClr val="06B6D4"/>
            </a:solidFill>
            <a:prstDash val="solid"/>
            <a:round/>
            <a:headEnd len="sm" w="sm" type="none"/>
            <a:tailEnd len="med" w="med" type="stealth"/>
          </a:ln>
        </p:spPr>
      </p:cxnSp>
      <p:cxnSp>
        <p:nvCxnSpPr>
          <p:cNvPr id="855" name="Google Shape;855;p25"/>
          <p:cNvCxnSpPr/>
          <p:nvPr/>
        </p:nvCxnSpPr>
        <p:spPr>
          <a:xfrm>
            <a:off x="7909435" y="2760285"/>
            <a:ext cx="0" cy="521100"/>
          </a:xfrm>
          <a:prstGeom prst="straightConnector1">
            <a:avLst/>
          </a:prstGeom>
          <a:noFill/>
          <a:ln cap="flat" cmpd="sng" w="19050">
            <a:solidFill>
              <a:srgbClr val="06B6D4"/>
            </a:solidFill>
            <a:prstDash val="solid"/>
            <a:round/>
            <a:headEnd len="sm" w="sm" type="none"/>
            <a:tailEnd len="med" w="med" type="stealth"/>
          </a:ln>
        </p:spPr>
      </p:cxnSp>
      <p:sp>
        <p:nvSpPr>
          <p:cNvPr id="856" name="Google Shape;856;p25"/>
          <p:cNvSpPr/>
          <p:nvPr/>
        </p:nvSpPr>
        <p:spPr>
          <a:xfrm>
            <a:off x="4983355" y="3281493"/>
            <a:ext cx="1828800" cy="594300"/>
          </a:xfrm>
          <a:prstGeom prst="rect">
            <a:avLst/>
          </a:prstGeom>
          <a:solidFill>
            <a:srgbClr val="FEF3C7"/>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5"/>
          <p:cNvSpPr/>
          <p:nvPr/>
        </p:nvSpPr>
        <p:spPr>
          <a:xfrm>
            <a:off x="4983355" y="3281493"/>
            <a:ext cx="1828800" cy="5943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D97706"/>
              </a:buClr>
              <a:buSzPts val="950"/>
              <a:buFont typeface="Merriweather"/>
              <a:buNone/>
            </a:pPr>
            <a:r>
              <a:rPr b="1" i="0" lang="en-US" sz="1150" u="none" cap="none" strike="noStrike">
                <a:solidFill>
                  <a:srgbClr val="D97706"/>
                </a:solidFill>
                <a:latin typeface="Merriweather"/>
                <a:ea typeface="Merriweather"/>
                <a:cs typeface="Merriweather"/>
                <a:sym typeface="Merriweather"/>
              </a:rPr>
              <a:t>HTTP</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7706"/>
              </a:buClr>
              <a:buSzPts val="950"/>
              <a:buFont typeface="Merriweather"/>
              <a:buNone/>
            </a:pPr>
            <a:r>
              <a:rPr b="1" i="0" lang="en-US" sz="1150" u="none" cap="none" strike="noStrike">
                <a:solidFill>
                  <a:srgbClr val="D97706"/>
                </a:solidFill>
                <a:latin typeface="Merriweather"/>
                <a:ea typeface="Merriweather"/>
                <a:cs typeface="Merriweather"/>
                <a:sym typeface="Merriweather"/>
              </a:rPr>
              <a:t>Nuclei</a:t>
            </a:r>
            <a:endParaRPr b="0" i="0" sz="1150" u="none" cap="none" strike="noStrike">
              <a:solidFill>
                <a:schemeClr val="dk1"/>
              </a:solidFill>
              <a:latin typeface="Calibri"/>
              <a:ea typeface="Calibri"/>
              <a:cs typeface="Calibri"/>
              <a:sym typeface="Calibri"/>
            </a:endParaRPr>
          </a:p>
        </p:txBody>
      </p:sp>
      <p:sp>
        <p:nvSpPr>
          <p:cNvPr id="858" name="Google Shape;858;p25"/>
          <p:cNvSpPr/>
          <p:nvPr/>
        </p:nvSpPr>
        <p:spPr>
          <a:xfrm>
            <a:off x="6995035" y="3281493"/>
            <a:ext cx="1828800" cy="594300"/>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5"/>
          <p:cNvSpPr/>
          <p:nvPr/>
        </p:nvSpPr>
        <p:spPr>
          <a:xfrm>
            <a:off x="6995035" y="3281493"/>
            <a:ext cx="1828800" cy="5943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59669"/>
              </a:buClr>
              <a:buSzPts val="950"/>
              <a:buFont typeface="Merriweather"/>
              <a:buNone/>
            </a:pPr>
            <a:r>
              <a:rPr b="1" i="0" lang="en-US" sz="1150" u="none" cap="none" strike="noStrike">
                <a:solidFill>
                  <a:srgbClr val="059669"/>
                </a:solidFill>
                <a:latin typeface="Merriweather"/>
                <a:ea typeface="Merriweather"/>
                <a:cs typeface="Merriweather"/>
                <a:sym typeface="Merriweather"/>
              </a:rPr>
              <a:t>DB/SSH</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59669"/>
              </a:buClr>
              <a:buSzPts val="950"/>
              <a:buFont typeface="Merriweather"/>
              <a:buNone/>
            </a:pPr>
            <a:r>
              <a:rPr b="1" i="0" lang="en-US" sz="1150" u="none" cap="none" strike="noStrike">
                <a:solidFill>
                  <a:srgbClr val="059669"/>
                </a:solidFill>
                <a:latin typeface="Merriweather"/>
                <a:ea typeface="Merriweather"/>
                <a:cs typeface="Merriweather"/>
                <a:sym typeface="Merriweather"/>
              </a:rPr>
              <a:t>Nuclei</a:t>
            </a:r>
            <a:endParaRPr b="0" i="0" sz="1150" u="none" cap="none" strike="noStrike">
              <a:solidFill>
                <a:schemeClr val="dk1"/>
              </a:solidFill>
              <a:latin typeface="Calibri"/>
              <a:ea typeface="Calibri"/>
              <a:cs typeface="Calibri"/>
              <a:sym typeface="Calibri"/>
            </a:endParaRPr>
          </a:p>
        </p:txBody>
      </p:sp>
      <p:cxnSp>
        <p:nvCxnSpPr>
          <p:cNvPr id="860" name="Google Shape;860;p25"/>
          <p:cNvCxnSpPr/>
          <p:nvPr/>
        </p:nvCxnSpPr>
        <p:spPr>
          <a:xfrm>
            <a:off x="5897755" y="3875853"/>
            <a:ext cx="0" cy="384000"/>
          </a:xfrm>
          <a:prstGeom prst="straightConnector1">
            <a:avLst/>
          </a:prstGeom>
          <a:noFill/>
          <a:ln cap="flat" cmpd="sng" w="19050">
            <a:solidFill>
              <a:srgbClr val="D97706"/>
            </a:solidFill>
            <a:prstDash val="solid"/>
            <a:round/>
            <a:headEnd len="sm" w="sm" type="none"/>
            <a:tailEnd len="med" w="med" type="stealth"/>
          </a:ln>
        </p:spPr>
      </p:cxnSp>
      <p:cxnSp>
        <p:nvCxnSpPr>
          <p:cNvPr id="861" name="Google Shape;861;p25"/>
          <p:cNvCxnSpPr/>
          <p:nvPr/>
        </p:nvCxnSpPr>
        <p:spPr>
          <a:xfrm>
            <a:off x="7909435" y="3875853"/>
            <a:ext cx="0" cy="384000"/>
          </a:xfrm>
          <a:prstGeom prst="straightConnector1">
            <a:avLst/>
          </a:prstGeom>
          <a:noFill/>
          <a:ln cap="flat" cmpd="sng" w="19050">
            <a:solidFill>
              <a:srgbClr val="059669"/>
            </a:solidFill>
            <a:prstDash val="solid"/>
            <a:round/>
            <a:headEnd len="sm" w="sm" type="none"/>
            <a:tailEnd len="med" w="med" type="stealth"/>
          </a:ln>
        </p:spPr>
      </p:cxnSp>
      <p:sp>
        <p:nvSpPr>
          <p:cNvPr id="862" name="Google Shape;862;p25"/>
          <p:cNvSpPr/>
          <p:nvPr/>
        </p:nvSpPr>
        <p:spPr>
          <a:xfrm>
            <a:off x="4983355" y="4259901"/>
            <a:ext cx="3840600" cy="502800"/>
          </a:xfrm>
          <a:prstGeom prst="rect">
            <a:avLst/>
          </a:prstGeom>
          <a:solidFill>
            <a:srgbClr val="CFFAFE"/>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5"/>
          <p:cNvSpPr/>
          <p:nvPr/>
        </p:nvSpPr>
        <p:spPr>
          <a:xfrm>
            <a:off x="4983355" y="4259901"/>
            <a:ext cx="3840600" cy="5028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E7490"/>
              </a:buClr>
              <a:buSzPts val="950"/>
              <a:buFont typeface="Merriweather"/>
              <a:buNone/>
            </a:pPr>
            <a:r>
              <a:rPr b="1" i="0" lang="en-US" sz="1150" u="none" cap="none" strike="noStrike">
                <a:solidFill>
                  <a:srgbClr val="0E7490"/>
                </a:solidFill>
                <a:latin typeface="Merriweather"/>
                <a:ea typeface="Merriweather"/>
                <a:cs typeface="Merriweather"/>
                <a:sym typeface="Merriweather"/>
              </a:rPr>
              <a:t>Unified</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E7490"/>
              </a:buClr>
              <a:buSzPts val="950"/>
              <a:buFont typeface="Merriweather"/>
              <a:buNone/>
            </a:pPr>
            <a:r>
              <a:rPr b="1" i="0" lang="en-US" sz="1150" u="none" cap="none" strike="noStrike">
                <a:solidFill>
                  <a:srgbClr val="0E7490"/>
                </a:solidFill>
                <a:latin typeface="Merriweather"/>
                <a:ea typeface="Merriweather"/>
                <a:cs typeface="Merriweather"/>
                <a:sym typeface="Merriweather"/>
              </a:rPr>
              <a:t>Vulnerability Store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8" name="Shape 868"/>
        <p:cNvGrpSpPr/>
        <p:nvPr/>
      </p:nvGrpSpPr>
      <p:grpSpPr>
        <a:xfrm>
          <a:off x="0" y="0"/>
          <a:ext cx="0" cy="0"/>
          <a:chOff x="0" y="0"/>
          <a:chExt cx="0" cy="0"/>
        </a:xfrm>
      </p:grpSpPr>
      <p:sp>
        <p:nvSpPr>
          <p:cNvPr id="869" name="Google Shape;869;p26"/>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6"/>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6"/>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Nuclei Template Orchestration — Smart Targeting</a:t>
            </a:r>
            <a:endParaRPr b="0" i="0" sz="2200" u="none" cap="none" strike="noStrike">
              <a:solidFill>
                <a:schemeClr val="dk1"/>
              </a:solidFill>
              <a:latin typeface="Calibri"/>
              <a:ea typeface="Calibri"/>
              <a:cs typeface="Calibri"/>
              <a:sym typeface="Calibri"/>
            </a:endParaRPr>
          </a:p>
        </p:txBody>
      </p:sp>
      <p:sp>
        <p:nvSpPr>
          <p:cNvPr id="872" name="Google Shape;872;p26"/>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6"/>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26/40</a:t>
            </a:r>
            <a:endParaRPr b="0" i="0" sz="800" u="none" cap="none" strike="noStrike">
              <a:solidFill>
                <a:schemeClr val="dk1"/>
              </a:solidFill>
              <a:latin typeface="Calibri"/>
              <a:ea typeface="Calibri"/>
              <a:cs typeface="Calibri"/>
              <a:sym typeface="Calibri"/>
            </a:endParaRPr>
          </a:p>
        </p:txBody>
      </p:sp>
      <p:cxnSp>
        <p:nvCxnSpPr>
          <p:cNvPr id="874" name="Google Shape;874;p26"/>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875" name="Google Shape;875;p26"/>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876" name="Google Shape;876;p26"/>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6"/>
          <p:cNvSpPr/>
          <p:nvPr/>
        </p:nvSpPr>
        <p:spPr>
          <a:xfrm>
            <a:off x="1216150" y="751434"/>
            <a:ext cx="2377500" cy="2946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6"/>
          <p:cNvSpPr/>
          <p:nvPr/>
        </p:nvSpPr>
        <p:spPr>
          <a:xfrm>
            <a:off x="1216150" y="751434"/>
            <a:ext cx="2377500" cy="294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Security — Scanners</a:t>
            </a:r>
            <a:endParaRPr b="0" i="0" sz="1000" u="none" cap="none" strike="noStrike">
              <a:solidFill>
                <a:schemeClr val="dk1"/>
              </a:solidFill>
              <a:latin typeface="Calibri"/>
              <a:ea typeface="Calibri"/>
              <a:cs typeface="Calibri"/>
              <a:sym typeface="Calibri"/>
            </a:endParaRPr>
          </a:p>
        </p:txBody>
      </p:sp>
      <p:sp>
        <p:nvSpPr>
          <p:cNvPr id="879" name="Google Shape;879;p26"/>
          <p:cNvSpPr/>
          <p:nvPr/>
        </p:nvSpPr>
        <p:spPr>
          <a:xfrm>
            <a:off x="347475" y="1120799"/>
            <a:ext cx="4114800" cy="36159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6"/>
          <p:cNvSpPr/>
          <p:nvPr/>
        </p:nvSpPr>
        <p:spPr>
          <a:xfrm>
            <a:off x="548643" y="1272158"/>
            <a:ext cx="3712500" cy="334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Nuclei </a:t>
            </a:r>
            <a:r>
              <a:rPr b="0" i="0" lang="en-US" sz="1150" u="none" cap="none" strike="noStrike">
                <a:solidFill>
                  <a:srgbClr val="334155"/>
                </a:solidFill>
                <a:latin typeface="Merriweather"/>
                <a:ea typeface="Merriweather"/>
                <a:cs typeface="Merriweather"/>
                <a:sym typeface="Merriweather"/>
              </a:rPr>
              <a:t>— Fast, flexible vulnerability scanner using community-maintained YAML templates (50,000+).</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Tag-Based Template Selection</a:t>
            </a:r>
            <a:r>
              <a:rPr b="0" i="0" lang="en-US" sz="1150" u="none" cap="none" strike="noStrike">
                <a:solidFill>
                  <a:srgbClr val="334155"/>
                </a:solidFill>
                <a:latin typeface="Merriweather"/>
                <a:ea typeface="Merriweather"/>
                <a:cs typeface="Merriweather"/>
                <a:sym typeface="Merriweather"/>
              </a:rPr>
              <a:t> — Our engine maps each discovered service to the correct Nuclei tag set.</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Target-Specific Payloads</a:t>
            </a:r>
            <a:r>
              <a:rPr b="0" i="0" lang="en-US" sz="1150" u="none" cap="none" strike="noStrike">
                <a:solidFill>
                  <a:srgbClr val="334155"/>
                </a:solidFill>
                <a:latin typeface="Merriweather"/>
                <a:ea typeface="Merriweather"/>
                <a:cs typeface="Merriweather"/>
                <a:sym typeface="Merriweather"/>
              </a:rPr>
              <a:t> — Only relevant tests run, avoiding false positives from mismatched templates.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Significant Time Savings</a:t>
            </a:r>
            <a:r>
              <a:rPr b="0" i="0" lang="en-US" sz="1150" u="none" cap="none" strike="noStrike">
                <a:solidFill>
                  <a:srgbClr val="334155"/>
                </a:solidFill>
                <a:latin typeface="Merriweather"/>
                <a:ea typeface="Merriweather"/>
                <a:cs typeface="Merriweather"/>
                <a:sym typeface="Merriweather"/>
              </a:rPr>
              <a:t> — Running only port-relevant templates reduces scan time by ~70%.</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Custom Templates </a:t>
            </a:r>
            <a:r>
              <a:rPr b="0" i="0" lang="en-US" sz="1150" u="none" cap="none" strike="noStrike">
                <a:solidFill>
                  <a:srgbClr val="334155"/>
                </a:solidFill>
                <a:latin typeface="Merriweather"/>
                <a:ea typeface="Merriweather"/>
                <a:cs typeface="Merriweather"/>
                <a:sym typeface="Merriweather"/>
              </a:rPr>
              <a:t>— Team wrote proprietary templates for SME-specific misconfigurations.</a:t>
            </a:r>
            <a:endParaRPr b="0" i="0" sz="1150" u="none" cap="none" strike="noStrike">
              <a:solidFill>
                <a:schemeClr val="dk1"/>
              </a:solidFill>
              <a:latin typeface="Calibri"/>
              <a:ea typeface="Calibri"/>
              <a:cs typeface="Calibri"/>
              <a:sym typeface="Calibri"/>
            </a:endParaRPr>
          </a:p>
        </p:txBody>
      </p:sp>
      <p:sp>
        <p:nvSpPr>
          <p:cNvPr id="881" name="Google Shape;881;p26"/>
          <p:cNvSpPr/>
          <p:nvPr/>
        </p:nvSpPr>
        <p:spPr>
          <a:xfrm>
            <a:off x="4663450" y="914400"/>
            <a:ext cx="4346100" cy="619800"/>
          </a:xfrm>
          <a:prstGeom prst="rect">
            <a:avLst/>
          </a:prstGeom>
          <a:solidFill>
            <a:srgbClr val="06B6D4"/>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882" name="Google Shape;882;p26"/>
          <p:cNvSpPr/>
          <p:nvPr/>
        </p:nvSpPr>
        <p:spPr>
          <a:xfrm>
            <a:off x="4663450" y="914400"/>
            <a:ext cx="772500" cy="61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erriweather"/>
              <a:buNone/>
            </a:pPr>
            <a:r>
              <a:rPr b="1" i="0" lang="en-US" sz="1100" u="none" cap="none" strike="noStrike">
                <a:solidFill>
                  <a:srgbClr val="FFFFFF"/>
                </a:solidFill>
                <a:latin typeface="Merriweather"/>
                <a:ea typeface="Merriweather"/>
                <a:cs typeface="Merriweather"/>
                <a:sym typeface="Merriweather"/>
              </a:rPr>
              <a:t>Port</a:t>
            </a:r>
            <a:endParaRPr b="0" i="0" sz="1100" u="none" cap="none" strike="noStrike">
              <a:solidFill>
                <a:schemeClr val="dk1"/>
              </a:solidFill>
              <a:latin typeface="Calibri"/>
              <a:ea typeface="Calibri"/>
              <a:cs typeface="Calibri"/>
              <a:sym typeface="Calibri"/>
            </a:endParaRPr>
          </a:p>
        </p:txBody>
      </p:sp>
      <p:sp>
        <p:nvSpPr>
          <p:cNvPr id="883" name="Google Shape;883;p26"/>
          <p:cNvSpPr/>
          <p:nvPr/>
        </p:nvSpPr>
        <p:spPr>
          <a:xfrm>
            <a:off x="5436131" y="914400"/>
            <a:ext cx="1062300" cy="61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erriweather"/>
              <a:buNone/>
            </a:pPr>
            <a:r>
              <a:rPr b="1" i="0" lang="en-US" sz="1100" u="none" cap="none" strike="noStrike">
                <a:solidFill>
                  <a:srgbClr val="FFFFFF"/>
                </a:solidFill>
                <a:latin typeface="Merriweather"/>
                <a:ea typeface="Merriweather"/>
                <a:cs typeface="Merriweather"/>
                <a:sym typeface="Merriweather"/>
              </a:rPr>
              <a:t>Service</a:t>
            </a:r>
            <a:endParaRPr b="0" i="0" sz="1100" u="none" cap="none" strike="noStrike">
              <a:solidFill>
                <a:schemeClr val="dk1"/>
              </a:solidFill>
              <a:latin typeface="Calibri"/>
              <a:ea typeface="Calibri"/>
              <a:cs typeface="Calibri"/>
              <a:sym typeface="Calibri"/>
            </a:endParaRPr>
          </a:p>
        </p:txBody>
      </p:sp>
      <p:sp>
        <p:nvSpPr>
          <p:cNvPr id="884" name="Google Shape;884;p26"/>
          <p:cNvSpPr/>
          <p:nvPr/>
        </p:nvSpPr>
        <p:spPr>
          <a:xfrm>
            <a:off x="6498568" y="914400"/>
            <a:ext cx="2511300" cy="61980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FFFFFF"/>
              </a:buClr>
              <a:buSzPts val="900"/>
              <a:buFont typeface="Courier New"/>
              <a:buNone/>
            </a:pPr>
            <a:r>
              <a:rPr b="1" i="0" lang="en-US" sz="1100" u="none" cap="none" strike="noStrike">
                <a:solidFill>
                  <a:srgbClr val="FFFFFF"/>
                </a:solidFill>
                <a:latin typeface="Courier New"/>
                <a:ea typeface="Courier New"/>
                <a:cs typeface="Courier New"/>
                <a:sym typeface="Courier New"/>
              </a:rPr>
              <a:t>Nuclei Tags Used</a:t>
            </a:r>
            <a:endParaRPr b="0" i="0" sz="1100" u="none" cap="none" strike="noStrike">
              <a:solidFill>
                <a:schemeClr val="dk1"/>
              </a:solidFill>
              <a:latin typeface="Calibri"/>
              <a:ea typeface="Calibri"/>
              <a:cs typeface="Calibri"/>
              <a:sym typeface="Calibri"/>
            </a:endParaRPr>
          </a:p>
        </p:txBody>
      </p:sp>
      <p:sp>
        <p:nvSpPr>
          <p:cNvPr id="885" name="Google Shape;885;p26"/>
          <p:cNvSpPr/>
          <p:nvPr/>
        </p:nvSpPr>
        <p:spPr>
          <a:xfrm>
            <a:off x="4663450" y="1554880"/>
            <a:ext cx="4346100" cy="619800"/>
          </a:xfrm>
          <a:prstGeom prst="rect">
            <a:avLst/>
          </a:prstGeom>
          <a:solidFill>
            <a:srgbClr val="FFFFFF"/>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p>
        </p:txBody>
      </p:sp>
      <p:sp>
        <p:nvSpPr>
          <p:cNvPr id="886" name="Google Shape;886;p26"/>
          <p:cNvSpPr/>
          <p:nvPr/>
        </p:nvSpPr>
        <p:spPr>
          <a:xfrm>
            <a:off x="4663450" y="1554880"/>
            <a:ext cx="772500" cy="61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950"/>
              <a:buFont typeface="Merriweather"/>
              <a:buNone/>
            </a:pPr>
            <a:r>
              <a:rPr b="0" i="0" lang="en-US" sz="1150" u="none" cap="none" strike="noStrike">
                <a:solidFill>
                  <a:srgbClr val="0F172A"/>
                </a:solidFill>
                <a:latin typeface="Merriweather"/>
                <a:ea typeface="Merriweather"/>
                <a:cs typeface="Merriweather"/>
                <a:sym typeface="Merriweather"/>
              </a:rPr>
              <a:t>80 / 443</a:t>
            </a:r>
            <a:endParaRPr b="0" i="0" sz="1150" u="none" cap="none" strike="noStrike">
              <a:solidFill>
                <a:schemeClr val="dk1"/>
              </a:solidFill>
              <a:latin typeface="Calibri"/>
              <a:ea typeface="Calibri"/>
              <a:cs typeface="Calibri"/>
              <a:sym typeface="Calibri"/>
            </a:endParaRPr>
          </a:p>
        </p:txBody>
      </p:sp>
      <p:sp>
        <p:nvSpPr>
          <p:cNvPr id="887" name="Google Shape;887;p26"/>
          <p:cNvSpPr/>
          <p:nvPr/>
        </p:nvSpPr>
        <p:spPr>
          <a:xfrm>
            <a:off x="5436131" y="1554880"/>
            <a:ext cx="1062300" cy="61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4155"/>
              </a:buClr>
              <a:buSzPts val="950"/>
              <a:buFont typeface="Merriweather"/>
              <a:buNone/>
            </a:pPr>
            <a:r>
              <a:rPr b="0" i="0" lang="en-US" sz="1150" u="none" cap="none" strike="noStrike">
                <a:solidFill>
                  <a:srgbClr val="334155"/>
                </a:solidFill>
                <a:latin typeface="Merriweather"/>
                <a:ea typeface="Merriweather"/>
                <a:cs typeface="Merriweather"/>
                <a:sym typeface="Merriweather"/>
              </a:rPr>
              <a:t>HTTP/HTTPS</a:t>
            </a:r>
            <a:endParaRPr b="0" i="0" sz="1150" u="none" cap="none" strike="noStrike">
              <a:solidFill>
                <a:schemeClr val="dk1"/>
              </a:solidFill>
              <a:latin typeface="Calibri"/>
              <a:ea typeface="Calibri"/>
              <a:cs typeface="Calibri"/>
              <a:sym typeface="Calibri"/>
            </a:endParaRPr>
          </a:p>
        </p:txBody>
      </p:sp>
      <p:sp>
        <p:nvSpPr>
          <p:cNvPr id="888" name="Google Shape;888;p26"/>
          <p:cNvSpPr/>
          <p:nvPr/>
        </p:nvSpPr>
        <p:spPr>
          <a:xfrm>
            <a:off x="6498568" y="1554880"/>
            <a:ext cx="2511300" cy="61980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0E7490"/>
              </a:buClr>
              <a:buSzPts val="850"/>
              <a:buFont typeface="Courier New"/>
              <a:buNone/>
            </a:pPr>
            <a:r>
              <a:rPr b="1" i="0" lang="en-US" sz="1050" u="none" cap="none" strike="noStrike">
                <a:solidFill>
                  <a:srgbClr val="0E7490"/>
                </a:solidFill>
                <a:latin typeface="Courier New"/>
                <a:ea typeface="Courier New"/>
                <a:cs typeface="Courier New"/>
                <a:sym typeface="Courier New"/>
              </a:rPr>
              <a:t>http, cves, misconfig, xss, sqli</a:t>
            </a:r>
            <a:endParaRPr b="1" i="0" sz="1050" u="none" cap="none" strike="noStrike">
              <a:solidFill>
                <a:schemeClr val="dk1"/>
              </a:solidFill>
              <a:latin typeface="Calibri"/>
              <a:ea typeface="Calibri"/>
              <a:cs typeface="Calibri"/>
              <a:sym typeface="Calibri"/>
            </a:endParaRPr>
          </a:p>
        </p:txBody>
      </p:sp>
      <p:sp>
        <p:nvSpPr>
          <p:cNvPr id="889" name="Google Shape;889;p26"/>
          <p:cNvSpPr/>
          <p:nvPr/>
        </p:nvSpPr>
        <p:spPr>
          <a:xfrm>
            <a:off x="4663450" y="2195360"/>
            <a:ext cx="4346100" cy="619800"/>
          </a:xfrm>
          <a:prstGeom prst="rect">
            <a:avLst/>
          </a:prstGeom>
          <a:solidFill>
            <a:srgbClr val="E8F9FD"/>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p>
        </p:txBody>
      </p:sp>
      <p:sp>
        <p:nvSpPr>
          <p:cNvPr id="890" name="Google Shape;890;p26"/>
          <p:cNvSpPr/>
          <p:nvPr/>
        </p:nvSpPr>
        <p:spPr>
          <a:xfrm>
            <a:off x="4663450" y="2195360"/>
            <a:ext cx="772500" cy="61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950"/>
              <a:buFont typeface="Merriweather"/>
              <a:buNone/>
            </a:pPr>
            <a:r>
              <a:rPr b="0" i="0" lang="en-US" sz="1150" u="none" cap="none" strike="noStrike">
                <a:solidFill>
                  <a:srgbClr val="0F172A"/>
                </a:solidFill>
                <a:latin typeface="Merriweather"/>
                <a:ea typeface="Merriweather"/>
                <a:cs typeface="Merriweather"/>
                <a:sym typeface="Merriweather"/>
              </a:rPr>
              <a:t>22</a:t>
            </a:r>
            <a:endParaRPr b="0" i="0" sz="1150" u="none" cap="none" strike="noStrike">
              <a:solidFill>
                <a:schemeClr val="dk1"/>
              </a:solidFill>
              <a:latin typeface="Calibri"/>
              <a:ea typeface="Calibri"/>
              <a:cs typeface="Calibri"/>
              <a:sym typeface="Calibri"/>
            </a:endParaRPr>
          </a:p>
        </p:txBody>
      </p:sp>
      <p:sp>
        <p:nvSpPr>
          <p:cNvPr id="891" name="Google Shape;891;p26"/>
          <p:cNvSpPr/>
          <p:nvPr/>
        </p:nvSpPr>
        <p:spPr>
          <a:xfrm>
            <a:off x="5436131" y="2195360"/>
            <a:ext cx="1062300" cy="61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4155"/>
              </a:buClr>
              <a:buSzPts val="950"/>
              <a:buFont typeface="Merriweather"/>
              <a:buNone/>
            </a:pPr>
            <a:r>
              <a:rPr b="0" i="0" lang="en-US" sz="1150" u="none" cap="none" strike="noStrike">
                <a:solidFill>
                  <a:srgbClr val="334155"/>
                </a:solidFill>
                <a:latin typeface="Merriweather"/>
                <a:ea typeface="Merriweather"/>
                <a:cs typeface="Merriweather"/>
                <a:sym typeface="Merriweather"/>
              </a:rPr>
              <a:t>SSH</a:t>
            </a:r>
            <a:endParaRPr b="0" i="0" sz="1150" u="none" cap="none" strike="noStrike">
              <a:solidFill>
                <a:schemeClr val="dk1"/>
              </a:solidFill>
              <a:latin typeface="Calibri"/>
              <a:ea typeface="Calibri"/>
              <a:cs typeface="Calibri"/>
              <a:sym typeface="Calibri"/>
            </a:endParaRPr>
          </a:p>
        </p:txBody>
      </p:sp>
      <p:sp>
        <p:nvSpPr>
          <p:cNvPr id="892" name="Google Shape;892;p26"/>
          <p:cNvSpPr/>
          <p:nvPr/>
        </p:nvSpPr>
        <p:spPr>
          <a:xfrm>
            <a:off x="6498568" y="2195360"/>
            <a:ext cx="2511300" cy="61980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0E7490"/>
              </a:buClr>
              <a:buSzPts val="850"/>
              <a:buFont typeface="Courier New"/>
              <a:buNone/>
            </a:pPr>
            <a:r>
              <a:rPr b="1" i="0" lang="en-US" sz="1050" u="none" cap="none" strike="noStrike">
                <a:solidFill>
                  <a:srgbClr val="0E7490"/>
                </a:solidFill>
                <a:latin typeface="Courier New"/>
                <a:ea typeface="Courier New"/>
                <a:cs typeface="Courier New"/>
                <a:sym typeface="Courier New"/>
              </a:rPr>
              <a:t>ssh, default-logins, exposures</a:t>
            </a:r>
            <a:endParaRPr b="1" i="0" sz="1050" u="none" cap="none" strike="noStrike">
              <a:solidFill>
                <a:schemeClr val="dk1"/>
              </a:solidFill>
              <a:latin typeface="Calibri"/>
              <a:ea typeface="Calibri"/>
              <a:cs typeface="Calibri"/>
              <a:sym typeface="Calibri"/>
            </a:endParaRPr>
          </a:p>
        </p:txBody>
      </p:sp>
      <p:sp>
        <p:nvSpPr>
          <p:cNvPr id="893" name="Google Shape;893;p26"/>
          <p:cNvSpPr/>
          <p:nvPr/>
        </p:nvSpPr>
        <p:spPr>
          <a:xfrm>
            <a:off x="4663450" y="2835840"/>
            <a:ext cx="4346100" cy="619800"/>
          </a:xfrm>
          <a:prstGeom prst="rect">
            <a:avLst/>
          </a:prstGeom>
          <a:solidFill>
            <a:srgbClr val="FFFFFF"/>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p>
        </p:txBody>
      </p:sp>
      <p:sp>
        <p:nvSpPr>
          <p:cNvPr id="894" name="Google Shape;894;p26"/>
          <p:cNvSpPr/>
          <p:nvPr/>
        </p:nvSpPr>
        <p:spPr>
          <a:xfrm>
            <a:off x="4663450" y="2835840"/>
            <a:ext cx="772500" cy="61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950"/>
              <a:buFont typeface="Merriweather"/>
              <a:buNone/>
            </a:pPr>
            <a:r>
              <a:rPr b="0" i="0" lang="en-US" sz="1150" u="none" cap="none" strike="noStrike">
                <a:solidFill>
                  <a:srgbClr val="0F172A"/>
                </a:solidFill>
                <a:latin typeface="Merriweather"/>
                <a:ea typeface="Merriweather"/>
                <a:cs typeface="Merriweather"/>
                <a:sym typeface="Merriweather"/>
              </a:rPr>
              <a:t>3306</a:t>
            </a:r>
            <a:endParaRPr b="0" i="0" sz="1150" u="none" cap="none" strike="noStrike">
              <a:solidFill>
                <a:schemeClr val="dk1"/>
              </a:solidFill>
              <a:latin typeface="Calibri"/>
              <a:ea typeface="Calibri"/>
              <a:cs typeface="Calibri"/>
              <a:sym typeface="Calibri"/>
            </a:endParaRPr>
          </a:p>
        </p:txBody>
      </p:sp>
      <p:sp>
        <p:nvSpPr>
          <p:cNvPr id="895" name="Google Shape;895;p26"/>
          <p:cNvSpPr/>
          <p:nvPr/>
        </p:nvSpPr>
        <p:spPr>
          <a:xfrm>
            <a:off x="5436131" y="2835840"/>
            <a:ext cx="1062300" cy="61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4155"/>
              </a:buClr>
              <a:buSzPts val="950"/>
              <a:buFont typeface="Merriweather"/>
              <a:buNone/>
            </a:pPr>
            <a:r>
              <a:rPr b="0" i="0" lang="en-US" sz="1150" u="none" cap="none" strike="noStrike">
                <a:solidFill>
                  <a:srgbClr val="334155"/>
                </a:solidFill>
                <a:latin typeface="Merriweather"/>
                <a:ea typeface="Merriweather"/>
                <a:cs typeface="Merriweather"/>
                <a:sym typeface="Merriweather"/>
              </a:rPr>
              <a:t>MySQL</a:t>
            </a:r>
            <a:endParaRPr b="0" i="0" sz="1150" u="none" cap="none" strike="noStrike">
              <a:solidFill>
                <a:schemeClr val="dk1"/>
              </a:solidFill>
              <a:latin typeface="Calibri"/>
              <a:ea typeface="Calibri"/>
              <a:cs typeface="Calibri"/>
              <a:sym typeface="Calibri"/>
            </a:endParaRPr>
          </a:p>
        </p:txBody>
      </p:sp>
      <p:sp>
        <p:nvSpPr>
          <p:cNvPr id="896" name="Google Shape;896;p26"/>
          <p:cNvSpPr/>
          <p:nvPr/>
        </p:nvSpPr>
        <p:spPr>
          <a:xfrm>
            <a:off x="6498568" y="2835840"/>
            <a:ext cx="2511300" cy="61980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0E7490"/>
              </a:buClr>
              <a:buSzPts val="850"/>
              <a:buFont typeface="Courier New"/>
              <a:buNone/>
            </a:pPr>
            <a:r>
              <a:rPr b="1" i="0" lang="en-US" sz="1050" u="none" cap="none" strike="noStrike">
                <a:solidFill>
                  <a:srgbClr val="0E7490"/>
                </a:solidFill>
                <a:latin typeface="Courier New"/>
                <a:ea typeface="Courier New"/>
                <a:cs typeface="Courier New"/>
                <a:sym typeface="Courier New"/>
              </a:rPr>
              <a:t>mysql, default-logins, sqli</a:t>
            </a:r>
            <a:endParaRPr b="1" i="0" sz="1050" u="none" cap="none" strike="noStrike">
              <a:solidFill>
                <a:schemeClr val="dk1"/>
              </a:solidFill>
              <a:latin typeface="Calibri"/>
              <a:ea typeface="Calibri"/>
              <a:cs typeface="Calibri"/>
              <a:sym typeface="Calibri"/>
            </a:endParaRPr>
          </a:p>
        </p:txBody>
      </p:sp>
      <p:sp>
        <p:nvSpPr>
          <p:cNvPr id="897" name="Google Shape;897;p26"/>
          <p:cNvSpPr/>
          <p:nvPr/>
        </p:nvSpPr>
        <p:spPr>
          <a:xfrm>
            <a:off x="4663450" y="3476320"/>
            <a:ext cx="4346100" cy="619800"/>
          </a:xfrm>
          <a:prstGeom prst="rect">
            <a:avLst/>
          </a:prstGeom>
          <a:solidFill>
            <a:srgbClr val="E8F9FD"/>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p>
        </p:txBody>
      </p:sp>
      <p:sp>
        <p:nvSpPr>
          <p:cNvPr id="898" name="Google Shape;898;p26"/>
          <p:cNvSpPr/>
          <p:nvPr/>
        </p:nvSpPr>
        <p:spPr>
          <a:xfrm>
            <a:off x="4663450" y="3476320"/>
            <a:ext cx="772500" cy="61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950"/>
              <a:buFont typeface="Merriweather"/>
              <a:buNone/>
            </a:pPr>
            <a:r>
              <a:rPr b="0" i="0" lang="en-US" sz="1150" u="none" cap="none" strike="noStrike">
                <a:solidFill>
                  <a:srgbClr val="0F172A"/>
                </a:solidFill>
                <a:latin typeface="Merriweather"/>
                <a:ea typeface="Merriweather"/>
                <a:cs typeface="Merriweather"/>
                <a:sym typeface="Merriweather"/>
              </a:rPr>
              <a:t>6379</a:t>
            </a:r>
            <a:endParaRPr b="0" i="0" sz="1150" u="none" cap="none" strike="noStrike">
              <a:solidFill>
                <a:schemeClr val="dk1"/>
              </a:solidFill>
              <a:latin typeface="Calibri"/>
              <a:ea typeface="Calibri"/>
              <a:cs typeface="Calibri"/>
              <a:sym typeface="Calibri"/>
            </a:endParaRPr>
          </a:p>
        </p:txBody>
      </p:sp>
      <p:sp>
        <p:nvSpPr>
          <p:cNvPr id="899" name="Google Shape;899;p26"/>
          <p:cNvSpPr/>
          <p:nvPr/>
        </p:nvSpPr>
        <p:spPr>
          <a:xfrm>
            <a:off x="5436131" y="3476320"/>
            <a:ext cx="1062300" cy="61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4155"/>
              </a:buClr>
              <a:buSzPts val="950"/>
              <a:buFont typeface="Merriweather"/>
              <a:buNone/>
            </a:pPr>
            <a:r>
              <a:rPr b="0" i="0" lang="en-US" sz="1150" u="none" cap="none" strike="noStrike">
                <a:solidFill>
                  <a:srgbClr val="334155"/>
                </a:solidFill>
                <a:latin typeface="Merriweather"/>
                <a:ea typeface="Merriweather"/>
                <a:cs typeface="Merriweather"/>
                <a:sym typeface="Merriweather"/>
              </a:rPr>
              <a:t>Redis</a:t>
            </a:r>
            <a:endParaRPr b="0" i="0" sz="1150" u="none" cap="none" strike="noStrike">
              <a:solidFill>
                <a:schemeClr val="dk1"/>
              </a:solidFill>
              <a:latin typeface="Calibri"/>
              <a:ea typeface="Calibri"/>
              <a:cs typeface="Calibri"/>
              <a:sym typeface="Calibri"/>
            </a:endParaRPr>
          </a:p>
        </p:txBody>
      </p:sp>
      <p:sp>
        <p:nvSpPr>
          <p:cNvPr id="900" name="Google Shape;900;p26"/>
          <p:cNvSpPr/>
          <p:nvPr/>
        </p:nvSpPr>
        <p:spPr>
          <a:xfrm>
            <a:off x="6498568" y="3476320"/>
            <a:ext cx="2511300" cy="61980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0E7490"/>
              </a:buClr>
              <a:buSzPts val="850"/>
              <a:buFont typeface="Courier New"/>
              <a:buNone/>
            </a:pPr>
            <a:r>
              <a:rPr b="1" i="0" lang="en-US" sz="1050" u="none" cap="none" strike="noStrike">
                <a:solidFill>
                  <a:srgbClr val="0E7490"/>
                </a:solidFill>
                <a:latin typeface="Courier New"/>
                <a:ea typeface="Courier New"/>
                <a:cs typeface="Courier New"/>
                <a:sym typeface="Courier New"/>
              </a:rPr>
              <a:t>redis, exposures, misconfig</a:t>
            </a:r>
            <a:endParaRPr b="1" i="0" sz="1050" u="none" cap="none" strike="noStrike">
              <a:solidFill>
                <a:schemeClr val="dk1"/>
              </a:solidFill>
              <a:latin typeface="Calibri"/>
              <a:ea typeface="Calibri"/>
              <a:cs typeface="Calibri"/>
              <a:sym typeface="Calibri"/>
            </a:endParaRPr>
          </a:p>
        </p:txBody>
      </p:sp>
      <p:sp>
        <p:nvSpPr>
          <p:cNvPr id="901" name="Google Shape;901;p26"/>
          <p:cNvSpPr/>
          <p:nvPr/>
        </p:nvSpPr>
        <p:spPr>
          <a:xfrm>
            <a:off x="4663450" y="4116800"/>
            <a:ext cx="4346100" cy="619800"/>
          </a:xfrm>
          <a:prstGeom prst="rect">
            <a:avLst/>
          </a:prstGeom>
          <a:solidFill>
            <a:srgbClr val="FFFFFF"/>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600"/>
          </a:p>
        </p:txBody>
      </p:sp>
      <p:sp>
        <p:nvSpPr>
          <p:cNvPr id="902" name="Google Shape;902;p26"/>
          <p:cNvSpPr/>
          <p:nvPr/>
        </p:nvSpPr>
        <p:spPr>
          <a:xfrm>
            <a:off x="4663450" y="4116800"/>
            <a:ext cx="772500" cy="61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950"/>
              <a:buFont typeface="Merriweather"/>
              <a:buNone/>
            </a:pPr>
            <a:r>
              <a:rPr b="0" i="0" lang="en-US" sz="1150" u="none" cap="none" strike="noStrike">
                <a:solidFill>
                  <a:srgbClr val="0F172A"/>
                </a:solidFill>
                <a:latin typeface="Merriweather"/>
                <a:ea typeface="Merriweather"/>
                <a:cs typeface="Merriweather"/>
                <a:sym typeface="Merriweather"/>
              </a:rPr>
              <a:t>8080</a:t>
            </a:r>
            <a:endParaRPr b="0" i="0" sz="1150" u="none" cap="none" strike="noStrike">
              <a:solidFill>
                <a:schemeClr val="dk1"/>
              </a:solidFill>
              <a:latin typeface="Calibri"/>
              <a:ea typeface="Calibri"/>
              <a:cs typeface="Calibri"/>
              <a:sym typeface="Calibri"/>
            </a:endParaRPr>
          </a:p>
        </p:txBody>
      </p:sp>
      <p:sp>
        <p:nvSpPr>
          <p:cNvPr id="903" name="Google Shape;903;p26"/>
          <p:cNvSpPr/>
          <p:nvPr/>
        </p:nvSpPr>
        <p:spPr>
          <a:xfrm>
            <a:off x="5436131" y="4116800"/>
            <a:ext cx="1062300" cy="619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4155"/>
              </a:buClr>
              <a:buSzPts val="950"/>
              <a:buFont typeface="Merriweather"/>
              <a:buNone/>
            </a:pPr>
            <a:r>
              <a:rPr b="0" i="0" lang="en-US" sz="1150" u="none" cap="none" strike="noStrike">
                <a:solidFill>
                  <a:srgbClr val="334155"/>
                </a:solidFill>
                <a:latin typeface="Merriweather"/>
                <a:ea typeface="Merriweather"/>
                <a:cs typeface="Merriweather"/>
                <a:sym typeface="Merriweather"/>
              </a:rPr>
              <a:t>HTTP-Alt</a:t>
            </a:r>
            <a:endParaRPr b="0" i="0" sz="1150" u="none" cap="none" strike="noStrike">
              <a:solidFill>
                <a:schemeClr val="dk1"/>
              </a:solidFill>
              <a:latin typeface="Calibri"/>
              <a:ea typeface="Calibri"/>
              <a:cs typeface="Calibri"/>
              <a:sym typeface="Calibri"/>
            </a:endParaRPr>
          </a:p>
        </p:txBody>
      </p:sp>
      <p:sp>
        <p:nvSpPr>
          <p:cNvPr id="904" name="Google Shape;904;p26"/>
          <p:cNvSpPr/>
          <p:nvPr/>
        </p:nvSpPr>
        <p:spPr>
          <a:xfrm>
            <a:off x="6498568" y="4116800"/>
            <a:ext cx="2511300" cy="619800"/>
          </a:xfrm>
          <a:prstGeom prst="rect">
            <a:avLst/>
          </a:prstGeom>
          <a:noFill/>
          <a:ln>
            <a:noFill/>
          </a:ln>
        </p:spPr>
        <p:txBody>
          <a:bodyPr anchorCtr="0" anchor="ctr" bIns="50800" lIns="50800" spcFirstLastPara="1" rIns="50800" wrap="square" tIns="50800">
            <a:noAutofit/>
          </a:bodyPr>
          <a:lstStyle/>
          <a:p>
            <a:pPr indent="0" lvl="0" marL="0" marR="0" rtl="0" algn="l">
              <a:spcBef>
                <a:spcPts val="0"/>
              </a:spcBef>
              <a:spcAft>
                <a:spcPts val="0"/>
              </a:spcAft>
              <a:buClr>
                <a:srgbClr val="0E7490"/>
              </a:buClr>
              <a:buSzPts val="850"/>
              <a:buFont typeface="Courier New"/>
              <a:buNone/>
            </a:pPr>
            <a:r>
              <a:rPr b="1" i="0" lang="en-US" sz="1050" u="none" cap="none" strike="noStrike">
                <a:solidFill>
                  <a:srgbClr val="0E7490"/>
                </a:solidFill>
                <a:latin typeface="Courier New"/>
                <a:ea typeface="Courier New"/>
                <a:cs typeface="Courier New"/>
                <a:sym typeface="Courier New"/>
              </a:rPr>
              <a:t>http, panels, tomcat, jenkins</a:t>
            </a:r>
            <a:endParaRPr b="1" i="0" sz="10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9" name="Shape 909"/>
        <p:cNvGrpSpPr/>
        <p:nvPr/>
      </p:nvGrpSpPr>
      <p:grpSpPr>
        <a:xfrm>
          <a:off x="0" y="0"/>
          <a:ext cx="0" cy="0"/>
          <a:chOff x="0" y="0"/>
          <a:chExt cx="0" cy="0"/>
        </a:xfrm>
      </p:grpSpPr>
      <p:sp>
        <p:nvSpPr>
          <p:cNvPr id="910" name="Google Shape;910;p27"/>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7"/>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7"/>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Risk Calculation: The Unified Risk Engine</a:t>
            </a:r>
            <a:endParaRPr b="0" i="0" sz="2200" u="none" cap="none" strike="noStrike">
              <a:solidFill>
                <a:schemeClr val="dk1"/>
              </a:solidFill>
              <a:latin typeface="Calibri"/>
              <a:ea typeface="Calibri"/>
              <a:cs typeface="Calibri"/>
              <a:sym typeface="Calibri"/>
            </a:endParaRPr>
          </a:p>
        </p:txBody>
      </p:sp>
      <p:sp>
        <p:nvSpPr>
          <p:cNvPr id="913" name="Google Shape;913;p27"/>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7"/>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27/40</a:t>
            </a:r>
            <a:endParaRPr b="0" i="0" sz="800" u="none" cap="none" strike="noStrike">
              <a:solidFill>
                <a:schemeClr val="dk1"/>
              </a:solidFill>
              <a:latin typeface="Calibri"/>
              <a:ea typeface="Calibri"/>
              <a:cs typeface="Calibri"/>
              <a:sym typeface="Calibri"/>
            </a:endParaRPr>
          </a:p>
        </p:txBody>
      </p:sp>
      <p:cxnSp>
        <p:nvCxnSpPr>
          <p:cNvPr id="915" name="Google Shape;915;p27"/>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916" name="Google Shape;916;p27"/>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917" name="Google Shape;917;p27"/>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7"/>
          <p:cNvSpPr/>
          <p:nvPr/>
        </p:nvSpPr>
        <p:spPr>
          <a:xfrm>
            <a:off x="1307625" y="737622"/>
            <a:ext cx="2377500" cy="2469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7"/>
          <p:cNvSpPr/>
          <p:nvPr/>
        </p:nvSpPr>
        <p:spPr>
          <a:xfrm>
            <a:off x="1307625" y="737622"/>
            <a:ext cx="23775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Risk Engine</a:t>
            </a:r>
            <a:endParaRPr b="0" i="0" sz="1000" u="none" cap="none" strike="noStrike">
              <a:solidFill>
                <a:schemeClr val="dk1"/>
              </a:solidFill>
              <a:latin typeface="Calibri"/>
              <a:ea typeface="Calibri"/>
              <a:cs typeface="Calibri"/>
              <a:sym typeface="Calibri"/>
            </a:endParaRPr>
          </a:p>
        </p:txBody>
      </p:sp>
      <p:sp>
        <p:nvSpPr>
          <p:cNvPr id="920" name="Google Shape;920;p27"/>
          <p:cNvSpPr/>
          <p:nvPr/>
        </p:nvSpPr>
        <p:spPr>
          <a:xfrm>
            <a:off x="347475" y="1045488"/>
            <a:ext cx="4297800" cy="26508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7"/>
          <p:cNvSpPr/>
          <p:nvPr/>
        </p:nvSpPr>
        <p:spPr>
          <a:xfrm>
            <a:off x="548643" y="1215911"/>
            <a:ext cx="3895200" cy="23481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i="0" lang="en-US" sz="1150" u="none" cap="none" strike="noStrike">
                <a:solidFill>
                  <a:srgbClr val="334155"/>
                </a:solidFill>
                <a:latin typeface="Merriweather"/>
                <a:ea typeface="Merriweather"/>
                <a:cs typeface="Merriweather"/>
                <a:sym typeface="Merriweather"/>
              </a:rPr>
              <a:t>Deterministic Math Engine</a:t>
            </a:r>
            <a:r>
              <a:rPr b="0" i="0" lang="en-US" sz="1150" u="none" cap="none" strike="noStrike">
                <a:solidFill>
                  <a:srgbClr val="334155"/>
                </a:solidFill>
                <a:latin typeface="Merriweather"/>
                <a:ea typeface="Merriweather"/>
                <a:cs typeface="Merriweather"/>
                <a:sym typeface="Merriweather"/>
              </a:rPr>
              <a:t> — Zero AI involvement in scoring; 100% reproducible across runs.</a:t>
            </a:r>
            <a:endParaRPr b="0" i="0" sz="1150" u="none" cap="none" strike="noStrike">
              <a:solidFill>
                <a:schemeClr val="dk1"/>
              </a:solidFill>
              <a:latin typeface="Calibri"/>
              <a:ea typeface="Calibri"/>
              <a:cs typeface="Calibri"/>
              <a:sym typeface="Calibri"/>
            </a:endParaRPr>
          </a:p>
          <a:p>
            <a:pPr indent="0" lvl="0" marL="0" marR="0" rtl="0" algn="l">
              <a:lnSpc>
                <a:spcPct val="150000"/>
              </a:lnSpc>
              <a:spcBef>
                <a:spcPts val="500"/>
              </a:spcBef>
              <a:spcAft>
                <a:spcPts val="0"/>
              </a:spcAft>
              <a:buNone/>
            </a:pPr>
            <a:r>
              <a:rPr b="1" i="0" lang="en-US" sz="1150" u="none" cap="none" strike="noStrike">
                <a:solidFill>
                  <a:srgbClr val="334155"/>
                </a:solidFill>
                <a:latin typeface="Merriweather"/>
                <a:ea typeface="Merriweather"/>
                <a:cs typeface="Merriweather"/>
                <a:sym typeface="Merriweather"/>
              </a:rPr>
              <a:t>Translates</a:t>
            </a:r>
            <a:r>
              <a:rPr b="0" i="0" lang="en-US" sz="1150" u="none" cap="none" strike="noStrike">
                <a:solidFill>
                  <a:srgbClr val="334155"/>
                </a:solidFill>
                <a:latin typeface="Merriweather"/>
                <a:ea typeface="Merriweather"/>
                <a:cs typeface="Merriweather"/>
                <a:sym typeface="Merriweather"/>
              </a:rPr>
              <a:t> raw CVE findings into numeric business risk values per asset.</a:t>
            </a:r>
            <a:endParaRPr b="0" i="0" sz="1150" u="none" cap="none" strike="noStrike">
              <a:solidFill>
                <a:schemeClr val="dk1"/>
              </a:solidFill>
              <a:latin typeface="Calibri"/>
              <a:ea typeface="Calibri"/>
              <a:cs typeface="Calibri"/>
              <a:sym typeface="Calibri"/>
            </a:endParaRPr>
          </a:p>
          <a:p>
            <a:pPr indent="0" lvl="0" marL="0" marR="0" rtl="0" algn="l">
              <a:lnSpc>
                <a:spcPct val="150000"/>
              </a:lnSpc>
              <a:spcBef>
                <a:spcPts val="500"/>
              </a:spcBef>
              <a:spcAft>
                <a:spcPts val="0"/>
              </a:spcAft>
              <a:buNone/>
            </a:pPr>
            <a:r>
              <a:rPr b="1" i="0" lang="en-US" sz="1150" u="none" cap="none" strike="noStrike">
                <a:solidFill>
                  <a:srgbClr val="334155"/>
                </a:solidFill>
                <a:latin typeface="Merriweather"/>
                <a:ea typeface="Merriweather"/>
                <a:cs typeface="Merriweather"/>
                <a:sym typeface="Merriweather"/>
              </a:rPr>
              <a:t>Penalty System</a:t>
            </a:r>
            <a:r>
              <a:rPr b="0" i="0" lang="en-US" sz="1150" u="none" cap="none" strike="noStrike">
                <a:solidFill>
                  <a:srgbClr val="334155"/>
                </a:solidFill>
                <a:latin typeface="Merriweather"/>
                <a:ea typeface="Merriweather"/>
                <a:cs typeface="Merriweather"/>
                <a:sym typeface="Merriweather"/>
              </a:rPr>
              <a:t> — Each vulnerability deducts weighted points from the base Health Score.</a:t>
            </a:r>
            <a:endParaRPr b="0" i="0" sz="1150" u="none" cap="none" strike="noStrike">
              <a:solidFill>
                <a:schemeClr val="dk1"/>
              </a:solidFill>
              <a:latin typeface="Calibri"/>
              <a:ea typeface="Calibri"/>
              <a:cs typeface="Calibri"/>
              <a:sym typeface="Calibri"/>
            </a:endParaRPr>
          </a:p>
          <a:p>
            <a:pPr indent="0" lvl="0" marL="0" marR="0" rtl="0" algn="l">
              <a:lnSpc>
                <a:spcPct val="150000"/>
              </a:lnSpc>
              <a:spcBef>
                <a:spcPts val="500"/>
              </a:spcBef>
              <a:spcAft>
                <a:spcPts val="0"/>
              </a:spcAft>
              <a:buNone/>
            </a:pPr>
            <a:r>
              <a:rPr b="1" i="0" lang="en-US" sz="1150" u="none" cap="none" strike="noStrike">
                <a:solidFill>
                  <a:srgbClr val="334155"/>
                </a:solidFill>
                <a:latin typeface="Merriweather"/>
                <a:ea typeface="Merriweather"/>
                <a:cs typeface="Merriweather"/>
                <a:sym typeface="Merriweather"/>
              </a:rPr>
              <a:t>Highly Reliable </a:t>
            </a:r>
            <a:r>
              <a:rPr b="0" i="0" lang="en-US" sz="1150" u="none" cap="none" strike="noStrike">
                <a:solidFill>
                  <a:srgbClr val="334155"/>
                </a:solidFill>
                <a:latin typeface="Merriweather"/>
                <a:ea typeface="Merriweather"/>
                <a:cs typeface="Merriweather"/>
                <a:sym typeface="Merriweather"/>
              </a:rPr>
              <a:t>— Same scan data always produces the exact same score, audit-ready.</a:t>
            </a:r>
            <a:endParaRPr b="0" i="0" sz="1150" u="none" cap="none" strike="noStrike">
              <a:solidFill>
                <a:schemeClr val="dk1"/>
              </a:solidFill>
              <a:latin typeface="Calibri"/>
              <a:ea typeface="Calibri"/>
              <a:cs typeface="Calibri"/>
              <a:sym typeface="Calibri"/>
            </a:endParaRPr>
          </a:p>
        </p:txBody>
      </p:sp>
      <p:sp>
        <p:nvSpPr>
          <p:cNvPr id="922" name="Google Shape;922;p27"/>
          <p:cNvSpPr/>
          <p:nvPr/>
        </p:nvSpPr>
        <p:spPr>
          <a:xfrm>
            <a:off x="347472" y="3785490"/>
            <a:ext cx="8449200" cy="868800"/>
          </a:xfrm>
          <a:prstGeom prst="rect">
            <a:avLst/>
          </a:prstGeom>
          <a:solidFill>
            <a:srgbClr val="E8F9FD"/>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7"/>
          <p:cNvSpPr/>
          <p:nvPr/>
        </p:nvSpPr>
        <p:spPr>
          <a:xfrm>
            <a:off x="548640" y="3831210"/>
            <a:ext cx="13716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400"/>
              <a:buFont typeface="Merriweather"/>
              <a:buNone/>
            </a:pPr>
            <a:r>
              <a:rPr b="1" i="0" lang="en-US" sz="1400" u="none" cap="none" strike="noStrike">
                <a:solidFill>
                  <a:srgbClr val="0F172A"/>
                </a:solidFill>
                <a:latin typeface="Merriweather"/>
                <a:ea typeface="Merriweather"/>
                <a:cs typeface="Merriweather"/>
                <a:sym typeface="Merriweather"/>
              </a:rPr>
              <a:t>Penalty</a:t>
            </a:r>
            <a:endParaRPr b="0" i="0" sz="1400" u="none" cap="none" strike="noStrike">
              <a:solidFill>
                <a:schemeClr val="dk1"/>
              </a:solidFill>
              <a:latin typeface="Calibri"/>
              <a:ea typeface="Calibri"/>
              <a:cs typeface="Calibri"/>
              <a:sym typeface="Calibri"/>
            </a:endParaRPr>
          </a:p>
        </p:txBody>
      </p:sp>
      <p:sp>
        <p:nvSpPr>
          <p:cNvPr id="924" name="Google Shape;924;p27"/>
          <p:cNvSpPr/>
          <p:nvPr/>
        </p:nvSpPr>
        <p:spPr>
          <a:xfrm>
            <a:off x="1920240" y="3831210"/>
            <a:ext cx="4572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B6D4"/>
              </a:buClr>
              <a:buSzPts val="2000"/>
              <a:buFont typeface="Merriweather"/>
              <a:buNone/>
            </a:pPr>
            <a:r>
              <a:rPr b="1" i="0" lang="en-US" sz="2000" u="none" cap="none" strike="noStrike">
                <a:solidFill>
                  <a:srgbClr val="06B6D4"/>
                </a:solidFill>
                <a:latin typeface="Merriweather"/>
                <a:ea typeface="Merriweather"/>
                <a:cs typeface="Merriweather"/>
                <a:sym typeface="Merriweather"/>
              </a:rPr>
              <a:t>=</a:t>
            </a:r>
            <a:endParaRPr b="0" i="0" sz="2000" u="none" cap="none" strike="noStrike">
              <a:solidFill>
                <a:schemeClr val="dk1"/>
              </a:solidFill>
              <a:latin typeface="Calibri"/>
              <a:ea typeface="Calibri"/>
              <a:cs typeface="Calibri"/>
              <a:sym typeface="Calibri"/>
            </a:endParaRPr>
          </a:p>
        </p:txBody>
      </p:sp>
      <p:sp>
        <p:nvSpPr>
          <p:cNvPr id="925" name="Google Shape;925;p27"/>
          <p:cNvSpPr/>
          <p:nvPr/>
        </p:nvSpPr>
        <p:spPr>
          <a:xfrm>
            <a:off x="2377440" y="3831210"/>
            <a:ext cx="21945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1300"/>
              <a:buFont typeface="Merriweather"/>
              <a:buNone/>
            </a:pPr>
            <a:r>
              <a:rPr b="1" i="0" lang="en-US" sz="1300" u="none" cap="none" strike="noStrike">
                <a:solidFill>
                  <a:srgbClr val="0E7490"/>
                </a:solidFill>
                <a:latin typeface="Merriweather"/>
                <a:ea typeface="Merriweather"/>
                <a:cs typeface="Merriweather"/>
                <a:sym typeface="Merriweather"/>
              </a:rPr>
              <a:t>CVSS Base Score</a:t>
            </a:r>
            <a:endParaRPr b="0" i="0" sz="1300" u="none" cap="none" strike="noStrike">
              <a:solidFill>
                <a:schemeClr val="dk1"/>
              </a:solidFill>
              <a:latin typeface="Calibri"/>
              <a:ea typeface="Calibri"/>
              <a:cs typeface="Calibri"/>
              <a:sym typeface="Calibri"/>
            </a:endParaRPr>
          </a:p>
        </p:txBody>
      </p:sp>
      <p:sp>
        <p:nvSpPr>
          <p:cNvPr id="926" name="Google Shape;926;p27"/>
          <p:cNvSpPr/>
          <p:nvPr/>
        </p:nvSpPr>
        <p:spPr>
          <a:xfrm>
            <a:off x="4572000" y="3831210"/>
            <a:ext cx="4572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B6D4"/>
              </a:buClr>
              <a:buSzPts val="2000"/>
              <a:buFont typeface="Merriweather"/>
              <a:buNone/>
            </a:pPr>
            <a:r>
              <a:rPr b="1" i="0" lang="en-US" sz="2000" u="none" cap="none" strike="noStrike">
                <a:solidFill>
                  <a:srgbClr val="06B6D4"/>
                </a:solidFill>
                <a:latin typeface="Merriweather"/>
                <a:ea typeface="Merriweather"/>
                <a:cs typeface="Merriweather"/>
                <a:sym typeface="Merriweather"/>
              </a:rPr>
              <a:t>×</a:t>
            </a:r>
            <a:endParaRPr b="0" i="0" sz="2000" u="none" cap="none" strike="noStrike">
              <a:solidFill>
                <a:schemeClr val="dk1"/>
              </a:solidFill>
              <a:latin typeface="Calibri"/>
              <a:ea typeface="Calibri"/>
              <a:cs typeface="Calibri"/>
              <a:sym typeface="Calibri"/>
            </a:endParaRPr>
          </a:p>
        </p:txBody>
      </p:sp>
      <p:sp>
        <p:nvSpPr>
          <p:cNvPr id="927" name="Google Shape;927;p27"/>
          <p:cNvSpPr/>
          <p:nvPr/>
        </p:nvSpPr>
        <p:spPr>
          <a:xfrm>
            <a:off x="5029200" y="3831210"/>
            <a:ext cx="20118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300"/>
              <a:buFont typeface="Merriweather"/>
              <a:buNone/>
            </a:pPr>
            <a:r>
              <a:rPr b="1" i="0" lang="en-US" sz="1300" u="none" cap="none" strike="noStrike">
                <a:solidFill>
                  <a:srgbClr val="D97706"/>
                </a:solidFill>
                <a:latin typeface="Merriweather"/>
                <a:ea typeface="Merriweather"/>
                <a:cs typeface="Merriweather"/>
                <a:sym typeface="Merriweather"/>
              </a:rPr>
              <a:t>Asset Criticality</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7706"/>
              </a:buClr>
              <a:buSzPts val="1300"/>
              <a:buFont typeface="Merriweather"/>
              <a:buNone/>
            </a:pPr>
            <a:r>
              <a:rPr b="1" i="0" lang="en-US" sz="1300" u="none" cap="none" strike="noStrike">
                <a:solidFill>
                  <a:srgbClr val="D97706"/>
                </a:solidFill>
                <a:latin typeface="Merriweather"/>
                <a:ea typeface="Merriweather"/>
                <a:cs typeface="Merriweather"/>
                <a:sym typeface="Merriweather"/>
              </a:rPr>
              <a:t>Weight</a:t>
            </a:r>
            <a:endParaRPr b="0" i="0" sz="1300" u="none" cap="none" strike="noStrike">
              <a:solidFill>
                <a:schemeClr val="dk1"/>
              </a:solidFill>
              <a:latin typeface="Calibri"/>
              <a:ea typeface="Calibri"/>
              <a:cs typeface="Calibri"/>
              <a:sym typeface="Calibri"/>
            </a:endParaRPr>
          </a:p>
        </p:txBody>
      </p:sp>
      <p:sp>
        <p:nvSpPr>
          <p:cNvPr id="928" name="Google Shape;928;p27"/>
          <p:cNvSpPr/>
          <p:nvPr/>
        </p:nvSpPr>
        <p:spPr>
          <a:xfrm>
            <a:off x="7040880" y="3831210"/>
            <a:ext cx="3657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B6D4"/>
              </a:buClr>
              <a:buSzPts val="2000"/>
              <a:buFont typeface="Merriweather"/>
              <a:buNone/>
            </a:pPr>
            <a:r>
              <a:rPr b="1" i="0" lang="en-US" sz="2000" u="none" cap="none" strike="noStrike">
                <a:solidFill>
                  <a:srgbClr val="06B6D4"/>
                </a:solidFill>
                <a:latin typeface="Merriweather"/>
                <a:ea typeface="Merriweather"/>
                <a:cs typeface="Merriweather"/>
                <a:sym typeface="Merriweather"/>
              </a:rPr>
              <a:t>÷</a:t>
            </a:r>
            <a:endParaRPr b="0" i="0" sz="2000" u="none" cap="none" strike="noStrike">
              <a:solidFill>
                <a:schemeClr val="dk1"/>
              </a:solidFill>
              <a:latin typeface="Calibri"/>
              <a:ea typeface="Calibri"/>
              <a:cs typeface="Calibri"/>
              <a:sym typeface="Calibri"/>
            </a:endParaRPr>
          </a:p>
        </p:txBody>
      </p:sp>
      <p:sp>
        <p:nvSpPr>
          <p:cNvPr id="929" name="Google Shape;929;p27"/>
          <p:cNvSpPr/>
          <p:nvPr/>
        </p:nvSpPr>
        <p:spPr>
          <a:xfrm>
            <a:off x="7406640" y="3831210"/>
            <a:ext cx="1188600" cy="77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Merriweather"/>
              <a:buNone/>
            </a:pPr>
            <a:r>
              <a:rPr b="1" i="0" lang="en-US" sz="1200" u="none" cap="none" strike="noStrike">
                <a:solidFill>
                  <a:srgbClr val="64748B"/>
                </a:solidFill>
                <a:latin typeface="Merriweather"/>
                <a:ea typeface="Merriweather"/>
                <a:cs typeface="Merriweather"/>
                <a:sym typeface="Merriweather"/>
              </a:rPr>
              <a:t>Max</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200"/>
              <a:buFont typeface="Merriweather"/>
              <a:buNone/>
            </a:pPr>
            <a:r>
              <a:rPr b="1" i="0" lang="en-US" sz="1200" u="none" cap="none" strike="noStrike">
                <a:solidFill>
                  <a:srgbClr val="64748B"/>
                </a:solidFill>
                <a:latin typeface="Merriweather"/>
                <a:ea typeface="Merriweather"/>
                <a:cs typeface="Merriweather"/>
                <a:sym typeface="Merriweather"/>
              </a:rPr>
              <a:t>Possible</a:t>
            </a:r>
            <a:endParaRPr b="0" i="0" sz="1200" u="none" cap="none" strike="noStrike">
              <a:solidFill>
                <a:schemeClr val="dk1"/>
              </a:solidFill>
              <a:latin typeface="Calibri"/>
              <a:ea typeface="Calibri"/>
              <a:cs typeface="Calibri"/>
              <a:sym typeface="Calibri"/>
            </a:endParaRPr>
          </a:p>
        </p:txBody>
      </p:sp>
      <p:graphicFrame>
        <p:nvGraphicFramePr>
          <p:cNvPr id="930" name="Google Shape;930;p27"/>
          <p:cNvGraphicFramePr/>
          <p:nvPr/>
        </p:nvGraphicFramePr>
        <p:xfrm>
          <a:off x="4645265" y="1100647"/>
          <a:ext cx="4114800" cy="2578500"/>
        </p:xfrm>
        <a:graphic>
          <a:graphicData uri="http://schemas.openxmlformats.org/drawingml/2006/chart">
            <c:chart r:id="rId3"/>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5" name="Shape 935"/>
        <p:cNvGrpSpPr/>
        <p:nvPr/>
      </p:nvGrpSpPr>
      <p:grpSpPr>
        <a:xfrm>
          <a:off x="0" y="0"/>
          <a:ext cx="0" cy="0"/>
          <a:chOff x="0" y="0"/>
          <a:chExt cx="0" cy="0"/>
        </a:xfrm>
      </p:grpSpPr>
      <p:sp>
        <p:nvSpPr>
          <p:cNvPr id="936" name="Google Shape;936;p28"/>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8"/>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8"/>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Explaining the CVSS Scoring Standard</a:t>
            </a:r>
            <a:endParaRPr b="0" i="0" sz="2200" u="none" cap="none" strike="noStrike">
              <a:solidFill>
                <a:schemeClr val="dk1"/>
              </a:solidFill>
              <a:latin typeface="Calibri"/>
              <a:ea typeface="Calibri"/>
              <a:cs typeface="Calibri"/>
              <a:sym typeface="Calibri"/>
            </a:endParaRPr>
          </a:p>
        </p:txBody>
      </p:sp>
      <p:sp>
        <p:nvSpPr>
          <p:cNvPr id="939" name="Google Shape;939;p28"/>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8"/>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28/40</a:t>
            </a:r>
            <a:endParaRPr b="0" i="0" sz="800" u="none" cap="none" strike="noStrike">
              <a:solidFill>
                <a:schemeClr val="dk1"/>
              </a:solidFill>
              <a:latin typeface="Calibri"/>
              <a:ea typeface="Calibri"/>
              <a:cs typeface="Calibri"/>
              <a:sym typeface="Calibri"/>
            </a:endParaRPr>
          </a:p>
        </p:txBody>
      </p:sp>
      <p:cxnSp>
        <p:nvCxnSpPr>
          <p:cNvPr id="941" name="Google Shape;941;p28"/>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942" name="Google Shape;942;p28"/>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943" name="Google Shape;943;p28"/>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8"/>
          <p:cNvSpPr/>
          <p:nvPr/>
        </p:nvSpPr>
        <p:spPr>
          <a:xfrm>
            <a:off x="1251725" y="749799"/>
            <a:ext cx="2377500" cy="2469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8"/>
          <p:cNvSpPr/>
          <p:nvPr/>
        </p:nvSpPr>
        <p:spPr>
          <a:xfrm>
            <a:off x="1251725" y="749799"/>
            <a:ext cx="23775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Risk Engine</a:t>
            </a:r>
            <a:endParaRPr b="0" i="0" sz="1000" u="none" cap="none" strike="noStrike">
              <a:solidFill>
                <a:schemeClr val="dk1"/>
              </a:solidFill>
              <a:latin typeface="Calibri"/>
              <a:ea typeface="Calibri"/>
              <a:cs typeface="Calibri"/>
              <a:sym typeface="Calibri"/>
            </a:endParaRPr>
          </a:p>
        </p:txBody>
      </p:sp>
      <p:sp>
        <p:nvSpPr>
          <p:cNvPr id="946" name="Google Shape;946;p28"/>
          <p:cNvSpPr/>
          <p:nvPr/>
        </p:nvSpPr>
        <p:spPr>
          <a:xfrm>
            <a:off x="347475" y="1069849"/>
            <a:ext cx="4114800" cy="36669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8"/>
          <p:cNvSpPr/>
          <p:nvPr/>
        </p:nvSpPr>
        <p:spPr>
          <a:xfrm>
            <a:off x="548643" y="1223341"/>
            <a:ext cx="3712500" cy="33939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CVSS </a:t>
            </a:r>
            <a:r>
              <a:rPr b="0" i="0" lang="en-US" sz="1150" u="none" cap="none" strike="noStrike">
                <a:solidFill>
                  <a:srgbClr val="334155"/>
                </a:solidFill>
                <a:latin typeface="Merriweather"/>
                <a:ea typeface="Merriweather"/>
                <a:cs typeface="Merriweather"/>
                <a:sym typeface="Merriweather"/>
              </a:rPr>
              <a:t>— Common Vulnerability Scoring System, maintained by FIRST (Forum of Incident Response).</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Industry Standard</a:t>
            </a:r>
            <a:r>
              <a:rPr b="0" i="0" lang="en-US" sz="1150" u="none" cap="none" strike="noStrike">
                <a:solidFill>
                  <a:srgbClr val="334155"/>
                </a:solidFill>
                <a:latin typeface="Merriweather"/>
                <a:ea typeface="Merriweather"/>
                <a:cs typeface="Merriweather"/>
                <a:sym typeface="Merriweather"/>
              </a:rPr>
              <a:t> — Used by NVD (National Vulnerability Database), CVE, and every major SIEM.</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Score Range</a:t>
            </a:r>
            <a:r>
              <a:rPr b="0" i="0" lang="en-US" sz="1150" u="none" cap="none" strike="noStrike">
                <a:solidFill>
                  <a:srgbClr val="334155"/>
                </a:solidFill>
                <a:latin typeface="Merriweather"/>
                <a:ea typeface="Merriweather"/>
                <a:cs typeface="Merriweather"/>
                <a:sym typeface="Merriweather"/>
              </a:rPr>
              <a:t> — 0.0 (None) → 3.9 (Low) → 6.9 (Medium) → 8.9 (High) → 10.0 (Critical).</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Base Score Components</a:t>
            </a:r>
            <a:r>
              <a:rPr b="0" i="0" lang="en-US" sz="1150" u="none" cap="none" strike="noStrike">
                <a:solidFill>
                  <a:srgbClr val="334155"/>
                </a:solidFill>
                <a:latin typeface="Merriweather"/>
                <a:ea typeface="Merriweather"/>
                <a:cs typeface="Merriweather"/>
                <a:sym typeface="Merriweather"/>
              </a:rPr>
              <a:t> — Attack Vector, Attack Complexity, Privileges Required, User Interaction, Impact.</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Found 404 Conversion</a:t>
            </a:r>
            <a:r>
              <a:rPr b="0" i="0" lang="en-US" sz="1150" u="none" cap="none" strike="noStrike">
                <a:solidFill>
                  <a:srgbClr val="334155"/>
                </a:solidFill>
                <a:latin typeface="Merriweather"/>
                <a:ea typeface="Merriweather"/>
                <a:cs typeface="Merriweather"/>
                <a:sym typeface="Merriweather"/>
              </a:rPr>
              <a:t> — CVSS score mapped internally to normalized penalty weight (0–100 scale).</a:t>
            </a:r>
            <a:endParaRPr b="0" i="0" sz="1150" u="none" cap="none" strike="noStrike">
              <a:solidFill>
                <a:schemeClr val="dk1"/>
              </a:solidFill>
              <a:latin typeface="Calibri"/>
              <a:ea typeface="Calibri"/>
              <a:cs typeface="Calibri"/>
              <a:sym typeface="Calibri"/>
            </a:endParaRPr>
          </a:p>
        </p:txBody>
      </p:sp>
      <p:sp>
        <p:nvSpPr>
          <p:cNvPr id="948" name="Google Shape;948;p28"/>
          <p:cNvSpPr/>
          <p:nvPr/>
        </p:nvSpPr>
        <p:spPr>
          <a:xfrm>
            <a:off x="4563576" y="1192075"/>
            <a:ext cx="4342800" cy="512100"/>
          </a:xfrm>
          <a:prstGeom prst="rect">
            <a:avLst/>
          </a:prstGeom>
          <a:solidFill>
            <a:srgbClr val="F8FAFC"/>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49" name="Google Shape;949;p28"/>
          <p:cNvSpPr/>
          <p:nvPr/>
        </p:nvSpPr>
        <p:spPr>
          <a:xfrm>
            <a:off x="4660080" y="1192075"/>
            <a:ext cx="19302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950"/>
              <a:buFont typeface="Merriweather"/>
              <a:buNone/>
            </a:pPr>
            <a:r>
              <a:rPr b="1" i="0" lang="en-US" sz="950" u="none" cap="none" strike="noStrike">
                <a:solidFill>
                  <a:srgbClr val="0F172A"/>
                </a:solidFill>
                <a:latin typeface="Merriweather"/>
                <a:ea typeface="Merriweather"/>
                <a:cs typeface="Merriweather"/>
                <a:sym typeface="Merriweather"/>
              </a:rPr>
              <a:t>Attack Vector</a:t>
            </a:r>
            <a:endParaRPr b="1" i="0" sz="950" u="none" cap="none" strike="noStrike">
              <a:solidFill>
                <a:schemeClr val="dk1"/>
              </a:solidFill>
              <a:latin typeface="Calibri"/>
              <a:ea typeface="Calibri"/>
              <a:cs typeface="Calibri"/>
              <a:sym typeface="Calibri"/>
            </a:endParaRPr>
          </a:p>
        </p:txBody>
      </p:sp>
      <p:sp>
        <p:nvSpPr>
          <p:cNvPr id="950" name="Google Shape;950;p28"/>
          <p:cNvSpPr/>
          <p:nvPr/>
        </p:nvSpPr>
        <p:spPr>
          <a:xfrm>
            <a:off x="6590157" y="1283515"/>
            <a:ext cx="1737000" cy="329100"/>
          </a:xfrm>
          <a:prstGeom prst="rect">
            <a:avLst/>
          </a:prstGeom>
          <a:solidFill>
            <a:srgbClr val="FFFFFF"/>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51" name="Google Shape;951;p28"/>
          <p:cNvSpPr/>
          <p:nvPr/>
        </p:nvSpPr>
        <p:spPr>
          <a:xfrm>
            <a:off x="6590157" y="1283515"/>
            <a:ext cx="1476300" cy="329100"/>
          </a:xfrm>
          <a:prstGeom prst="rect">
            <a:avLst/>
          </a:prstGeom>
          <a:solidFill>
            <a:srgbClr val="DC2626">
              <a:alpha val="80000"/>
            </a:srgbClr>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52" name="Google Shape;952;p28"/>
          <p:cNvSpPr/>
          <p:nvPr/>
        </p:nvSpPr>
        <p:spPr>
          <a:xfrm>
            <a:off x="8375479" y="1192075"/>
            <a:ext cx="4824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Merriweather"/>
              <a:buNone/>
            </a:pPr>
            <a:r>
              <a:rPr b="1" i="0" lang="en-US" sz="850" u="none" cap="none" strike="noStrike">
                <a:solidFill>
                  <a:srgbClr val="64748B"/>
                </a:solidFill>
                <a:latin typeface="Merriweather"/>
                <a:ea typeface="Merriweather"/>
                <a:cs typeface="Merriweather"/>
                <a:sym typeface="Merriweather"/>
              </a:rPr>
              <a:t>Network</a:t>
            </a:r>
            <a:endParaRPr b="1" i="0" sz="850" u="none" cap="none" strike="noStrike">
              <a:solidFill>
                <a:schemeClr val="dk1"/>
              </a:solidFill>
              <a:latin typeface="Calibri"/>
              <a:ea typeface="Calibri"/>
              <a:cs typeface="Calibri"/>
              <a:sym typeface="Calibri"/>
            </a:endParaRPr>
          </a:p>
        </p:txBody>
      </p:sp>
      <p:sp>
        <p:nvSpPr>
          <p:cNvPr id="953" name="Google Shape;953;p28"/>
          <p:cNvSpPr/>
          <p:nvPr/>
        </p:nvSpPr>
        <p:spPr>
          <a:xfrm>
            <a:off x="4563576" y="1795579"/>
            <a:ext cx="4342800" cy="512100"/>
          </a:xfrm>
          <a:prstGeom prst="rect">
            <a:avLst/>
          </a:prstGeom>
          <a:solidFill>
            <a:srgbClr val="F8FAFC"/>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54" name="Google Shape;954;p28"/>
          <p:cNvSpPr/>
          <p:nvPr/>
        </p:nvSpPr>
        <p:spPr>
          <a:xfrm>
            <a:off x="4660080" y="1795579"/>
            <a:ext cx="19302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950"/>
              <a:buFont typeface="Merriweather"/>
              <a:buNone/>
            </a:pPr>
            <a:r>
              <a:rPr b="1" i="0" lang="en-US" sz="950" u="none" cap="none" strike="noStrike">
                <a:solidFill>
                  <a:srgbClr val="0F172A"/>
                </a:solidFill>
                <a:latin typeface="Merriweather"/>
                <a:ea typeface="Merriweather"/>
                <a:cs typeface="Merriweather"/>
                <a:sym typeface="Merriweather"/>
              </a:rPr>
              <a:t>Attack Complexity</a:t>
            </a:r>
            <a:endParaRPr b="1" i="0" sz="950" u="none" cap="none" strike="noStrike">
              <a:solidFill>
                <a:schemeClr val="dk1"/>
              </a:solidFill>
              <a:latin typeface="Calibri"/>
              <a:ea typeface="Calibri"/>
              <a:cs typeface="Calibri"/>
              <a:sym typeface="Calibri"/>
            </a:endParaRPr>
          </a:p>
        </p:txBody>
      </p:sp>
      <p:sp>
        <p:nvSpPr>
          <p:cNvPr id="955" name="Google Shape;955;p28"/>
          <p:cNvSpPr/>
          <p:nvPr/>
        </p:nvSpPr>
        <p:spPr>
          <a:xfrm>
            <a:off x="6590157" y="1887019"/>
            <a:ext cx="1737000" cy="329100"/>
          </a:xfrm>
          <a:prstGeom prst="rect">
            <a:avLst/>
          </a:prstGeom>
          <a:solidFill>
            <a:srgbClr val="FFFFFF"/>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56" name="Google Shape;956;p28"/>
          <p:cNvSpPr/>
          <p:nvPr/>
        </p:nvSpPr>
        <p:spPr>
          <a:xfrm>
            <a:off x="6590157" y="1887019"/>
            <a:ext cx="1337700" cy="329100"/>
          </a:xfrm>
          <a:prstGeom prst="rect">
            <a:avLst/>
          </a:prstGeom>
          <a:solidFill>
            <a:srgbClr val="D97706">
              <a:alpha val="80000"/>
            </a:srgbClr>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57" name="Google Shape;957;p28"/>
          <p:cNvSpPr/>
          <p:nvPr/>
        </p:nvSpPr>
        <p:spPr>
          <a:xfrm>
            <a:off x="8375479" y="1795579"/>
            <a:ext cx="4824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Merriweather"/>
              <a:buNone/>
            </a:pPr>
            <a:r>
              <a:rPr b="1" i="0" lang="en-US" sz="850" u="none" cap="none" strike="noStrike">
                <a:solidFill>
                  <a:srgbClr val="64748B"/>
                </a:solidFill>
                <a:latin typeface="Merriweather"/>
                <a:ea typeface="Merriweather"/>
                <a:cs typeface="Merriweather"/>
                <a:sym typeface="Merriweather"/>
              </a:rPr>
              <a:t>Low</a:t>
            </a:r>
            <a:endParaRPr b="1" i="0" sz="850" u="none" cap="none" strike="noStrike">
              <a:solidFill>
                <a:schemeClr val="dk1"/>
              </a:solidFill>
              <a:latin typeface="Calibri"/>
              <a:ea typeface="Calibri"/>
              <a:cs typeface="Calibri"/>
              <a:sym typeface="Calibri"/>
            </a:endParaRPr>
          </a:p>
        </p:txBody>
      </p:sp>
      <p:sp>
        <p:nvSpPr>
          <p:cNvPr id="958" name="Google Shape;958;p28"/>
          <p:cNvSpPr/>
          <p:nvPr/>
        </p:nvSpPr>
        <p:spPr>
          <a:xfrm>
            <a:off x="4563576" y="2399083"/>
            <a:ext cx="4342800" cy="512100"/>
          </a:xfrm>
          <a:prstGeom prst="rect">
            <a:avLst/>
          </a:prstGeom>
          <a:solidFill>
            <a:srgbClr val="F8FAFC"/>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59" name="Google Shape;959;p28"/>
          <p:cNvSpPr/>
          <p:nvPr/>
        </p:nvSpPr>
        <p:spPr>
          <a:xfrm>
            <a:off x="4660080" y="2399083"/>
            <a:ext cx="19302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950"/>
              <a:buFont typeface="Merriweather"/>
              <a:buNone/>
            </a:pPr>
            <a:r>
              <a:rPr b="1" i="0" lang="en-US" sz="950" u="none" cap="none" strike="noStrike">
                <a:solidFill>
                  <a:srgbClr val="0F172A"/>
                </a:solidFill>
                <a:latin typeface="Merriweather"/>
                <a:ea typeface="Merriweather"/>
                <a:cs typeface="Merriweather"/>
                <a:sym typeface="Merriweather"/>
              </a:rPr>
              <a:t>Privileges Req.</a:t>
            </a:r>
            <a:endParaRPr b="1" i="0" sz="950" u="none" cap="none" strike="noStrike">
              <a:solidFill>
                <a:schemeClr val="dk1"/>
              </a:solidFill>
              <a:latin typeface="Calibri"/>
              <a:ea typeface="Calibri"/>
              <a:cs typeface="Calibri"/>
              <a:sym typeface="Calibri"/>
            </a:endParaRPr>
          </a:p>
        </p:txBody>
      </p:sp>
      <p:sp>
        <p:nvSpPr>
          <p:cNvPr id="960" name="Google Shape;960;p28"/>
          <p:cNvSpPr/>
          <p:nvPr/>
        </p:nvSpPr>
        <p:spPr>
          <a:xfrm>
            <a:off x="6590157" y="2490523"/>
            <a:ext cx="1737000" cy="329100"/>
          </a:xfrm>
          <a:prstGeom prst="rect">
            <a:avLst/>
          </a:prstGeom>
          <a:solidFill>
            <a:srgbClr val="FFFFFF"/>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61" name="Google Shape;961;p28"/>
          <p:cNvSpPr/>
          <p:nvPr/>
        </p:nvSpPr>
        <p:spPr>
          <a:xfrm>
            <a:off x="6590157" y="2490523"/>
            <a:ext cx="1476300" cy="329100"/>
          </a:xfrm>
          <a:prstGeom prst="rect">
            <a:avLst/>
          </a:prstGeom>
          <a:solidFill>
            <a:srgbClr val="DC2626">
              <a:alpha val="80000"/>
            </a:srgbClr>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62" name="Google Shape;962;p28"/>
          <p:cNvSpPr/>
          <p:nvPr/>
        </p:nvSpPr>
        <p:spPr>
          <a:xfrm>
            <a:off x="8375479" y="2399083"/>
            <a:ext cx="4824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Merriweather"/>
              <a:buNone/>
            </a:pPr>
            <a:r>
              <a:rPr b="1" i="0" lang="en-US" sz="850" u="none" cap="none" strike="noStrike">
                <a:solidFill>
                  <a:srgbClr val="64748B"/>
                </a:solidFill>
                <a:latin typeface="Merriweather"/>
                <a:ea typeface="Merriweather"/>
                <a:cs typeface="Merriweather"/>
                <a:sym typeface="Merriweather"/>
              </a:rPr>
              <a:t>None</a:t>
            </a:r>
            <a:endParaRPr b="1" i="0" sz="850" u="none" cap="none" strike="noStrike">
              <a:solidFill>
                <a:schemeClr val="dk1"/>
              </a:solidFill>
              <a:latin typeface="Calibri"/>
              <a:ea typeface="Calibri"/>
              <a:cs typeface="Calibri"/>
              <a:sym typeface="Calibri"/>
            </a:endParaRPr>
          </a:p>
        </p:txBody>
      </p:sp>
      <p:sp>
        <p:nvSpPr>
          <p:cNvPr id="963" name="Google Shape;963;p28"/>
          <p:cNvSpPr/>
          <p:nvPr/>
        </p:nvSpPr>
        <p:spPr>
          <a:xfrm>
            <a:off x="4563576" y="3002588"/>
            <a:ext cx="4342800" cy="512100"/>
          </a:xfrm>
          <a:prstGeom prst="rect">
            <a:avLst/>
          </a:prstGeom>
          <a:solidFill>
            <a:srgbClr val="F8FAFC"/>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64" name="Google Shape;964;p28"/>
          <p:cNvSpPr/>
          <p:nvPr/>
        </p:nvSpPr>
        <p:spPr>
          <a:xfrm>
            <a:off x="4660080" y="3002588"/>
            <a:ext cx="19302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950"/>
              <a:buFont typeface="Merriweather"/>
              <a:buNone/>
            </a:pPr>
            <a:r>
              <a:rPr b="1" i="0" lang="en-US" sz="950" u="none" cap="none" strike="noStrike">
                <a:solidFill>
                  <a:srgbClr val="0F172A"/>
                </a:solidFill>
                <a:latin typeface="Merriweather"/>
                <a:ea typeface="Merriweather"/>
                <a:cs typeface="Merriweather"/>
                <a:sym typeface="Merriweather"/>
              </a:rPr>
              <a:t>User Interaction</a:t>
            </a:r>
            <a:endParaRPr b="1" i="0" sz="950" u="none" cap="none" strike="noStrike">
              <a:solidFill>
                <a:schemeClr val="dk1"/>
              </a:solidFill>
              <a:latin typeface="Calibri"/>
              <a:ea typeface="Calibri"/>
              <a:cs typeface="Calibri"/>
              <a:sym typeface="Calibri"/>
            </a:endParaRPr>
          </a:p>
        </p:txBody>
      </p:sp>
      <p:sp>
        <p:nvSpPr>
          <p:cNvPr id="965" name="Google Shape;965;p28"/>
          <p:cNvSpPr/>
          <p:nvPr/>
        </p:nvSpPr>
        <p:spPr>
          <a:xfrm>
            <a:off x="6590157" y="3094028"/>
            <a:ext cx="1737000" cy="329100"/>
          </a:xfrm>
          <a:prstGeom prst="rect">
            <a:avLst/>
          </a:prstGeom>
          <a:solidFill>
            <a:srgbClr val="FFFFFF"/>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66" name="Google Shape;966;p28"/>
          <p:cNvSpPr/>
          <p:nvPr/>
        </p:nvSpPr>
        <p:spPr>
          <a:xfrm>
            <a:off x="6590157" y="3094028"/>
            <a:ext cx="1476300" cy="329100"/>
          </a:xfrm>
          <a:prstGeom prst="rect">
            <a:avLst/>
          </a:prstGeom>
          <a:solidFill>
            <a:srgbClr val="DC2626">
              <a:alpha val="80000"/>
            </a:srgbClr>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67" name="Google Shape;967;p28"/>
          <p:cNvSpPr/>
          <p:nvPr/>
        </p:nvSpPr>
        <p:spPr>
          <a:xfrm>
            <a:off x="8375479" y="3002588"/>
            <a:ext cx="4824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Merriweather"/>
              <a:buNone/>
            </a:pPr>
            <a:r>
              <a:rPr b="1" i="0" lang="en-US" sz="850" u="none" cap="none" strike="noStrike">
                <a:solidFill>
                  <a:srgbClr val="64748B"/>
                </a:solidFill>
                <a:latin typeface="Merriweather"/>
                <a:ea typeface="Merriweather"/>
                <a:cs typeface="Merriweather"/>
                <a:sym typeface="Merriweather"/>
              </a:rPr>
              <a:t>None</a:t>
            </a:r>
            <a:endParaRPr b="1" i="0" sz="850" u="none" cap="none" strike="noStrike">
              <a:solidFill>
                <a:schemeClr val="dk1"/>
              </a:solidFill>
              <a:latin typeface="Calibri"/>
              <a:ea typeface="Calibri"/>
              <a:cs typeface="Calibri"/>
              <a:sym typeface="Calibri"/>
            </a:endParaRPr>
          </a:p>
        </p:txBody>
      </p:sp>
      <p:sp>
        <p:nvSpPr>
          <p:cNvPr id="968" name="Google Shape;968;p28"/>
          <p:cNvSpPr/>
          <p:nvPr/>
        </p:nvSpPr>
        <p:spPr>
          <a:xfrm>
            <a:off x="4563576" y="3606092"/>
            <a:ext cx="4342800" cy="512100"/>
          </a:xfrm>
          <a:prstGeom prst="rect">
            <a:avLst/>
          </a:prstGeom>
          <a:solidFill>
            <a:srgbClr val="F8FAFC"/>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69" name="Google Shape;969;p28"/>
          <p:cNvSpPr/>
          <p:nvPr/>
        </p:nvSpPr>
        <p:spPr>
          <a:xfrm>
            <a:off x="4660080" y="3606092"/>
            <a:ext cx="1930200" cy="512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950"/>
              <a:buFont typeface="Merriweather"/>
              <a:buNone/>
            </a:pPr>
            <a:r>
              <a:rPr b="1" i="0" lang="en-US" sz="950" u="none" cap="none" strike="noStrike">
                <a:solidFill>
                  <a:srgbClr val="0F172A"/>
                </a:solidFill>
                <a:latin typeface="Merriweather"/>
                <a:ea typeface="Merriweather"/>
                <a:cs typeface="Merriweather"/>
                <a:sym typeface="Merriweather"/>
              </a:rPr>
              <a:t>Confidentiality</a:t>
            </a:r>
            <a:endParaRPr b="1" i="0" sz="950" u="none" cap="none" strike="noStrike">
              <a:solidFill>
                <a:schemeClr val="dk1"/>
              </a:solidFill>
              <a:latin typeface="Calibri"/>
              <a:ea typeface="Calibri"/>
              <a:cs typeface="Calibri"/>
              <a:sym typeface="Calibri"/>
            </a:endParaRPr>
          </a:p>
        </p:txBody>
      </p:sp>
      <p:sp>
        <p:nvSpPr>
          <p:cNvPr id="970" name="Google Shape;970;p28"/>
          <p:cNvSpPr/>
          <p:nvPr/>
        </p:nvSpPr>
        <p:spPr>
          <a:xfrm>
            <a:off x="6590157" y="3697532"/>
            <a:ext cx="1737000" cy="329100"/>
          </a:xfrm>
          <a:prstGeom prst="rect">
            <a:avLst/>
          </a:prstGeom>
          <a:solidFill>
            <a:srgbClr val="FFFFFF"/>
          </a:solidFill>
          <a:ln cap="flat" cmpd="sng" w="9525">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71" name="Google Shape;971;p28"/>
          <p:cNvSpPr/>
          <p:nvPr/>
        </p:nvSpPr>
        <p:spPr>
          <a:xfrm>
            <a:off x="6590157" y="3697532"/>
            <a:ext cx="972600" cy="329100"/>
          </a:xfrm>
          <a:prstGeom prst="rect">
            <a:avLst/>
          </a:prstGeom>
          <a:solidFill>
            <a:srgbClr val="D97706">
              <a:alpha val="80000"/>
            </a:srgbClr>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972" name="Google Shape;972;p28"/>
          <p:cNvSpPr/>
          <p:nvPr/>
        </p:nvSpPr>
        <p:spPr>
          <a:xfrm>
            <a:off x="8375479" y="3606092"/>
            <a:ext cx="4824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Merriweather"/>
              <a:buNone/>
            </a:pPr>
            <a:r>
              <a:rPr b="1" i="0" lang="en-US" sz="850" u="none" cap="none" strike="noStrike">
                <a:solidFill>
                  <a:srgbClr val="64748B"/>
                </a:solidFill>
                <a:latin typeface="Merriweather"/>
                <a:ea typeface="Merriweather"/>
                <a:cs typeface="Merriweather"/>
                <a:sym typeface="Merriweather"/>
              </a:rPr>
              <a:t>High</a:t>
            </a:r>
            <a:endParaRPr b="1" i="0" sz="850" u="none" cap="none" strike="noStrike">
              <a:solidFill>
                <a:schemeClr val="dk1"/>
              </a:solidFill>
              <a:latin typeface="Calibri"/>
              <a:ea typeface="Calibri"/>
              <a:cs typeface="Calibri"/>
              <a:sym typeface="Calibri"/>
            </a:endParaRPr>
          </a:p>
        </p:txBody>
      </p:sp>
      <p:sp>
        <p:nvSpPr>
          <p:cNvPr id="973" name="Google Shape;973;p28"/>
          <p:cNvSpPr/>
          <p:nvPr/>
        </p:nvSpPr>
        <p:spPr>
          <a:xfrm>
            <a:off x="4563576" y="4355900"/>
            <a:ext cx="43428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1100"/>
              <a:buFont typeface="Merriweather"/>
              <a:buNone/>
            </a:pPr>
            <a:r>
              <a:rPr b="1" i="0" lang="en-US" sz="1100" u="none" cap="none" strike="noStrike">
                <a:solidFill>
                  <a:srgbClr val="DC2626"/>
                </a:solidFill>
                <a:latin typeface="Merriweather"/>
                <a:ea typeface="Merriweather"/>
                <a:cs typeface="Merriweather"/>
                <a:sym typeface="Merriweather"/>
              </a:rPr>
              <a:t>→ Aggregated CVSS Base Score: 9.8 (Critical)</a:t>
            </a:r>
            <a:endParaRPr b="1" i="0" sz="11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8" name="Shape 978"/>
        <p:cNvGrpSpPr/>
        <p:nvPr/>
      </p:nvGrpSpPr>
      <p:grpSpPr>
        <a:xfrm>
          <a:off x="0" y="0"/>
          <a:ext cx="0" cy="0"/>
          <a:chOff x="0" y="0"/>
          <a:chExt cx="0" cy="0"/>
        </a:xfrm>
      </p:grpSpPr>
      <p:sp>
        <p:nvSpPr>
          <p:cNvPr id="979" name="Google Shape;979;p29"/>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9"/>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9"/>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The SME Security Health Score</a:t>
            </a:r>
            <a:endParaRPr b="0" i="0" sz="2200" u="none" cap="none" strike="noStrike">
              <a:solidFill>
                <a:schemeClr val="dk1"/>
              </a:solidFill>
              <a:latin typeface="Calibri"/>
              <a:ea typeface="Calibri"/>
              <a:cs typeface="Calibri"/>
              <a:sym typeface="Calibri"/>
            </a:endParaRPr>
          </a:p>
        </p:txBody>
      </p:sp>
      <p:sp>
        <p:nvSpPr>
          <p:cNvPr id="982" name="Google Shape;982;p29"/>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9"/>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29/40</a:t>
            </a:r>
            <a:endParaRPr b="0" i="0" sz="800" u="none" cap="none" strike="noStrike">
              <a:solidFill>
                <a:schemeClr val="dk1"/>
              </a:solidFill>
              <a:latin typeface="Calibri"/>
              <a:ea typeface="Calibri"/>
              <a:cs typeface="Calibri"/>
              <a:sym typeface="Calibri"/>
            </a:endParaRPr>
          </a:p>
        </p:txBody>
      </p:sp>
      <p:cxnSp>
        <p:nvCxnSpPr>
          <p:cNvPr id="984" name="Google Shape;984;p29"/>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985" name="Google Shape;985;p29"/>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986" name="Google Shape;986;p29"/>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9"/>
          <p:cNvSpPr/>
          <p:nvPr/>
        </p:nvSpPr>
        <p:spPr>
          <a:xfrm>
            <a:off x="1307625" y="715898"/>
            <a:ext cx="2377500" cy="2469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9"/>
          <p:cNvSpPr/>
          <p:nvPr/>
        </p:nvSpPr>
        <p:spPr>
          <a:xfrm>
            <a:off x="1307625" y="738761"/>
            <a:ext cx="23775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Risk Engine</a:t>
            </a:r>
            <a:endParaRPr b="0" i="0" sz="1000" u="none" cap="none" strike="noStrike">
              <a:solidFill>
                <a:schemeClr val="dk1"/>
              </a:solidFill>
              <a:latin typeface="Calibri"/>
              <a:ea typeface="Calibri"/>
              <a:cs typeface="Calibri"/>
              <a:sym typeface="Calibri"/>
            </a:endParaRPr>
          </a:p>
        </p:txBody>
      </p:sp>
      <p:sp>
        <p:nvSpPr>
          <p:cNvPr id="989" name="Google Shape;989;p29"/>
          <p:cNvSpPr/>
          <p:nvPr/>
        </p:nvSpPr>
        <p:spPr>
          <a:xfrm>
            <a:off x="347475" y="1047774"/>
            <a:ext cx="4297800" cy="36888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9"/>
          <p:cNvSpPr/>
          <p:nvPr/>
        </p:nvSpPr>
        <p:spPr>
          <a:xfrm>
            <a:off x="548643" y="1202190"/>
            <a:ext cx="3895200" cy="3414300"/>
          </a:xfrm>
          <a:prstGeom prst="rect">
            <a:avLst/>
          </a:prstGeom>
          <a:noFill/>
          <a:ln>
            <a:noFill/>
          </a:ln>
        </p:spPr>
        <p:txBody>
          <a:bodyPr anchorCtr="0" anchor="t" bIns="45700" lIns="91425" spcFirstLastPara="1" rIns="91425" wrap="square" tIns="45700">
            <a:noAutofit/>
          </a:bodyPr>
          <a:lstStyle/>
          <a:p>
            <a:pPr indent="-349250" lvl="0" marL="342900" marR="0" rtl="0" algn="l">
              <a:lnSpc>
                <a:spcPct val="115000"/>
              </a:lnSpc>
              <a:spcBef>
                <a:spcPts val="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Base 100 System </a:t>
            </a:r>
            <a:r>
              <a:rPr b="0" i="0" lang="en-US" sz="1250" u="none" cap="none" strike="noStrike">
                <a:solidFill>
                  <a:srgbClr val="334155"/>
                </a:solidFill>
                <a:latin typeface="Merriweather"/>
                <a:ea typeface="Merriweather"/>
                <a:cs typeface="Merriweather"/>
                <a:sym typeface="Merriweather"/>
              </a:rPr>
              <a:t>— Every organization starts with a perfect score of 100.</a:t>
            </a:r>
            <a:endParaRPr b="0" i="0" sz="125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Deductions Applied</a:t>
            </a:r>
            <a:r>
              <a:rPr b="0" i="0" lang="en-US" sz="1250" u="none" cap="none" strike="noStrike">
                <a:solidFill>
                  <a:srgbClr val="334155"/>
                </a:solidFill>
                <a:latin typeface="Merriweather"/>
                <a:ea typeface="Merriweather"/>
                <a:cs typeface="Merriweather"/>
                <a:sym typeface="Merriweather"/>
              </a:rPr>
              <a:t> — Each confirmed vulnerability subtracts its calculated penalty from the base.</a:t>
            </a:r>
            <a:endParaRPr b="0" i="0" sz="125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Weighted by Severity</a:t>
            </a:r>
            <a:r>
              <a:rPr b="0" i="0" lang="en-US" sz="1250" u="none" cap="none" strike="noStrike">
                <a:solidFill>
                  <a:srgbClr val="334155"/>
                </a:solidFill>
                <a:latin typeface="Merriweather"/>
                <a:ea typeface="Merriweather"/>
                <a:cs typeface="Merriweather"/>
                <a:sym typeface="Merriweather"/>
              </a:rPr>
              <a:t> — Critical CVEs cause larger deductions than Medium/Low findings.</a:t>
            </a:r>
            <a:endParaRPr b="0" i="0" sz="125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Asset Criticality Factor</a:t>
            </a:r>
            <a:r>
              <a:rPr b="0" i="0" lang="en-US" sz="1250" u="none" cap="none" strike="noStrike">
                <a:solidFill>
                  <a:srgbClr val="334155"/>
                </a:solidFill>
                <a:latin typeface="Merriweather"/>
                <a:ea typeface="Merriweather"/>
                <a:cs typeface="Merriweather"/>
                <a:sym typeface="Merriweather"/>
              </a:rPr>
              <a:t> — A vuln on a payment server penalizes more than on a dev machine.</a:t>
            </a:r>
            <a:endParaRPr b="0" i="0" sz="1250" u="none" cap="none" strike="noStrike">
              <a:solidFill>
                <a:schemeClr val="dk1"/>
              </a:solidFill>
              <a:latin typeface="Calibri"/>
              <a:ea typeface="Calibri"/>
              <a:cs typeface="Calibri"/>
              <a:sym typeface="Calibri"/>
            </a:endParaRPr>
          </a:p>
          <a:p>
            <a:pPr indent="-349250" lvl="0" marL="342900" marR="0" rtl="0" algn="l">
              <a:lnSpc>
                <a:spcPct val="115000"/>
              </a:lnSpc>
              <a:spcBef>
                <a:spcPts val="500"/>
              </a:spcBef>
              <a:spcAft>
                <a:spcPts val="0"/>
              </a:spcAft>
              <a:buClr>
                <a:srgbClr val="334155"/>
              </a:buClr>
              <a:buSzPts val="1250"/>
              <a:buFont typeface="Merriweather"/>
              <a:buChar char="•"/>
            </a:pPr>
            <a:r>
              <a:rPr b="1" i="0" lang="en-US" sz="1250" u="none" cap="none" strike="noStrike">
                <a:solidFill>
                  <a:srgbClr val="334155"/>
                </a:solidFill>
                <a:latin typeface="Merriweather"/>
                <a:ea typeface="Merriweather"/>
                <a:cs typeface="Merriweather"/>
                <a:sym typeface="Merriweather"/>
              </a:rPr>
              <a:t>Business Language</a:t>
            </a:r>
            <a:r>
              <a:rPr b="0" i="0" lang="en-US" sz="1250" u="none" cap="none" strike="noStrike">
                <a:solidFill>
                  <a:srgbClr val="334155"/>
                </a:solidFill>
                <a:latin typeface="Merriweather"/>
                <a:ea typeface="Merriweather"/>
                <a:cs typeface="Merriweather"/>
                <a:sym typeface="Merriweather"/>
              </a:rPr>
              <a:t> — 'Your security score is 73/100' replaces '14 CVEs with average CVSS 7.2'.</a:t>
            </a:r>
            <a:endParaRPr b="0" i="0" sz="1250" u="none" cap="none" strike="noStrike">
              <a:solidFill>
                <a:schemeClr val="dk1"/>
              </a:solidFill>
              <a:latin typeface="Calibri"/>
              <a:ea typeface="Calibri"/>
              <a:cs typeface="Calibri"/>
              <a:sym typeface="Calibri"/>
            </a:endParaRPr>
          </a:p>
        </p:txBody>
      </p:sp>
      <p:sp>
        <p:nvSpPr>
          <p:cNvPr id="991" name="Google Shape;991;p29"/>
          <p:cNvSpPr/>
          <p:nvPr/>
        </p:nvSpPr>
        <p:spPr>
          <a:xfrm>
            <a:off x="5244550" y="770363"/>
            <a:ext cx="2885400" cy="2885400"/>
          </a:xfrm>
          <a:prstGeom prst="ellipse">
            <a:avLst/>
          </a:prstGeom>
          <a:solidFill>
            <a:srgbClr val="CFFAFE">
              <a:alpha val="40000"/>
            </a:srgbClr>
          </a:solidFill>
          <a:ln cap="flat" cmpd="sng" w="33400">
            <a:solidFill>
              <a:srgbClr val="BAE6FD"/>
            </a:solidFill>
            <a:prstDash val="solid"/>
            <a:round/>
            <a:headEnd len="sm" w="sm" type="none"/>
            <a:tailEnd len="sm" w="sm" type="none"/>
          </a:ln>
        </p:spPr>
        <p:txBody>
          <a:bodyPr anchorCtr="0" anchor="ctr" bIns="80150" lIns="80150" spcFirstLastPara="1" rIns="80150" wrap="square" tIns="80150">
            <a:noAutofit/>
          </a:bodyPr>
          <a:lstStyle/>
          <a:p>
            <a:pPr indent="0" lvl="0" marL="0" rtl="0" algn="l">
              <a:spcBef>
                <a:spcPts val="0"/>
              </a:spcBef>
              <a:spcAft>
                <a:spcPts val="0"/>
              </a:spcAft>
              <a:buNone/>
            </a:pPr>
            <a:r>
              <a:t/>
            </a:r>
            <a:endParaRPr b="1" sz="1432"/>
          </a:p>
        </p:txBody>
      </p:sp>
      <p:sp>
        <p:nvSpPr>
          <p:cNvPr id="992" name="Google Shape;992;p29"/>
          <p:cNvSpPr/>
          <p:nvPr/>
        </p:nvSpPr>
        <p:spPr>
          <a:xfrm>
            <a:off x="5523102" y="1045628"/>
            <a:ext cx="2324400" cy="2324400"/>
          </a:xfrm>
          <a:prstGeom prst="ellipse">
            <a:avLst/>
          </a:prstGeom>
          <a:solidFill>
            <a:srgbClr val="FFFFFF"/>
          </a:solidFill>
          <a:ln cap="flat" cmpd="sng" w="11150">
            <a:solidFill>
              <a:srgbClr val="FFFFFF"/>
            </a:solidFill>
            <a:prstDash val="solid"/>
            <a:round/>
            <a:headEnd len="sm" w="sm" type="none"/>
            <a:tailEnd len="sm" w="sm" type="none"/>
          </a:ln>
        </p:spPr>
        <p:txBody>
          <a:bodyPr anchorCtr="0" anchor="ctr" bIns="80150" lIns="80150" spcFirstLastPara="1" rIns="80150" wrap="square" tIns="80150">
            <a:noAutofit/>
          </a:bodyPr>
          <a:lstStyle/>
          <a:p>
            <a:pPr indent="0" lvl="0" marL="0" rtl="0" algn="l">
              <a:spcBef>
                <a:spcPts val="0"/>
              </a:spcBef>
              <a:spcAft>
                <a:spcPts val="0"/>
              </a:spcAft>
              <a:buNone/>
            </a:pPr>
            <a:r>
              <a:t/>
            </a:r>
            <a:endParaRPr b="1" sz="1643"/>
          </a:p>
        </p:txBody>
      </p:sp>
      <p:sp>
        <p:nvSpPr>
          <p:cNvPr id="993" name="Google Shape;993;p29"/>
          <p:cNvSpPr/>
          <p:nvPr/>
        </p:nvSpPr>
        <p:spPr>
          <a:xfrm>
            <a:off x="5563180" y="1286096"/>
            <a:ext cx="2244000" cy="80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4558"/>
              <a:buFont typeface="Merriweather"/>
              <a:buNone/>
            </a:pPr>
            <a:r>
              <a:rPr b="1" i="0" lang="en-US" sz="4763" u="none" cap="none" strike="noStrike">
                <a:solidFill>
                  <a:srgbClr val="059669"/>
                </a:solidFill>
                <a:latin typeface="Merriweather"/>
                <a:ea typeface="Merriweather"/>
                <a:cs typeface="Merriweather"/>
                <a:sym typeface="Merriweather"/>
              </a:rPr>
              <a:t>78</a:t>
            </a:r>
            <a:endParaRPr b="1" i="0" sz="4763" u="none" cap="none" strike="noStrike">
              <a:solidFill>
                <a:schemeClr val="dk1"/>
              </a:solidFill>
              <a:latin typeface="Calibri"/>
              <a:ea typeface="Calibri"/>
              <a:cs typeface="Calibri"/>
              <a:sym typeface="Calibri"/>
            </a:endParaRPr>
          </a:p>
        </p:txBody>
      </p:sp>
      <p:sp>
        <p:nvSpPr>
          <p:cNvPr id="994" name="Google Shape;994;p29"/>
          <p:cNvSpPr/>
          <p:nvPr/>
        </p:nvSpPr>
        <p:spPr>
          <a:xfrm>
            <a:off x="5563180" y="2087658"/>
            <a:ext cx="2244000" cy="32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315"/>
              <a:buFont typeface="Merriweather"/>
              <a:buNone/>
            </a:pPr>
            <a:r>
              <a:rPr b="1" i="0" lang="en-US" sz="1520" u="none" cap="none" strike="noStrike">
                <a:solidFill>
                  <a:srgbClr val="64748B"/>
                </a:solidFill>
                <a:latin typeface="Merriweather"/>
                <a:ea typeface="Merriweather"/>
                <a:cs typeface="Merriweather"/>
                <a:sym typeface="Merriweather"/>
              </a:rPr>
              <a:t>/ 100</a:t>
            </a:r>
            <a:endParaRPr b="1" i="0" sz="1520" u="none" cap="none" strike="noStrike">
              <a:solidFill>
                <a:schemeClr val="dk1"/>
              </a:solidFill>
              <a:latin typeface="Calibri"/>
              <a:ea typeface="Calibri"/>
              <a:cs typeface="Calibri"/>
              <a:sym typeface="Calibri"/>
            </a:endParaRPr>
          </a:p>
        </p:txBody>
      </p:sp>
      <p:sp>
        <p:nvSpPr>
          <p:cNvPr id="995" name="Google Shape;995;p29"/>
          <p:cNvSpPr/>
          <p:nvPr/>
        </p:nvSpPr>
        <p:spPr>
          <a:xfrm>
            <a:off x="5322712" y="2488438"/>
            <a:ext cx="2725200" cy="28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77"/>
              <a:buFont typeface="Merriweather"/>
              <a:buNone/>
            </a:pPr>
            <a:r>
              <a:rPr b="1" i="0" lang="en-US" sz="1082" u="none" cap="none" strike="noStrike">
                <a:solidFill>
                  <a:srgbClr val="0E7490"/>
                </a:solidFill>
                <a:latin typeface="Merriweather"/>
                <a:ea typeface="Merriweather"/>
                <a:cs typeface="Merriweather"/>
                <a:sym typeface="Merriweather"/>
              </a:rPr>
              <a:t>Security Health Score</a:t>
            </a:r>
            <a:endParaRPr b="1" i="0" sz="1082" u="none" cap="none" strike="noStrike">
              <a:solidFill>
                <a:schemeClr val="dk1"/>
              </a:solidFill>
              <a:latin typeface="Calibri"/>
              <a:ea typeface="Calibri"/>
              <a:cs typeface="Calibri"/>
              <a:sym typeface="Calibri"/>
            </a:endParaRPr>
          </a:p>
        </p:txBody>
      </p:sp>
      <p:sp>
        <p:nvSpPr>
          <p:cNvPr id="996" name="Google Shape;996;p29"/>
          <p:cNvSpPr/>
          <p:nvPr/>
        </p:nvSpPr>
        <p:spPr>
          <a:xfrm>
            <a:off x="4775820" y="4029725"/>
            <a:ext cx="115500" cy="237600"/>
          </a:xfrm>
          <a:prstGeom prst="rect">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500"/>
          </a:p>
        </p:txBody>
      </p:sp>
      <p:sp>
        <p:nvSpPr>
          <p:cNvPr id="997" name="Google Shape;997;p29"/>
          <p:cNvSpPr/>
          <p:nvPr/>
        </p:nvSpPr>
        <p:spPr>
          <a:xfrm>
            <a:off x="4968693" y="4044550"/>
            <a:ext cx="1991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Merriweather"/>
              <a:buNone/>
            </a:pPr>
            <a:r>
              <a:rPr b="1" i="0" lang="en-US" sz="1050" u="none" cap="none" strike="noStrike">
                <a:solidFill>
                  <a:srgbClr val="334155"/>
                </a:solidFill>
                <a:latin typeface="Merriweather"/>
                <a:ea typeface="Merriweather"/>
                <a:cs typeface="Merriweather"/>
                <a:sym typeface="Merriweather"/>
              </a:rPr>
              <a:t>90-100  —  Excellent</a:t>
            </a:r>
            <a:endParaRPr b="1" i="0" sz="1050" u="none" cap="none" strike="noStrike">
              <a:solidFill>
                <a:schemeClr val="dk1"/>
              </a:solidFill>
              <a:latin typeface="Calibri"/>
              <a:ea typeface="Calibri"/>
              <a:cs typeface="Calibri"/>
              <a:sym typeface="Calibri"/>
            </a:endParaRPr>
          </a:p>
        </p:txBody>
      </p:sp>
      <p:sp>
        <p:nvSpPr>
          <p:cNvPr id="998" name="Google Shape;998;p29"/>
          <p:cNvSpPr/>
          <p:nvPr/>
        </p:nvSpPr>
        <p:spPr>
          <a:xfrm>
            <a:off x="4775820" y="4358904"/>
            <a:ext cx="115500" cy="23760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500"/>
          </a:p>
        </p:txBody>
      </p:sp>
      <p:sp>
        <p:nvSpPr>
          <p:cNvPr id="999" name="Google Shape;999;p29"/>
          <p:cNvSpPr/>
          <p:nvPr/>
        </p:nvSpPr>
        <p:spPr>
          <a:xfrm>
            <a:off x="4968693" y="4358904"/>
            <a:ext cx="1991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Merriweather"/>
              <a:buNone/>
            </a:pPr>
            <a:r>
              <a:rPr b="1" i="0" lang="en-US" sz="1050" u="none" cap="none" strike="noStrike">
                <a:solidFill>
                  <a:srgbClr val="334155"/>
                </a:solidFill>
                <a:latin typeface="Merriweather"/>
                <a:ea typeface="Merriweather"/>
                <a:cs typeface="Merriweather"/>
                <a:sym typeface="Merriweather"/>
              </a:rPr>
              <a:t>70-89  —  Good</a:t>
            </a:r>
            <a:endParaRPr b="1" i="0" sz="1050" u="none" cap="none" strike="noStrike">
              <a:solidFill>
                <a:schemeClr val="dk1"/>
              </a:solidFill>
              <a:latin typeface="Calibri"/>
              <a:ea typeface="Calibri"/>
              <a:cs typeface="Calibri"/>
              <a:sym typeface="Calibri"/>
            </a:endParaRPr>
          </a:p>
        </p:txBody>
      </p:sp>
      <p:sp>
        <p:nvSpPr>
          <p:cNvPr id="1000" name="Google Shape;1000;p29"/>
          <p:cNvSpPr/>
          <p:nvPr/>
        </p:nvSpPr>
        <p:spPr>
          <a:xfrm>
            <a:off x="6623495" y="4027588"/>
            <a:ext cx="127500" cy="23760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500"/>
          </a:p>
        </p:txBody>
      </p:sp>
      <p:sp>
        <p:nvSpPr>
          <p:cNvPr id="1001" name="Google Shape;1001;p29"/>
          <p:cNvSpPr/>
          <p:nvPr/>
        </p:nvSpPr>
        <p:spPr>
          <a:xfrm>
            <a:off x="6836399" y="4051725"/>
            <a:ext cx="2198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Merriweather"/>
              <a:buNone/>
            </a:pPr>
            <a:r>
              <a:rPr b="1" i="0" lang="en-US" sz="1050" u="none" cap="none" strike="noStrike">
                <a:solidFill>
                  <a:srgbClr val="334155"/>
                </a:solidFill>
                <a:latin typeface="Merriweather"/>
                <a:ea typeface="Merriweather"/>
                <a:cs typeface="Merriweather"/>
                <a:sym typeface="Merriweather"/>
              </a:rPr>
              <a:t>50-69  —  At Risk</a:t>
            </a:r>
            <a:endParaRPr b="1" i="0" sz="1050" u="none" cap="none" strike="noStrike">
              <a:solidFill>
                <a:schemeClr val="dk1"/>
              </a:solidFill>
              <a:latin typeface="Calibri"/>
              <a:ea typeface="Calibri"/>
              <a:cs typeface="Calibri"/>
              <a:sym typeface="Calibri"/>
            </a:endParaRPr>
          </a:p>
        </p:txBody>
      </p:sp>
      <p:sp>
        <p:nvSpPr>
          <p:cNvPr id="1002" name="Google Shape;1002;p29"/>
          <p:cNvSpPr/>
          <p:nvPr/>
        </p:nvSpPr>
        <p:spPr>
          <a:xfrm>
            <a:off x="6623495" y="4358904"/>
            <a:ext cx="127500" cy="2376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500"/>
          </a:p>
        </p:txBody>
      </p:sp>
      <p:sp>
        <p:nvSpPr>
          <p:cNvPr id="1003" name="Google Shape;1003;p29"/>
          <p:cNvSpPr/>
          <p:nvPr/>
        </p:nvSpPr>
        <p:spPr>
          <a:xfrm>
            <a:off x="6861093" y="4370979"/>
            <a:ext cx="2198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Merriweather"/>
              <a:buNone/>
            </a:pPr>
            <a:r>
              <a:rPr b="1" i="0" lang="en-US" sz="1050" u="none" cap="none" strike="noStrike">
                <a:solidFill>
                  <a:srgbClr val="334155"/>
                </a:solidFill>
                <a:latin typeface="Merriweather"/>
                <a:ea typeface="Merriweather"/>
                <a:cs typeface="Merriweather"/>
                <a:sym typeface="Merriweather"/>
              </a:rPr>
              <a:t>0-49  —  Critical</a:t>
            </a:r>
            <a:endParaRPr b="1" i="0" sz="10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8" name="Shape 1008"/>
        <p:cNvGrpSpPr/>
        <p:nvPr/>
      </p:nvGrpSpPr>
      <p:grpSpPr>
        <a:xfrm>
          <a:off x="0" y="0"/>
          <a:ext cx="0" cy="0"/>
          <a:chOff x="0" y="0"/>
          <a:chExt cx="0" cy="0"/>
        </a:xfrm>
      </p:grpSpPr>
      <p:sp>
        <p:nvSpPr>
          <p:cNvPr id="1009" name="Google Shape;1009;p30"/>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30"/>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0"/>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The AI Advisory Layer — Google Gemini 1.5 Flash</a:t>
            </a:r>
            <a:endParaRPr b="0" i="0" sz="2200" u="none" cap="none" strike="noStrike">
              <a:solidFill>
                <a:schemeClr val="dk1"/>
              </a:solidFill>
              <a:latin typeface="Calibri"/>
              <a:ea typeface="Calibri"/>
              <a:cs typeface="Calibri"/>
              <a:sym typeface="Calibri"/>
            </a:endParaRPr>
          </a:p>
        </p:txBody>
      </p:sp>
      <p:sp>
        <p:nvSpPr>
          <p:cNvPr id="1012" name="Google Shape;1012;p30"/>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30"/>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30/40</a:t>
            </a:r>
            <a:endParaRPr b="0" i="0" sz="800" u="none" cap="none" strike="noStrike">
              <a:solidFill>
                <a:schemeClr val="dk1"/>
              </a:solidFill>
              <a:latin typeface="Calibri"/>
              <a:ea typeface="Calibri"/>
              <a:cs typeface="Calibri"/>
              <a:sym typeface="Calibri"/>
            </a:endParaRPr>
          </a:p>
        </p:txBody>
      </p:sp>
      <p:cxnSp>
        <p:nvCxnSpPr>
          <p:cNvPr id="1014" name="Google Shape;1014;p30"/>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1015" name="Google Shape;1015;p30"/>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1016" name="Google Shape;1016;p30"/>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0"/>
          <p:cNvSpPr/>
          <p:nvPr/>
        </p:nvSpPr>
        <p:spPr>
          <a:xfrm>
            <a:off x="1307500" y="749799"/>
            <a:ext cx="2377500" cy="2466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0"/>
          <p:cNvSpPr/>
          <p:nvPr/>
        </p:nvSpPr>
        <p:spPr>
          <a:xfrm>
            <a:off x="1307500" y="749799"/>
            <a:ext cx="23775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Risk Engine — AI</a:t>
            </a:r>
            <a:endParaRPr b="0" i="0" sz="1000" u="none" cap="none" strike="noStrike">
              <a:solidFill>
                <a:schemeClr val="dk1"/>
              </a:solidFill>
              <a:latin typeface="Calibri"/>
              <a:ea typeface="Calibri"/>
              <a:cs typeface="Calibri"/>
              <a:sym typeface="Calibri"/>
            </a:endParaRPr>
          </a:p>
        </p:txBody>
      </p:sp>
      <p:sp>
        <p:nvSpPr>
          <p:cNvPr id="1019" name="Google Shape;1019;p30"/>
          <p:cNvSpPr/>
          <p:nvPr/>
        </p:nvSpPr>
        <p:spPr>
          <a:xfrm>
            <a:off x="347475" y="1069850"/>
            <a:ext cx="4297800" cy="36669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0"/>
          <p:cNvSpPr/>
          <p:nvPr/>
        </p:nvSpPr>
        <p:spPr>
          <a:xfrm>
            <a:off x="548650" y="1223350"/>
            <a:ext cx="4096500" cy="3513300"/>
          </a:xfrm>
          <a:prstGeom prst="rect">
            <a:avLst/>
          </a:prstGeom>
          <a:noFill/>
          <a:ln>
            <a:noFill/>
          </a:ln>
        </p:spPr>
        <p:txBody>
          <a:bodyPr anchorCtr="0" anchor="t" bIns="45700" lIns="91425" spcFirstLastPara="1" rIns="91425" wrap="square" tIns="45700">
            <a:noAutofit/>
          </a:bodyPr>
          <a:lstStyle/>
          <a:p>
            <a:pPr indent="-346075" lvl="0" marL="342900" marR="0" rtl="0" algn="l">
              <a:lnSpc>
                <a:spcPct val="115000"/>
              </a:lnSpc>
              <a:spcBef>
                <a:spcPts val="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Google Gemini 1.5 Flash</a:t>
            </a:r>
            <a:r>
              <a:rPr b="0" i="0" lang="en-US" sz="1200" u="none" cap="none" strike="noStrike">
                <a:solidFill>
                  <a:srgbClr val="334155"/>
                </a:solidFill>
                <a:latin typeface="Merriweather"/>
                <a:ea typeface="Merriweather"/>
                <a:cs typeface="Merriweather"/>
                <a:sym typeface="Merriweather"/>
              </a:rPr>
              <a:t> — Chosen for its 1M-token context window, enabling full scan reports as input.</a:t>
            </a:r>
            <a:endParaRPr b="0" i="0" sz="1200" u="none" cap="none" strike="noStrike">
              <a:solidFill>
                <a:schemeClr val="dk1"/>
              </a:solidFill>
              <a:latin typeface="Calibri"/>
              <a:ea typeface="Calibri"/>
              <a:cs typeface="Calibri"/>
              <a:sym typeface="Calibri"/>
            </a:endParaRPr>
          </a:p>
          <a:p>
            <a:pPr indent="-346075" lvl="0" marL="342900" marR="0" rtl="0" algn="l">
              <a:lnSpc>
                <a:spcPct val="115000"/>
              </a:lnSpc>
              <a:spcBef>
                <a:spcPts val="50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Explains Vulnerability Contextually</a:t>
            </a:r>
            <a:r>
              <a:rPr b="0" i="0" lang="en-US" sz="1200" u="none" cap="none" strike="noStrike">
                <a:solidFill>
                  <a:srgbClr val="334155"/>
                </a:solidFill>
                <a:latin typeface="Merriweather"/>
                <a:ea typeface="Merriweather"/>
                <a:cs typeface="Merriweather"/>
                <a:sym typeface="Merriweather"/>
              </a:rPr>
              <a:t> — 'Your Apache server is outdated, attackers can use CVE-2021-41773 to read any file'.</a:t>
            </a:r>
            <a:endParaRPr b="0" i="0" sz="1200" u="none" cap="none" strike="noStrike">
              <a:solidFill>
                <a:schemeClr val="dk1"/>
              </a:solidFill>
              <a:latin typeface="Calibri"/>
              <a:ea typeface="Calibri"/>
              <a:cs typeface="Calibri"/>
              <a:sym typeface="Calibri"/>
            </a:endParaRPr>
          </a:p>
          <a:p>
            <a:pPr indent="-346075" lvl="0" marL="342900" marR="0" rtl="0" algn="l">
              <a:lnSpc>
                <a:spcPct val="115000"/>
              </a:lnSpc>
              <a:spcBef>
                <a:spcPts val="50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Proposes Precise Remediation</a:t>
            </a:r>
            <a:r>
              <a:rPr b="0" i="0" lang="en-US" sz="1200" u="none" cap="none" strike="noStrike">
                <a:solidFill>
                  <a:srgbClr val="334155"/>
                </a:solidFill>
                <a:latin typeface="Merriweather"/>
                <a:ea typeface="Merriweather"/>
                <a:cs typeface="Merriweather"/>
                <a:sym typeface="Merriweather"/>
              </a:rPr>
              <a:t> — Concrete, actionable steps: 'Run: sudo apt upgrade apache2 → version 2.4.51+'.</a:t>
            </a:r>
            <a:endParaRPr b="0" i="0" sz="1200" u="none" cap="none" strike="noStrike">
              <a:solidFill>
                <a:schemeClr val="dk1"/>
              </a:solidFill>
              <a:latin typeface="Calibri"/>
              <a:ea typeface="Calibri"/>
              <a:cs typeface="Calibri"/>
              <a:sym typeface="Calibri"/>
            </a:endParaRPr>
          </a:p>
          <a:p>
            <a:pPr indent="-346075" lvl="0" marL="342900" marR="0" rtl="0" algn="l">
              <a:lnSpc>
                <a:spcPct val="115000"/>
              </a:lnSpc>
              <a:spcBef>
                <a:spcPts val="50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Business-Language Output</a:t>
            </a:r>
            <a:r>
              <a:rPr b="0" i="0" lang="en-US" sz="1200" u="none" cap="none" strike="noStrike">
                <a:solidFill>
                  <a:srgbClr val="334155"/>
                </a:solidFill>
                <a:latin typeface="Merriweather"/>
                <a:ea typeface="Merriweather"/>
                <a:cs typeface="Merriweather"/>
                <a:sym typeface="Merriweather"/>
              </a:rPr>
              <a:t> — All advice framed in terms of business impact, not security jargon</a:t>
            </a:r>
            <a:endParaRPr b="0" i="0" sz="1200" u="none" cap="none" strike="noStrike">
              <a:solidFill>
                <a:schemeClr val="dk1"/>
              </a:solidFill>
              <a:latin typeface="Calibri"/>
              <a:ea typeface="Calibri"/>
              <a:cs typeface="Calibri"/>
              <a:sym typeface="Calibri"/>
            </a:endParaRPr>
          </a:p>
          <a:p>
            <a:pPr indent="-346075" lvl="0" marL="342900" marR="0" rtl="0" algn="l">
              <a:lnSpc>
                <a:spcPct val="115000"/>
              </a:lnSpc>
              <a:spcBef>
                <a:spcPts val="500"/>
              </a:spcBef>
              <a:spcAft>
                <a:spcPts val="0"/>
              </a:spcAft>
              <a:buClr>
                <a:srgbClr val="334155"/>
              </a:buClr>
              <a:buSzPts val="1200"/>
              <a:buFont typeface="Merriweather"/>
              <a:buChar char="•"/>
            </a:pPr>
            <a:r>
              <a:rPr b="1" i="0" lang="en-US" sz="1200" u="none" cap="none" strike="noStrike">
                <a:solidFill>
                  <a:srgbClr val="334155"/>
                </a:solidFill>
                <a:latin typeface="Merriweather"/>
                <a:ea typeface="Merriweather"/>
                <a:cs typeface="Merriweather"/>
                <a:sym typeface="Merriweather"/>
              </a:rPr>
              <a:t>Sandboxed Role</a:t>
            </a:r>
            <a:r>
              <a:rPr b="0" i="0" lang="en-US" sz="1200" u="none" cap="none" strike="noStrike">
                <a:solidFill>
                  <a:srgbClr val="334155"/>
                </a:solidFill>
                <a:latin typeface="Merriweather"/>
                <a:ea typeface="Merriweather"/>
                <a:cs typeface="Merriweather"/>
                <a:sym typeface="Merriweather"/>
              </a:rPr>
              <a:t> — Gemini never triggers scans, modifies scores, or accesses the database directly.</a:t>
            </a:r>
            <a:endParaRPr b="0" i="0" sz="1200" u="none" cap="none" strike="noStrike">
              <a:solidFill>
                <a:schemeClr val="dk1"/>
              </a:solidFill>
              <a:latin typeface="Calibri"/>
              <a:ea typeface="Calibri"/>
              <a:cs typeface="Calibri"/>
              <a:sym typeface="Calibri"/>
            </a:endParaRPr>
          </a:p>
        </p:txBody>
      </p:sp>
      <p:sp>
        <p:nvSpPr>
          <p:cNvPr id="1021" name="Google Shape;1021;p30"/>
          <p:cNvSpPr/>
          <p:nvPr/>
        </p:nvSpPr>
        <p:spPr>
          <a:xfrm>
            <a:off x="4937760" y="914400"/>
            <a:ext cx="3474720" cy="658368"/>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0"/>
          <p:cNvSpPr/>
          <p:nvPr/>
        </p:nvSpPr>
        <p:spPr>
          <a:xfrm>
            <a:off x="4937760" y="914400"/>
            <a:ext cx="3474720" cy="658368"/>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E7490"/>
              </a:buClr>
              <a:buSzPts val="1000"/>
              <a:buFont typeface="Merriweather"/>
              <a:buNone/>
            </a:pPr>
            <a:r>
              <a:rPr b="1" i="0" lang="en-US" sz="1100" u="none" cap="none" strike="noStrike">
                <a:solidFill>
                  <a:srgbClr val="0E7490"/>
                </a:solidFill>
                <a:latin typeface="Merriweather"/>
                <a:ea typeface="Merriweather"/>
                <a:cs typeface="Merriweather"/>
                <a:sym typeface="Merriweather"/>
              </a:rPr>
              <a:t>Unified Risk Engine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E7490"/>
              </a:buClr>
              <a:buSzPts val="1000"/>
              <a:buFont typeface="Merriweather"/>
              <a:buNone/>
            </a:pPr>
            <a:r>
              <a:rPr b="1" i="0" lang="en-US" sz="1100" u="none" cap="none" strike="noStrike">
                <a:solidFill>
                  <a:srgbClr val="0E7490"/>
                </a:solidFill>
                <a:latin typeface="Merriweather"/>
                <a:ea typeface="Merriweather"/>
                <a:cs typeface="Merriweather"/>
                <a:sym typeface="Merriweather"/>
              </a:rPr>
              <a:t>Verified Findings</a:t>
            </a:r>
            <a:endParaRPr b="0" i="0" sz="1100" u="none" cap="none" strike="noStrike">
              <a:solidFill>
                <a:schemeClr val="dk1"/>
              </a:solidFill>
              <a:latin typeface="Calibri"/>
              <a:ea typeface="Calibri"/>
              <a:cs typeface="Calibri"/>
              <a:sym typeface="Calibri"/>
            </a:endParaRPr>
          </a:p>
        </p:txBody>
      </p:sp>
      <p:cxnSp>
        <p:nvCxnSpPr>
          <p:cNvPr id="1023" name="Google Shape;1023;p30"/>
          <p:cNvCxnSpPr/>
          <p:nvPr/>
        </p:nvCxnSpPr>
        <p:spPr>
          <a:xfrm>
            <a:off x="6675120" y="1572768"/>
            <a:ext cx="0" cy="530352"/>
          </a:xfrm>
          <a:prstGeom prst="straightConnector1">
            <a:avLst/>
          </a:prstGeom>
          <a:noFill/>
          <a:ln cap="flat" cmpd="sng" w="25400">
            <a:solidFill>
              <a:srgbClr val="06B6D4"/>
            </a:solidFill>
            <a:prstDash val="solid"/>
            <a:round/>
            <a:headEnd len="sm" w="sm" type="none"/>
            <a:tailEnd len="med" w="med" type="stealth"/>
          </a:ln>
        </p:spPr>
      </p:cxnSp>
      <p:sp>
        <p:nvSpPr>
          <p:cNvPr id="1024" name="Google Shape;1024;p30"/>
          <p:cNvSpPr/>
          <p:nvPr/>
        </p:nvSpPr>
        <p:spPr>
          <a:xfrm>
            <a:off x="4937760" y="2103120"/>
            <a:ext cx="3474720" cy="658368"/>
          </a:xfrm>
          <a:prstGeom prst="rect">
            <a:avLst/>
          </a:prstGeom>
          <a:solidFill>
            <a:srgbClr val="EDE9FE"/>
          </a:solidFill>
          <a:ln cap="flat" cmpd="sng" w="254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0"/>
          <p:cNvSpPr/>
          <p:nvPr/>
        </p:nvSpPr>
        <p:spPr>
          <a:xfrm>
            <a:off x="4937760" y="2103120"/>
            <a:ext cx="3474720" cy="658368"/>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7C3AED"/>
              </a:buClr>
              <a:buSzPts val="1050"/>
              <a:buFont typeface="Merriweather"/>
              <a:buNone/>
            </a:pPr>
            <a:r>
              <a:rPr b="1" i="0" lang="en-US" sz="1150" u="none" cap="none" strike="noStrike">
                <a:solidFill>
                  <a:srgbClr val="7C3AED"/>
                </a:solidFill>
                <a:latin typeface="Merriweather"/>
                <a:ea typeface="Merriweather"/>
                <a:cs typeface="Merriweather"/>
                <a:sym typeface="Merriweather"/>
              </a:rPr>
              <a:t>Google Gemini 1.5 Flash</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C3AED"/>
              </a:buClr>
              <a:buSzPts val="1050"/>
              <a:buFont typeface="Merriweather"/>
              <a:buNone/>
            </a:pPr>
            <a:r>
              <a:rPr b="1" i="0" lang="en-US" sz="1150" u="none" cap="none" strike="noStrike">
                <a:solidFill>
                  <a:srgbClr val="7C3AED"/>
                </a:solidFill>
                <a:latin typeface="Merriweather"/>
                <a:ea typeface="Merriweather"/>
                <a:cs typeface="Merriweather"/>
                <a:sym typeface="Merriweather"/>
              </a:rPr>
              <a:t>(Advisory Prompt)</a:t>
            </a:r>
            <a:endParaRPr b="0" i="0" sz="1150" u="none" cap="none" strike="noStrike">
              <a:solidFill>
                <a:schemeClr val="dk1"/>
              </a:solidFill>
              <a:latin typeface="Calibri"/>
              <a:ea typeface="Calibri"/>
              <a:cs typeface="Calibri"/>
              <a:sym typeface="Calibri"/>
            </a:endParaRPr>
          </a:p>
        </p:txBody>
      </p:sp>
      <p:cxnSp>
        <p:nvCxnSpPr>
          <p:cNvPr id="1026" name="Google Shape;1026;p30"/>
          <p:cNvCxnSpPr/>
          <p:nvPr/>
        </p:nvCxnSpPr>
        <p:spPr>
          <a:xfrm>
            <a:off x="6675120" y="2761488"/>
            <a:ext cx="0" cy="530352"/>
          </a:xfrm>
          <a:prstGeom prst="straightConnector1">
            <a:avLst/>
          </a:prstGeom>
          <a:noFill/>
          <a:ln cap="flat" cmpd="sng" w="25400">
            <a:solidFill>
              <a:srgbClr val="7C3AED"/>
            </a:solidFill>
            <a:prstDash val="solid"/>
            <a:round/>
            <a:headEnd len="sm" w="sm" type="none"/>
            <a:tailEnd len="med" w="med" type="stealth"/>
          </a:ln>
        </p:spPr>
      </p:cxnSp>
      <p:sp>
        <p:nvSpPr>
          <p:cNvPr id="1027" name="Google Shape;1027;p30"/>
          <p:cNvSpPr/>
          <p:nvPr/>
        </p:nvSpPr>
        <p:spPr>
          <a:xfrm>
            <a:off x="4937760" y="3291840"/>
            <a:ext cx="3474720" cy="1234440"/>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0"/>
          <p:cNvSpPr/>
          <p:nvPr/>
        </p:nvSpPr>
        <p:spPr>
          <a:xfrm>
            <a:off x="4937760" y="3291840"/>
            <a:ext cx="3474720" cy="123444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59669"/>
              </a:buClr>
              <a:buSzPts val="900"/>
              <a:buFont typeface="Merriweather"/>
              <a:buNone/>
            </a:pPr>
            <a:r>
              <a:rPr b="0" i="0" lang="en-US" sz="1000" u="none" cap="none" strike="noStrike">
                <a:solidFill>
                  <a:srgbClr val="059669"/>
                </a:solidFill>
                <a:latin typeface="Merriweather"/>
                <a:ea typeface="Merriweather"/>
                <a:cs typeface="Merriweather"/>
                <a:sym typeface="Merriweather"/>
              </a:rPr>
              <a:t>Plain-Language Report:</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59669"/>
              </a:buClr>
              <a:buSzPts val="900"/>
              <a:buFont typeface="Merriweather"/>
              <a:buNone/>
            </a:pPr>
            <a:r>
              <a:rPr b="0" i="0" lang="en-US" sz="1000" u="none" cap="none" strike="noStrike">
                <a:solidFill>
                  <a:srgbClr val="059669"/>
                </a:solidFill>
                <a:latin typeface="Merriweather"/>
                <a:ea typeface="Merriweather"/>
                <a:cs typeface="Merriweather"/>
                <a:sym typeface="Merriweather"/>
              </a:rPr>
              <a:t>'Severity: Critical (9.8)</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59669"/>
              </a:buClr>
              <a:buSzPts val="900"/>
              <a:buFont typeface="Merriweather"/>
              <a:buNone/>
            </a:pPr>
            <a:r>
              <a:rPr b="0" i="0" lang="en-US" sz="1000" u="none" cap="none" strike="noStrike">
                <a:solidFill>
                  <a:srgbClr val="059669"/>
                </a:solidFill>
                <a:latin typeface="Merriweather"/>
                <a:ea typeface="Merriweather"/>
                <a:cs typeface="Merriweather"/>
                <a:sym typeface="Merriweather"/>
              </a:rPr>
              <a:t>Fix: Update OpenSSL to 3.0.7'</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59669"/>
              </a:buClr>
              <a:buSzPts val="900"/>
              <a:buFont typeface="Merriweather"/>
              <a:buNone/>
            </a:pPr>
            <a:r>
              <a:rPr b="0" i="0" lang="en-US" sz="1000" u="none" cap="none" strike="noStrike">
                <a:solidFill>
                  <a:srgbClr val="059669"/>
                </a:solidFill>
                <a:latin typeface="Merriweather"/>
                <a:ea typeface="Merriweather"/>
                <a:cs typeface="Merriweather"/>
                <a:sym typeface="Merriweather"/>
              </a:rPr>
              <a:t>'Business Risk: Data breach possible'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3" name="Shape 1033"/>
        <p:cNvGrpSpPr/>
        <p:nvPr/>
      </p:nvGrpSpPr>
      <p:grpSpPr>
        <a:xfrm>
          <a:off x="0" y="0"/>
          <a:ext cx="0" cy="0"/>
          <a:chOff x="0" y="0"/>
          <a:chExt cx="0" cy="0"/>
        </a:xfrm>
      </p:grpSpPr>
      <p:sp>
        <p:nvSpPr>
          <p:cNvPr id="1034" name="Google Shape;1034;p31"/>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1"/>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1"/>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Log Analytics with Wazuh SIEM &amp; EDR</a:t>
            </a:r>
            <a:endParaRPr b="0" i="0" sz="2200" u="none" cap="none" strike="noStrike">
              <a:solidFill>
                <a:schemeClr val="dk1"/>
              </a:solidFill>
              <a:latin typeface="Calibri"/>
              <a:ea typeface="Calibri"/>
              <a:cs typeface="Calibri"/>
              <a:sym typeface="Calibri"/>
            </a:endParaRPr>
          </a:p>
        </p:txBody>
      </p:sp>
      <p:sp>
        <p:nvSpPr>
          <p:cNvPr id="1037" name="Google Shape;1037;p31"/>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1"/>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31/40</a:t>
            </a:r>
            <a:endParaRPr b="0" i="0" sz="800" u="none" cap="none" strike="noStrike">
              <a:solidFill>
                <a:schemeClr val="dk1"/>
              </a:solidFill>
              <a:latin typeface="Calibri"/>
              <a:ea typeface="Calibri"/>
              <a:cs typeface="Calibri"/>
              <a:sym typeface="Calibri"/>
            </a:endParaRPr>
          </a:p>
        </p:txBody>
      </p:sp>
      <p:cxnSp>
        <p:nvCxnSpPr>
          <p:cNvPr id="1039" name="Google Shape;1039;p31"/>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1040" name="Google Shape;1040;p31"/>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1041" name="Google Shape;1041;p31"/>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1"/>
          <p:cNvSpPr/>
          <p:nvPr/>
        </p:nvSpPr>
        <p:spPr>
          <a:xfrm>
            <a:off x="1307660" y="749846"/>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1"/>
          <p:cNvSpPr/>
          <p:nvPr/>
        </p:nvSpPr>
        <p:spPr>
          <a:xfrm>
            <a:off x="1307660" y="749846"/>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Security — Internal</a:t>
            </a:r>
            <a:endParaRPr b="0" i="0" sz="1000" u="none" cap="none" strike="noStrike">
              <a:solidFill>
                <a:schemeClr val="dk1"/>
              </a:solidFill>
              <a:latin typeface="Calibri"/>
              <a:ea typeface="Calibri"/>
              <a:cs typeface="Calibri"/>
              <a:sym typeface="Calibri"/>
            </a:endParaRPr>
          </a:p>
        </p:txBody>
      </p:sp>
      <p:sp>
        <p:nvSpPr>
          <p:cNvPr id="1044" name="Google Shape;1044;p31"/>
          <p:cNvSpPr/>
          <p:nvPr/>
        </p:nvSpPr>
        <p:spPr>
          <a:xfrm>
            <a:off x="347475" y="1024212"/>
            <a:ext cx="4297800" cy="37125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31"/>
          <p:cNvSpPr/>
          <p:nvPr/>
        </p:nvSpPr>
        <p:spPr>
          <a:xfrm>
            <a:off x="548643" y="1179614"/>
            <a:ext cx="3895200" cy="3436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Wazuh </a:t>
            </a:r>
            <a:r>
              <a:rPr b="0" i="0" lang="en-US" sz="1150" u="none" cap="none" strike="noStrike">
                <a:solidFill>
                  <a:srgbClr val="334155"/>
                </a:solidFill>
                <a:latin typeface="Merriweather"/>
                <a:ea typeface="Merriweather"/>
                <a:cs typeface="Merriweather"/>
                <a:sym typeface="Merriweather"/>
              </a:rPr>
              <a:t>— Open-source SIEM &amp; XDR platform; deployed as a Docker service in our stack.</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Internal Log Consumption</a:t>
            </a:r>
            <a:r>
              <a:rPr b="0" i="0" lang="en-US" sz="1150" u="none" cap="none" strike="noStrike">
                <a:solidFill>
                  <a:srgbClr val="334155"/>
                </a:solidFill>
                <a:latin typeface="Merriweather"/>
                <a:ea typeface="Merriweather"/>
                <a:cs typeface="Merriweather"/>
                <a:sym typeface="Merriweather"/>
              </a:rPr>
              <a:t> — Wazuh agents on monitored hosts ship system logs, auth logs, and file integrity events.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Advanced Threat Detection</a:t>
            </a:r>
            <a:r>
              <a:rPr b="0" i="0" lang="en-US" sz="1150" u="none" cap="none" strike="noStrike">
                <a:solidFill>
                  <a:srgbClr val="334155"/>
                </a:solidFill>
                <a:latin typeface="Merriweather"/>
                <a:ea typeface="Merriweather"/>
                <a:cs typeface="Merriweather"/>
                <a:sym typeface="Merriweather"/>
              </a:rPr>
              <a:t> — MITRE ATT&amp;CK framework rules detect lateral movement, privilege escalation, and persistence.</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File Integrity Monitoring (FIM)</a:t>
            </a:r>
            <a:r>
              <a:rPr b="0" i="0" lang="en-US" sz="1150" u="none" cap="none" strike="noStrike">
                <a:solidFill>
                  <a:srgbClr val="334155"/>
                </a:solidFill>
                <a:latin typeface="Merriweather"/>
                <a:ea typeface="Merriweather"/>
                <a:cs typeface="Merriweather"/>
                <a:sym typeface="Merriweather"/>
              </a:rPr>
              <a:t> — Detects unauthorized changes to critical configuration files.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Integration API </a:t>
            </a:r>
            <a:r>
              <a:rPr b="0" i="0" lang="en-US" sz="1150" u="none" cap="none" strike="noStrike">
                <a:solidFill>
                  <a:srgbClr val="334155"/>
                </a:solidFill>
                <a:latin typeface="Merriweather"/>
                <a:ea typeface="Merriweather"/>
                <a:cs typeface="Merriweather"/>
                <a:sym typeface="Merriweather"/>
              </a:rPr>
              <a:t>— Found 404 backend queries Wazuh REST API to pull alerts into the unified dashboard.</a:t>
            </a:r>
            <a:endParaRPr b="0" i="0" sz="1150" u="none" cap="none" strike="noStrike">
              <a:solidFill>
                <a:schemeClr val="dk1"/>
              </a:solidFill>
              <a:latin typeface="Calibri"/>
              <a:ea typeface="Calibri"/>
              <a:cs typeface="Calibri"/>
              <a:sym typeface="Calibri"/>
            </a:endParaRPr>
          </a:p>
        </p:txBody>
      </p:sp>
      <p:sp>
        <p:nvSpPr>
          <p:cNvPr id="1046" name="Google Shape;1046;p31"/>
          <p:cNvSpPr/>
          <p:nvPr/>
        </p:nvSpPr>
        <p:spPr>
          <a:xfrm>
            <a:off x="4846320" y="868680"/>
            <a:ext cx="3840480" cy="594360"/>
          </a:xfrm>
          <a:prstGeom prst="rect">
            <a:avLst/>
          </a:prstGeom>
          <a:solidFill>
            <a:srgbClr val="F8FAFC"/>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1"/>
          <p:cNvSpPr/>
          <p:nvPr/>
        </p:nvSpPr>
        <p:spPr>
          <a:xfrm>
            <a:off x="4846320" y="868680"/>
            <a:ext cx="3840480" cy="59436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950"/>
              <a:buFont typeface="Merriweather"/>
              <a:buNone/>
            </a:pPr>
            <a:r>
              <a:rPr b="1" i="0" lang="en-US" sz="1150" u="none" cap="none" strike="noStrike">
                <a:solidFill>
                  <a:srgbClr val="0F172A"/>
                </a:solidFill>
                <a:latin typeface="Merriweather"/>
                <a:ea typeface="Merriweather"/>
                <a:cs typeface="Merriweather"/>
                <a:sym typeface="Merriweather"/>
              </a:rPr>
              <a:t>SME Host Machines</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950"/>
              <a:buFont typeface="Merriweather"/>
              <a:buNone/>
            </a:pPr>
            <a:r>
              <a:rPr b="1" i="0" lang="en-US" sz="1150" u="none" cap="none" strike="noStrike">
                <a:solidFill>
                  <a:srgbClr val="0F172A"/>
                </a:solidFill>
                <a:latin typeface="Merriweather"/>
                <a:ea typeface="Merriweather"/>
                <a:cs typeface="Merriweather"/>
                <a:sym typeface="Merriweather"/>
              </a:rPr>
              <a:t>(Web, DB, Auth servers)</a:t>
            </a:r>
            <a:endParaRPr b="0" i="0" sz="1150" u="none" cap="none" strike="noStrike">
              <a:solidFill>
                <a:schemeClr val="dk1"/>
              </a:solidFill>
              <a:latin typeface="Calibri"/>
              <a:ea typeface="Calibri"/>
              <a:cs typeface="Calibri"/>
              <a:sym typeface="Calibri"/>
            </a:endParaRPr>
          </a:p>
        </p:txBody>
      </p:sp>
      <p:cxnSp>
        <p:nvCxnSpPr>
          <p:cNvPr id="1048" name="Google Shape;1048;p31"/>
          <p:cNvCxnSpPr/>
          <p:nvPr/>
        </p:nvCxnSpPr>
        <p:spPr>
          <a:xfrm>
            <a:off x="6766560" y="1463040"/>
            <a:ext cx="0" cy="457200"/>
          </a:xfrm>
          <a:prstGeom prst="straightConnector1">
            <a:avLst/>
          </a:prstGeom>
          <a:noFill/>
          <a:ln cap="flat" cmpd="sng" w="25400">
            <a:solidFill>
              <a:srgbClr val="06B6D4"/>
            </a:solidFill>
            <a:prstDash val="solid"/>
            <a:round/>
            <a:headEnd len="sm" w="sm" type="none"/>
            <a:tailEnd len="med" w="med" type="stealth"/>
          </a:ln>
        </p:spPr>
      </p:cxnSp>
      <p:sp>
        <p:nvSpPr>
          <p:cNvPr id="1049" name="Google Shape;1049;p31"/>
          <p:cNvSpPr/>
          <p:nvPr/>
        </p:nvSpPr>
        <p:spPr>
          <a:xfrm>
            <a:off x="4846320" y="1920240"/>
            <a:ext cx="3840480" cy="594360"/>
          </a:xfrm>
          <a:prstGeom prst="rect">
            <a:avLst/>
          </a:prstGeom>
          <a:solidFill>
            <a:srgbClr val="FEF3C7"/>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1"/>
          <p:cNvSpPr/>
          <p:nvPr/>
        </p:nvSpPr>
        <p:spPr>
          <a:xfrm>
            <a:off x="4846320" y="1920240"/>
            <a:ext cx="3840480" cy="59436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D97706"/>
              </a:buClr>
              <a:buSzPts val="950"/>
              <a:buFont typeface="Merriweather"/>
              <a:buNone/>
            </a:pPr>
            <a:r>
              <a:rPr b="1" i="0" lang="en-US" sz="1150" u="none" cap="none" strike="noStrike">
                <a:solidFill>
                  <a:srgbClr val="D97706"/>
                </a:solidFill>
                <a:latin typeface="Merriweather"/>
                <a:ea typeface="Merriweather"/>
                <a:cs typeface="Merriweather"/>
                <a:sym typeface="Merriweather"/>
              </a:rPr>
              <a:t>Wazuh Agent</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7706"/>
              </a:buClr>
              <a:buSzPts val="950"/>
              <a:buFont typeface="Merriweather"/>
              <a:buNone/>
            </a:pPr>
            <a:r>
              <a:rPr b="1" i="0" lang="en-US" sz="1150" u="none" cap="none" strike="noStrike">
                <a:solidFill>
                  <a:srgbClr val="D97706"/>
                </a:solidFill>
                <a:latin typeface="Merriweather"/>
                <a:ea typeface="Merriweather"/>
                <a:cs typeface="Merriweather"/>
                <a:sym typeface="Merriweather"/>
              </a:rPr>
              <a:t>(Log collector &amp; shipper)</a:t>
            </a:r>
            <a:endParaRPr b="0" i="0" sz="1150" u="none" cap="none" strike="noStrike">
              <a:solidFill>
                <a:schemeClr val="dk1"/>
              </a:solidFill>
              <a:latin typeface="Calibri"/>
              <a:ea typeface="Calibri"/>
              <a:cs typeface="Calibri"/>
              <a:sym typeface="Calibri"/>
            </a:endParaRPr>
          </a:p>
        </p:txBody>
      </p:sp>
      <p:cxnSp>
        <p:nvCxnSpPr>
          <p:cNvPr id="1051" name="Google Shape;1051;p31"/>
          <p:cNvCxnSpPr/>
          <p:nvPr/>
        </p:nvCxnSpPr>
        <p:spPr>
          <a:xfrm>
            <a:off x="6766560" y="2514600"/>
            <a:ext cx="0" cy="457200"/>
          </a:xfrm>
          <a:prstGeom prst="straightConnector1">
            <a:avLst/>
          </a:prstGeom>
          <a:noFill/>
          <a:ln cap="flat" cmpd="sng" w="25400">
            <a:solidFill>
              <a:srgbClr val="D97706"/>
            </a:solidFill>
            <a:prstDash val="solid"/>
            <a:round/>
            <a:headEnd len="sm" w="sm" type="none"/>
            <a:tailEnd len="med" w="med" type="stealth"/>
          </a:ln>
        </p:spPr>
      </p:cxnSp>
      <p:sp>
        <p:nvSpPr>
          <p:cNvPr id="1052" name="Google Shape;1052;p31"/>
          <p:cNvSpPr/>
          <p:nvPr/>
        </p:nvSpPr>
        <p:spPr>
          <a:xfrm>
            <a:off x="4846320" y="2971800"/>
            <a:ext cx="3840480" cy="594360"/>
          </a:xfrm>
          <a:prstGeom prst="rect">
            <a:avLst/>
          </a:prstGeom>
          <a:solidFill>
            <a:srgbClr val="EDE9FE"/>
          </a:solidFill>
          <a:ln cap="flat" cmpd="sng" w="254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1"/>
          <p:cNvSpPr/>
          <p:nvPr/>
        </p:nvSpPr>
        <p:spPr>
          <a:xfrm>
            <a:off x="4846320" y="2971800"/>
            <a:ext cx="3840480" cy="59436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7C3AED"/>
              </a:buClr>
              <a:buSzPts val="950"/>
              <a:buFont typeface="Merriweather"/>
              <a:buNone/>
            </a:pPr>
            <a:r>
              <a:rPr b="1" i="0" lang="en-US" sz="1150" u="none" cap="none" strike="noStrike">
                <a:solidFill>
                  <a:srgbClr val="7C3AED"/>
                </a:solidFill>
                <a:latin typeface="Merriweather"/>
                <a:ea typeface="Merriweather"/>
                <a:cs typeface="Merriweather"/>
                <a:sym typeface="Merriweather"/>
              </a:rPr>
              <a:t>Wazuh Manager</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C3AED"/>
              </a:buClr>
              <a:buSzPts val="950"/>
              <a:buFont typeface="Merriweather"/>
              <a:buNone/>
            </a:pPr>
            <a:r>
              <a:rPr b="1" i="0" lang="en-US" sz="1150" u="none" cap="none" strike="noStrike">
                <a:solidFill>
                  <a:srgbClr val="7C3AED"/>
                </a:solidFill>
                <a:latin typeface="Merriweather"/>
                <a:ea typeface="Merriweather"/>
                <a:cs typeface="Merriweather"/>
                <a:sym typeface="Merriweather"/>
              </a:rPr>
              <a:t>(SIEM correlation engine)</a:t>
            </a:r>
            <a:endParaRPr b="0" i="0" sz="1150" u="none" cap="none" strike="noStrike">
              <a:solidFill>
                <a:schemeClr val="dk1"/>
              </a:solidFill>
              <a:latin typeface="Calibri"/>
              <a:ea typeface="Calibri"/>
              <a:cs typeface="Calibri"/>
              <a:sym typeface="Calibri"/>
            </a:endParaRPr>
          </a:p>
        </p:txBody>
      </p:sp>
      <p:cxnSp>
        <p:nvCxnSpPr>
          <p:cNvPr id="1054" name="Google Shape;1054;p31"/>
          <p:cNvCxnSpPr/>
          <p:nvPr/>
        </p:nvCxnSpPr>
        <p:spPr>
          <a:xfrm>
            <a:off x="6766560" y="3566160"/>
            <a:ext cx="0" cy="457200"/>
          </a:xfrm>
          <a:prstGeom prst="straightConnector1">
            <a:avLst/>
          </a:prstGeom>
          <a:noFill/>
          <a:ln cap="flat" cmpd="sng" w="25400">
            <a:solidFill>
              <a:srgbClr val="7C3AED"/>
            </a:solidFill>
            <a:prstDash val="solid"/>
            <a:round/>
            <a:headEnd len="sm" w="sm" type="none"/>
            <a:tailEnd len="med" w="med" type="stealth"/>
          </a:ln>
        </p:spPr>
      </p:cxnSp>
      <p:sp>
        <p:nvSpPr>
          <p:cNvPr id="1055" name="Google Shape;1055;p31"/>
          <p:cNvSpPr/>
          <p:nvPr/>
        </p:nvSpPr>
        <p:spPr>
          <a:xfrm>
            <a:off x="4846320" y="4023360"/>
            <a:ext cx="3840480" cy="59436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1"/>
          <p:cNvSpPr/>
          <p:nvPr/>
        </p:nvSpPr>
        <p:spPr>
          <a:xfrm>
            <a:off x="4846320" y="4023360"/>
            <a:ext cx="3840480" cy="59436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E7490"/>
              </a:buClr>
              <a:buSzPts val="950"/>
              <a:buFont typeface="Merriweather"/>
              <a:buNone/>
            </a:pPr>
            <a:r>
              <a:rPr b="1" i="0" lang="en-US" sz="1150" u="none" cap="none" strike="noStrike">
                <a:solidFill>
                  <a:srgbClr val="0E7490"/>
                </a:solidFill>
                <a:latin typeface="Merriweather"/>
                <a:ea typeface="Merriweather"/>
                <a:cs typeface="Merriweather"/>
                <a:sym typeface="Merriweather"/>
              </a:rPr>
              <a:t>Found 404 Backend</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E7490"/>
              </a:buClr>
              <a:buSzPts val="950"/>
              <a:buFont typeface="Merriweather"/>
              <a:buNone/>
            </a:pPr>
            <a:r>
              <a:rPr b="1" i="0" lang="en-US" sz="1150" u="none" cap="none" strike="noStrike">
                <a:solidFill>
                  <a:srgbClr val="0E7490"/>
                </a:solidFill>
                <a:latin typeface="Merriweather"/>
                <a:ea typeface="Merriweather"/>
                <a:cs typeface="Merriweather"/>
                <a:sym typeface="Merriweather"/>
              </a:rPr>
              <a:t>(Alert ingestion via REST API)</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1" name="Shape 1061"/>
        <p:cNvGrpSpPr/>
        <p:nvPr/>
      </p:nvGrpSpPr>
      <p:grpSpPr>
        <a:xfrm>
          <a:off x="0" y="0"/>
          <a:ext cx="0" cy="0"/>
          <a:chOff x="0" y="0"/>
          <a:chExt cx="0" cy="0"/>
        </a:xfrm>
      </p:grpSpPr>
      <p:sp>
        <p:nvSpPr>
          <p:cNvPr id="1062" name="Google Shape;1062;p32"/>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2"/>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2"/>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Correlating External &amp; Internal Threats</a:t>
            </a:r>
            <a:endParaRPr b="0" i="0" sz="2200" u="none" cap="none" strike="noStrike">
              <a:solidFill>
                <a:schemeClr val="dk1"/>
              </a:solidFill>
              <a:latin typeface="Calibri"/>
              <a:ea typeface="Calibri"/>
              <a:cs typeface="Calibri"/>
              <a:sym typeface="Calibri"/>
            </a:endParaRPr>
          </a:p>
        </p:txBody>
      </p:sp>
      <p:sp>
        <p:nvSpPr>
          <p:cNvPr id="1065" name="Google Shape;1065;p32"/>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2"/>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32/40</a:t>
            </a:r>
            <a:endParaRPr b="0" i="0" sz="800" u="none" cap="none" strike="noStrike">
              <a:solidFill>
                <a:schemeClr val="dk1"/>
              </a:solidFill>
              <a:latin typeface="Calibri"/>
              <a:ea typeface="Calibri"/>
              <a:cs typeface="Calibri"/>
              <a:sym typeface="Calibri"/>
            </a:endParaRPr>
          </a:p>
        </p:txBody>
      </p:sp>
      <p:cxnSp>
        <p:nvCxnSpPr>
          <p:cNvPr id="1067" name="Google Shape;1067;p32"/>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1068" name="Google Shape;1068;p32"/>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1069" name="Google Shape;1069;p32"/>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2"/>
          <p:cNvSpPr/>
          <p:nvPr/>
        </p:nvSpPr>
        <p:spPr>
          <a:xfrm>
            <a:off x="1216160" y="740671"/>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2"/>
          <p:cNvSpPr/>
          <p:nvPr/>
        </p:nvSpPr>
        <p:spPr>
          <a:xfrm>
            <a:off x="1216160" y="740671"/>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Security — Internal</a:t>
            </a:r>
            <a:endParaRPr b="0" i="0" sz="1000" u="none" cap="none" strike="noStrike">
              <a:solidFill>
                <a:schemeClr val="dk1"/>
              </a:solidFill>
              <a:latin typeface="Calibri"/>
              <a:ea typeface="Calibri"/>
              <a:cs typeface="Calibri"/>
              <a:sym typeface="Calibri"/>
            </a:endParaRPr>
          </a:p>
        </p:txBody>
      </p:sp>
      <p:sp>
        <p:nvSpPr>
          <p:cNvPr id="1072" name="Google Shape;1072;p32"/>
          <p:cNvSpPr/>
          <p:nvPr/>
        </p:nvSpPr>
        <p:spPr>
          <a:xfrm>
            <a:off x="347475" y="1005850"/>
            <a:ext cx="4114800" cy="37308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2"/>
          <p:cNvSpPr/>
          <p:nvPr/>
        </p:nvSpPr>
        <p:spPr>
          <a:xfrm>
            <a:off x="548643" y="1162021"/>
            <a:ext cx="3712500" cy="3453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External-Internal Correlation</a:t>
            </a:r>
            <a:r>
              <a:rPr b="0" i="0" lang="en-US" sz="1150" u="none" cap="none" strike="noStrike">
                <a:solidFill>
                  <a:srgbClr val="334155"/>
                </a:solidFill>
                <a:latin typeface="Merriweather"/>
                <a:ea typeface="Merriweather"/>
                <a:cs typeface="Merriweather"/>
                <a:sym typeface="Merriweather"/>
              </a:rPr>
              <a:t> — Matching confirmed exploits from AttackAgent with Wazuh anomalies.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Lateral Movement Detection</a:t>
            </a:r>
            <a:r>
              <a:rPr b="0" i="0" lang="en-US" sz="1150" u="none" cap="none" strike="noStrike">
                <a:solidFill>
                  <a:srgbClr val="334155"/>
                </a:solidFill>
                <a:latin typeface="Merriweather"/>
                <a:ea typeface="Merriweather"/>
                <a:cs typeface="Merriweather"/>
                <a:sym typeface="Merriweather"/>
              </a:rPr>
              <a:t> — If AttackAgent exploits SSH, Wazuh alert on new logins confirms success.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Zero-Trust Validation</a:t>
            </a:r>
            <a:r>
              <a:rPr b="0" i="0" lang="en-US" sz="1150" u="none" cap="none" strike="noStrike">
                <a:solidFill>
                  <a:srgbClr val="334155"/>
                </a:solidFill>
                <a:latin typeface="Merriweather"/>
                <a:ea typeface="Merriweather"/>
                <a:cs typeface="Merriweather"/>
                <a:sym typeface="Merriweather"/>
              </a:rPr>
              <a:t> — Every internal action is treated as potentially hostile until proven otherwise.</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Attack Timeline Reconstruction</a:t>
            </a:r>
            <a:r>
              <a:rPr b="0" i="0" lang="en-US" sz="1150" u="none" cap="none" strike="noStrike">
                <a:solidFill>
                  <a:srgbClr val="334155"/>
                </a:solidFill>
                <a:latin typeface="Merriweather"/>
                <a:ea typeface="Merriweather"/>
                <a:cs typeface="Merriweather"/>
                <a:sym typeface="Merriweather"/>
              </a:rPr>
              <a:t> — Cross-referencing timestamps from scan and logs reveals attack kill chain.</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Eliminated False Positives</a:t>
            </a:r>
            <a:r>
              <a:rPr b="0" i="0" lang="en-US" sz="1150" u="none" cap="none" strike="noStrike">
                <a:solidFill>
                  <a:srgbClr val="334155"/>
                </a:solidFill>
                <a:latin typeface="Merriweather"/>
                <a:ea typeface="Merriweather"/>
                <a:cs typeface="Merriweather"/>
                <a:sym typeface="Merriweather"/>
              </a:rPr>
              <a:t> — A Nuclei finding only escalates to Critical if Wazuh logs confirm exploitation.</a:t>
            </a:r>
            <a:endParaRPr b="0" i="0" sz="1150" u="none" cap="none" strike="noStrike">
              <a:solidFill>
                <a:schemeClr val="dk1"/>
              </a:solidFill>
              <a:latin typeface="Calibri"/>
              <a:ea typeface="Calibri"/>
              <a:cs typeface="Calibri"/>
              <a:sym typeface="Calibri"/>
            </a:endParaRPr>
          </a:p>
        </p:txBody>
      </p:sp>
      <p:sp>
        <p:nvSpPr>
          <p:cNvPr id="1074" name="Google Shape;1074;p32"/>
          <p:cNvSpPr/>
          <p:nvPr/>
        </p:nvSpPr>
        <p:spPr>
          <a:xfrm>
            <a:off x="4754880" y="1005840"/>
            <a:ext cx="3840480" cy="731520"/>
          </a:xfrm>
          <a:prstGeom prst="rect">
            <a:avLst/>
          </a:prstGeom>
          <a:solidFill>
            <a:srgbClr val="EDE9FE"/>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2"/>
          <p:cNvSpPr/>
          <p:nvPr/>
        </p:nvSpPr>
        <p:spPr>
          <a:xfrm>
            <a:off x="4754880" y="1005840"/>
            <a:ext cx="3840480" cy="73152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7C3AED"/>
              </a:buClr>
              <a:buSzPts val="1000"/>
              <a:buFont typeface="Merriweather"/>
              <a:buNone/>
            </a:pPr>
            <a:r>
              <a:rPr b="1" i="0" lang="en-US" sz="1100" u="none" cap="none" strike="noStrike">
                <a:solidFill>
                  <a:srgbClr val="7C3AED"/>
                </a:solidFill>
                <a:latin typeface="Merriweather"/>
                <a:ea typeface="Merriweather"/>
                <a:cs typeface="Merriweather"/>
                <a:sym typeface="Merriweather"/>
              </a:rPr>
              <a:t>AttackAgent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C3AED"/>
              </a:buClr>
              <a:buSzPts val="1000"/>
              <a:buFont typeface="Merriweather"/>
              <a:buNone/>
            </a:pPr>
            <a:r>
              <a:rPr b="1" i="0" lang="en-US" sz="1100" u="none" cap="none" strike="noStrike">
                <a:solidFill>
                  <a:srgbClr val="7C3AED"/>
                </a:solidFill>
                <a:latin typeface="Merriweather"/>
                <a:ea typeface="Merriweather"/>
                <a:cs typeface="Merriweather"/>
                <a:sym typeface="Merriweather"/>
              </a:rPr>
              <a:t>External Scan Findings</a:t>
            </a:r>
            <a:endParaRPr b="0" i="0" sz="1100" u="none" cap="none" strike="noStrike">
              <a:solidFill>
                <a:schemeClr val="dk1"/>
              </a:solidFill>
              <a:latin typeface="Calibri"/>
              <a:ea typeface="Calibri"/>
              <a:cs typeface="Calibri"/>
              <a:sym typeface="Calibri"/>
            </a:endParaRPr>
          </a:p>
        </p:txBody>
      </p:sp>
      <p:sp>
        <p:nvSpPr>
          <p:cNvPr id="1076" name="Google Shape;1076;p32"/>
          <p:cNvSpPr/>
          <p:nvPr/>
        </p:nvSpPr>
        <p:spPr>
          <a:xfrm>
            <a:off x="5486350" y="3061200"/>
            <a:ext cx="2377500" cy="731400"/>
          </a:xfrm>
          <a:prstGeom prst="rect">
            <a:avLst/>
          </a:prstGeom>
          <a:solidFill>
            <a:srgbClr val="FEF3C7"/>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2"/>
          <p:cNvSpPr/>
          <p:nvPr/>
        </p:nvSpPr>
        <p:spPr>
          <a:xfrm>
            <a:off x="4749855" y="3061210"/>
            <a:ext cx="3840600" cy="7314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D97706"/>
              </a:buClr>
              <a:buSzPts val="1000"/>
              <a:buFont typeface="Merriweather"/>
              <a:buNone/>
            </a:pPr>
            <a:r>
              <a:rPr b="1" i="0" lang="en-US" sz="1100" u="none" cap="none" strike="noStrike">
                <a:solidFill>
                  <a:srgbClr val="D97706"/>
                </a:solidFill>
                <a:latin typeface="Merriweather"/>
                <a:ea typeface="Merriweather"/>
                <a:cs typeface="Merriweather"/>
                <a:sym typeface="Merriweather"/>
              </a:rPr>
              <a:t>Wazuh SIEM</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97706"/>
              </a:buClr>
              <a:buSzPts val="1000"/>
              <a:buFont typeface="Merriweather"/>
              <a:buNone/>
            </a:pPr>
            <a:r>
              <a:rPr b="1" i="0" lang="en-US" sz="1100" u="none" cap="none" strike="noStrike">
                <a:solidFill>
                  <a:srgbClr val="D97706"/>
                </a:solidFill>
                <a:latin typeface="Merriweather"/>
                <a:ea typeface="Merriweather"/>
                <a:cs typeface="Merriweather"/>
                <a:sym typeface="Merriweather"/>
              </a:rPr>
              <a:t>Internal Log Alerts</a:t>
            </a:r>
            <a:endParaRPr b="0" i="0" sz="1100" u="none" cap="none" strike="noStrike">
              <a:solidFill>
                <a:schemeClr val="dk1"/>
              </a:solidFill>
              <a:latin typeface="Calibri"/>
              <a:ea typeface="Calibri"/>
              <a:cs typeface="Calibri"/>
              <a:sym typeface="Calibri"/>
            </a:endParaRPr>
          </a:p>
        </p:txBody>
      </p:sp>
      <p:cxnSp>
        <p:nvCxnSpPr>
          <p:cNvPr id="1078" name="Google Shape;1078;p32"/>
          <p:cNvCxnSpPr>
            <a:endCxn id="1079" idx="0"/>
          </p:cNvCxnSpPr>
          <p:nvPr/>
        </p:nvCxnSpPr>
        <p:spPr>
          <a:xfrm>
            <a:off x="6675163" y="1737250"/>
            <a:ext cx="0" cy="411600"/>
          </a:xfrm>
          <a:prstGeom prst="straightConnector1">
            <a:avLst/>
          </a:prstGeom>
          <a:noFill/>
          <a:ln cap="flat" cmpd="sng" w="25400">
            <a:solidFill>
              <a:srgbClr val="7C3AED"/>
            </a:solidFill>
            <a:prstDash val="solid"/>
            <a:round/>
            <a:headEnd len="sm" w="sm" type="none"/>
            <a:tailEnd len="med" w="med" type="stealth"/>
          </a:ln>
        </p:spPr>
      </p:cxnSp>
      <p:cxnSp>
        <p:nvCxnSpPr>
          <p:cNvPr id="1080" name="Google Shape;1080;p32"/>
          <p:cNvCxnSpPr>
            <a:endCxn id="1076" idx="0"/>
          </p:cNvCxnSpPr>
          <p:nvPr/>
        </p:nvCxnSpPr>
        <p:spPr>
          <a:xfrm>
            <a:off x="6665200" y="2683800"/>
            <a:ext cx="9900" cy="377400"/>
          </a:xfrm>
          <a:prstGeom prst="straightConnector1">
            <a:avLst/>
          </a:prstGeom>
          <a:noFill/>
          <a:ln cap="flat" cmpd="sng" w="25400">
            <a:solidFill>
              <a:srgbClr val="D97706"/>
            </a:solidFill>
            <a:prstDash val="solid"/>
            <a:round/>
            <a:headEnd len="sm" w="sm" type="none"/>
            <a:tailEnd len="med" w="med" type="stealth"/>
          </a:ln>
        </p:spPr>
      </p:cxnSp>
      <p:sp>
        <p:nvSpPr>
          <p:cNvPr id="1079" name="Google Shape;1079;p32"/>
          <p:cNvSpPr/>
          <p:nvPr/>
        </p:nvSpPr>
        <p:spPr>
          <a:xfrm>
            <a:off x="5235763" y="2148850"/>
            <a:ext cx="2878800" cy="658500"/>
          </a:xfrm>
          <a:prstGeom prst="rect">
            <a:avLst/>
          </a:prstGeom>
          <a:solidFill>
            <a:srgbClr val="D1FAE5"/>
          </a:solidFill>
          <a:ln cap="flat" cmpd="sng" w="25400">
            <a:solidFill>
              <a:srgbClr val="059669"/>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2"/>
          <p:cNvSpPr/>
          <p:nvPr/>
        </p:nvSpPr>
        <p:spPr>
          <a:xfrm>
            <a:off x="5309062" y="2112275"/>
            <a:ext cx="2732100" cy="65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050"/>
              <a:buFont typeface="Merriweather"/>
              <a:buNone/>
            </a:pPr>
            <a:r>
              <a:rPr b="1" i="0" lang="en-US" sz="1150" u="none" cap="none" strike="noStrike">
                <a:solidFill>
                  <a:srgbClr val="059669"/>
                </a:solidFill>
                <a:latin typeface="Merriweather"/>
                <a:ea typeface="Merriweather"/>
                <a:cs typeface="Merriweather"/>
                <a:sym typeface="Merriweather"/>
              </a:rPr>
              <a:t>Correlated</a:t>
            </a:r>
            <a:endParaRPr b="0" i="0" sz="11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59669"/>
              </a:buClr>
              <a:buSzPts val="1050"/>
              <a:buFont typeface="Merriweather"/>
              <a:buNone/>
            </a:pPr>
            <a:r>
              <a:rPr b="1" i="0" lang="en-US" sz="1150" u="none" cap="none" strike="noStrike">
                <a:solidFill>
                  <a:srgbClr val="059669"/>
                </a:solidFill>
                <a:latin typeface="Merriweather"/>
                <a:ea typeface="Merriweather"/>
                <a:cs typeface="Merriweather"/>
                <a:sym typeface="Merriweather"/>
              </a:rPr>
              <a:t>Ground Truth</a:t>
            </a:r>
            <a:endParaRPr b="0" i="0" sz="1150" u="none" cap="none" strike="noStrike">
              <a:solidFill>
                <a:schemeClr val="dk1"/>
              </a:solidFill>
              <a:latin typeface="Calibri"/>
              <a:ea typeface="Calibri"/>
              <a:cs typeface="Calibri"/>
              <a:sym typeface="Calibri"/>
            </a:endParaRPr>
          </a:p>
        </p:txBody>
      </p:sp>
      <p:sp>
        <p:nvSpPr>
          <p:cNvPr id="1082" name="Google Shape;1082;p32"/>
          <p:cNvSpPr/>
          <p:nvPr/>
        </p:nvSpPr>
        <p:spPr>
          <a:xfrm>
            <a:off x="4617690" y="4007642"/>
            <a:ext cx="4114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34155"/>
              </a:buClr>
              <a:buSzPts val="1000"/>
              <a:buFont typeface="Merriweather"/>
              <a:buNone/>
            </a:pPr>
            <a:r>
              <a:rPr b="0" i="0" lang="en-US" sz="1000" u="none" cap="none" strike="noStrike">
                <a:solidFill>
                  <a:srgbClr val="334155"/>
                </a:solidFill>
                <a:latin typeface="Merriweather"/>
                <a:ea typeface="Merriweather"/>
                <a:cs typeface="Merriweather"/>
                <a:sym typeface="Merriweather"/>
              </a:rPr>
              <a:t>Confirmed Exploitation = Escalated Alert</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34155"/>
              </a:buClr>
              <a:buSzPts val="1000"/>
              <a:buFont typeface="Merriweather"/>
              <a:buNone/>
            </a:pPr>
            <a:r>
              <a:rPr b="0" i="0" lang="en-US" sz="1000" u="none" cap="none" strike="noStrike">
                <a:solidFill>
                  <a:srgbClr val="334155"/>
                </a:solidFill>
                <a:latin typeface="Merriweather"/>
                <a:ea typeface="Merriweather"/>
                <a:cs typeface="Merriweather"/>
                <a:sym typeface="Merriweather"/>
              </a:rPr>
              <a:t>Potential Finding = Monitoring Queue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A5C4"/>
        </a:solidFill>
      </p:bgPr>
    </p:bg>
    <p:spTree>
      <p:nvGrpSpPr>
        <p:cNvPr id="1087" name="Shape 1087"/>
        <p:cNvGrpSpPr/>
        <p:nvPr/>
      </p:nvGrpSpPr>
      <p:grpSpPr>
        <a:xfrm>
          <a:off x="0" y="0"/>
          <a:ext cx="0" cy="0"/>
          <a:chOff x="0" y="0"/>
          <a:chExt cx="0" cy="0"/>
        </a:xfrm>
      </p:grpSpPr>
      <p:sp>
        <p:nvSpPr>
          <p:cNvPr id="1088" name="Google Shape;1088;g3d2d178f3e5_2_32"/>
          <p:cNvSpPr txBox="1"/>
          <p:nvPr/>
        </p:nvSpPr>
        <p:spPr>
          <a:xfrm>
            <a:off x="0" y="2233200"/>
            <a:ext cx="91440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500">
                <a:solidFill>
                  <a:schemeClr val="lt1"/>
                </a:solidFill>
                <a:latin typeface="Merriweather"/>
                <a:ea typeface="Merriweather"/>
                <a:cs typeface="Merriweather"/>
                <a:sym typeface="Merriweather"/>
              </a:rPr>
              <a:t>Data Flow In Backend</a:t>
            </a:r>
            <a:endParaRPr sz="3500">
              <a:solidFill>
                <a:schemeClr val="lt1"/>
              </a:solidFill>
              <a:latin typeface="Merriweather"/>
              <a:ea typeface="Merriweather"/>
              <a:cs typeface="Merriweather"/>
              <a:sym typeface="Merriweathe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3" name="Shape 1093"/>
        <p:cNvGrpSpPr/>
        <p:nvPr/>
      </p:nvGrpSpPr>
      <p:grpSpPr>
        <a:xfrm>
          <a:off x="0" y="0"/>
          <a:ext cx="0" cy="0"/>
          <a:chOff x="0" y="0"/>
          <a:chExt cx="0" cy="0"/>
        </a:xfrm>
      </p:grpSpPr>
      <p:sp>
        <p:nvSpPr>
          <p:cNvPr id="1094" name="Google Shape;1094;p33"/>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3"/>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3"/>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Database &amp; Storage Layer — PostgreSQL</a:t>
            </a:r>
            <a:endParaRPr b="0" i="0" sz="2200" u="none" cap="none" strike="noStrike">
              <a:solidFill>
                <a:schemeClr val="dk1"/>
              </a:solidFill>
              <a:latin typeface="Calibri"/>
              <a:ea typeface="Calibri"/>
              <a:cs typeface="Calibri"/>
              <a:sym typeface="Calibri"/>
            </a:endParaRPr>
          </a:p>
        </p:txBody>
      </p:sp>
      <p:sp>
        <p:nvSpPr>
          <p:cNvPr id="1097" name="Google Shape;1097;p33"/>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3"/>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33/40</a:t>
            </a:r>
            <a:endParaRPr b="0" i="0" sz="800" u="none" cap="none" strike="noStrike">
              <a:solidFill>
                <a:schemeClr val="dk1"/>
              </a:solidFill>
              <a:latin typeface="Calibri"/>
              <a:ea typeface="Calibri"/>
              <a:cs typeface="Calibri"/>
              <a:sym typeface="Calibri"/>
            </a:endParaRPr>
          </a:p>
        </p:txBody>
      </p:sp>
      <p:cxnSp>
        <p:nvCxnSpPr>
          <p:cNvPr id="1099" name="Google Shape;1099;p33"/>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1100" name="Google Shape;1100;p33"/>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1101" name="Google Shape;1101;p33"/>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3"/>
          <p:cNvSpPr/>
          <p:nvPr/>
        </p:nvSpPr>
        <p:spPr>
          <a:xfrm>
            <a:off x="1146460" y="742896"/>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33"/>
          <p:cNvSpPr/>
          <p:nvPr/>
        </p:nvSpPr>
        <p:spPr>
          <a:xfrm>
            <a:off x="1146460" y="742896"/>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Backend — Data</a:t>
            </a:r>
            <a:endParaRPr b="0" i="0" sz="1000" u="none" cap="none" strike="noStrike">
              <a:solidFill>
                <a:schemeClr val="dk1"/>
              </a:solidFill>
              <a:latin typeface="Calibri"/>
              <a:ea typeface="Calibri"/>
              <a:cs typeface="Calibri"/>
              <a:sym typeface="Calibri"/>
            </a:endParaRPr>
          </a:p>
        </p:txBody>
      </p:sp>
      <p:sp>
        <p:nvSpPr>
          <p:cNvPr id="1104" name="Google Shape;1104;p33"/>
          <p:cNvSpPr/>
          <p:nvPr/>
        </p:nvSpPr>
        <p:spPr>
          <a:xfrm>
            <a:off x="322000" y="1056025"/>
            <a:ext cx="4070700" cy="25146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3"/>
          <p:cNvSpPr/>
          <p:nvPr/>
        </p:nvSpPr>
        <p:spPr>
          <a:xfrm>
            <a:off x="478950" y="1106438"/>
            <a:ext cx="3712500" cy="2368200"/>
          </a:xfrm>
          <a:prstGeom prst="rect">
            <a:avLst/>
          </a:prstGeom>
          <a:noFill/>
          <a:ln>
            <a:noFill/>
          </a:ln>
        </p:spPr>
        <p:txBody>
          <a:bodyPr anchorCtr="0" anchor="t" bIns="45700" lIns="91425" spcFirstLastPara="1" rIns="91425" wrap="square" tIns="45700">
            <a:noAutofit/>
          </a:bodyPr>
          <a:lstStyle/>
          <a:p>
            <a:pPr indent="-339725" lvl="0" marL="342900" marR="0" rtl="0" algn="l">
              <a:spcBef>
                <a:spcPts val="0"/>
              </a:spcBef>
              <a:spcAft>
                <a:spcPts val="0"/>
              </a:spcAft>
              <a:buClr>
                <a:srgbClr val="334155"/>
              </a:buClr>
              <a:buSzPts val="1100"/>
              <a:buFont typeface="Merriweather"/>
              <a:buChar char="•"/>
            </a:pPr>
            <a:r>
              <a:rPr b="1" i="0" lang="en-US" sz="1100" u="none" cap="none" strike="noStrike">
                <a:solidFill>
                  <a:srgbClr val="334155"/>
                </a:solidFill>
                <a:latin typeface="Merriweather"/>
                <a:ea typeface="Merriweather"/>
                <a:cs typeface="Merriweather"/>
                <a:sym typeface="Merriweather"/>
              </a:rPr>
              <a:t>PostgreSQL 15</a:t>
            </a:r>
            <a:r>
              <a:rPr b="0" i="0" lang="en-US" sz="1100" u="none" cap="none" strike="noStrike">
                <a:solidFill>
                  <a:srgbClr val="334155"/>
                </a:solidFill>
                <a:latin typeface="Merriweather"/>
                <a:ea typeface="Merriweather"/>
                <a:cs typeface="Merriweather"/>
                <a:sym typeface="Merriweather"/>
              </a:rPr>
              <a:t> — ACID-compliant, battle-tested relational database with JSONB support for raw scan artifacts.</a:t>
            </a:r>
            <a:endParaRPr b="0" i="0" sz="1100" u="none" cap="none" strike="noStrike">
              <a:solidFill>
                <a:schemeClr val="dk1"/>
              </a:solidFill>
              <a:latin typeface="Calibri"/>
              <a:ea typeface="Calibri"/>
              <a:cs typeface="Calibri"/>
              <a:sym typeface="Calibri"/>
            </a:endParaRPr>
          </a:p>
          <a:p>
            <a:pPr indent="-339725" lvl="0" marL="342900" marR="0" rtl="0" algn="l">
              <a:spcBef>
                <a:spcPts val="500"/>
              </a:spcBef>
              <a:spcAft>
                <a:spcPts val="0"/>
              </a:spcAft>
              <a:buClr>
                <a:srgbClr val="334155"/>
              </a:buClr>
              <a:buSzPts val="1100"/>
              <a:buFont typeface="Merriweather"/>
              <a:buChar char="•"/>
            </a:pPr>
            <a:r>
              <a:rPr b="1" i="0" lang="en-US" sz="1100" u="none" cap="none" strike="noStrike">
                <a:solidFill>
                  <a:srgbClr val="334155"/>
                </a:solidFill>
                <a:latin typeface="Merriweather"/>
                <a:ea typeface="Merriweather"/>
                <a:cs typeface="Merriweather"/>
                <a:sym typeface="Merriweather"/>
              </a:rPr>
              <a:t>SQLAlchemy ORM</a:t>
            </a:r>
            <a:r>
              <a:rPr b="0" i="0" lang="en-US" sz="1100" u="none" cap="none" strike="noStrike">
                <a:solidFill>
                  <a:srgbClr val="334155"/>
                </a:solidFill>
                <a:latin typeface="Merriweather"/>
                <a:ea typeface="Merriweather"/>
                <a:cs typeface="Merriweather"/>
                <a:sym typeface="Merriweather"/>
              </a:rPr>
              <a:t> — Object-relational mapping preventing SQL injection at the framework level.</a:t>
            </a:r>
            <a:endParaRPr b="0" i="0" sz="1100" u="none" cap="none" strike="noStrike">
              <a:solidFill>
                <a:schemeClr val="dk1"/>
              </a:solidFill>
              <a:latin typeface="Calibri"/>
              <a:ea typeface="Calibri"/>
              <a:cs typeface="Calibri"/>
              <a:sym typeface="Calibri"/>
            </a:endParaRPr>
          </a:p>
          <a:p>
            <a:pPr indent="-339725" lvl="0" marL="342900" marR="0" rtl="0" algn="l">
              <a:spcBef>
                <a:spcPts val="500"/>
              </a:spcBef>
              <a:spcAft>
                <a:spcPts val="0"/>
              </a:spcAft>
              <a:buClr>
                <a:srgbClr val="334155"/>
              </a:buClr>
              <a:buSzPts val="1100"/>
              <a:buFont typeface="Merriweather"/>
              <a:buChar char="•"/>
            </a:pPr>
            <a:r>
              <a:rPr b="1" i="0" lang="en-US" sz="1100" u="none" cap="none" strike="noStrike">
                <a:solidFill>
                  <a:srgbClr val="334155"/>
                </a:solidFill>
                <a:latin typeface="Merriweather"/>
                <a:ea typeface="Merriweather"/>
                <a:cs typeface="Merriweather"/>
                <a:sym typeface="Merriweather"/>
              </a:rPr>
              <a:t>psycopg2 Driver</a:t>
            </a:r>
            <a:r>
              <a:rPr b="0" i="0" lang="en-US" sz="1100" u="none" cap="none" strike="noStrike">
                <a:solidFill>
                  <a:srgbClr val="334155"/>
                </a:solidFill>
                <a:latin typeface="Merriweather"/>
                <a:ea typeface="Merriweather"/>
                <a:cs typeface="Merriweather"/>
                <a:sym typeface="Merriweather"/>
              </a:rPr>
              <a:t> — High-performance Python-PostgreSQL adapter with connection pool management.</a:t>
            </a:r>
            <a:endParaRPr b="0" i="0" sz="1100" u="none" cap="none" strike="noStrike">
              <a:solidFill>
                <a:schemeClr val="dk1"/>
              </a:solidFill>
              <a:latin typeface="Calibri"/>
              <a:ea typeface="Calibri"/>
              <a:cs typeface="Calibri"/>
              <a:sym typeface="Calibri"/>
            </a:endParaRPr>
          </a:p>
          <a:p>
            <a:pPr indent="-339725" lvl="0" marL="342900" marR="0" rtl="0" algn="l">
              <a:spcBef>
                <a:spcPts val="500"/>
              </a:spcBef>
              <a:spcAft>
                <a:spcPts val="0"/>
              </a:spcAft>
              <a:buClr>
                <a:srgbClr val="334155"/>
              </a:buClr>
              <a:buSzPts val="1100"/>
              <a:buFont typeface="Merriweather"/>
              <a:buChar char="•"/>
            </a:pPr>
            <a:r>
              <a:rPr b="1" i="0" lang="en-US" sz="1100" u="none" cap="none" strike="noStrike">
                <a:solidFill>
                  <a:srgbClr val="334155"/>
                </a:solidFill>
                <a:latin typeface="Merriweather"/>
                <a:ea typeface="Merriweather"/>
                <a:cs typeface="Merriweather"/>
                <a:sym typeface="Merriweather"/>
              </a:rPr>
              <a:t>Indexed Columns </a:t>
            </a:r>
            <a:r>
              <a:rPr b="0" i="0" lang="en-US" sz="1100" u="none" cap="none" strike="noStrike">
                <a:solidFill>
                  <a:srgbClr val="334155"/>
                </a:solidFill>
                <a:latin typeface="Merriweather"/>
                <a:ea typeface="Merriweather"/>
                <a:cs typeface="Merriweather"/>
                <a:sym typeface="Merriweather"/>
              </a:rPr>
              <a:t>— (target_id, severity, timestamp) indexed for sub-second dashboard queries.</a:t>
            </a:r>
            <a:endParaRPr b="0" i="0" sz="1100" u="none" cap="none" strike="noStrike">
              <a:solidFill>
                <a:schemeClr val="dk1"/>
              </a:solidFill>
              <a:latin typeface="Calibri"/>
              <a:ea typeface="Calibri"/>
              <a:cs typeface="Calibri"/>
              <a:sym typeface="Calibri"/>
            </a:endParaRPr>
          </a:p>
        </p:txBody>
      </p:sp>
      <p:sp>
        <p:nvSpPr>
          <p:cNvPr id="1106" name="Google Shape;1106;p33"/>
          <p:cNvSpPr/>
          <p:nvPr/>
        </p:nvSpPr>
        <p:spPr>
          <a:xfrm>
            <a:off x="277800" y="3630100"/>
            <a:ext cx="8449200" cy="1079100"/>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800"/>
          </a:p>
        </p:txBody>
      </p:sp>
      <p:sp>
        <p:nvSpPr>
          <p:cNvPr id="1107" name="Google Shape;1107;p33"/>
          <p:cNvSpPr/>
          <p:nvPr/>
        </p:nvSpPr>
        <p:spPr>
          <a:xfrm>
            <a:off x="321775" y="3747359"/>
            <a:ext cx="1823400" cy="922800"/>
          </a:xfrm>
          <a:prstGeom prst="rect">
            <a:avLst/>
          </a:prstGeom>
          <a:solidFill>
            <a:srgbClr val="FFFFFF"/>
          </a:solidFill>
          <a:ln cap="flat" cmpd="sng" w="1905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800"/>
          </a:p>
        </p:txBody>
      </p:sp>
      <p:sp>
        <p:nvSpPr>
          <p:cNvPr id="1108" name="Google Shape;1108;p33"/>
          <p:cNvSpPr/>
          <p:nvPr/>
        </p:nvSpPr>
        <p:spPr>
          <a:xfrm>
            <a:off x="322004" y="3755162"/>
            <a:ext cx="1823400" cy="250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109" name="Google Shape;1109;p33"/>
          <p:cNvSpPr/>
          <p:nvPr/>
        </p:nvSpPr>
        <p:spPr>
          <a:xfrm>
            <a:off x="322004" y="3755162"/>
            <a:ext cx="1823400" cy="25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erriweather"/>
              <a:buNone/>
            </a:pPr>
            <a:r>
              <a:rPr b="1" i="0" lang="en-US" sz="1100" u="none" cap="none" strike="noStrike">
                <a:solidFill>
                  <a:srgbClr val="FFFFFF"/>
                </a:solidFill>
                <a:latin typeface="Merriweather"/>
                <a:ea typeface="Merriweather"/>
                <a:cs typeface="Merriweather"/>
                <a:sym typeface="Merriweather"/>
              </a:rPr>
              <a:t>Target</a:t>
            </a:r>
            <a:endParaRPr b="0" i="0" sz="1100" u="none" cap="none" strike="noStrike">
              <a:solidFill>
                <a:schemeClr val="dk1"/>
              </a:solidFill>
              <a:latin typeface="Calibri"/>
              <a:ea typeface="Calibri"/>
              <a:cs typeface="Calibri"/>
              <a:sym typeface="Calibri"/>
            </a:endParaRPr>
          </a:p>
        </p:txBody>
      </p:sp>
      <p:sp>
        <p:nvSpPr>
          <p:cNvPr id="1110" name="Google Shape;1110;p33"/>
          <p:cNvSpPr/>
          <p:nvPr/>
        </p:nvSpPr>
        <p:spPr>
          <a:xfrm>
            <a:off x="388310" y="4021019"/>
            <a:ext cx="1690800" cy="586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750"/>
              <a:buFont typeface="Courier New"/>
              <a:buNone/>
            </a:pPr>
            <a:r>
              <a:rPr b="1" i="0" lang="en-US" sz="950" u="none" cap="none" strike="noStrike">
                <a:solidFill>
                  <a:srgbClr val="334155"/>
                </a:solidFill>
                <a:latin typeface="Courier New"/>
                <a:ea typeface="Courier New"/>
                <a:cs typeface="Courier New"/>
                <a:sym typeface="Courier New"/>
              </a:rPr>
              <a:t>id · hostname · ip · criticality</a:t>
            </a:r>
            <a:endParaRPr b="1" i="0" sz="950" u="none" cap="none" strike="noStrike">
              <a:solidFill>
                <a:schemeClr val="dk1"/>
              </a:solidFill>
              <a:latin typeface="Calibri"/>
              <a:ea typeface="Calibri"/>
              <a:cs typeface="Calibri"/>
              <a:sym typeface="Calibri"/>
            </a:endParaRPr>
          </a:p>
        </p:txBody>
      </p:sp>
      <p:cxnSp>
        <p:nvCxnSpPr>
          <p:cNvPr id="1111" name="Google Shape;1111;p33"/>
          <p:cNvCxnSpPr/>
          <p:nvPr/>
        </p:nvCxnSpPr>
        <p:spPr>
          <a:xfrm>
            <a:off x="2162382" y="4167697"/>
            <a:ext cx="367500" cy="0"/>
          </a:xfrm>
          <a:prstGeom prst="straightConnector1">
            <a:avLst/>
          </a:prstGeom>
          <a:noFill/>
          <a:ln cap="flat" cmpd="sng" w="19050">
            <a:solidFill>
              <a:srgbClr val="06B6D4"/>
            </a:solidFill>
            <a:prstDash val="solid"/>
            <a:round/>
            <a:headEnd len="sm" w="sm" type="none"/>
            <a:tailEnd len="med" w="med" type="stealth"/>
          </a:ln>
        </p:spPr>
      </p:cxnSp>
      <p:sp>
        <p:nvSpPr>
          <p:cNvPr id="1112" name="Google Shape;1112;p33"/>
          <p:cNvSpPr/>
          <p:nvPr/>
        </p:nvSpPr>
        <p:spPr>
          <a:xfrm>
            <a:off x="2532920" y="3755184"/>
            <a:ext cx="1823400" cy="922800"/>
          </a:xfrm>
          <a:prstGeom prst="rect">
            <a:avLst/>
          </a:prstGeom>
          <a:solidFill>
            <a:srgbClr val="FFFFFF"/>
          </a:solidFill>
          <a:ln cap="flat" cmpd="sng" w="1905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800"/>
          </a:p>
        </p:txBody>
      </p:sp>
      <p:sp>
        <p:nvSpPr>
          <p:cNvPr id="1113" name="Google Shape;1113;p33"/>
          <p:cNvSpPr/>
          <p:nvPr/>
        </p:nvSpPr>
        <p:spPr>
          <a:xfrm>
            <a:off x="2532920" y="3755184"/>
            <a:ext cx="1823400" cy="250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114" name="Google Shape;1114;p33"/>
          <p:cNvSpPr/>
          <p:nvPr/>
        </p:nvSpPr>
        <p:spPr>
          <a:xfrm>
            <a:off x="2532920" y="3755184"/>
            <a:ext cx="1823400" cy="25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erriweather"/>
              <a:buNone/>
            </a:pPr>
            <a:r>
              <a:rPr b="1" i="0" lang="en-US" sz="1100" u="none" cap="none" strike="noStrike">
                <a:solidFill>
                  <a:srgbClr val="FFFFFF"/>
                </a:solidFill>
                <a:latin typeface="Merriweather"/>
                <a:ea typeface="Merriweather"/>
                <a:cs typeface="Merriweather"/>
                <a:sym typeface="Merriweather"/>
              </a:rPr>
              <a:t>Scan</a:t>
            </a:r>
            <a:endParaRPr b="0" i="0" sz="1100" u="none" cap="none" strike="noStrike">
              <a:solidFill>
                <a:schemeClr val="dk1"/>
              </a:solidFill>
              <a:latin typeface="Calibri"/>
              <a:ea typeface="Calibri"/>
              <a:cs typeface="Calibri"/>
              <a:sym typeface="Calibri"/>
            </a:endParaRPr>
          </a:p>
        </p:txBody>
      </p:sp>
      <p:sp>
        <p:nvSpPr>
          <p:cNvPr id="1115" name="Google Shape;1115;p33"/>
          <p:cNvSpPr/>
          <p:nvPr/>
        </p:nvSpPr>
        <p:spPr>
          <a:xfrm>
            <a:off x="2599226" y="4021040"/>
            <a:ext cx="1690800" cy="586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750"/>
              <a:buFont typeface="Courier New"/>
              <a:buNone/>
            </a:pPr>
            <a:r>
              <a:rPr b="1" i="0" lang="en-US" sz="950" u="none" cap="none" strike="noStrike">
                <a:solidFill>
                  <a:srgbClr val="334155"/>
                </a:solidFill>
                <a:latin typeface="Courier New"/>
                <a:ea typeface="Courier New"/>
                <a:cs typeface="Courier New"/>
                <a:sym typeface="Courier New"/>
              </a:rPr>
              <a:t>id · target_id · status · created_at</a:t>
            </a:r>
            <a:endParaRPr b="1" i="0" sz="950" u="none" cap="none" strike="noStrike">
              <a:solidFill>
                <a:schemeClr val="dk1"/>
              </a:solidFill>
              <a:latin typeface="Calibri"/>
              <a:ea typeface="Calibri"/>
              <a:cs typeface="Calibri"/>
              <a:sym typeface="Calibri"/>
            </a:endParaRPr>
          </a:p>
        </p:txBody>
      </p:sp>
      <p:cxnSp>
        <p:nvCxnSpPr>
          <p:cNvPr id="1116" name="Google Shape;1116;p33"/>
          <p:cNvCxnSpPr/>
          <p:nvPr/>
        </p:nvCxnSpPr>
        <p:spPr>
          <a:xfrm>
            <a:off x="4357173" y="4208742"/>
            <a:ext cx="315300" cy="0"/>
          </a:xfrm>
          <a:prstGeom prst="straightConnector1">
            <a:avLst/>
          </a:prstGeom>
          <a:noFill/>
          <a:ln cap="flat" cmpd="sng" w="19050">
            <a:solidFill>
              <a:srgbClr val="06B6D4"/>
            </a:solidFill>
            <a:prstDash val="solid"/>
            <a:round/>
            <a:headEnd len="sm" w="sm" type="none"/>
            <a:tailEnd len="med" w="med" type="stealth"/>
          </a:ln>
        </p:spPr>
      </p:cxnSp>
      <p:sp>
        <p:nvSpPr>
          <p:cNvPr id="1117" name="Google Shape;1117;p33"/>
          <p:cNvSpPr/>
          <p:nvPr/>
        </p:nvSpPr>
        <p:spPr>
          <a:xfrm>
            <a:off x="4673337" y="3755162"/>
            <a:ext cx="1823400" cy="922800"/>
          </a:xfrm>
          <a:prstGeom prst="rect">
            <a:avLst/>
          </a:prstGeom>
          <a:solidFill>
            <a:srgbClr val="FFFFFF"/>
          </a:solidFill>
          <a:ln cap="flat" cmpd="sng" w="1905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800"/>
          </a:p>
        </p:txBody>
      </p:sp>
      <p:sp>
        <p:nvSpPr>
          <p:cNvPr id="1118" name="Google Shape;1118;p33"/>
          <p:cNvSpPr/>
          <p:nvPr/>
        </p:nvSpPr>
        <p:spPr>
          <a:xfrm>
            <a:off x="4673337" y="3755162"/>
            <a:ext cx="1823400" cy="250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119" name="Google Shape;1119;p33"/>
          <p:cNvSpPr/>
          <p:nvPr/>
        </p:nvSpPr>
        <p:spPr>
          <a:xfrm>
            <a:off x="4673337" y="3755162"/>
            <a:ext cx="1823400" cy="25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erriweather"/>
              <a:buNone/>
            </a:pPr>
            <a:r>
              <a:rPr b="1" i="0" lang="en-US" sz="1100" u="none" cap="none" strike="noStrike">
                <a:solidFill>
                  <a:srgbClr val="FFFFFF"/>
                </a:solidFill>
                <a:latin typeface="Merriweather"/>
                <a:ea typeface="Merriweather"/>
                <a:cs typeface="Merriweather"/>
                <a:sym typeface="Merriweather"/>
              </a:rPr>
              <a:t>Vulnerability</a:t>
            </a:r>
            <a:endParaRPr b="0" i="0" sz="1100" u="none" cap="none" strike="noStrike">
              <a:solidFill>
                <a:schemeClr val="dk1"/>
              </a:solidFill>
              <a:latin typeface="Calibri"/>
              <a:ea typeface="Calibri"/>
              <a:cs typeface="Calibri"/>
              <a:sym typeface="Calibri"/>
            </a:endParaRPr>
          </a:p>
        </p:txBody>
      </p:sp>
      <p:sp>
        <p:nvSpPr>
          <p:cNvPr id="1120" name="Google Shape;1120;p33"/>
          <p:cNvSpPr/>
          <p:nvPr/>
        </p:nvSpPr>
        <p:spPr>
          <a:xfrm>
            <a:off x="4739643" y="4021019"/>
            <a:ext cx="1690800" cy="586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750"/>
              <a:buFont typeface="Courier New"/>
              <a:buNone/>
            </a:pPr>
            <a:r>
              <a:rPr b="1" i="0" lang="en-US" sz="950" u="none" cap="none" strike="noStrike">
                <a:solidFill>
                  <a:srgbClr val="334155"/>
                </a:solidFill>
                <a:latin typeface="Courier New"/>
                <a:ea typeface="Courier New"/>
                <a:cs typeface="Courier New"/>
                <a:sym typeface="Courier New"/>
              </a:rPr>
              <a:t>id · scan_id · cvss · severity</a:t>
            </a:r>
            <a:endParaRPr b="1" i="0" sz="950" u="none" cap="none" strike="noStrike">
              <a:solidFill>
                <a:schemeClr val="dk1"/>
              </a:solidFill>
              <a:latin typeface="Calibri"/>
              <a:ea typeface="Calibri"/>
              <a:cs typeface="Calibri"/>
              <a:sym typeface="Calibri"/>
            </a:endParaRPr>
          </a:p>
        </p:txBody>
      </p:sp>
      <p:cxnSp>
        <p:nvCxnSpPr>
          <p:cNvPr id="1121" name="Google Shape;1121;p33"/>
          <p:cNvCxnSpPr/>
          <p:nvPr/>
        </p:nvCxnSpPr>
        <p:spPr>
          <a:xfrm>
            <a:off x="7113754" y="4224348"/>
            <a:ext cx="315300" cy="0"/>
          </a:xfrm>
          <a:prstGeom prst="straightConnector1">
            <a:avLst/>
          </a:prstGeom>
          <a:noFill/>
          <a:ln cap="flat" cmpd="sng" w="19050">
            <a:solidFill>
              <a:srgbClr val="06B6D4"/>
            </a:solidFill>
            <a:prstDash val="solid"/>
            <a:round/>
            <a:headEnd len="sm" w="sm" type="none"/>
            <a:tailEnd len="med" w="med" type="stealth"/>
          </a:ln>
        </p:spPr>
      </p:cxnSp>
      <p:sp>
        <p:nvSpPr>
          <p:cNvPr id="1122" name="Google Shape;1122;p33"/>
          <p:cNvSpPr/>
          <p:nvPr/>
        </p:nvSpPr>
        <p:spPr>
          <a:xfrm>
            <a:off x="6813752" y="3755184"/>
            <a:ext cx="1823400" cy="922800"/>
          </a:xfrm>
          <a:prstGeom prst="rect">
            <a:avLst/>
          </a:prstGeom>
          <a:solidFill>
            <a:srgbClr val="FFFFFF"/>
          </a:solidFill>
          <a:ln cap="flat" cmpd="sng" w="1905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800"/>
          </a:p>
        </p:txBody>
      </p:sp>
      <p:sp>
        <p:nvSpPr>
          <p:cNvPr id="1123" name="Google Shape;1123;p33"/>
          <p:cNvSpPr/>
          <p:nvPr/>
        </p:nvSpPr>
        <p:spPr>
          <a:xfrm>
            <a:off x="6813752" y="3755184"/>
            <a:ext cx="1823400" cy="250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124" name="Google Shape;1124;p33"/>
          <p:cNvSpPr/>
          <p:nvPr/>
        </p:nvSpPr>
        <p:spPr>
          <a:xfrm>
            <a:off x="6813752" y="3755184"/>
            <a:ext cx="1823400" cy="25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Merriweather"/>
              <a:buNone/>
            </a:pPr>
            <a:r>
              <a:rPr b="1" i="0" lang="en-US" sz="1100" u="none" cap="none" strike="noStrike">
                <a:solidFill>
                  <a:srgbClr val="FFFFFF"/>
                </a:solidFill>
                <a:latin typeface="Merriweather"/>
                <a:ea typeface="Merriweather"/>
                <a:cs typeface="Merriweather"/>
                <a:sym typeface="Merriweather"/>
              </a:rPr>
              <a:t>AIReport</a:t>
            </a:r>
            <a:endParaRPr b="0" i="0" sz="1100" u="none" cap="none" strike="noStrike">
              <a:solidFill>
                <a:schemeClr val="dk1"/>
              </a:solidFill>
              <a:latin typeface="Calibri"/>
              <a:ea typeface="Calibri"/>
              <a:cs typeface="Calibri"/>
              <a:sym typeface="Calibri"/>
            </a:endParaRPr>
          </a:p>
        </p:txBody>
      </p:sp>
      <p:sp>
        <p:nvSpPr>
          <p:cNvPr id="1125" name="Google Shape;1125;p33"/>
          <p:cNvSpPr/>
          <p:nvPr/>
        </p:nvSpPr>
        <p:spPr>
          <a:xfrm>
            <a:off x="6880058" y="4021040"/>
            <a:ext cx="1690800" cy="586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750"/>
              <a:buFont typeface="Courier New"/>
              <a:buNone/>
            </a:pPr>
            <a:r>
              <a:rPr b="1" i="0" lang="en-US" sz="950" u="none" cap="none" strike="noStrike">
                <a:solidFill>
                  <a:srgbClr val="334155"/>
                </a:solidFill>
                <a:latin typeface="Courier New"/>
                <a:ea typeface="Courier New"/>
                <a:cs typeface="Courier New"/>
                <a:sym typeface="Courier New"/>
              </a:rPr>
              <a:t>id · vuln_id · gemini_text</a:t>
            </a:r>
            <a:endParaRPr b="1" i="0" sz="950" u="none" cap="none" strike="noStrike">
              <a:solidFill>
                <a:schemeClr val="dk1"/>
              </a:solidFill>
              <a:latin typeface="Calibri"/>
              <a:ea typeface="Calibri"/>
              <a:cs typeface="Calibri"/>
              <a:sym typeface="Calibri"/>
            </a:endParaRPr>
          </a:p>
        </p:txBody>
      </p:sp>
      <p:sp>
        <p:nvSpPr>
          <p:cNvPr id="1126" name="Google Shape;1126;p33"/>
          <p:cNvSpPr/>
          <p:nvPr/>
        </p:nvSpPr>
        <p:spPr>
          <a:xfrm>
            <a:off x="4663440" y="822960"/>
            <a:ext cx="4114800" cy="2514600"/>
          </a:xfrm>
          <a:prstGeom prst="rect">
            <a:avLst/>
          </a:prstGeom>
          <a:solidFill>
            <a:srgbClr val="1E293B"/>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3"/>
          <p:cNvSpPr/>
          <p:nvPr/>
        </p:nvSpPr>
        <p:spPr>
          <a:xfrm>
            <a:off x="4800600" y="932688"/>
            <a:ext cx="3840480" cy="22951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50"/>
              <a:buFont typeface="Courier New"/>
              <a:buNone/>
            </a:pPr>
            <a:r>
              <a:rPr b="0" i="0" lang="en-US" sz="1150" u="none" cap="none" strike="noStrike">
                <a:solidFill>
                  <a:srgbClr val="6B7280"/>
                </a:solidFill>
                <a:latin typeface="Courier New"/>
                <a:ea typeface="Courier New"/>
                <a:cs typeface="Courier New"/>
                <a:sym typeface="Courier New"/>
              </a:rPr>
              <a:t># SQLAlchemy Model</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084FC"/>
              </a:buClr>
              <a:buSzPts val="950"/>
              <a:buFont typeface="Courier New"/>
              <a:buNone/>
            </a:pPr>
            <a:r>
              <a:rPr b="0" i="0" lang="en-US" sz="1150" u="none" cap="none" strike="noStrike">
                <a:solidFill>
                  <a:srgbClr val="C084FC"/>
                </a:solidFill>
                <a:latin typeface="Courier New"/>
                <a:ea typeface="Courier New"/>
                <a:cs typeface="Courier New"/>
                <a:sym typeface="Courier New"/>
              </a:rPr>
              <a:t>class Vulnerability(Base):</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1150" u="none" cap="none" strike="noStrike">
                <a:solidFill>
                  <a:srgbClr val="7DD3FC"/>
                </a:solidFill>
                <a:latin typeface="Courier New"/>
                <a:ea typeface="Courier New"/>
                <a:cs typeface="Courier New"/>
                <a:sym typeface="Courier New"/>
              </a:rPr>
              <a:t>  __tablename__ = 'vulns'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1150" u="none" cap="none" strike="noStrike">
                <a:solidFill>
                  <a:srgbClr val="7DD3FC"/>
                </a:solidFill>
                <a:latin typeface="Courier New"/>
                <a:ea typeface="Courier New"/>
                <a:cs typeface="Courier New"/>
                <a:sym typeface="Courier New"/>
              </a:rPr>
              <a:t>  id = Column(UUID, pk=True)</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1150" u="none" cap="none" strike="noStrike">
                <a:solidFill>
                  <a:srgbClr val="7DD3FC"/>
                </a:solidFill>
                <a:latin typeface="Courier New"/>
                <a:ea typeface="Courier New"/>
                <a:cs typeface="Courier New"/>
                <a:sym typeface="Courier New"/>
              </a:rPr>
              <a:t>  scan_id = Column(ForeignKey)</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1150" u="none" cap="none" strike="noStrike">
                <a:solidFill>
                  <a:srgbClr val="7DD3FC"/>
                </a:solidFill>
                <a:latin typeface="Courier New"/>
                <a:ea typeface="Courier New"/>
                <a:cs typeface="Courier New"/>
                <a:sym typeface="Courier New"/>
              </a:rPr>
              <a:t>  cve_id = Column(String)</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1150" u="none" cap="none" strike="noStrike">
                <a:solidFill>
                  <a:srgbClr val="7DD3FC"/>
                </a:solidFill>
                <a:latin typeface="Courier New"/>
                <a:ea typeface="Courier New"/>
                <a:cs typeface="Courier New"/>
                <a:sym typeface="Courier New"/>
              </a:rPr>
              <a:t>  cvss_score = Column(Float)</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1150" u="none" cap="none" strike="noStrike">
                <a:solidFill>
                  <a:srgbClr val="7DD3FC"/>
                </a:solidFill>
                <a:latin typeface="Courier New"/>
                <a:ea typeface="Courier New"/>
                <a:cs typeface="Courier New"/>
                <a:sym typeface="Courier New"/>
              </a:rPr>
              <a:t>  severity = Column(Enum)</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1150" u="none" cap="none" strike="noStrike">
                <a:solidFill>
                  <a:srgbClr val="7DD3FC"/>
                </a:solidFill>
                <a:latin typeface="Courier New"/>
                <a:ea typeface="Courier New"/>
                <a:cs typeface="Courier New"/>
                <a:sym typeface="Courier New"/>
              </a:rPr>
              <a:t>  asset_criticality = Column(Int)</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1150" u="none" cap="none" strike="noStrike">
                <a:solidFill>
                  <a:srgbClr val="7DD3FC"/>
                </a:solidFill>
                <a:latin typeface="Courier New"/>
                <a:ea typeface="Courier New"/>
                <a:cs typeface="Courier New"/>
                <a:sym typeface="Courier New"/>
              </a:rPr>
              <a:t>  ai_report = relationship(</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5F3FC"/>
              </a:buClr>
              <a:buSzPts val="950"/>
              <a:buFont typeface="Courier New"/>
              <a:buNone/>
            </a:pPr>
            <a:r>
              <a:rPr b="0" i="0" lang="en-US" sz="1150" u="none" cap="none" strike="noStrike">
                <a:solidFill>
                  <a:srgbClr val="A5F3FC"/>
                </a:solidFill>
                <a:latin typeface="Courier New"/>
                <a:ea typeface="Courier New"/>
                <a:cs typeface="Courier New"/>
                <a:sym typeface="Courier New"/>
              </a:rPr>
              <a:t>    'AIReport', back_populates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1150" u="none" cap="none" strike="noStrike">
                <a:solidFill>
                  <a:srgbClr val="7DD3FC"/>
                </a:solidFill>
                <a:latin typeface="Courier New"/>
                <a:ea typeface="Courier New"/>
                <a:cs typeface="Courier New"/>
                <a:sym typeface="Courier New"/>
              </a:rPr>
              <a:t>    ='vulnerability')</a:t>
            </a:r>
            <a:endParaRPr b="0" i="0" sz="1150" u="none" cap="none" strike="noStrike">
              <a:solidFill>
                <a:schemeClr val="dk1"/>
              </a:solidFill>
              <a:latin typeface="Calibri"/>
              <a:ea typeface="Calibri"/>
              <a:cs typeface="Calibri"/>
              <a:sym typeface="Calibri"/>
            </a:endParaRPr>
          </a:p>
        </p:txBody>
      </p:sp>
      <p:cxnSp>
        <p:nvCxnSpPr>
          <p:cNvPr id="1128" name="Google Shape;1128;p33"/>
          <p:cNvCxnSpPr/>
          <p:nvPr/>
        </p:nvCxnSpPr>
        <p:spPr>
          <a:xfrm>
            <a:off x="6497574" y="4208742"/>
            <a:ext cx="315300" cy="0"/>
          </a:xfrm>
          <a:prstGeom prst="straightConnector1">
            <a:avLst/>
          </a:prstGeom>
          <a:noFill/>
          <a:ln cap="flat" cmpd="sng" w="19050">
            <a:solidFill>
              <a:srgbClr val="06B6D4"/>
            </a:solidFill>
            <a:prstDash val="solid"/>
            <a:round/>
            <a:headEnd len="sm" w="sm" type="none"/>
            <a:tailEnd len="med" w="med" type="stealth"/>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3" name="Shape 1133"/>
        <p:cNvGrpSpPr/>
        <p:nvPr/>
      </p:nvGrpSpPr>
      <p:grpSpPr>
        <a:xfrm>
          <a:off x="0" y="0"/>
          <a:ext cx="0" cy="0"/>
          <a:chOff x="0" y="0"/>
          <a:chExt cx="0" cy="0"/>
        </a:xfrm>
      </p:grpSpPr>
      <p:sp>
        <p:nvSpPr>
          <p:cNvPr id="1134" name="Google Shape;1134;p34"/>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4"/>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4"/>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Solving the Sync/Async Friction Problem</a:t>
            </a:r>
            <a:endParaRPr b="0" i="0" sz="2200" u="none" cap="none" strike="noStrike">
              <a:solidFill>
                <a:schemeClr val="dk1"/>
              </a:solidFill>
              <a:latin typeface="Calibri"/>
              <a:ea typeface="Calibri"/>
              <a:cs typeface="Calibri"/>
              <a:sym typeface="Calibri"/>
            </a:endParaRPr>
          </a:p>
        </p:txBody>
      </p:sp>
      <p:sp>
        <p:nvSpPr>
          <p:cNvPr id="1137" name="Google Shape;1137;p34"/>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4"/>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34/40</a:t>
            </a:r>
            <a:endParaRPr b="0" i="0" sz="800" u="none" cap="none" strike="noStrike">
              <a:solidFill>
                <a:schemeClr val="dk1"/>
              </a:solidFill>
              <a:latin typeface="Calibri"/>
              <a:ea typeface="Calibri"/>
              <a:cs typeface="Calibri"/>
              <a:sym typeface="Calibri"/>
            </a:endParaRPr>
          </a:p>
        </p:txBody>
      </p:sp>
      <p:cxnSp>
        <p:nvCxnSpPr>
          <p:cNvPr id="1139" name="Google Shape;1139;p34"/>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1140" name="Google Shape;1140;p34"/>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1141" name="Google Shape;1141;p34"/>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4"/>
          <p:cNvSpPr/>
          <p:nvPr/>
        </p:nvSpPr>
        <p:spPr>
          <a:xfrm>
            <a:off x="1459122" y="704021"/>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4"/>
          <p:cNvSpPr/>
          <p:nvPr/>
        </p:nvSpPr>
        <p:spPr>
          <a:xfrm>
            <a:off x="1459122" y="704021"/>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Backend — Engineering</a:t>
            </a:r>
            <a:endParaRPr b="0" i="0" sz="1000" u="none" cap="none" strike="noStrike">
              <a:solidFill>
                <a:schemeClr val="dk1"/>
              </a:solidFill>
              <a:latin typeface="Calibri"/>
              <a:ea typeface="Calibri"/>
              <a:cs typeface="Calibri"/>
              <a:sym typeface="Calibri"/>
            </a:endParaRPr>
          </a:p>
        </p:txBody>
      </p:sp>
      <p:sp>
        <p:nvSpPr>
          <p:cNvPr id="1144" name="Google Shape;1144;p34"/>
          <p:cNvSpPr/>
          <p:nvPr/>
        </p:nvSpPr>
        <p:spPr>
          <a:xfrm>
            <a:off x="411475" y="932700"/>
            <a:ext cx="4050900" cy="2249400"/>
          </a:xfrm>
          <a:prstGeom prst="rect">
            <a:avLst/>
          </a:prstGeom>
          <a:solidFill>
            <a:srgbClr val="F0FBFF"/>
          </a:solidFill>
          <a:ln cap="flat" cmpd="sng" w="12450">
            <a:solidFill>
              <a:srgbClr val="BAE6FD"/>
            </a:solidFill>
            <a:prstDash val="solid"/>
            <a:round/>
            <a:headEnd len="sm" w="sm" type="none"/>
            <a:tailEnd len="sm" w="sm" type="none"/>
          </a:ln>
          <a:effectLst>
            <a:outerShdw blurRad="99644" rotWithShape="0" algn="bl" dir="8100000" dist="24911">
              <a:srgbClr val="000000">
                <a:alpha val="7058"/>
              </a:srgbClr>
            </a:outerShdw>
          </a:effectLst>
        </p:spPr>
        <p:txBody>
          <a:bodyPr anchorCtr="0" anchor="ctr" bIns="89675" lIns="89675" spcFirstLastPara="1" rIns="89675" wrap="square" tIns="89675">
            <a:noAutofit/>
          </a:bodyPr>
          <a:lstStyle/>
          <a:p>
            <a:pPr indent="0" lvl="0" marL="0" rtl="0" algn="l">
              <a:spcBef>
                <a:spcPts val="0"/>
              </a:spcBef>
              <a:spcAft>
                <a:spcPts val="0"/>
              </a:spcAft>
              <a:buNone/>
            </a:pPr>
            <a:r>
              <a:t/>
            </a:r>
            <a:endParaRPr sz="1373"/>
          </a:p>
        </p:txBody>
      </p:sp>
      <p:sp>
        <p:nvSpPr>
          <p:cNvPr id="1145" name="Google Shape;1145;p34"/>
          <p:cNvSpPr/>
          <p:nvPr/>
        </p:nvSpPr>
        <p:spPr>
          <a:xfrm>
            <a:off x="533875" y="932700"/>
            <a:ext cx="3806100" cy="1798500"/>
          </a:xfrm>
          <a:prstGeom prst="rect">
            <a:avLst/>
          </a:prstGeom>
          <a:noFill/>
          <a:ln>
            <a:noFill/>
          </a:ln>
        </p:spPr>
        <p:txBody>
          <a:bodyPr anchorCtr="0" anchor="t" bIns="44825" lIns="89675" spcFirstLastPara="1" rIns="89675" wrap="square" tIns="44825">
            <a:noAutofit/>
          </a:bodyPr>
          <a:lstStyle/>
          <a:p>
            <a:pPr indent="-336298" lvl="0" marL="336298" marR="0" rtl="0" algn="l">
              <a:spcBef>
                <a:spcPts val="0"/>
              </a:spcBef>
              <a:spcAft>
                <a:spcPts val="0"/>
              </a:spcAft>
              <a:buClr>
                <a:srgbClr val="334155"/>
              </a:buClr>
              <a:buSzPts val="1128"/>
              <a:buFont typeface="Merriweather"/>
              <a:buChar char="•"/>
            </a:pPr>
            <a:r>
              <a:rPr b="1" i="0" lang="en-US" sz="1127" u="none" cap="none" strike="noStrike">
                <a:solidFill>
                  <a:srgbClr val="334155"/>
                </a:solidFill>
                <a:latin typeface="Merriweather"/>
                <a:ea typeface="Merriweather"/>
                <a:cs typeface="Merriweather"/>
                <a:sym typeface="Merriweather"/>
              </a:rPr>
              <a:t>The Challenge</a:t>
            </a:r>
            <a:r>
              <a:rPr b="0" i="0" lang="en-US" sz="1127" u="none" cap="none" strike="noStrike">
                <a:solidFill>
                  <a:srgbClr val="334155"/>
                </a:solidFill>
                <a:latin typeface="Merriweather"/>
                <a:ea typeface="Merriweather"/>
                <a:cs typeface="Merriweather"/>
                <a:sym typeface="Merriweather"/>
              </a:rPr>
              <a:t> — </a:t>
            </a:r>
            <a:r>
              <a:rPr lang="en-US" sz="1127">
                <a:solidFill>
                  <a:srgbClr val="334155"/>
                </a:solidFill>
                <a:latin typeface="Merriweather"/>
                <a:ea typeface="Merriweather"/>
                <a:cs typeface="Merriweather"/>
                <a:sym typeface="Merriweather"/>
              </a:rPr>
              <a:t>SQLAlchemy</a:t>
            </a:r>
            <a:r>
              <a:rPr b="0" i="0" lang="en-US" sz="1127" u="none" cap="none" strike="noStrike">
                <a:solidFill>
                  <a:srgbClr val="334155"/>
                </a:solidFill>
                <a:latin typeface="Merriweather"/>
                <a:ea typeface="Merriweather"/>
                <a:cs typeface="Merriweather"/>
                <a:sym typeface="Merriweather"/>
              </a:rPr>
              <a:t> default Session is synchronous; FastAPI's async event loop cannot await it.</a:t>
            </a:r>
            <a:endParaRPr b="0" i="0" sz="1127" u="none" cap="none" strike="noStrike">
              <a:solidFill>
                <a:schemeClr val="dk1"/>
              </a:solidFill>
              <a:latin typeface="Calibri"/>
              <a:ea typeface="Calibri"/>
              <a:cs typeface="Calibri"/>
              <a:sym typeface="Calibri"/>
            </a:endParaRPr>
          </a:p>
          <a:p>
            <a:pPr indent="-336298" lvl="0" marL="336298" marR="0" rtl="0" algn="l">
              <a:spcBef>
                <a:spcPts val="490"/>
              </a:spcBef>
              <a:spcAft>
                <a:spcPts val="0"/>
              </a:spcAft>
              <a:buClr>
                <a:srgbClr val="334155"/>
              </a:buClr>
              <a:buSzPts val="1128"/>
              <a:buFont typeface="Merriweather"/>
              <a:buChar char="•"/>
            </a:pPr>
            <a:r>
              <a:rPr b="1" i="0" lang="en-US" sz="1127" u="none" cap="none" strike="noStrike">
                <a:solidFill>
                  <a:srgbClr val="334155"/>
                </a:solidFill>
                <a:latin typeface="Merriweather"/>
                <a:ea typeface="Merriweather"/>
                <a:cs typeface="Merriweather"/>
                <a:sym typeface="Merriweather"/>
              </a:rPr>
              <a:t>Symptom</a:t>
            </a:r>
            <a:r>
              <a:rPr b="0" i="0" lang="en-US" sz="1127" u="none" cap="none" strike="noStrike">
                <a:solidFill>
                  <a:srgbClr val="334155"/>
                </a:solidFill>
                <a:latin typeface="Merriweather"/>
                <a:ea typeface="Merriweather"/>
                <a:cs typeface="Merriweather"/>
                <a:sym typeface="Merriweather"/>
              </a:rPr>
              <a:t> — DB calls block the entire event loop, defeating FastAPI's concurrency advantage.</a:t>
            </a:r>
            <a:endParaRPr b="0" i="0" sz="1127" u="none" cap="none" strike="noStrike">
              <a:solidFill>
                <a:schemeClr val="dk1"/>
              </a:solidFill>
              <a:latin typeface="Calibri"/>
              <a:ea typeface="Calibri"/>
              <a:cs typeface="Calibri"/>
              <a:sym typeface="Calibri"/>
            </a:endParaRPr>
          </a:p>
          <a:p>
            <a:pPr indent="-336298" lvl="0" marL="336298" marR="0" rtl="0" algn="l">
              <a:spcBef>
                <a:spcPts val="490"/>
              </a:spcBef>
              <a:spcAft>
                <a:spcPts val="0"/>
              </a:spcAft>
              <a:buClr>
                <a:srgbClr val="334155"/>
              </a:buClr>
              <a:buSzPts val="1128"/>
              <a:buFont typeface="Merriweather"/>
              <a:buChar char="•"/>
            </a:pPr>
            <a:r>
              <a:rPr b="1" i="0" lang="en-US" sz="1127" u="none" cap="none" strike="noStrike">
                <a:solidFill>
                  <a:srgbClr val="334155"/>
                </a:solidFill>
                <a:latin typeface="Merriweather"/>
                <a:ea typeface="Merriweather"/>
                <a:cs typeface="Merriweather"/>
                <a:sym typeface="Merriweather"/>
              </a:rPr>
              <a:t>Solution A</a:t>
            </a:r>
            <a:r>
              <a:rPr b="0" i="0" lang="en-US" sz="1127" u="none" cap="none" strike="noStrike">
                <a:solidFill>
                  <a:srgbClr val="334155"/>
                </a:solidFill>
                <a:latin typeface="Merriweather"/>
                <a:ea typeface="Merriweather"/>
                <a:cs typeface="Merriweather"/>
                <a:sym typeface="Merriweather"/>
              </a:rPr>
              <a:t> — Switched to async_sessionmaker with asyncpg driver for true async DB access.</a:t>
            </a:r>
            <a:endParaRPr b="0" i="0" sz="1127" u="none" cap="none" strike="noStrike">
              <a:solidFill>
                <a:schemeClr val="dk1"/>
              </a:solidFill>
              <a:latin typeface="Calibri"/>
              <a:ea typeface="Calibri"/>
              <a:cs typeface="Calibri"/>
              <a:sym typeface="Calibri"/>
            </a:endParaRPr>
          </a:p>
          <a:p>
            <a:pPr indent="-336298" lvl="0" marL="336298" marR="0" rtl="0" algn="l">
              <a:spcBef>
                <a:spcPts val="490"/>
              </a:spcBef>
              <a:spcAft>
                <a:spcPts val="0"/>
              </a:spcAft>
              <a:buClr>
                <a:srgbClr val="334155"/>
              </a:buClr>
              <a:buSzPts val="1128"/>
              <a:buFont typeface="Merriweather"/>
              <a:buChar char="•"/>
            </a:pPr>
            <a:r>
              <a:rPr b="1" i="0" lang="en-US" sz="1127" u="none" cap="none" strike="noStrike">
                <a:solidFill>
                  <a:srgbClr val="334155"/>
                </a:solidFill>
                <a:latin typeface="Merriweather"/>
                <a:ea typeface="Merriweather"/>
                <a:cs typeface="Merriweather"/>
                <a:sym typeface="Merriweather"/>
              </a:rPr>
              <a:t>Solution B</a:t>
            </a:r>
            <a:r>
              <a:rPr b="0" i="0" lang="en-US" sz="1127" u="none" cap="none" strike="noStrike">
                <a:solidFill>
                  <a:srgbClr val="334155"/>
                </a:solidFill>
                <a:latin typeface="Merriweather"/>
                <a:ea typeface="Merriweather"/>
                <a:cs typeface="Merriweather"/>
                <a:sym typeface="Merriweather"/>
              </a:rPr>
              <a:t> — Bounded Dependency Injection: each request gets its own scoped DB session via Depends().</a:t>
            </a:r>
            <a:endParaRPr b="0" i="0" sz="1127" u="none" cap="none" strike="noStrike">
              <a:solidFill>
                <a:schemeClr val="dk1"/>
              </a:solidFill>
              <a:latin typeface="Calibri"/>
              <a:ea typeface="Calibri"/>
              <a:cs typeface="Calibri"/>
              <a:sym typeface="Calibri"/>
            </a:endParaRPr>
          </a:p>
        </p:txBody>
      </p:sp>
      <p:sp>
        <p:nvSpPr>
          <p:cNvPr id="1146" name="Google Shape;1146;p34"/>
          <p:cNvSpPr/>
          <p:nvPr/>
        </p:nvSpPr>
        <p:spPr>
          <a:xfrm>
            <a:off x="347472" y="3291840"/>
            <a:ext cx="3931920" cy="1417320"/>
          </a:xfrm>
          <a:prstGeom prst="rect">
            <a:avLst/>
          </a:prstGeom>
          <a:solidFill>
            <a:srgbClr val="1E293B"/>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4"/>
          <p:cNvSpPr/>
          <p:nvPr/>
        </p:nvSpPr>
        <p:spPr>
          <a:xfrm>
            <a:off x="484632" y="3401568"/>
            <a:ext cx="3657600" cy="11978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50"/>
              <a:buFont typeface="Courier New"/>
              <a:buNone/>
            </a:pPr>
            <a:r>
              <a:rPr b="0" i="0" lang="en-US" sz="950" u="none" cap="none" strike="noStrike">
                <a:solidFill>
                  <a:srgbClr val="6B7280"/>
                </a:solidFill>
                <a:latin typeface="Courier New"/>
                <a:ea typeface="Courier New"/>
                <a:cs typeface="Courier New"/>
                <a:sym typeface="Courier New"/>
              </a:rPr>
              <a:t># WRONG: Sync session in async route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084FC"/>
              </a:buClr>
              <a:buSzPts val="950"/>
              <a:buFont typeface="Courier New"/>
              <a:buNone/>
            </a:pPr>
            <a:r>
              <a:rPr b="0" i="0" lang="en-US" sz="950" u="none" cap="none" strike="noStrike">
                <a:solidFill>
                  <a:srgbClr val="C084FC"/>
                </a:solidFill>
                <a:latin typeface="Courier New"/>
                <a:ea typeface="Courier New"/>
                <a:cs typeface="Courier New"/>
                <a:sym typeface="Courier New"/>
              </a:rPr>
              <a:t>async def get_vulns(db=Depends()):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7280"/>
              </a:buClr>
              <a:buSzPts val="950"/>
              <a:buFont typeface="Courier New"/>
              <a:buNone/>
            </a:pPr>
            <a:r>
              <a:rPr b="0" i="0" lang="en-US" sz="950" u="none" cap="none" strike="noStrike">
                <a:solidFill>
                  <a:srgbClr val="6B7280"/>
                </a:solidFill>
                <a:latin typeface="Courier New"/>
                <a:ea typeface="Courier New"/>
                <a:cs typeface="Courier New"/>
                <a:sym typeface="Courier New"/>
              </a:rPr>
              <a:t>  # BLOCKS event loop!</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950" u="none" cap="none" strike="noStrike">
                <a:solidFill>
                  <a:srgbClr val="7DD3FC"/>
                </a:solidFill>
                <a:latin typeface="Courier New"/>
                <a:ea typeface="Courier New"/>
                <a:cs typeface="Courier New"/>
                <a:sym typeface="Courier New"/>
              </a:rPr>
              <a:t>  result = db.execute(query)</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5F3FC"/>
              </a:buClr>
              <a:buSzPts val="950"/>
              <a:buFont typeface="Courier New"/>
              <a:buNone/>
            </a:pPr>
            <a:r>
              <a:rPr b="0" i="0" lang="en-US" sz="950" u="none" cap="none" strike="noStrike">
                <a:solidFill>
                  <a:srgbClr val="A5F3FC"/>
                </a:solidFill>
                <a:latin typeface="Courier New"/>
                <a:ea typeface="Courier New"/>
                <a:cs typeface="Courier New"/>
                <a:sym typeface="Courier New"/>
              </a:rPr>
              <a:t>  return result.all()</a:t>
            </a:r>
            <a:endParaRPr b="0" i="0" sz="950" u="none" cap="none" strike="noStrike">
              <a:solidFill>
                <a:schemeClr val="dk1"/>
              </a:solidFill>
              <a:latin typeface="Calibri"/>
              <a:ea typeface="Calibri"/>
              <a:cs typeface="Calibri"/>
              <a:sym typeface="Calibri"/>
            </a:endParaRPr>
          </a:p>
        </p:txBody>
      </p:sp>
      <p:sp>
        <p:nvSpPr>
          <p:cNvPr id="1148" name="Google Shape;1148;p34"/>
          <p:cNvSpPr/>
          <p:nvPr/>
        </p:nvSpPr>
        <p:spPr>
          <a:xfrm>
            <a:off x="4663440" y="822960"/>
            <a:ext cx="4114800" cy="2331720"/>
          </a:xfrm>
          <a:prstGeom prst="rect">
            <a:avLst/>
          </a:prstGeom>
          <a:solidFill>
            <a:srgbClr val="1E293B"/>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4"/>
          <p:cNvSpPr/>
          <p:nvPr/>
        </p:nvSpPr>
        <p:spPr>
          <a:xfrm>
            <a:off x="4800600" y="932688"/>
            <a:ext cx="3840480" cy="21122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50"/>
              <a:buFont typeface="Courier New"/>
              <a:buNone/>
            </a:pPr>
            <a:r>
              <a:rPr b="0" i="0" lang="en-US" sz="950" u="none" cap="none" strike="noStrike">
                <a:solidFill>
                  <a:srgbClr val="6B7280"/>
                </a:solidFill>
                <a:latin typeface="Courier New"/>
                <a:ea typeface="Courier New"/>
                <a:cs typeface="Courier New"/>
                <a:sym typeface="Courier New"/>
              </a:rPr>
              <a:t># CORRECT: Async session</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084FC"/>
              </a:buClr>
              <a:buSzPts val="950"/>
              <a:buFont typeface="Courier New"/>
              <a:buNone/>
            </a:pPr>
            <a:r>
              <a:rPr b="0" i="0" lang="en-US" sz="950" u="none" cap="none" strike="noStrike">
                <a:solidFill>
                  <a:srgbClr val="C084FC"/>
                </a:solidFill>
                <a:latin typeface="Courier New"/>
                <a:ea typeface="Courier New"/>
                <a:cs typeface="Courier New"/>
                <a:sym typeface="Courier New"/>
              </a:rPr>
              <a:t>async def get_db():</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084FC"/>
              </a:buClr>
              <a:buSzPts val="950"/>
              <a:buFont typeface="Courier New"/>
              <a:buNone/>
            </a:pPr>
            <a:r>
              <a:rPr b="0" i="0" lang="en-US" sz="950" u="none" cap="none" strike="noStrike">
                <a:solidFill>
                  <a:srgbClr val="C084FC"/>
                </a:solidFill>
                <a:latin typeface="Courier New"/>
                <a:ea typeface="Courier New"/>
                <a:cs typeface="Courier New"/>
                <a:sym typeface="Courier New"/>
              </a:rPr>
              <a:t>  async with AsyncSession(</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5F3FC"/>
              </a:buClr>
              <a:buSzPts val="950"/>
              <a:buFont typeface="Courier New"/>
              <a:buNone/>
            </a:pPr>
            <a:r>
              <a:rPr b="0" i="0" lang="en-US" sz="950" u="none" cap="none" strike="noStrike">
                <a:solidFill>
                  <a:srgbClr val="A5F3FC"/>
                </a:solidFill>
                <a:latin typeface="Courier New"/>
                <a:ea typeface="Courier New"/>
                <a:cs typeface="Courier New"/>
                <a:sym typeface="Courier New"/>
              </a:rPr>
              <a:t>    engine) as session:</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5F3FC"/>
              </a:buClr>
              <a:buSzPts val="950"/>
              <a:buFont typeface="Courier New"/>
              <a:buNone/>
            </a:pPr>
            <a:r>
              <a:rPr b="0" i="0" lang="en-US" sz="950" u="none" cap="none" strike="noStrike">
                <a:solidFill>
                  <a:srgbClr val="A5F3FC"/>
                </a:solidFill>
                <a:latin typeface="Courier New"/>
                <a:ea typeface="Courier New"/>
                <a:cs typeface="Courier New"/>
                <a:sym typeface="Courier New"/>
              </a:rPr>
              <a:t>    yield session</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084FC"/>
              </a:buClr>
              <a:buSzPts val="950"/>
              <a:buFont typeface="Courier New"/>
              <a:buNone/>
            </a:pPr>
            <a:r>
              <a:rPr b="0" i="0" lang="en-US" sz="950" u="none" cap="none" strike="noStrike">
                <a:solidFill>
                  <a:srgbClr val="C084FC"/>
                </a:solidFill>
                <a:latin typeface="Courier New"/>
                <a:ea typeface="Courier New"/>
                <a:cs typeface="Courier New"/>
                <a:sym typeface="Courier New"/>
              </a:rPr>
              <a:t>@router.get('/vulns')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084FC"/>
              </a:buClr>
              <a:buSzPts val="950"/>
              <a:buFont typeface="Courier New"/>
              <a:buNone/>
            </a:pPr>
            <a:r>
              <a:rPr b="0" i="0" lang="en-US" sz="950" u="none" cap="none" strike="noStrike">
                <a:solidFill>
                  <a:srgbClr val="C084FC"/>
                </a:solidFill>
                <a:latin typeface="Courier New"/>
                <a:ea typeface="Courier New"/>
                <a:cs typeface="Courier New"/>
                <a:sym typeface="Courier New"/>
              </a:rPr>
              <a:t>async def get_vulns(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950" u="none" cap="none" strike="noStrike">
                <a:solidFill>
                  <a:srgbClr val="7DD3FC"/>
                </a:solidFill>
                <a:latin typeface="Courier New"/>
                <a:ea typeface="Courier New"/>
                <a:cs typeface="Courier New"/>
                <a:sym typeface="Courier New"/>
              </a:rPr>
              <a:t>  db: AsyncSession =</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5F3FC"/>
              </a:buClr>
              <a:buSzPts val="950"/>
              <a:buFont typeface="Courier New"/>
              <a:buNone/>
            </a:pPr>
            <a:r>
              <a:rPr b="0" i="0" lang="en-US" sz="950" u="none" cap="none" strike="noStrike">
                <a:solidFill>
                  <a:srgbClr val="A5F3FC"/>
                </a:solidFill>
                <a:latin typeface="Courier New"/>
                <a:ea typeface="Courier New"/>
                <a:cs typeface="Courier New"/>
                <a:sym typeface="Courier New"/>
              </a:rPr>
              <a:t>    Depends(get_db)</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5F3FC"/>
              </a:buClr>
              <a:buSzPts val="950"/>
              <a:buFont typeface="Courier New"/>
              <a:buNone/>
            </a:pPr>
            <a:r>
              <a:rPr b="0" i="0" lang="en-US" sz="950" u="none" cap="none" strike="noStrike">
                <a:solidFill>
                  <a:srgbClr val="A5F3FC"/>
                </a:solidFill>
                <a:latin typeface="Courier New"/>
                <a:ea typeface="Courier New"/>
                <a:cs typeface="Courier New"/>
                <a:sym typeface="Courier New"/>
              </a:rPr>
              <a: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950" u="none" cap="none" strike="noStrike">
                <a:solidFill>
                  <a:srgbClr val="7DD3FC"/>
                </a:solidFill>
                <a:latin typeface="Courier New"/>
                <a:ea typeface="Courier New"/>
                <a:cs typeface="Courier New"/>
                <a:sym typeface="Courier New"/>
              </a:rPr>
              <a:t>  result = await db.execute()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5F3FC"/>
              </a:buClr>
              <a:buSzPts val="950"/>
              <a:buFont typeface="Courier New"/>
              <a:buNone/>
            </a:pPr>
            <a:r>
              <a:rPr b="0" i="0" lang="en-US" sz="950" u="none" cap="none" strike="noStrike">
                <a:solidFill>
                  <a:srgbClr val="A5F3FC"/>
                </a:solidFill>
                <a:latin typeface="Courier New"/>
                <a:ea typeface="Courier New"/>
                <a:cs typeface="Courier New"/>
                <a:sym typeface="Courier New"/>
              </a:rPr>
              <a:t>  return result.scalars()</a:t>
            </a:r>
            <a:endParaRPr b="0" i="0" sz="950" u="none" cap="none" strike="noStrike">
              <a:solidFill>
                <a:schemeClr val="dk1"/>
              </a:solidFill>
              <a:latin typeface="Calibri"/>
              <a:ea typeface="Calibri"/>
              <a:cs typeface="Calibri"/>
              <a:sym typeface="Calibri"/>
            </a:endParaRPr>
          </a:p>
        </p:txBody>
      </p:sp>
      <p:sp>
        <p:nvSpPr>
          <p:cNvPr id="1150" name="Google Shape;1150;p34"/>
          <p:cNvSpPr/>
          <p:nvPr/>
        </p:nvSpPr>
        <p:spPr>
          <a:xfrm>
            <a:off x="4663440" y="3291840"/>
            <a:ext cx="4114800" cy="1417320"/>
          </a:xfrm>
          <a:prstGeom prst="rect">
            <a:avLst/>
          </a:prstGeom>
          <a:solidFill>
            <a:srgbClr val="1E293B"/>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4"/>
          <p:cNvSpPr/>
          <p:nvPr/>
        </p:nvSpPr>
        <p:spPr>
          <a:xfrm>
            <a:off x="4800600" y="3401568"/>
            <a:ext cx="3840480" cy="11978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280"/>
              </a:buClr>
              <a:buSzPts val="950"/>
              <a:buFont typeface="Courier New"/>
              <a:buNone/>
            </a:pPr>
            <a:r>
              <a:rPr b="0" i="0" lang="en-US" sz="950" u="none" cap="none" strike="noStrike">
                <a:solidFill>
                  <a:srgbClr val="6B7280"/>
                </a:solidFill>
                <a:latin typeface="Courier New"/>
                <a:ea typeface="Courier New"/>
                <a:cs typeface="Courier New"/>
                <a:sym typeface="Courier New"/>
              </a:rPr>
              <a:t># Connection Pool Config</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950" u="none" cap="none" strike="noStrike">
                <a:solidFill>
                  <a:srgbClr val="7DD3FC"/>
                </a:solidFill>
                <a:latin typeface="Courier New"/>
                <a:ea typeface="Courier New"/>
                <a:cs typeface="Courier New"/>
                <a:sym typeface="Courier New"/>
              </a:rPr>
              <a:t>engine = create_async_engine(</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5F3FC"/>
              </a:buClr>
              <a:buSzPts val="950"/>
              <a:buFont typeface="Courier New"/>
              <a:buNone/>
            </a:pPr>
            <a:r>
              <a:rPr b="0" i="0" lang="en-US" sz="950" u="none" cap="none" strike="noStrike">
                <a:solidFill>
                  <a:srgbClr val="A5F3FC"/>
                </a:solidFill>
                <a:latin typeface="Courier New"/>
                <a:ea typeface="Courier New"/>
                <a:cs typeface="Courier New"/>
                <a:sym typeface="Courier New"/>
              </a:rPr>
              <a:t>  DATABASE_URL,</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950" u="none" cap="none" strike="noStrike">
                <a:solidFill>
                  <a:srgbClr val="7DD3FC"/>
                </a:solidFill>
                <a:latin typeface="Courier New"/>
                <a:ea typeface="Courier New"/>
                <a:cs typeface="Courier New"/>
                <a:sym typeface="Courier New"/>
              </a:rPr>
              <a:t>  pool_size=10,</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DD3FC"/>
              </a:buClr>
              <a:buSzPts val="950"/>
              <a:buFont typeface="Courier New"/>
              <a:buNone/>
            </a:pPr>
            <a:r>
              <a:rPr b="0" i="0" lang="en-US" sz="950" u="none" cap="none" strike="noStrike">
                <a:solidFill>
                  <a:srgbClr val="7DD3FC"/>
                </a:solidFill>
                <a:latin typeface="Courier New"/>
                <a:ea typeface="Courier New"/>
                <a:cs typeface="Courier New"/>
                <a:sym typeface="Courier New"/>
              </a:rPr>
              <a:t>  max_overflow=20)</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6" name="Shape 1156"/>
        <p:cNvGrpSpPr/>
        <p:nvPr/>
      </p:nvGrpSpPr>
      <p:grpSpPr>
        <a:xfrm>
          <a:off x="0" y="0"/>
          <a:ext cx="0" cy="0"/>
          <a:chOff x="0" y="0"/>
          <a:chExt cx="0" cy="0"/>
        </a:xfrm>
      </p:grpSpPr>
      <p:sp>
        <p:nvSpPr>
          <p:cNvPr id="1157" name="Google Shape;1157;p35"/>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5"/>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5"/>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DevOps &amp; Docker Compose Orchestration</a:t>
            </a:r>
            <a:endParaRPr b="0" i="0" sz="2200" u="none" cap="none" strike="noStrike">
              <a:solidFill>
                <a:schemeClr val="dk1"/>
              </a:solidFill>
              <a:latin typeface="Calibri"/>
              <a:ea typeface="Calibri"/>
              <a:cs typeface="Calibri"/>
              <a:sym typeface="Calibri"/>
            </a:endParaRPr>
          </a:p>
        </p:txBody>
      </p:sp>
      <p:sp>
        <p:nvSpPr>
          <p:cNvPr id="1160" name="Google Shape;1160;p35"/>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5"/>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35/40</a:t>
            </a:r>
            <a:endParaRPr b="0" i="0" sz="800" u="none" cap="none" strike="noStrike">
              <a:solidFill>
                <a:schemeClr val="dk1"/>
              </a:solidFill>
              <a:latin typeface="Calibri"/>
              <a:ea typeface="Calibri"/>
              <a:cs typeface="Calibri"/>
              <a:sym typeface="Calibri"/>
            </a:endParaRPr>
          </a:p>
        </p:txBody>
      </p:sp>
      <p:cxnSp>
        <p:nvCxnSpPr>
          <p:cNvPr id="1162" name="Google Shape;1162;p35"/>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1163" name="Google Shape;1163;p35"/>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1164" name="Google Shape;1164;p35"/>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5"/>
          <p:cNvSpPr/>
          <p:nvPr/>
        </p:nvSpPr>
        <p:spPr>
          <a:xfrm>
            <a:off x="1216125" y="726961"/>
            <a:ext cx="2377500" cy="2469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5"/>
          <p:cNvSpPr/>
          <p:nvPr/>
        </p:nvSpPr>
        <p:spPr>
          <a:xfrm>
            <a:off x="1216125" y="726961"/>
            <a:ext cx="23775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DevOps</a:t>
            </a:r>
            <a:endParaRPr b="0" i="0" sz="1000" u="none" cap="none" strike="noStrike">
              <a:solidFill>
                <a:schemeClr val="dk1"/>
              </a:solidFill>
              <a:latin typeface="Calibri"/>
              <a:ea typeface="Calibri"/>
              <a:cs typeface="Calibri"/>
              <a:sym typeface="Calibri"/>
            </a:endParaRPr>
          </a:p>
        </p:txBody>
      </p:sp>
      <p:sp>
        <p:nvSpPr>
          <p:cNvPr id="1167" name="Google Shape;1167;p35"/>
          <p:cNvSpPr/>
          <p:nvPr/>
        </p:nvSpPr>
        <p:spPr>
          <a:xfrm>
            <a:off x="347475" y="1024175"/>
            <a:ext cx="4114800" cy="37125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5"/>
          <p:cNvSpPr/>
          <p:nvPr/>
        </p:nvSpPr>
        <p:spPr>
          <a:xfrm>
            <a:off x="548643" y="1179579"/>
            <a:ext cx="3712500" cy="3436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Multi-container Architecture</a:t>
            </a:r>
            <a:r>
              <a:rPr b="0" i="0" lang="en-US" sz="1150" u="none" cap="none" strike="noStrike">
                <a:solidFill>
                  <a:srgbClr val="334155"/>
                </a:solidFill>
                <a:latin typeface="Merriweather"/>
                <a:ea typeface="Merriweather"/>
                <a:cs typeface="Merriweather"/>
                <a:sym typeface="Merriweather"/>
              </a:rPr>
              <a:t> — 5 production services declared in a single docker-compose.yml.</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One-Command Deployment </a:t>
            </a:r>
            <a:r>
              <a:rPr b="0" i="0" lang="en-US" sz="1150" u="none" cap="none" strike="noStrike">
                <a:solidFill>
                  <a:srgbClr val="334155"/>
                </a:solidFill>
                <a:latin typeface="Merriweather"/>
                <a:ea typeface="Merriweather"/>
                <a:cs typeface="Merriweather"/>
                <a:sym typeface="Merriweather"/>
              </a:rPr>
              <a:t>— 'docker compose up' starts the entire platform, ready in &lt; 90 seconds.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Environment Consistency</a:t>
            </a:r>
            <a:r>
              <a:rPr b="0" i="0" lang="en-US" sz="1150" u="none" cap="none" strike="noStrike">
                <a:solidFill>
                  <a:srgbClr val="334155"/>
                </a:solidFill>
                <a:latin typeface="Merriweather"/>
                <a:ea typeface="Merriweather"/>
                <a:cs typeface="Merriweather"/>
                <a:sym typeface="Merriweather"/>
              </a:rPr>
              <a:t> — Eliminates 'works on my machine' — identical behavior dev/staging/prod.</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Health Checks</a:t>
            </a:r>
            <a:r>
              <a:rPr b="0" i="0" lang="en-US" sz="1150" u="none" cap="none" strike="noStrike">
                <a:solidFill>
                  <a:srgbClr val="334155"/>
                </a:solidFill>
                <a:latin typeface="Merriweather"/>
                <a:ea typeface="Merriweather"/>
                <a:cs typeface="Merriweather"/>
                <a:sym typeface="Merriweather"/>
              </a:rPr>
              <a:t> — Each service declares a health check; dependent services wait for healthy status.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Volume Persistence </a:t>
            </a:r>
            <a:r>
              <a:rPr b="0" i="0" lang="en-US" sz="1150" u="none" cap="none" strike="noStrike">
                <a:solidFill>
                  <a:srgbClr val="334155"/>
                </a:solidFill>
                <a:latin typeface="Merriweather"/>
                <a:ea typeface="Merriweather"/>
                <a:cs typeface="Merriweather"/>
                <a:sym typeface="Merriweather"/>
              </a:rPr>
              <a:t>— PostgreSQL data volume ensures scan results survive container restarts.</a:t>
            </a:r>
            <a:endParaRPr b="0" i="0" sz="1150" u="none" cap="none" strike="noStrike">
              <a:solidFill>
                <a:schemeClr val="dk1"/>
              </a:solidFill>
              <a:latin typeface="Calibri"/>
              <a:ea typeface="Calibri"/>
              <a:cs typeface="Calibri"/>
              <a:sym typeface="Calibri"/>
            </a:endParaRPr>
          </a:p>
        </p:txBody>
      </p:sp>
      <p:sp>
        <p:nvSpPr>
          <p:cNvPr id="1169" name="Google Shape;1169;p35"/>
          <p:cNvSpPr/>
          <p:nvPr/>
        </p:nvSpPr>
        <p:spPr>
          <a:xfrm>
            <a:off x="4663440" y="822960"/>
            <a:ext cx="2011680" cy="1143000"/>
          </a:xfrm>
          <a:prstGeom prst="rect">
            <a:avLst/>
          </a:prstGeom>
          <a:solidFill>
            <a:srgbClr val="E8F9FD"/>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5"/>
          <p:cNvSpPr/>
          <p:nvPr/>
        </p:nvSpPr>
        <p:spPr>
          <a:xfrm>
            <a:off x="4663440" y="822960"/>
            <a:ext cx="2011680" cy="292608"/>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5"/>
          <p:cNvSpPr/>
          <p:nvPr/>
        </p:nvSpPr>
        <p:spPr>
          <a:xfrm>
            <a:off x="4663440" y="822960"/>
            <a:ext cx="20116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FFAFE"/>
              </a:buClr>
              <a:buSzPts val="750"/>
              <a:buFont typeface="Merriweather"/>
              <a:buNone/>
            </a:pPr>
            <a:r>
              <a:rPr b="0" i="0" lang="en-US" sz="750" u="none" cap="none" strike="noStrike">
                <a:solidFill>
                  <a:srgbClr val="CFFAFE"/>
                </a:solidFill>
                <a:latin typeface="Merriweather"/>
                <a:ea typeface="Merriweather"/>
                <a:cs typeface="Merriweather"/>
                <a:sym typeface="Merriweather"/>
              </a:rPr>
              <a:t>container</a:t>
            </a:r>
            <a:endParaRPr b="0" i="0" sz="750" u="none" cap="none" strike="noStrike">
              <a:solidFill>
                <a:schemeClr val="dk1"/>
              </a:solidFill>
              <a:latin typeface="Calibri"/>
              <a:ea typeface="Calibri"/>
              <a:cs typeface="Calibri"/>
              <a:sym typeface="Calibri"/>
            </a:endParaRPr>
          </a:p>
        </p:txBody>
      </p:sp>
      <p:sp>
        <p:nvSpPr>
          <p:cNvPr id="1172" name="Google Shape;1172;p35"/>
          <p:cNvSpPr/>
          <p:nvPr/>
        </p:nvSpPr>
        <p:spPr>
          <a:xfrm>
            <a:off x="4663440" y="1143000"/>
            <a:ext cx="201168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Frontend</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(React/Nginx)</a:t>
            </a:r>
            <a:endParaRPr b="0" i="0" sz="1000" u="none" cap="none" strike="noStrike">
              <a:solidFill>
                <a:schemeClr val="dk1"/>
              </a:solidFill>
              <a:latin typeface="Calibri"/>
              <a:ea typeface="Calibri"/>
              <a:cs typeface="Calibri"/>
              <a:sym typeface="Calibri"/>
            </a:endParaRPr>
          </a:p>
        </p:txBody>
      </p:sp>
      <p:sp>
        <p:nvSpPr>
          <p:cNvPr id="1173" name="Google Shape;1173;p35"/>
          <p:cNvSpPr/>
          <p:nvPr/>
        </p:nvSpPr>
        <p:spPr>
          <a:xfrm>
            <a:off x="4663440" y="1673352"/>
            <a:ext cx="20116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Courier New"/>
              <a:buNone/>
            </a:pPr>
            <a:r>
              <a:rPr b="0" i="0" lang="en-US" sz="850" u="none" cap="none" strike="noStrike">
                <a:solidFill>
                  <a:srgbClr val="64748B"/>
                </a:solidFill>
                <a:latin typeface="Courier New"/>
                <a:ea typeface="Courier New"/>
                <a:cs typeface="Courier New"/>
                <a:sym typeface="Courier New"/>
              </a:rPr>
              <a:t>Port 3000</a:t>
            </a:r>
            <a:endParaRPr b="0" i="0" sz="850" u="none" cap="none" strike="noStrike">
              <a:solidFill>
                <a:schemeClr val="dk1"/>
              </a:solidFill>
              <a:latin typeface="Calibri"/>
              <a:ea typeface="Calibri"/>
              <a:cs typeface="Calibri"/>
              <a:sym typeface="Calibri"/>
            </a:endParaRPr>
          </a:p>
        </p:txBody>
      </p:sp>
      <p:sp>
        <p:nvSpPr>
          <p:cNvPr id="1174" name="Google Shape;1174;p35"/>
          <p:cNvSpPr/>
          <p:nvPr/>
        </p:nvSpPr>
        <p:spPr>
          <a:xfrm>
            <a:off x="4663440" y="2121408"/>
            <a:ext cx="2011680" cy="1143000"/>
          </a:xfrm>
          <a:prstGeom prst="rect">
            <a:avLst/>
          </a:prstGeom>
          <a:solidFill>
            <a:srgbClr val="D1FAE5"/>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5"/>
          <p:cNvSpPr/>
          <p:nvPr/>
        </p:nvSpPr>
        <p:spPr>
          <a:xfrm>
            <a:off x="4663440" y="2121408"/>
            <a:ext cx="2011680" cy="292608"/>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35"/>
          <p:cNvSpPr/>
          <p:nvPr/>
        </p:nvSpPr>
        <p:spPr>
          <a:xfrm>
            <a:off x="4663440" y="2121408"/>
            <a:ext cx="20116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FFAFE"/>
              </a:buClr>
              <a:buSzPts val="750"/>
              <a:buFont typeface="Merriweather"/>
              <a:buNone/>
            </a:pPr>
            <a:r>
              <a:rPr b="0" i="0" lang="en-US" sz="750" u="none" cap="none" strike="noStrike">
                <a:solidFill>
                  <a:srgbClr val="CFFAFE"/>
                </a:solidFill>
                <a:latin typeface="Merriweather"/>
                <a:ea typeface="Merriweather"/>
                <a:cs typeface="Merriweather"/>
                <a:sym typeface="Merriweather"/>
              </a:rPr>
              <a:t>container</a:t>
            </a:r>
            <a:endParaRPr b="0" i="0" sz="750" u="none" cap="none" strike="noStrike">
              <a:solidFill>
                <a:schemeClr val="dk1"/>
              </a:solidFill>
              <a:latin typeface="Calibri"/>
              <a:ea typeface="Calibri"/>
              <a:cs typeface="Calibri"/>
              <a:sym typeface="Calibri"/>
            </a:endParaRPr>
          </a:p>
        </p:txBody>
      </p:sp>
      <p:sp>
        <p:nvSpPr>
          <p:cNvPr id="1177" name="Google Shape;1177;p35"/>
          <p:cNvSpPr/>
          <p:nvPr/>
        </p:nvSpPr>
        <p:spPr>
          <a:xfrm>
            <a:off x="4663440" y="2441448"/>
            <a:ext cx="201168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Backend</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(FastAPI)</a:t>
            </a:r>
            <a:endParaRPr b="0" i="0" sz="1000" u="none" cap="none" strike="noStrike">
              <a:solidFill>
                <a:schemeClr val="dk1"/>
              </a:solidFill>
              <a:latin typeface="Calibri"/>
              <a:ea typeface="Calibri"/>
              <a:cs typeface="Calibri"/>
              <a:sym typeface="Calibri"/>
            </a:endParaRPr>
          </a:p>
        </p:txBody>
      </p:sp>
      <p:sp>
        <p:nvSpPr>
          <p:cNvPr id="1178" name="Google Shape;1178;p35"/>
          <p:cNvSpPr/>
          <p:nvPr/>
        </p:nvSpPr>
        <p:spPr>
          <a:xfrm>
            <a:off x="4663440" y="2971800"/>
            <a:ext cx="20116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Courier New"/>
              <a:buNone/>
            </a:pPr>
            <a:r>
              <a:rPr b="0" i="0" lang="en-US" sz="850" u="none" cap="none" strike="noStrike">
                <a:solidFill>
                  <a:srgbClr val="64748B"/>
                </a:solidFill>
                <a:latin typeface="Courier New"/>
                <a:ea typeface="Courier New"/>
                <a:cs typeface="Courier New"/>
                <a:sym typeface="Courier New"/>
              </a:rPr>
              <a:t>Port 8000</a:t>
            </a:r>
            <a:endParaRPr b="0" i="0" sz="850" u="none" cap="none" strike="noStrike">
              <a:solidFill>
                <a:schemeClr val="dk1"/>
              </a:solidFill>
              <a:latin typeface="Calibri"/>
              <a:ea typeface="Calibri"/>
              <a:cs typeface="Calibri"/>
              <a:sym typeface="Calibri"/>
            </a:endParaRPr>
          </a:p>
        </p:txBody>
      </p:sp>
      <p:sp>
        <p:nvSpPr>
          <p:cNvPr id="1179" name="Google Shape;1179;p35"/>
          <p:cNvSpPr/>
          <p:nvPr/>
        </p:nvSpPr>
        <p:spPr>
          <a:xfrm>
            <a:off x="5708740" y="3456431"/>
            <a:ext cx="2011800" cy="1143000"/>
          </a:xfrm>
          <a:prstGeom prst="rect">
            <a:avLst/>
          </a:prstGeom>
          <a:solidFill>
            <a:srgbClr val="EDE9FE"/>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5"/>
          <p:cNvSpPr/>
          <p:nvPr/>
        </p:nvSpPr>
        <p:spPr>
          <a:xfrm>
            <a:off x="5708740" y="3456431"/>
            <a:ext cx="2011800" cy="2925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5"/>
          <p:cNvSpPr/>
          <p:nvPr/>
        </p:nvSpPr>
        <p:spPr>
          <a:xfrm>
            <a:off x="5708740" y="3456431"/>
            <a:ext cx="20118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FFAFE"/>
              </a:buClr>
              <a:buSzPts val="750"/>
              <a:buFont typeface="Merriweather"/>
              <a:buNone/>
            </a:pPr>
            <a:r>
              <a:rPr b="0" i="0" lang="en-US" sz="750" u="none" cap="none" strike="noStrike">
                <a:solidFill>
                  <a:srgbClr val="CFFAFE"/>
                </a:solidFill>
                <a:latin typeface="Merriweather"/>
                <a:ea typeface="Merriweather"/>
                <a:cs typeface="Merriweather"/>
                <a:sym typeface="Merriweather"/>
              </a:rPr>
              <a:t>container</a:t>
            </a:r>
            <a:endParaRPr b="0" i="0" sz="750" u="none" cap="none" strike="noStrike">
              <a:solidFill>
                <a:schemeClr val="dk1"/>
              </a:solidFill>
              <a:latin typeface="Calibri"/>
              <a:ea typeface="Calibri"/>
              <a:cs typeface="Calibri"/>
              <a:sym typeface="Calibri"/>
            </a:endParaRPr>
          </a:p>
        </p:txBody>
      </p:sp>
      <p:sp>
        <p:nvSpPr>
          <p:cNvPr id="1182" name="Google Shape;1182;p35"/>
          <p:cNvSpPr/>
          <p:nvPr/>
        </p:nvSpPr>
        <p:spPr>
          <a:xfrm>
            <a:off x="5708740" y="3776471"/>
            <a:ext cx="2011800" cy="53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PostgreSQL</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(DB)</a:t>
            </a:r>
            <a:endParaRPr b="0" i="0" sz="1000" u="none" cap="none" strike="noStrike">
              <a:solidFill>
                <a:schemeClr val="dk1"/>
              </a:solidFill>
              <a:latin typeface="Calibri"/>
              <a:ea typeface="Calibri"/>
              <a:cs typeface="Calibri"/>
              <a:sym typeface="Calibri"/>
            </a:endParaRPr>
          </a:p>
        </p:txBody>
      </p:sp>
      <p:sp>
        <p:nvSpPr>
          <p:cNvPr id="1183" name="Google Shape;1183;p35"/>
          <p:cNvSpPr/>
          <p:nvPr/>
        </p:nvSpPr>
        <p:spPr>
          <a:xfrm>
            <a:off x="5849765" y="4334273"/>
            <a:ext cx="20118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Courier New"/>
              <a:buNone/>
            </a:pPr>
            <a:r>
              <a:rPr b="0" i="0" lang="en-US" sz="850" u="none" cap="none" strike="noStrike">
                <a:solidFill>
                  <a:srgbClr val="64748B"/>
                </a:solidFill>
                <a:latin typeface="Courier New"/>
                <a:ea typeface="Courier New"/>
                <a:cs typeface="Courier New"/>
                <a:sym typeface="Courier New"/>
              </a:rPr>
              <a:t>Port 5432</a:t>
            </a:r>
            <a:endParaRPr b="0" i="0" sz="850" u="none" cap="none" strike="noStrike">
              <a:solidFill>
                <a:schemeClr val="dk1"/>
              </a:solidFill>
              <a:latin typeface="Calibri"/>
              <a:ea typeface="Calibri"/>
              <a:cs typeface="Calibri"/>
              <a:sym typeface="Calibri"/>
            </a:endParaRPr>
          </a:p>
        </p:txBody>
      </p:sp>
      <p:sp>
        <p:nvSpPr>
          <p:cNvPr id="1184" name="Google Shape;1184;p35"/>
          <p:cNvSpPr/>
          <p:nvPr/>
        </p:nvSpPr>
        <p:spPr>
          <a:xfrm>
            <a:off x="6903720" y="822960"/>
            <a:ext cx="2011680" cy="1143000"/>
          </a:xfrm>
          <a:prstGeom prst="rect">
            <a:avLst/>
          </a:prstGeom>
          <a:solidFill>
            <a:srgbClr val="FEF3C7"/>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5"/>
          <p:cNvSpPr/>
          <p:nvPr/>
        </p:nvSpPr>
        <p:spPr>
          <a:xfrm>
            <a:off x="6903720" y="822960"/>
            <a:ext cx="2011680" cy="292608"/>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5"/>
          <p:cNvSpPr/>
          <p:nvPr/>
        </p:nvSpPr>
        <p:spPr>
          <a:xfrm>
            <a:off x="6903720" y="822960"/>
            <a:ext cx="20116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FFAFE"/>
              </a:buClr>
              <a:buSzPts val="750"/>
              <a:buFont typeface="Merriweather"/>
              <a:buNone/>
            </a:pPr>
            <a:r>
              <a:rPr b="0" i="0" lang="en-US" sz="750" u="none" cap="none" strike="noStrike">
                <a:solidFill>
                  <a:srgbClr val="CFFAFE"/>
                </a:solidFill>
                <a:latin typeface="Merriweather"/>
                <a:ea typeface="Merriweather"/>
                <a:cs typeface="Merriweather"/>
                <a:sym typeface="Merriweather"/>
              </a:rPr>
              <a:t>container</a:t>
            </a:r>
            <a:endParaRPr b="0" i="0" sz="750" u="none" cap="none" strike="noStrike">
              <a:solidFill>
                <a:schemeClr val="dk1"/>
              </a:solidFill>
              <a:latin typeface="Calibri"/>
              <a:ea typeface="Calibri"/>
              <a:cs typeface="Calibri"/>
              <a:sym typeface="Calibri"/>
            </a:endParaRPr>
          </a:p>
        </p:txBody>
      </p:sp>
      <p:sp>
        <p:nvSpPr>
          <p:cNvPr id="1187" name="Google Shape;1187;p35"/>
          <p:cNvSpPr/>
          <p:nvPr/>
        </p:nvSpPr>
        <p:spPr>
          <a:xfrm>
            <a:off x="6903720" y="1143000"/>
            <a:ext cx="201168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Redis</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(Broker)</a:t>
            </a:r>
            <a:endParaRPr b="0" i="0" sz="1000" u="none" cap="none" strike="noStrike">
              <a:solidFill>
                <a:schemeClr val="dk1"/>
              </a:solidFill>
              <a:latin typeface="Calibri"/>
              <a:ea typeface="Calibri"/>
              <a:cs typeface="Calibri"/>
              <a:sym typeface="Calibri"/>
            </a:endParaRPr>
          </a:p>
        </p:txBody>
      </p:sp>
      <p:sp>
        <p:nvSpPr>
          <p:cNvPr id="1188" name="Google Shape;1188;p35"/>
          <p:cNvSpPr/>
          <p:nvPr/>
        </p:nvSpPr>
        <p:spPr>
          <a:xfrm>
            <a:off x="6903720" y="1673352"/>
            <a:ext cx="20116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Courier New"/>
              <a:buNone/>
            </a:pPr>
            <a:r>
              <a:rPr b="0" i="0" lang="en-US" sz="850" u="none" cap="none" strike="noStrike">
                <a:solidFill>
                  <a:srgbClr val="64748B"/>
                </a:solidFill>
                <a:latin typeface="Courier New"/>
                <a:ea typeface="Courier New"/>
                <a:cs typeface="Courier New"/>
                <a:sym typeface="Courier New"/>
              </a:rPr>
              <a:t>Port 6379</a:t>
            </a:r>
            <a:endParaRPr b="0" i="0" sz="850" u="none" cap="none" strike="noStrike">
              <a:solidFill>
                <a:schemeClr val="dk1"/>
              </a:solidFill>
              <a:latin typeface="Calibri"/>
              <a:ea typeface="Calibri"/>
              <a:cs typeface="Calibri"/>
              <a:sym typeface="Calibri"/>
            </a:endParaRPr>
          </a:p>
        </p:txBody>
      </p:sp>
      <p:sp>
        <p:nvSpPr>
          <p:cNvPr id="1189" name="Google Shape;1189;p35"/>
          <p:cNvSpPr/>
          <p:nvPr/>
        </p:nvSpPr>
        <p:spPr>
          <a:xfrm>
            <a:off x="6903720" y="2121408"/>
            <a:ext cx="2011680" cy="1143000"/>
          </a:xfrm>
          <a:prstGeom prst="rect">
            <a:avLst/>
          </a:prstGeom>
          <a:solidFill>
            <a:srgbClr val="CFFAFE"/>
          </a:solidFill>
          <a:ln cap="flat" cmpd="sng" w="1905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5"/>
          <p:cNvSpPr/>
          <p:nvPr/>
        </p:nvSpPr>
        <p:spPr>
          <a:xfrm>
            <a:off x="6903720" y="2121408"/>
            <a:ext cx="2011680" cy="292608"/>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5"/>
          <p:cNvSpPr/>
          <p:nvPr/>
        </p:nvSpPr>
        <p:spPr>
          <a:xfrm>
            <a:off x="6903720" y="2121408"/>
            <a:ext cx="20116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FFAFE"/>
              </a:buClr>
              <a:buSzPts val="750"/>
              <a:buFont typeface="Merriweather"/>
              <a:buNone/>
            </a:pPr>
            <a:r>
              <a:rPr b="0" i="0" lang="en-US" sz="750" u="none" cap="none" strike="noStrike">
                <a:solidFill>
                  <a:srgbClr val="CFFAFE"/>
                </a:solidFill>
                <a:latin typeface="Merriweather"/>
                <a:ea typeface="Merriweather"/>
                <a:cs typeface="Merriweather"/>
                <a:sym typeface="Merriweather"/>
              </a:rPr>
              <a:t>container</a:t>
            </a:r>
            <a:endParaRPr b="0" i="0" sz="750" u="none" cap="none" strike="noStrike">
              <a:solidFill>
                <a:schemeClr val="dk1"/>
              </a:solidFill>
              <a:latin typeface="Calibri"/>
              <a:ea typeface="Calibri"/>
              <a:cs typeface="Calibri"/>
              <a:sym typeface="Calibri"/>
            </a:endParaRPr>
          </a:p>
        </p:txBody>
      </p:sp>
      <p:sp>
        <p:nvSpPr>
          <p:cNvPr id="1192" name="Google Shape;1192;p35"/>
          <p:cNvSpPr/>
          <p:nvPr/>
        </p:nvSpPr>
        <p:spPr>
          <a:xfrm>
            <a:off x="6903720" y="2441448"/>
            <a:ext cx="2011680"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Celery</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000" u="none" cap="none" strike="noStrike">
                <a:solidFill>
                  <a:srgbClr val="0F172A"/>
                </a:solidFill>
                <a:latin typeface="Merriweather"/>
                <a:ea typeface="Merriweather"/>
                <a:cs typeface="Merriweather"/>
                <a:sym typeface="Merriweather"/>
              </a:rPr>
              <a:t>(Worker)</a:t>
            </a:r>
            <a:endParaRPr b="0" i="0" sz="1000" u="none" cap="none" strike="noStrike">
              <a:solidFill>
                <a:schemeClr val="dk1"/>
              </a:solidFill>
              <a:latin typeface="Calibri"/>
              <a:ea typeface="Calibri"/>
              <a:cs typeface="Calibri"/>
              <a:sym typeface="Calibri"/>
            </a:endParaRPr>
          </a:p>
        </p:txBody>
      </p:sp>
      <p:sp>
        <p:nvSpPr>
          <p:cNvPr id="1193" name="Google Shape;1193;p35"/>
          <p:cNvSpPr/>
          <p:nvPr/>
        </p:nvSpPr>
        <p:spPr>
          <a:xfrm>
            <a:off x="6903720" y="2971800"/>
            <a:ext cx="20116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50"/>
              <a:buFont typeface="Courier New"/>
              <a:buNone/>
            </a:pPr>
            <a:r>
              <a:rPr b="0" i="0" lang="en-US" sz="850" u="none" cap="none" strike="noStrike">
                <a:solidFill>
                  <a:srgbClr val="64748B"/>
                </a:solidFill>
                <a:latin typeface="Courier New"/>
                <a:ea typeface="Courier New"/>
                <a:cs typeface="Courier New"/>
                <a:sym typeface="Courier New"/>
              </a:rPr>
              <a:t>Internal</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198" name="Shape 1198"/>
        <p:cNvGrpSpPr/>
        <p:nvPr/>
      </p:nvGrpSpPr>
      <p:grpSpPr>
        <a:xfrm>
          <a:off x="0" y="0"/>
          <a:ext cx="0" cy="0"/>
          <a:chOff x="0" y="0"/>
          <a:chExt cx="0" cy="0"/>
        </a:xfrm>
      </p:grpSpPr>
      <p:sp>
        <p:nvSpPr>
          <p:cNvPr id="1199" name="Google Shape;1199;g3d2d178f3e5_2_37"/>
          <p:cNvSpPr/>
          <p:nvPr/>
        </p:nvSpPr>
        <p:spPr>
          <a:xfrm>
            <a:off x="5943600" y="-1371600"/>
            <a:ext cx="5486400" cy="5486400"/>
          </a:xfrm>
          <a:prstGeom prst="ellipse">
            <a:avLst/>
          </a:prstGeom>
          <a:solidFill>
            <a:srgbClr val="0A2740">
              <a:alpha val="70200"/>
            </a:srgbClr>
          </a:solidFill>
          <a:ln cap="flat" cmpd="sng" w="12700">
            <a:solidFill>
              <a:srgbClr val="1E3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erriweather"/>
              <a:ea typeface="Merriweather"/>
              <a:cs typeface="Merriweather"/>
              <a:sym typeface="Merriweather"/>
            </a:endParaRPr>
          </a:p>
        </p:txBody>
      </p:sp>
      <p:sp>
        <p:nvSpPr>
          <p:cNvPr id="1200" name="Google Shape;1200;g3d2d178f3e5_2_37"/>
          <p:cNvSpPr/>
          <p:nvPr/>
        </p:nvSpPr>
        <p:spPr>
          <a:xfrm>
            <a:off x="6858000" y="-457200"/>
            <a:ext cx="3657600" cy="3657600"/>
          </a:xfrm>
          <a:prstGeom prst="ellipse">
            <a:avLst/>
          </a:prstGeom>
          <a:solidFill>
            <a:srgbClr val="1B4F72">
              <a:alpha val="40000"/>
            </a:srgbClr>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erriweather"/>
              <a:ea typeface="Merriweather"/>
              <a:cs typeface="Merriweather"/>
              <a:sym typeface="Merriweather"/>
            </a:endParaRPr>
          </a:p>
        </p:txBody>
      </p:sp>
      <p:sp>
        <p:nvSpPr>
          <p:cNvPr id="1201" name="Google Shape;1201;g3d2d178f3e5_2_37"/>
          <p:cNvSpPr/>
          <p:nvPr/>
        </p:nvSpPr>
        <p:spPr>
          <a:xfrm>
            <a:off x="0" y="0"/>
            <a:ext cx="9144000" cy="639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erriweather"/>
              <a:ea typeface="Merriweather"/>
              <a:cs typeface="Merriweather"/>
              <a:sym typeface="Merriweather"/>
            </a:endParaRPr>
          </a:p>
        </p:txBody>
      </p:sp>
      <p:sp>
        <p:nvSpPr>
          <p:cNvPr id="1202" name="Google Shape;1202;g3d2d178f3e5_2_37"/>
          <p:cNvSpPr/>
          <p:nvPr/>
        </p:nvSpPr>
        <p:spPr>
          <a:xfrm>
            <a:off x="457200" y="1097280"/>
            <a:ext cx="109800" cy="29262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erriweather"/>
              <a:ea typeface="Merriweather"/>
              <a:cs typeface="Merriweather"/>
              <a:sym typeface="Merriweather"/>
            </a:endParaRPr>
          </a:p>
        </p:txBody>
      </p:sp>
      <p:sp>
        <p:nvSpPr>
          <p:cNvPr id="1203" name="Google Shape;1203;g3d2d178f3e5_2_37"/>
          <p:cNvSpPr/>
          <p:nvPr/>
        </p:nvSpPr>
        <p:spPr>
          <a:xfrm>
            <a:off x="731520" y="1097280"/>
            <a:ext cx="64008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800"/>
              <a:buFont typeface="Calibri"/>
              <a:buNone/>
            </a:pPr>
            <a:r>
              <a:rPr b="1" i="0" lang="en-US" sz="4800" u="none" cap="none" strike="noStrike">
                <a:solidFill>
                  <a:srgbClr val="FFFFFF"/>
                </a:solidFill>
                <a:latin typeface="Merriweather"/>
                <a:ea typeface="Merriweather"/>
                <a:cs typeface="Merriweather"/>
                <a:sym typeface="Merriweather"/>
              </a:rPr>
              <a:t>D</a:t>
            </a:r>
            <a:r>
              <a:rPr b="1" lang="en-US" sz="4800">
                <a:solidFill>
                  <a:srgbClr val="FFFFFF"/>
                </a:solidFill>
                <a:latin typeface="Merriweather"/>
                <a:ea typeface="Merriweather"/>
                <a:cs typeface="Merriweather"/>
                <a:sym typeface="Merriweather"/>
              </a:rPr>
              <a:t>EVOPs</a:t>
            </a:r>
            <a:endParaRPr b="0" i="0" sz="4800" u="none" cap="none" strike="noStrike">
              <a:solidFill>
                <a:schemeClr val="dk1"/>
              </a:solidFill>
              <a:latin typeface="Merriweather"/>
              <a:ea typeface="Merriweather"/>
              <a:cs typeface="Merriweather"/>
              <a:sym typeface="Merriweather"/>
            </a:endParaRPr>
          </a:p>
        </p:txBody>
      </p:sp>
      <p:sp>
        <p:nvSpPr>
          <p:cNvPr id="1204" name="Google Shape;1204;g3d2d178f3e5_2_37"/>
          <p:cNvSpPr/>
          <p:nvPr/>
        </p:nvSpPr>
        <p:spPr>
          <a:xfrm>
            <a:off x="731520" y="1920240"/>
            <a:ext cx="68580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B4D8"/>
              </a:buClr>
              <a:buSzPts val="3600"/>
              <a:buFont typeface="Calibri"/>
              <a:buNone/>
            </a:pPr>
            <a:r>
              <a:rPr b="1" i="0" lang="en-US" sz="3600" u="none" cap="none" strike="noStrike">
                <a:solidFill>
                  <a:srgbClr val="00B4D8"/>
                </a:solidFill>
                <a:latin typeface="Merriweather"/>
                <a:ea typeface="Merriweather"/>
                <a:cs typeface="Merriweather"/>
                <a:sym typeface="Merriweather"/>
              </a:rPr>
              <a:t>Container Orchestration</a:t>
            </a:r>
            <a:endParaRPr b="0" i="0" sz="3600" u="none" cap="none" strike="noStrike">
              <a:solidFill>
                <a:schemeClr val="dk1"/>
              </a:solidFill>
              <a:latin typeface="Merriweather"/>
              <a:ea typeface="Merriweather"/>
              <a:cs typeface="Merriweather"/>
              <a:sym typeface="Merriweather"/>
            </a:endParaRPr>
          </a:p>
        </p:txBody>
      </p:sp>
      <p:sp>
        <p:nvSpPr>
          <p:cNvPr id="1205" name="Google Shape;1205;g3d2d178f3e5_2_37"/>
          <p:cNvSpPr/>
          <p:nvPr/>
        </p:nvSpPr>
        <p:spPr>
          <a:xfrm>
            <a:off x="731520" y="2834640"/>
            <a:ext cx="6858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8D6DF"/>
              </a:buClr>
              <a:buSzPts val="1400"/>
              <a:buFont typeface="Calibri"/>
              <a:buNone/>
            </a:pPr>
            <a:r>
              <a:rPr b="0" i="1" lang="en-US" sz="1500" u="none" cap="none" strike="noStrike">
                <a:solidFill>
                  <a:schemeClr val="lt1"/>
                </a:solidFill>
                <a:latin typeface="Merriweather"/>
                <a:ea typeface="Merriweather"/>
                <a:cs typeface="Merriweather"/>
                <a:sym typeface="Merriweather"/>
              </a:rPr>
              <a:t>From isolated containers to a fully orchestrated platform</a:t>
            </a:r>
            <a:endParaRPr b="0" i="0" sz="1500" u="none" cap="none" strike="noStrike">
              <a:solidFill>
                <a:schemeClr val="lt1"/>
              </a:solidFill>
              <a:latin typeface="Merriweather"/>
              <a:ea typeface="Merriweather"/>
              <a:cs typeface="Merriweather"/>
              <a:sym typeface="Merriweather"/>
            </a:endParaRPr>
          </a:p>
        </p:txBody>
      </p:sp>
      <p:sp>
        <p:nvSpPr>
          <p:cNvPr id="1206" name="Google Shape;1206;g3d2d178f3e5_2_37"/>
          <p:cNvSpPr/>
          <p:nvPr/>
        </p:nvSpPr>
        <p:spPr>
          <a:xfrm>
            <a:off x="731525" y="3520450"/>
            <a:ext cx="1997100" cy="399300"/>
          </a:xfrm>
          <a:prstGeom prst="roundRect">
            <a:avLst>
              <a:gd fmla="val 14286" name="adj"/>
            </a:avLst>
          </a:prstGeom>
          <a:solidFill>
            <a:srgbClr val="1B4F72"/>
          </a:solidFill>
          <a:ln cap="flat" cmpd="sng" w="15875">
            <a:solidFill>
              <a:srgbClr val="00B4D8"/>
            </a:solidFill>
            <a:prstDash val="solid"/>
            <a:round/>
            <a:headEnd len="sm" w="sm" type="none"/>
            <a:tailEnd len="sm" w="sm" type="none"/>
          </a:ln>
        </p:spPr>
        <p:txBody>
          <a:bodyPr anchorCtr="0" anchor="ctr" bIns="114100" lIns="114100" spcFirstLastPara="1" rIns="114100" wrap="square" tIns="114100">
            <a:noAutofit/>
          </a:bodyPr>
          <a:lstStyle/>
          <a:p>
            <a:pPr indent="0" lvl="0" marL="0" marR="0" rtl="0" algn="l">
              <a:lnSpc>
                <a:spcPct val="100000"/>
              </a:lnSpc>
              <a:spcBef>
                <a:spcPts val="0"/>
              </a:spcBef>
              <a:spcAft>
                <a:spcPts val="0"/>
              </a:spcAft>
              <a:buClr>
                <a:srgbClr val="000000"/>
              </a:buClr>
              <a:buSzPts val="1872"/>
              <a:buFont typeface="Arial"/>
              <a:buNone/>
            </a:pPr>
            <a:r>
              <a:t/>
            </a:r>
            <a:endParaRPr b="0" i="0" sz="1871" u="none" cap="none" strike="noStrike">
              <a:solidFill>
                <a:schemeClr val="lt1"/>
              </a:solidFill>
              <a:latin typeface="Merriweather"/>
              <a:ea typeface="Merriweather"/>
              <a:cs typeface="Merriweather"/>
              <a:sym typeface="Merriweather"/>
            </a:endParaRPr>
          </a:p>
        </p:txBody>
      </p:sp>
      <p:sp>
        <p:nvSpPr>
          <p:cNvPr id="1207" name="Google Shape;1207;g3d2d178f3e5_2_37"/>
          <p:cNvSpPr/>
          <p:nvPr/>
        </p:nvSpPr>
        <p:spPr>
          <a:xfrm>
            <a:off x="731525" y="3520450"/>
            <a:ext cx="1997100" cy="39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B4D8"/>
              </a:buClr>
              <a:buSzPts val="1248"/>
              <a:buFont typeface="Calibri"/>
              <a:buNone/>
            </a:pPr>
            <a:r>
              <a:rPr b="0" i="0" lang="en-US" sz="1372" u="none" cap="none" strike="noStrike">
                <a:solidFill>
                  <a:schemeClr val="lt1"/>
                </a:solidFill>
                <a:latin typeface="Merriweather"/>
                <a:ea typeface="Merriweather"/>
                <a:cs typeface="Merriweather"/>
                <a:sym typeface="Merriweather"/>
              </a:rPr>
              <a:t>Docker</a:t>
            </a:r>
            <a:endParaRPr b="0" i="0" sz="1372" u="none" cap="none" strike="noStrike">
              <a:solidFill>
                <a:schemeClr val="lt1"/>
              </a:solidFill>
              <a:latin typeface="Merriweather"/>
              <a:ea typeface="Merriweather"/>
              <a:cs typeface="Merriweather"/>
              <a:sym typeface="Merriweather"/>
            </a:endParaRPr>
          </a:p>
        </p:txBody>
      </p:sp>
      <p:sp>
        <p:nvSpPr>
          <p:cNvPr id="1208" name="Google Shape;1208;g3d2d178f3e5_2_37"/>
          <p:cNvSpPr/>
          <p:nvPr/>
        </p:nvSpPr>
        <p:spPr>
          <a:xfrm>
            <a:off x="3014063" y="3520450"/>
            <a:ext cx="1997100" cy="399300"/>
          </a:xfrm>
          <a:prstGeom prst="roundRect">
            <a:avLst>
              <a:gd fmla="val 14286" name="adj"/>
            </a:avLst>
          </a:prstGeom>
          <a:solidFill>
            <a:srgbClr val="1B4F72"/>
          </a:solidFill>
          <a:ln cap="flat" cmpd="sng" w="15875">
            <a:solidFill>
              <a:srgbClr val="00B4D8"/>
            </a:solidFill>
            <a:prstDash val="solid"/>
            <a:round/>
            <a:headEnd len="sm" w="sm" type="none"/>
            <a:tailEnd len="sm" w="sm" type="none"/>
          </a:ln>
        </p:spPr>
        <p:txBody>
          <a:bodyPr anchorCtr="0" anchor="ctr" bIns="114100" lIns="114100" spcFirstLastPara="1" rIns="114100" wrap="square" tIns="114100">
            <a:noAutofit/>
          </a:bodyPr>
          <a:lstStyle/>
          <a:p>
            <a:pPr indent="0" lvl="0" marL="0" marR="0" rtl="0" algn="l">
              <a:lnSpc>
                <a:spcPct val="100000"/>
              </a:lnSpc>
              <a:spcBef>
                <a:spcPts val="0"/>
              </a:spcBef>
              <a:spcAft>
                <a:spcPts val="0"/>
              </a:spcAft>
              <a:buClr>
                <a:srgbClr val="000000"/>
              </a:buClr>
              <a:buSzPts val="1872"/>
              <a:buFont typeface="Arial"/>
              <a:buNone/>
            </a:pPr>
            <a:r>
              <a:t/>
            </a:r>
            <a:endParaRPr b="0" i="0" sz="1871" u="none" cap="none" strike="noStrike">
              <a:solidFill>
                <a:schemeClr val="lt1"/>
              </a:solidFill>
              <a:latin typeface="Merriweather"/>
              <a:ea typeface="Merriweather"/>
              <a:cs typeface="Merriweather"/>
              <a:sym typeface="Merriweather"/>
            </a:endParaRPr>
          </a:p>
        </p:txBody>
      </p:sp>
      <p:sp>
        <p:nvSpPr>
          <p:cNvPr id="1209" name="Google Shape;1209;g3d2d178f3e5_2_37"/>
          <p:cNvSpPr/>
          <p:nvPr/>
        </p:nvSpPr>
        <p:spPr>
          <a:xfrm>
            <a:off x="3014063" y="3520450"/>
            <a:ext cx="1997100" cy="39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B4D8"/>
              </a:buClr>
              <a:buSzPts val="1248"/>
              <a:buFont typeface="Calibri"/>
              <a:buNone/>
            </a:pPr>
            <a:r>
              <a:rPr b="0" i="0" lang="en-US" sz="1372" u="none" cap="none" strike="noStrike">
                <a:solidFill>
                  <a:schemeClr val="lt1"/>
                </a:solidFill>
                <a:latin typeface="Merriweather"/>
                <a:ea typeface="Merriweather"/>
                <a:cs typeface="Merriweather"/>
                <a:sym typeface="Merriweather"/>
              </a:rPr>
              <a:t>Docker Compose</a:t>
            </a:r>
            <a:endParaRPr b="0" i="0" sz="1372" u="none" cap="none" strike="noStrike">
              <a:solidFill>
                <a:schemeClr val="lt1"/>
              </a:solidFill>
              <a:latin typeface="Merriweather"/>
              <a:ea typeface="Merriweather"/>
              <a:cs typeface="Merriweather"/>
              <a:sym typeface="Merriweather"/>
            </a:endParaRPr>
          </a:p>
        </p:txBody>
      </p:sp>
      <p:sp>
        <p:nvSpPr>
          <p:cNvPr id="1210" name="Google Shape;1210;g3d2d178f3e5_2_37"/>
          <p:cNvSpPr/>
          <p:nvPr/>
        </p:nvSpPr>
        <p:spPr>
          <a:xfrm>
            <a:off x="5296602" y="3520450"/>
            <a:ext cx="1997100" cy="399300"/>
          </a:xfrm>
          <a:prstGeom prst="roundRect">
            <a:avLst>
              <a:gd fmla="val 14286" name="adj"/>
            </a:avLst>
          </a:prstGeom>
          <a:solidFill>
            <a:srgbClr val="1B4F72"/>
          </a:solidFill>
          <a:ln cap="flat" cmpd="sng" w="15875">
            <a:solidFill>
              <a:srgbClr val="00B4D8"/>
            </a:solidFill>
            <a:prstDash val="solid"/>
            <a:round/>
            <a:headEnd len="sm" w="sm" type="none"/>
            <a:tailEnd len="sm" w="sm" type="none"/>
          </a:ln>
        </p:spPr>
        <p:txBody>
          <a:bodyPr anchorCtr="0" anchor="ctr" bIns="114100" lIns="114100" spcFirstLastPara="1" rIns="114100" wrap="square" tIns="114100">
            <a:noAutofit/>
          </a:bodyPr>
          <a:lstStyle/>
          <a:p>
            <a:pPr indent="0" lvl="0" marL="0" marR="0" rtl="0" algn="l">
              <a:lnSpc>
                <a:spcPct val="100000"/>
              </a:lnSpc>
              <a:spcBef>
                <a:spcPts val="0"/>
              </a:spcBef>
              <a:spcAft>
                <a:spcPts val="0"/>
              </a:spcAft>
              <a:buClr>
                <a:srgbClr val="000000"/>
              </a:buClr>
              <a:buSzPts val="1872"/>
              <a:buFont typeface="Arial"/>
              <a:buNone/>
            </a:pPr>
            <a:r>
              <a:t/>
            </a:r>
            <a:endParaRPr b="0" i="0" sz="1871" u="none" cap="none" strike="noStrike">
              <a:solidFill>
                <a:schemeClr val="lt1"/>
              </a:solidFill>
              <a:latin typeface="Merriweather"/>
              <a:ea typeface="Merriweather"/>
              <a:cs typeface="Merriweather"/>
              <a:sym typeface="Merriweather"/>
            </a:endParaRPr>
          </a:p>
        </p:txBody>
      </p:sp>
      <p:sp>
        <p:nvSpPr>
          <p:cNvPr id="1211" name="Google Shape;1211;g3d2d178f3e5_2_37"/>
          <p:cNvSpPr/>
          <p:nvPr/>
        </p:nvSpPr>
        <p:spPr>
          <a:xfrm>
            <a:off x="5296602" y="3520450"/>
            <a:ext cx="1997100" cy="39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B4D8"/>
              </a:buClr>
              <a:buSzPts val="1248"/>
              <a:buFont typeface="Calibri"/>
              <a:buNone/>
            </a:pPr>
            <a:r>
              <a:rPr b="0" i="0" lang="en-US" sz="1372" u="none" cap="none" strike="noStrike">
                <a:solidFill>
                  <a:schemeClr val="lt1"/>
                </a:solidFill>
                <a:latin typeface="Merriweather"/>
                <a:ea typeface="Merriweather"/>
                <a:cs typeface="Merriweather"/>
                <a:sym typeface="Merriweather"/>
              </a:rPr>
              <a:t>Microservices</a:t>
            </a:r>
            <a:endParaRPr b="0" i="0" sz="1372" u="none" cap="none" strike="noStrike">
              <a:solidFill>
                <a:schemeClr val="lt1"/>
              </a:solidFill>
              <a:latin typeface="Merriweather"/>
              <a:ea typeface="Merriweather"/>
              <a:cs typeface="Merriweather"/>
              <a:sym typeface="Merriweather"/>
            </a:endParaRPr>
          </a:p>
        </p:txBody>
      </p:sp>
      <p:sp>
        <p:nvSpPr>
          <p:cNvPr id="1212" name="Google Shape;1212;g3d2d178f3e5_2_37"/>
          <p:cNvSpPr/>
          <p:nvPr/>
        </p:nvSpPr>
        <p:spPr>
          <a:xfrm>
            <a:off x="0" y="4800600"/>
            <a:ext cx="9144000" cy="342900"/>
          </a:xfrm>
          <a:prstGeom prst="rect">
            <a:avLst/>
          </a:prstGeom>
          <a:solidFill>
            <a:srgbClr val="1B4F72"/>
          </a:solidFill>
          <a:ln cap="flat" cmpd="sng" w="12700">
            <a:solidFill>
              <a:srgbClr val="1E3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erriweather"/>
              <a:ea typeface="Merriweather"/>
              <a:cs typeface="Merriweather"/>
              <a:sym typeface="Merriweathe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217" name="Shape 1217"/>
        <p:cNvGrpSpPr/>
        <p:nvPr/>
      </p:nvGrpSpPr>
      <p:grpSpPr>
        <a:xfrm>
          <a:off x="0" y="0"/>
          <a:ext cx="0" cy="0"/>
          <a:chOff x="0" y="0"/>
          <a:chExt cx="0" cy="0"/>
        </a:xfrm>
      </p:grpSpPr>
      <p:sp>
        <p:nvSpPr>
          <p:cNvPr id="1218" name="Google Shape;1218;g3d2d178f3e5_5_0"/>
          <p:cNvSpPr/>
          <p:nvPr/>
        </p:nvSpPr>
        <p:spPr>
          <a:xfrm>
            <a:off x="0" y="0"/>
            <a:ext cx="9144000" cy="639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19" name="Google Shape;1219;g3d2d178f3e5_5_0"/>
          <p:cNvSpPr/>
          <p:nvPr/>
        </p:nvSpPr>
        <p:spPr>
          <a:xfrm>
            <a:off x="457200" y="182880"/>
            <a:ext cx="7772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800"/>
              <a:buFont typeface="Calibri"/>
              <a:buNone/>
            </a:pPr>
            <a:r>
              <a:rPr b="1" i="0" lang="en-US" sz="2900" u="none" cap="none" strike="noStrike">
                <a:solidFill>
                  <a:srgbClr val="FFFFFF"/>
                </a:solidFill>
                <a:latin typeface="Merriweather"/>
                <a:ea typeface="Merriweather"/>
                <a:cs typeface="Merriweather"/>
                <a:sym typeface="Merriweather"/>
              </a:rPr>
              <a:t>Service Orchestrated Architecture</a:t>
            </a:r>
            <a:endParaRPr b="0" i="0" sz="2900" u="none" cap="none" strike="noStrike">
              <a:solidFill>
                <a:schemeClr val="dk1"/>
              </a:solidFill>
              <a:latin typeface="Merriweather"/>
              <a:ea typeface="Merriweather"/>
              <a:cs typeface="Merriweather"/>
              <a:sym typeface="Merriweather"/>
            </a:endParaRPr>
          </a:p>
        </p:txBody>
      </p:sp>
      <p:sp>
        <p:nvSpPr>
          <p:cNvPr id="1220" name="Google Shape;1220;g3d2d178f3e5_5_0"/>
          <p:cNvSpPr/>
          <p:nvPr/>
        </p:nvSpPr>
        <p:spPr>
          <a:xfrm>
            <a:off x="457200" y="777240"/>
            <a:ext cx="7772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B4D8"/>
              </a:buClr>
              <a:buSzPts val="1300"/>
              <a:buFont typeface="Calibri"/>
              <a:buNone/>
            </a:pPr>
            <a:r>
              <a:rPr b="0" i="1" lang="en-US" sz="1400" u="none" cap="none" strike="noStrike">
                <a:solidFill>
                  <a:srgbClr val="00B4D8"/>
                </a:solidFill>
                <a:latin typeface="Merriweather"/>
                <a:ea typeface="Merriweather"/>
                <a:cs typeface="Merriweather"/>
                <a:sym typeface="Merriweather"/>
              </a:rPr>
              <a:t>Five layers, one unified platform</a:t>
            </a:r>
            <a:endParaRPr b="0" i="0" sz="1400" u="none" cap="none" strike="noStrike">
              <a:solidFill>
                <a:schemeClr val="dk1"/>
              </a:solidFill>
              <a:latin typeface="Merriweather"/>
              <a:ea typeface="Merriweather"/>
              <a:cs typeface="Merriweather"/>
              <a:sym typeface="Merriweather"/>
            </a:endParaRPr>
          </a:p>
        </p:txBody>
      </p:sp>
      <p:sp>
        <p:nvSpPr>
          <p:cNvPr id="1221" name="Google Shape;1221;g3d2d178f3e5_5_0"/>
          <p:cNvSpPr/>
          <p:nvPr/>
        </p:nvSpPr>
        <p:spPr>
          <a:xfrm>
            <a:off x="457200" y="1078992"/>
            <a:ext cx="8229600" cy="27300"/>
          </a:xfrm>
          <a:prstGeom prst="rect">
            <a:avLst/>
          </a:prstGeom>
          <a:solidFill>
            <a:srgbClr val="1E3A4F"/>
          </a:solidFill>
          <a:ln cap="flat" cmpd="sng" w="12700">
            <a:solidFill>
              <a:srgbClr val="1E3A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22" name="Google Shape;1222;g3d2d178f3e5_5_0"/>
          <p:cNvSpPr/>
          <p:nvPr/>
        </p:nvSpPr>
        <p:spPr>
          <a:xfrm>
            <a:off x="320040" y="1207008"/>
            <a:ext cx="8503800" cy="658500"/>
          </a:xfrm>
          <a:prstGeom prst="rect">
            <a:avLst/>
          </a:prstGeom>
          <a:solidFill>
            <a:srgbClr val="142433"/>
          </a:solidFill>
          <a:ln cap="flat" cmpd="sng" w="1270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23" name="Google Shape;1223;g3d2d178f3e5_5_0"/>
          <p:cNvSpPr/>
          <p:nvPr/>
        </p:nvSpPr>
        <p:spPr>
          <a:xfrm>
            <a:off x="320040" y="1207008"/>
            <a:ext cx="1188600" cy="658500"/>
          </a:xfrm>
          <a:prstGeom prst="rect">
            <a:avLst/>
          </a:prstGeom>
          <a:solidFill>
            <a:srgbClr val="2980B9">
              <a:alpha val="80000"/>
            </a:srgbClr>
          </a:solidFill>
          <a:ln cap="flat" cmpd="sng" w="1270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24" name="Google Shape;1224;g3d2d178f3e5_5_0"/>
          <p:cNvSpPr/>
          <p:nvPr/>
        </p:nvSpPr>
        <p:spPr>
          <a:xfrm>
            <a:off x="320040" y="1207008"/>
            <a:ext cx="11886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US" sz="1100" u="none" cap="none" strike="noStrike">
                <a:solidFill>
                  <a:srgbClr val="FFFFFF"/>
                </a:solidFill>
                <a:latin typeface="Merriweather"/>
                <a:ea typeface="Merriweather"/>
                <a:cs typeface="Merriweather"/>
                <a:sym typeface="Merriweather"/>
              </a:rPr>
              <a:t>Frontend</a:t>
            </a:r>
            <a:endParaRPr b="0" i="0" sz="1100" u="none" cap="none" strike="noStrike">
              <a:solidFill>
                <a:schemeClr val="dk1"/>
              </a:solidFill>
              <a:latin typeface="Merriweather"/>
              <a:ea typeface="Merriweather"/>
              <a:cs typeface="Merriweather"/>
              <a:sym typeface="Merriweather"/>
            </a:endParaRPr>
          </a:p>
        </p:txBody>
      </p:sp>
      <p:sp>
        <p:nvSpPr>
          <p:cNvPr id="1225" name="Google Shape;1225;g3d2d178f3e5_5_0"/>
          <p:cNvSpPr/>
          <p:nvPr/>
        </p:nvSpPr>
        <p:spPr>
          <a:xfrm>
            <a:off x="4320540" y="1289304"/>
            <a:ext cx="1417200" cy="493800"/>
          </a:xfrm>
          <a:prstGeom prst="rect">
            <a:avLst/>
          </a:prstGeom>
          <a:solidFill>
            <a:srgbClr val="1B4F72"/>
          </a:solidFill>
          <a:ln cap="flat" cmpd="sng" w="12700">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26" name="Google Shape;1226;g3d2d178f3e5_5_0"/>
          <p:cNvSpPr/>
          <p:nvPr/>
        </p:nvSpPr>
        <p:spPr>
          <a:xfrm>
            <a:off x="4320540" y="1289304"/>
            <a:ext cx="14172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React</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 Vite</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:3000</a:t>
            </a:r>
            <a:endParaRPr b="0" i="0" sz="1000" u="none" cap="none" strike="noStrike">
              <a:solidFill>
                <a:schemeClr val="dk1"/>
              </a:solidFill>
              <a:latin typeface="Merriweather"/>
              <a:ea typeface="Merriweather"/>
              <a:cs typeface="Merriweather"/>
              <a:sym typeface="Merriweather"/>
            </a:endParaRPr>
          </a:p>
        </p:txBody>
      </p:sp>
      <p:sp>
        <p:nvSpPr>
          <p:cNvPr id="1227" name="Google Shape;1227;g3d2d178f3e5_5_0"/>
          <p:cNvSpPr/>
          <p:nvPr/>
        </p:nvSpPr>
        <p:spPr>
          <a:xfrm>
            <a:off x="320040" y="1956816"/>
            <a:ext cx="8503800" cy="658500"/>
          </a:xfrm>
          <a:prstGeom prst="rect">
            <a:avLst/>
          </a:prstGeom>
          <a:solidFill>
            <a:srgbClr val="142433"/>
          </a:solidFill>
          <a:ln cap="flat" cmpd="sng" w="12700">
            <a:solidFill>
              <a:srgbClr val="1ABC9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28" name="Google Shape;1228;g3d2d178f3e5_5_0"/>
          <p:cNvSpPr/>
          <p:nvPr/>
        </p:nvSpPr>
        <p:spPr>
          <a:xfrm>
            <a:off x="320040" y="1956816"/>
            <a:ext cx="1188600" cy="658500"/>
          </a:xfrm>
          <a:prstGeom prst="rect">
            <a:avLst/>
          </a:prstGeom>
          <a:solidFill>
            <a:srgbClr val="1ABC9C">
              <a:alpha val="80000"/>
            </a:srgbClr>
          </a:solidFill>
          <a:ln cap="flat" cmpd="sng" w="12700">
            <a:solidFill>
              <a:srgbClr val="1ABC9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29" name="Google Shape;1229;g3d2d178f3e5_5_0"/>
          <p:cNvSpPr/>
          <p:nvPr/>
        </p:nvSpPr>
        <p:spPr>
          <a:xfrm>
            <a:off x="320040" y="1956816"/>
            <a:ext cx="11886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US" sz="1100" u="none" cap="none" strike="noStrike">
                <a:solidFill>
                  <a:srgbClr val="FFFFFF"/>
                </a:solidFill>
                <a:latin typeface="Merriweather"/>
                <a:ea typeface="Merriweather"/>
                <a:cs typeface="Merriweather"/>
                <a:sym typeface="Merriweather"/>
              </a:rPr>
              <a:t>Application</a:t>
            </a:r>
            <a:endParaRPr b="0" i="0" sz="1100" u="none" cap="none" strike="noStrike">
              <a:solidFill>
                <a:schemeClr val="dk1"/>
              </a:solidFill>
              <a:latin typeface="Merriweather"/>
              <a:ea typeface="Merriweather"/>
              <a:cs typeface="Merriweather"/>
              <a:sym typeface="Merriweather"/>
            </a:endParaRPr>
          </a:p>
        </p:txBody>
      </p:sp>
      <p:sp>
        <p:nvSpPr>
          <p:cNvPr id="1230" name="Google Shape;1230;g3d2d178f3e5_5_0"/>
          <p:cNvSpPr/>
          <p:nvPr/>
        </p:nvSpPr>
        <p:spPr>
          <a:xfrm>
            <a:off x="4320540" y="2039112"/>
            <a:ext cx="1417200" cy="493800"/>
          </a:xfrm>
          <a:prstGeom prst="rect">
            <a:avLst/>
          </a:prstGeom>
          <a:solidFill>
            <a:srgbClr val="1B4F72"/>
          </a:solidFill>
          <a:ln cap="flat" cmpd="sng" w="12700">
            <a:solidFill>
              <a:srgbClr val="1ABC9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31" name="Google Shape;1231;g3d2d178f3e5_5_0"/>
          <p:cNvSpPr/>
          <p:nvPr/>
        </p:nvSpPr>
        <p:spPr>
          <a:xfrm>
            <a:off x="4320540" y="2039112"/>
            <a:ext cx="14172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FastAPI</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Backend</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:8000</a:t>
            </a:r>
            <a:endParaRPr b="0" i="0" sz="1000" u="none" cap="none" strike="noStrike">
              <a:solidFill>
                <a:schemeClr val="dk1"/>
              </a:solidFill>
              <a:latin typeface="Merriweather"/>
              <a:ea typeface="Merriweather"/>
              <a:cs typeface="Merriweather"/>
              <a:sym typeface="Merriweather"/>
            </a:endParaRPr>
          </a:p>
        </p:txBody>
      </p:sp>
      <p:sp>
        <p:nvSpPr>
          <p:cNvPr id="1232" name="Google Shape;1232;g3d2d178f3e5_5_0"/>
          <p:cNvSpPr/>
          <p:nvPr/>
        </p:nvSpPr>
        <p:spPr>
          <a:xfrm>
            <a:off x="320040" y="2706624"/>
            <a:ext cx="8503800" cy="658500"/>
          </a:xfrm>
          <a:prstGeom prst="rect">
            <a:avLst/>
          </a:prstGeom>
          <a:solidFill>
            <a:srgbClr val="142433"/>
          </a:solidFill>
          <a:ln cap="flat" cmpd="sng" w="12700">
            <a:solidFill>
              <a:srgbClr val="F77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33" name="Google Shape;1233;g3d2d178f3e5_5_0"/>
          <p:cNvSpPr/>
          <p:nvPr/>
        </p:nvSpPr>
        <p:spPr>
          <a:xfrm>
            <a:off x="320040" y="2706624"/>
            <a:ext cx="1188600" cy="658500"/>
          </a:xfrm>
          <a:prstGeom prst="rect">
            <a:avLst/>
          </a:prstGeom>
          <a:solidFill>
            <a:srgbClr val="F77F00">
              <a:alpha val="80000"/>
            </a:srgbClr>
          </a:solidFill>
          <a:ln cap="flat" cmpd="sng" w="12700">
            <a:solidFill>
              <a:srgbClr val="F77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34" name="Google Shape;1234;g3d2d178f3e5_5_0"/>
          <p:cNvSpPr/>
          <p:nvPr/>
        </p:nvSpPr>
        <p:spPr>
          <a:xfrm>
            <a:off x="320040" y="2706624"/>
            <a:ext cx="11886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US" sz="1100" u="none" cap="none" strike="noStrike">
                <a:solidFill>
                  <a:srgbClr val="FFFFFF"/>
                </a:solidFill>
                <a:latin typeface="Merriweather"/>
                <a:ea typeface="Merriweather"/>
                <a:cs typeface="Merriweather"/>
                <a:sym typeface="Merriweather"/>
              </a:rPr>
              <a:t>State &amp; Queue</a:t>
            </a:r>
            <a:endParaRPr b="0" i="0" sz="1100" u="none" cap="none" strike="noStrike">
              <a:solidFill>
                <a:schemeClr val="dk1"/>
              </a:solidFill>
              <a:latin typeface="Merriweather"/>
              <a:ea typeface="Merriweather"/>
              <a:cs typeface="Merriweather"/>
              <a:sym typeface="Merriweather"/>
            </a:endParaRPr>
          </a:p>
        </p:txBody>
      </p:sp>
      <p:sp>
        <p:nvSpPr>
          <p:cNvPr id="1235" name="Google Shape;1235;g3d2d178f3e5_5_0"/>
          <p:cNvSpPr/>
          <p:nvPr/>
        </p:nvSpPr>
        <p:spPr>
          <a:xfrm>
            <a:off x="2057400" y="2788920"/>
            <a:ext cx="1417200" cy="493800"/>
          </a:xfrm>
          <a:prstGeom prst="rect">
            <a:avLst/>
          </a:prstGeom>
          <a:solidFill>
            <a:srgbClr val="1B4F72"/>
          </a:solidFill>
          <a:ln cap="flat" cmpd="sng" w="12700">
            <a:solidFill>
              <a:srgbClr val="F77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36" name="Google Shape;1236;g3d2d178f3e5_5_0"/>
          <p:cNvSpPr/>
          <p:nvPr/>
        </p:nvSpPr>
        <p:spPr>
          <a:xfrm>
            <a:off x="2057400" y="2788920"/>
            <a:ext cx="14172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Postgres</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(DB)</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:5432</a:t>
            </a:r>
            <a:endParaRPr b="0" i="0" sz="1000" u="none" cap="none" strike="noStrike">
              <a:solidFill>
                <a:schemeClr val="dk1"/>
              </a:solidFill>
              <a:latin typeface="Merriweather"/>
              <a:ea typeface="Merriweather"/>
              <a:cs typeface="Merriweather"/>
              <a:sym typeface="Merriweather"/>
            </a:endParaRPr>
          </a:p>
        </p:txBody>
      </p:sp>
      <p:sp>
        <p:nvSpPr>
          <p:cNvPr id="1237" name="Google Shape;1237;g3d2d178f3e5_5_0"/>
          <p:cNvSpPr/>
          <p:nvPr/>
        </p:nvSpPr>
        <p:spPr>
          <a:xfrm>
            <a:off x="3566160" y="2788920"/>
            <a:ext cx="1417200" cy="493800"/>
          </a:xfrm>
          <a:prstGeom prst="rect">
            <a:avLst/>
          </a:prstGeom>
          <a:solidFill>
            <a:srgbClr val="1B4F72"/>
          </a:solidFill>
          <a:ln cap="flat" cmpd="sng" w="12700">
            <a:solidFill>
              <a:srgbClr val="F77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38" name="Google Shape;1238;g3d2d178f3e5_5_0"/>
          <p:cNvSpPr/>
          <p:nvPr/>
        </p:nvSpPr>
        <p:spPr>
          <a:xfrm>
            <a:off x="3566160" y="2788920"/>
            <a:ext cx="14172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Redis</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(Broker)</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:6379</a:t>
            </a:r>
            <a:endParaRPr b="0" i="0" sz="1000" u="none" cap="none" strike="noStrike">
              <a:solidFill>
                <a:schemeClr val="dk1"/>
              </a:solidFill>
              <a:latin typeface="Merriweather"/>
              <a:ea typeface="Merriweather"/>
              <a:cs typeface="Merriweather"/>
              <a:sym typeface="Merriweather"/>
            </a:endParaRPr>
          </a:p>
        </p:txBody>
      </p:sp>
      <p:sp>
        <p:nvSpPr>
          <p:cNvPr id="1239" name="Google Shape;1239;g3d2d178f3e5_5_0"/>
          <p:cNvSpPr/>
          <p:nvPr/>
        </p:nvSpPr>
        <p:spPr>
          <a:xfrm>
            <a:off x="5074920" y="2788920"/>
            <a:ext cx="1417200" cy="493800"/>
          </a:xfrm>
          <a:prstGeom prst="rect">
            <a:avLst/>
          </a:prstGeom>
          <a:solidFill>
            <a:srgbClr val="1B4F72"/>
          </a:solidFill>
          <a:ln cap="flat" cmpd="sng" w="12700">
            <a:solidFill>
              <a:srgbClr val="F77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40" name="Google Shape;1240;g3d2d178f3e5_5_0"/>
          <p:cNvSpPr/>
          <p:nvPr/>
        </p:nvSpPr>
        <p:spPr>
          <a:xfrm>
            <a:off x="5074920" y="2788920"/>
            <a:ext cx="14172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Celery</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Worker</a:t>
            </a:r>
            <a:endParaRPr b="0" i="0" sz="1000" u="none" cap="none" strike="noStrike">
              <a:solidFill>
                <a:schemeClr val="dk1"/>
              </a:solidFill>
              <a:latin typeface="Merriweather"/>
              <a:ea typeface="Merriweather"/>
              <a:cs typeface="Merriweather"/>
              <a:sym typeface="Merriweather"/>
            </a:endParaRPr>
          </a:p>
        </p:txBody>
      </p:sp>
      <p:sp>
        <p:nvSpPr>
          <p:cNvPr id="1241" name="Google Shape;1241;g3d2d178f3e5_5_0"/>
          <p:cNvSpPr/>
          <p:nvPr/>
        </p:nvSpPr>
        <p:spPr>
          <a:xfrm>
            <a:off x="6583680" y="2788920"/>
            <a:ext cx="1417200" cy="493800"/>
          </a:xfrm>
          <a:prstGeom prst="rect">
            <a:avLst/>
          </a:prstGeom>
          <a:solidFill>
            <a:srgbClr val="1B4F72"/>
          </a:solidFill>
          <a:ln cap="flat" cmpd="sng" w="12700">
            <a:solidFill>
              <a:srgbClr val="F77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42" name="Google Shape;1242;g3d2d178f3e5_5_0"/>
          <p:cNvSpPr/>
          <p:nvPr/>
        </p:nvSpPr>
        <p:spPr>
          <a:xfrm>
            <a:off x="6583680" y="2788920"/>
            <a:ext cx="14172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Celery</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Beat</a:t>
            </a:r>
            <a:endParaRPr b="0" i="0" sz="1000" u="none" cap="none" strike="noStrike">
              <a:solidFill>
                <a:schemeClr val="dk1"/>
              </a:solidFill>
              <a:latin typeface="Merriweather"/>
              <a:ea typeface="Merriweather"/>
              <a:cs typeface="Merriweather"/>
              <a:sym typeface="Merriweather"/>
            </a:endParaRPr>
          </a:p>
        </p:txBody>
      </p:sp>
      <p:sp>
        <p:nvSpPr>
          <p:cNvPr id="1243" name="Google Shape;1243;g3d2d178f3e5_5_0"/>
          <p:cNvSpPr/>
          <p:nvPr/>
        </p:nvSpPr>
        <p:spPr>
          <a:xfrm>
            <a:off x="320040" y="3456432"/>
            <a:ext cx="8503800" cy="658500"/>
          </a:xfrm>
          <a:prstGeom prst="rect">
            <a:avLst/>
          </a:prstGeom>
          <a:solidFill>
            <a:srgbClr val="142433"/>
          </a:solidFill>
          <a:ln cap="flat" cmpd="sng" w="12700">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44" name="Google Shape;1244;g3d2d178f3e5_5_0"/>
          <p:cNvSpPr/>
          <p:nvPr/>
        </p:nvSpPr>
        <p:spPr>
          <a:xfrm>
            <a:off x="320040" y="3456432"/>
            <a:ext cx="1188600" cy="658500"/>
          </a:xfrm>
          <a:prstGeom prst="rect">
            <a:avLst/>
          </a:prstGeom>
          <a:solidFill>
            <a:srgbClr val="E74C3C">
              <a:alpha val="80000"/>
            </a:srgbClr>
          </a:solidFill>
          <a:ln cap="flat" cmpd="sng" w="12700">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45" name="Google Shape;1245;g3d2d178f3e5_5_0"/>
          <p:cNvSpPr/>
          <p:nvPr/>
        </p:nvSpPr>
        <p:spPr>
          <a:xfrm>
            <a:off x="320040" y="3456432"/>
            <a:ext cx="11886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US" sz="1100" u="none" cap="none" strike="noStrike">
                <a:solidFill>
                  <a:srgbClr val="FFFFFF"/>
                </a:solidFill>
                <a:latin typeface="Merriweather"/>
                <a:ea typeface="Merriweather"/>
                <a:cs typeface="Merriweather"/>
                <a:sym typeface="Merriweather"/>
              </a:rPr>
              <a:t>Security</a:t>
            </a:r>
            <a:endParaRPr b="0" i="0" sz="1100" u="none" cap="none" strike="noStrike">
              <a:solidFill>
                <a:schemeClr val="dk1"/>
              </a:solidFill>
              <a:latin typeface="Merriweather"/>
              <a:ea typeface="Merriweather"/>
              <a:cs typeface="Merriweather"/>
              <a:sym typeface="Merriweather"/>
            </a:endParaRPr>
          </a:p>
        </p:txBody>
      </p:sp>
      <p:sp>
        <p:nvSpPr>
          <p:cNvPr id="1246" name="Google Shape;1246;g3d2d178f3e5_5_0"/>
          <p:cNvSpPr/>
          <p:nvPr/>
        </p:nvSpPr>
        <p:spPr>
          <a:xfrm>
            <a:off x="2811780" y="3538728"/>
            <a:ext cx="1417200" cy="493800"/>
          </a:xfrm>
          <a:prstGeom prst="rect">
            <a:avLst/>
          </a:prstGeom>
          <a:solidFill>
            <a:srgbClr val="1B4F72"/>
          </a:solidFill>
          <a:ln cap="flat" cmpd="sng" w="12700">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47" name="Google Shape;1247;g3d2d178f3e5_5_0"/>
          <p:cNvSpPr/>
          <p:nvPr/>
        </p:nvSpPr>
        <p:spPr>
          <a:xfrm>
            <a:off x="2811780" y="3538728"/>
            <a:ext cx="14172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OpenVAS</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(Scanner)</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:9390</a:t>
            </a:r>
            <a:endParaRPr b="0" i="0" sz="1000" u="none" cap="none" strike="noStrike">
              <a:solidFill>
                <a:schemeClr val="dk1"/>
              </a:solidFill>
              <a:latin typeface="Merriweather"/>
              <a:ea typeface="Merriweather"/>
              <a:cs typeface="Merriweather"/>
              <a:sym typeface="Merriweather"/>
            </a:endParaRPr>
          </a:p>
        </p:txBody>
      </p:sp>
      <p:sp>
        <p:nvSpPr>
          <p:cNvPr id="1248" name="Google Shape;1248;g3d2d178f3e5_5_0"/>
          <p:cNvSpPr/>
          <p:nvPr/>
        </p:nvSpPr>
        <p:spPr>
          <a:xfrm>
            <a:off x="4320540" y="3538728"/>
            <a:ext cx="1417200" cy="493800"/>
          </a:xfrm>
          <a:prstGeom prst="rect">
            <a:avLst/>
          </a:prstGeom>
          <a:solidFill>
            <a:srgbClr val="1B4F72"/>
          </a:solidFill>
          <a:ln cap="flat" cmpd="sng" w="12700">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49" name="Google Shape;1249;g3d2d178f3e5_5_0"/>
          <p:cNvSpPr/>
          <p:nvPr/>
        </p:nvSpPr>
        <p:spPr>
          <a:xfrm>
            <a:off x="4320540" y="3538728"/>
            <a:ext cx="14172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Wazuh</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(EDR)</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:1514</a:t>
            </a:r>
            <a:endParaRPr b="0" i="0" sz="1000" u="none" cap="none" strike="noStrike">
              <a:solidFill>
                <a:schemeClr val="dk1"/>
              </a:solidFill>
              <a:latin typeface="Merriweather"/>
              <a:ea typeface="Merriweather"/>
              <a:cs typeface="Merriweather"/>
              <a:sym typeface="Merriweather"/>
            </a:endParaRPr>
          </a:p>
        </p:txBody>
      </p:sp>
      <p:sp>
        <p:nvSpPr>
          <p:cNvPr id="1250" name="Google Shape;1250;g3d2d178f3e5_5_0"/>
          <p:cNvSpPr/>
          <p:nvPr/>
        </p:nvSpPr>
        <p:spPr>
          <a:xfrm>
            <a:off x="5829300" y="3538728"/>
            <a:ext cx="1417200" cy="493800"/>
          </a:xfrm>
          <a:prstGeom prst="rect">
            <a:avLst/>
          </a:prstGeom>
          <a:solidFill>
            <a:srgbClr val="1B4F72"/>
          </a:solidFill>
          <a:ln cap="flat" cmpd="sng" w="12700">
            <a:solidFill>
              <a:srgbClr val="E74C3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51" name="Google Shape;1251;g3d2d178f3e5_5_0"/>
          <p:cNvSpPr/>
          <p:nvPr/>
        </p:nvSpPr>
        <p:spPr>
          <a:xfrm>
            <a:off x="5829300" y="3538728"/>
            <a:ext cx="14172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n8n</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(SOAR)</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:5678</a:t>
            </a:r>
            <a:endParaRPr b="0" i="0" sz="1000" u="none" cap="none" strike="noStrike">
              <a:solidFill>
                <a:schemeClr val="dk1"/>
              </a:solidFill>
              <a:latin typeface="Merriweather"/>
              <a:ea typeface="Merriweather"/>
              <a:cs typeface="Merriweather"/>
              <a:sym typeface="Merriweather"/>
            </a:endParaRPr>
          </a:p>
        </p:txBody>
      </p:sp>
      <p:sp>
        <p:nvSpPr>
          <p:cNvPr id="1252" name="Google Shape;1252;g3d2d178f3e5_5_0"/>
          <p:cNvSpPr/>
          <p:nvPr/>
        </p:nvSpPr>
        <p:spPr>
          <a:xfrm>
            <a:off x="320040" y="4206240"/>
            <a:ext cx="8503800" cy="658500"/>
          </a:xfrm>
          <a:prstGeom prst="rect">
            <a:avLst/>
          </a:prstGeom>
          <a:solidFill>
            <a:srgbClr val="142433"/>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53" name="Google Shape;1253;g3d2d178f3e5_5_0"/>
          <p:cNvSpPr/>
          <p:nvPr/>
        </p:nvSpPr>
        <p:spPr>
          <a:xfrm>
            <a:off x="320040" y="4206240"/>
            <a:ext cx="1188600" cy="658500"/>
          </a:xfrm>
          <a:prstGeom prst="rect">
            <a:avLst/>
          </a:prstGeom>
          <a:solidFill>
            <a:srgbClr val="7B5EA7">
              <a:alpha val="80000"/>
            </a:srgbClr>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54" name="Google Shape;1254;g3d2d178f3e5_5_0"/>
          <p:cNvSpPr/>
          <p:nvPr/>
        </p:nvSpPr>
        <p:spPr>
          <a:xfrm>
            <a:off x="320040" y="4206240"/>
            <a:ext cx="11886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Calibri"/>
              <a:buNone/>
            </a:pPr>
            <a:r>
              <a:rPr b="1" i="0" lang="en-US" sz="1100" u="none" cap="none" strike="noStrike">
                <a:solidFill>
                  <a:srgbClr val="FFFFFF"/>
                </a:solidFill>
                <a:latin typeface="Merriweather"/>
                <a:ea typeface="Merriweather"/>
                <a:cs typeface="Merriweather"/>
                <a:sym typeface="Merriweather"/>
              </a:rPr>
              <a:t>Observability</a:t>
            </a:r>
            <a:endParaRPr b="0" i="0" sz="1100" u="none" cap="none" strike="noStrike">
              <a:solidFill>
                <a:schemeClr val="dk1"/>
              </a:solidFill>
              <a:latin typeface="Merriweather"/>
              <a:ea typeface="Merriweather"/>
              <a:cs typeface="Merriweather"/>
              <a:sym typeface="Merriweather"/>
            </a:endParaRPr>
          </a:p>
        </p:txBody>
      </p:sp>
      <p:sp>
        <p:nvSpPr>
          <p:cNvPr id="1255" name="Google Shape;1255;g3d2d178f3e5_5_0"/>
          <p:cNvSpPr/>
          <p:nvPr/>
        </p:nvSpPr>
        <p:spPr>
          <a:xfrm>
            <a:off x="3566160" y="4288536"/>
            <a:ext cx="1417200" cy="493800"/>
          </a:xfrm>
          <a:prstGeom prst="rect">
            <a:avLst/>
          </a:prstGeom>
          <a:solidFill>
            <a:srgbClr val="1B4F72"/>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56" name="Google Shape;1256;g3d2d178f3e5_5_0"/>
          <p:cNvSpPr/>
          <p:nvPr/>
        </p:nvSpPr>
        <p:spPr>
          <a:xfrm>
            <a:off x="3566160" y="4288536"/>
            <a:ext cx="14172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Elastic-</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search</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:9200</a:t>
            </a:r>
            <a:endParaRPr b="0" i="0" sz="1000" u="none" cap="none" strike="noStrike">
              <a:solidFill>
                <a:schemeClr val="dk1"/>
              </a:solidFill>
              <a:latin typeface="Merriweather"/>
              <a:ea typeface="Merriweather"/>
              <a:cs typeface="Merriweather"/>
              <a:sym typeface="Merriweather"/>
            </a:endParaRPr>
          </a:p>
        </p:txBody>
      </p:sp>
      <p:sp>
        <p:nvSpPr>
          <p:cNvPr id="1257" name="Google Shape;1257;g3d2d178f3e5_5_0"/>
          <p:cNvSpPr/>
          <p:nvPr/>
        </p:nvSpPr>
        <p:spPr>
          <a:xfrm>
            <a:off x="5074920" y="4288536"/>
            <a:ext cx="1417200" cy="493800"/>
          </a:xfrm>
          <a:prstGeom prst="rect">
            <a:avLst/>
          </a:prstGeom>
          <a:solidFill>
            <a:srgbClr val="1B4F72"/>
          </a:solidFill>
          <a:ln cap="flat" cmpd="sng" w="12700">
            <a:solidFill>
              <a:srgbClr val="7B5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58" name="Google Shape;1258;g3d2d178f3e5_5_0"/>
          <p:cNvSpPr/>
          <p:nvPr/>
        </p:nvSpPr>
        <p:spPr>
          <a:xfrm>
            <a:off x="5074920" y="4288536"/>
            <a:ext cx="1417200" cy="493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Kibana</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(SIEM)</a:t>
            </a:r>
            <a:endParaRPr b="0" i="0" sz="1000" u="none" cap="none" strike="noStrike">
              <a:solidFill>
                <a:schemeClr val="dk1"/>
              </a:solidFill>
              <a:latin typeface="Merriweather"/>
              <a:ea typeface="Merriweather"/>
              <a:cs typeface="Merriweather"/>
              <a:sym typeface="Merriweather"/>
            </a:endParaRPr>
          </a:p>
          <a:p>
            <a:pPr indent="0" lvl="0" marL="0" marR="0" rtl="0" algn="ctr">
              <a:lnSpc>
                <a:spcPct val="100000"/>
              </a:lnSpc>
              <a:spcBef>
                <a:spcPts val="0"/>
              </a:spcBef>
              <a:spcAft>
                <a:spcPts val="0"/>
              </a:spcAft>
              <a:buClr>
                <a:srgbClr val="FFFFFF"/>
              </a:buClr>
              <a:buSzPts val="900"/>
              <a:buFont typeface="Calibri"/>
              <a:buNone/>
            </a:pPr>
            <a:r>
              <a:rPr b="0" i="0" lang="en-US" sz="1000" u="none" cap="none" strike="noStrike">
                <a:solidFill>
                  <a:srgbClr val="FFFFFF"/>
                </a:solidFill>
                <a:latin typeface="Merriweather"/>
                <a:ea typeface="Merriweather"/>
                <a:cs typeface="Merriweather"/>
                <a:sym typeface="Merriweather"/>
              </a:rPr>
              <a:t>:5601</a:t>
            </a:r>
            <a:endParaRPr b="0" i="0" sz="1000" u="none" cap="none" strike="noStrike">
              <a:solidFill>
                <a:schemeClr val="dk1"/>
              </a:solidFill>
              <a:latin typeface="Merriweather"/>
              <a:ea typeface="Merriweather"/>
              <a:cs typeface="Merriweather"/>
              <a:sym typeface="Merriweather"/>
            </a:endParaRPr>
          </a:p>
        </p:txBody>
      </p:sp>
      <p:sp>
        <p:nvSpPr>
          <p:cNvPr id="1259" name="Google Shape;1259;g3d2d178f3e5_5_0"/>
          <p:cNvSpPr/>
          <p:nvPr/>
        </p:nvSpPr>
        <p:spPr>
          <a:xfrm>
            <a:off x="320040" y="4864588"/>
            <a:ext cx="8503800" cy="301800"/>
          </a:xfrm>
          <a:prstGeom prst="rect">
            <a:avLst/>
          </a:prstGeom>
          <a:solidFill>
            <a:srgbClr val="071A2A"/>
          </a:solidFill>
          <a:ln cap="flat" cmpd="sng" w="12700">
            <a:solidFill>
              <a:srgbClr val="00B4D8"/>
            </a:solidFill>
            <a:prstDash val="solid"/>
            <a:round/>
            <a:headEnd len="sm" w="sm" type="none"/>
            <a:tailEnd len="sm" w="sm" type="none"/>
          </a:ln>
          <a:effectLst>
            <a:outerShdw blurRad="127000" rotWithShape="0" algn="bl" dir="8100000" dist="38100">
              <a:srgbClr val="000000">
                <a:alpha val="2509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Merriweather"/>
              <a:ea typeface="Merriweather"/>
              <a:cs typeface="Merriweather"/>
              <a:sym typeface="Merriweather"/>
            </a:endParaRPr>
          </a:p>
        </p:txBody>
      </p:sp>
      <p:sp>
        <p:nvSpPr>
          <p:cNvPr id="1260" name="Google Shape;1260;g3d2d178f3e5_5_0"/>
          <p:cNvSpPr/>
          <p:nvPr/>
        </p:nvSpPr>
        <p:spPr>
          <a:xfrm>
            <a:off x="457200" y="4882901"/>
            <a:ext cx="8229600" cy="26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B4D8"/>
              </a:buClr>
              <a:buSzPts val="1000"/>
              <a:buFont typeface="Calibri"/>
              <a:buNone/>
            </a:pPr>
            <a:r>
              <a:rPr b="0" i="0" lang="en-US" sz="1100" u="none" cap="none" strike="noStrike">
                <a:solidFill>
                  <a:srgbClr val="00B4D8"/>
                </a:solidFill>
                <a:latin typeface="Merriweather"/>
                <a:ea typeface="Merriweather"/>
                <a:cs typeface="Merriweather"/>
                <a:sym typeface="Merriweather"/>
              </a:rPr>
              <a:t>🌐  lab_network  —  All 11 containers communicate internally on this isolated Docker bridge network</a:t>
            </a:r>
            <a:endParaRPr b="0" i="0" sz="1100" u="none" cap="none" strike="noStrike">
              <a:solidFill>
                <a:schemeClr val="dk1"/>
              </a:solidFill>
              <a:latin typeface="Merriweather"/>
              <a:ea typeface="Merriweather"/>
              <a:cs typeface="Merriweather"/>
              <a:sym typeface="Merriweathe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5" name="Shape 1265"/>
        <p:cNvGrpSpPr/>
        <p:nvPr/>
      </p:nvGrpSpPr>
      <p:grpSpPr>
        <a:xfrm>
          <a:off x="0" y="0"/>
          <a:ext cx="0" cy="0"/>
          <a:chOff x="0" y="0"/>
          <a:chExt cx="0" cy="0"/>
        </a:xfrm>
      </p:grpSpPr>
      <p:sp>
        <p:nvSpPr>
          <p:cNvPr id="1266" name="Google Shape;1266;p36"/>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6"/>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6"/>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Handling Lab &amp; Test Environments</a:t>
            </a:r>
            <a:endParaRPr b="0" i="0" sz="2200" u="none" cap="none" strike="noStrike">
              <a:solidFill>
                <a:schemeClr val="dk1"/>
              </a:solidFill>
              <a:latin typeface="Calibri"/>
              <a:ea typeface="Calibri"/>
              <a:cs typeface="Calibri"/>
              <a:sym typeface="Calibri"/>
            </a:endParaRPr>
          </a:p>
        </p:txBody>
      </p:sp>
      <p:sp>
        <p:nvSpPr>
          <p:cNvPr id="1269" name="Google Shape;1269;p36"/>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6"/>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36/40</a:t>
            </a:r>
            <a:endParaRPr b="0" i="0" sz="800" u="none" cap="none" strike="noStrike">
              <a:solidFill>
                <a:schemeClr val="dk1"/>
              </a:solidFill>
              <a:latin typeface="Calibri"/>
              <a:ea typeface="Calibri"/>
              <a:cs typeface="Calibri"/>
              <a:sym typeface="Calibri"/>
            </a:endParaRPr>
          </a:p>
        </p:txBody>
      </p:sp>
      <p:cxnSp>
        <p:nvCxnSpPr>
          <p:cNvPr id="1271" name="Google Shape;1271;p36"/>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1272" name="Google Shape;1272;p36"/>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1273" name="Google Shape;1273;p36"/>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6"/>
          <p:cNvSpPr/>
          <p:nvPr/>
        </p:nvSpPr>
        <p:spPr>
          <a:xfrm>
            <a:off x="1216125" y="724486"/>
            <a:ext cx="2377500" cy="2469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6"/>
          <p:cNvSpPr/>
          <p:nvPr/>
        </p:nvSpPr>
        <p:spPr>
          <a:xfrm>
            <a:off x="1216125" y="724486"/>
            <a:ext cx="23775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DevOps</a:t>
            </a:r>
            <a:endParaRPr b="0" i="0" sz="1000" u="none" cap="none" strike="noStrike">
              <a:solidFill>
                <a:schemeClr val="dk1"/>
              </a:solidFill>
              <a:latin typeface="Calibri"/>
              <a:ea typeface="Calibri"/>
              <a:cs typeface="Calibri"/>
              <a:sym typeface="Calibri"/>
            </a:endParaRPr>
          </a:p>
        </p:txBody>
      </p:sp>
      <p:sp>
        <p:nvSpPr>
          <p:cNvPr id="1276" name="Google Shape;1276;p36"/>
          <p:cNvSpPr/>
          <p:nvPr/>
        </p:nvSpPr>
        <p:spPr>
          <a:xfrm>
            <a:off x="347475" y="1019188"/>
            <a:ext cx="4114800" cy="37176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6"/>
          <p:cNvSpPr/>
          <p:nvPr/>
        </p:nvSpPr>
        <p:spPr>
          <a:xfrm>
            <a:off x="548650" y="1174800"/>
            <a:ext cx="3712500" cy="35619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Dedicated Vulnerable Lab Network</a:t>
            </a:r>
            <a:r>
              <a:rPr b="0" i="0" lang="en-US" sz="1150" u="none" cap="none" strike="noStrike">
                <a:solidFill>
                  <a:srgbClr val="334155"/>
                </a:solidFill>
                <a:latin typeface="Merriweather"/>
                <a:ea typeface="Merriweather"/>
                <a:cs typeface="Merriweather"/>
                <a:sym typeface="Merriweather"/>
              </a:rPr>
              <a:t> — Isolated Docker network with intentionally vulnerable machines (DVWA, Metasploitable2).</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Safe Scanning Space </a:t>
            </a:r>
            <a:r>
              <a:rPr b="0" i="0" lang="en-US" sz="1150" u="none" cap="none" strike="noStrike">
                <a:solidFill>
                  <a:srgbClr val="334155"/>
                </a:solidFill>
                <a:latin typeface="Merriweather"/>
                <a:ea typeface="Merriweather"/>
                <a:cs typeface="Merriweather"/>
                <a:sym typeface="Merriweather"/>
              </a:rPr>
              <a:t>— All security scans run inside the lab; zero risk of accidental external targeting.</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Protected Network Separation</a:t>
            </a:r>
            <a:r>
              <a:rPr b="0" i="0" lang="en-US" sz="1150" u="none" cap="none" strike="noStrike">
                <a:solidFill>
                  <a:srgbClr val="334155"/>
                </a:solidFill>
                <a:latin typeface="Merriweather"/>
                <a:ea typeface="Merriweather"/>
                <a:cs typeface="Merriweather"/>
                <a:sym typeface="Merriweather"/>
              </a:rPr>
              <a:t> — Scans cannot leave the lab subnet; firewall rules enforced at Docker level.</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Automated Lab Provisioning</a:t>
            </a:r>
            <a:r>
              <a:rPr b="0" i="0" lang="en-US" sz="1150" u="none" cap="none" strike="noStrike">
                <a:solidFill>
                  <a:srgbClr val="334155"/>
                </a:solidFill>
                <a:latin typeface="Merriweather"/>
                <a:ea typeface="Merriweather"/>
                <a:cs typeface="Merriweather"/>
                <a:sym typeface="Merriweather"/>
              </a:rPr>
              <a:t> — Bash scripts spin up the full lab in minutes: 'bash setup_lab.sh target'.</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Realistic Scenarios</a:t>
            </a:r>
            <a:r>
              <a:rPr b="0" i="0" lang="en-US" sz="1150" u="none" cap="none" strike="noStrike">
                <a:solidFill>
                  <a:srgbClr val="334155"/>
                </a:solidFill>
                <a:latin typeface="Merriweather"/>
                <a:ea typeface="Merriweather"/>
                <a:cs typeface="Merriweather"/>
                <a:sym typeface="Merriweather"/>
              </a:rPr>
              <a:t> — Lab replicates common SME server configurations for authentic test results.</a:t>
            </a:r>
            <a:endParaRPr b="0" i="0" sz="1150" u="none" cap="none" strike="noStrike">
              <a:solidFill>
                <a:schemeClr val="dk1"/>
              </a:solidFill>
              <a:latin typeface="Calibri"/>
              <a:ea typeface="Calibri"/>
              <a:cs typeface="Calibri"/>
              <a:sym typeface="Calibri"/>
            </a:endParaRPr>
          </a:p>
        </p:txBody>
      </p:sp>
      <p:sp>
        <p:nvSpPr>
          <p:cNvPr id="1278" name="Google Shape;1278;p36"/>
          <p:cNvSpPr/>
          <p:nvPr/>
        </p:nvSpPr>
        <p:spPr>
          <a:xfrm>
            <a:off x="4681725" y="1035450"/>
            <a:ext cx="4114800" cy="3717600"/>
          </a:xfrm>
          <a:prstGeom prst="rect">
            <a:avLst/>
          </a:prstGeom>
          <a:solidFill>
            <a:srgbClr val="F8FAFC"/>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6"/>
          <p:cNvSpPr/>
          <p:nvPr/>
        </p:nvSpPr>
        <p:spPr>
          <a:xfrm>
            <a:off x="4681725" y="1088557"/>
            <a:ext cx="4114800" cy="26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Merriweather"/>
              <a:buNone/>
            </a:pPr>
            <a:r>
              <a:rPr b="1" i="1" lang="en-US" sz="1000" u="none" cap="none" strike="noStrike">
                <a:solidFill>
                  <a:srgbClr val="64748B"/>
                </a:solidFill>
                <a:latin typeface="Merriweather"/>
                <a:ea typeface="Merriweather"/>
                <a:cs typeface="Merriweather"/>
                <a:sym typeface="Merriweather"/>
              </a:rPr>
              <a:t>Docker Isolated Lab Network — 172.20.0.0/24</a:t>
            </a:r>
            <a:endParaRPr b="1" i="0" sz="1000" u="none" cap="none" strike="noStrike">
              <a:solidFill>
                <a:schemeClr val="dk1"/>
              </a:solidFill>
              <a:latin typeface="Calibri"/>
              <a:ea typeface="Calibri"/>
              <a:cs typeface="Calibri"/>
              <a:sym typeface="Calibri"/>
            </a:endParaRPr>
          </a:p>
        </p:txBody>
      </p:sp>
      <p:cxnSp>
        <p:nvCxnSpPr>
          <p:cNvPr id="1280" name="Google Shape;1280;p36"/>
          <p:cNvCxnSpPr/>
          <p:nvPr/>
        </p:nvCxnSpPr>
        <p:spPr>
          <a:xfrm>
            <a:off x="4681725" y="1389496"/>
            <a:ext cx="4114800" cy="0"/>
          </a:xfrm>
          <a:prstGeom prst="straightConnector1">
            <a:avLst/>
          </a:prstGeom>
          <a:noFill/>
          <a:ln cap="flat" cmpd="sng" w="12700">
            <a:solidFill>
              <a:srgbClr val="BAE6FD"/>
            </a:solidFill>
            <a:prstDash val="dash"/>
            <a:round/>
            <a:headEnd len="sm" w="sm" type="none"/>
            <a:tailEnd len="sm" w="sm" type="none"/>
          </a:ln>
        </p:spPr>
      </p:cxnSp>
      <p:sp>
        <p:nvSpPr>
          <p:cNvPr id="1281" name="Google Shape;1281;p36"/>
          <p:cNvSpPr/>
          <p:nvPr/>
        </p:nvSpPr>
        <p:spPr>
          <a:xfrm>
            <a:off x="4864604" y="1478008"/>
            <a:ext cx="1737300" cy="885000"/>
          </a:xfrm>
          <a:prstGeom prst="rect">
            <a:avLst/>
          </a:prstGeom>
          <a:solidFill>
            <a:srgbClr val="FEE2E2"/>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6"/>
          <p:cNvSpPr/>
          <p:nvPr/>
        </p:nvSpPr>
        <p:spPr>
          <a:xfrm>
            <a:off x="4864604" y="1478008"/>
            <a:ext cx="1737300" cy="8850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900"/>
              <a:buFont typeface="Merriweather"/>
              <a:buNone/>
            </a:pPr>
            <a:r>
              <a:rPr b="1" i="0" lang="en-US" sz="1000" u="none" cap="none" strike="noStrike">
                <a:solidFill>
                  <a:srgbClr val="0F172A"/>
                </a:solidFill>
                <a:latin typeface="Merriweather"/>
                <a:ea typeface="Merriweather"/>
                <a:cs typeface="Merriweather"/>
                <a:sym typeface="Merriweather"/>
              </a:rPr>
              <a:t>DVWA</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900"/>
              <a:buFont typeface="Merriweather"/>
              <a:buNone/>
            </a:pPr>
            <a:r>
              <a:rPr b="1" i="0" lang="en-US" sz="1000" u="none" cap="none" strike="noStrike">
                <a:solidFill>
                  <a:srgbClr val="0F172A"/>
                </a:solidFill>
                <a:latin typeface="Merriweather"/>
                <a:ea typeface="Merriweather"/>
                <a:cs typeface="Merriweather"/>
                <a:sym typeface="Merriweather"/>
              </a:rPr>
              <a:t>(Web Vulns)</a:t>
            </a:r>
            <a:endParaRPr b="0" i="0" sz="1000" u="none" cap="none" strike="noStrike">
              <a:solidFill>
                <a:schemeClr val="dk1"/>
              </a:solidFill>
              <a:latin typeface="Calibri"/>
              <a:ea typeface="Calibri"/>
              <a:cs typeface="Calibri"/>
              <a:sym typeface="Calibri"/>
            </a:endParaRPr>
          </a:p>
        </p:txBody>
      </p:sp>
      <p:sp>
        <p:nvSpPr>
          <p:cNvPr id="1283" name="Google Shape;1283;p36"/>
          <p:cNvSpPr/>
          <p:nvPr/>
        </p:nvSpPr>
        <p:spPr>
          <a:xfrm>
            <a:off x="6876274" y="1478008"/>
            <a:ext cx="1737300" cy="885000"/>
          </a:xfrm>
          <a:prstGeom prst="rect">
            <a:avLst/>
          </a:prstGeom>
          <a:solidFill>
            <a:srgbClr val="FEE2E2"/>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6"/>
          <p:cNvSpPr/>
          <p:nvPr/>
        </p:nvSpPr>
        <p:spPr>
          <a:xfrm>
            <a:off x="6876274" y="1478008"/>
            <a:ext cx="1737300" cy="8850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900"/>
              <a:buFont typeface="Merriweather"/>
              <a:buNone/>
            </a:pPr>
            <a:r>
              <a:rPr b="1" i="0" lang="en-US" sz="1000" u="none" cap="none" strike="noStrike">
                <a:solidFill>
                  <a:srgbClr val="0F172A"/>
                </a:solidFill>
                <a:latin typeface="Merriweather"/>
                <a:ea typeface="Merriweather"/>
                <a:cs typeface="Merriweather"/>
                <a:sym typeface="Merriweather"/>
              </a:rPr>
              <a:t>Metasploitable2</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900"/>
              <a:buFont typeface="Merriweather"/>
              <a:buNone/>
            </a:pPr>
            <a:r>
              <a:rPr b="1" i="0" lang="en-US" sz="1000" u="none" cap="none" strike="noStrike">
                <a:solidFill>
                  <a:srgbClr val="0F172A"/>
                </a:solidFill>
                <a:latin typeface="Merriweather"/>
                <a:ea typeface="Merriweather"/>
                <a:cs typeface="Merriweather"/>
                <a:sym typeface="Merriweather"/>
              </a:rPr>
              <a:t>(Network Vulns)</a:t>
            </a:r>
            <a:endParaRPr b="0" i="0" sz="1000" u="none" cap="none" strike="noStrike">
              <a:solidFill>
                <a:schemeClr val="dk1"/>
              </a:solidFill>
              <a:latin typeface="Calibri"/>
              <a:ea typeface="Calibri"/>
              <a:cs typeface="Calibri"/>
              <a:sym typeface="Calibri"/>
            </a:endParaRPr>
          </a:p>
        </p:txBody>
      </p:sp>
      <p:sp>
        <p:nvSpPr>
          <p:cNvPr id="1285" name="Google Shape;1285;p36"/>
          <p:cNvSpPr/>
          <p:nvPr/>
        </p:nvSpPr>
        <p:spPr>
          <a:xfrm>
            <a:off x="4864604" y="2982703"/>
            <a:ext cx="1737300" cy="885000"/>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6"/>
          <p:cNvSpPr/>
          <p:nvPr/>
        </p:nvSpPr>
        <p:spPr>
          <a:xfrm>
            <a:off x="4864604" y="2982703"/>
            <a:ext cx="1737300" cy="8850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900"/>
              <a:buFont typeface="Merriweather"/>
              <a:buNone/>
            </a:pPr>
            <a:r>
              <a:rPr b="1" i="0" lang="en-US" sz="1000" u="none" cap="none" strike="noStrike">
                <a:solidFill>
                  <a:srgbClr val="0F172A"/>
                </a:solidFill>
                <a:latin typeface="Merriweather"/>
                <a:ea typeface="Merriweather"/>
                <a:cs typeface="Merriweather"/>
                <a:sym typeface="Merriweather"/>
              </a:rPr>
              <a:t>Found 404</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900"/>
              <a:buFont typeface="Merriweather"/>
              <a:buNone/>
            </a:pPr>
            <a:r>
              <a:rPr b="1" i="0" lang="en-US" sz="1000" u="none" cap="none" strike="noStrike">
                <a:solidFill>
                  <a:srgbClr val="0F172A"/>
                </a:solidFill>
                <a:latin typeface="Merriweather"/>
                <a:ea typeface="Merriweather"/>
                <a:cs typeface="Merriweather"/>
                <a:sym typeface="Merriweather"/>
              </a:rPr>
              <a:t>Scanner</a:t>
            </a:r>
            <a:endParaRPr b="0" i="0" sz="1000" u="none" cap="none" strike="noStrike">
              <a:solidFill>
                <a:schemeClr val="dk1"/>
              </a:solidFill>
              <a:latin typeface="Calibri"/>
              <a:ea typeface="Calibri"/>
              <a:cs typeface="Calibri"/>
              <a:sym typeface="Calibri"/>
            </a:endParaRPr>
          </a:p>
        </p:txBody>
      </p:sp>
      <p:sp>
        <p:nvSpPr>
          <p:cNvPr id="1287" name="Google Shape;1287;p36"/>
          <p:cNvSpPr/>
          <p:nvPr/>
        </p:nvSpPr>
        <p:spPr>
          <a:xfrm>
            <a:off x="6876274" y="2982703"/>
            <a:ext cx="1737300" cy="88500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6"/>
          <p:cNvSpPr/>
          <p:nvPr/>
        </p:nvSpPr>
        <p:spPr>
          <a:xfrm>
            <a:off x="6876274" y="2982703"/>
            <a:ext cx="1737300" cy="8850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900"/>
              <a:buFont typeface="Merriweather"/>
              <a:buNone/>
            </a:pPr>
            <a:r>
              <a:rPr b="1" i="0" lang="en-US" sz="1000" u="none" cap="none" strike="noStrike">
                <a:solidFill>
                  <a:srgbClr val="0F172A"/>
                </a:solidFill>
                <a:latin typeface="Merriweather"/>
                <a:ea typeface="Merriweather"/>
                <a:cs typeface="Merriweather"/>
                <a:sym typeface="Merriweather"/>
              </a:rPr>
              <a:t>Lab Controller</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900"/>
              <a:buFont typeface="Merriweather"/>
              <a:buNone/>
            </a:pPr>
            <a:r>
              <a:rPr b="1" i="0" lang="en-US" sz="1000" u="none" cap="none" strike="noStrike">
                <a:solidFill>
                  <a:srgbClr val="0F172A"/>
                </a:solidFill>
                <a:latin typeface="Merriweather"/>
                <a:ea typeface="Merriweather"/>
                <a:cs typeface="Merriweather"/>
                <a:sym typeface="Merriweather"/>
              </a:rPr>
              <a:t>(Bash Scripts)</a:t>
            </a:r>
            <a:endParaRPr b="0" i="0" sz="1000" u="none" cap="none" strike="noStrike">
              <a:solidFill>
                <a:schemeClr val="dk1"/>
              </a:solidFill>
              <a:latin typeface="Calibri"/>
              <a:ea typeface="Calibri"/>
              <a:cs typeface="Calibri"/>
              <a:sym typeface="Calibri"/>
            </a:endParaRPr>
          </a:p>
        </p:txBody>
      </p:sp>
      <p:cxnSp>
        <p:nvCxnSpPr>
          <p:cNvPr id="1289" name="Google Shape;1289;p36"/>
          <p:cNvCxnSpPr/>
          <p:nvPr/>
        </p:nvCxnSpPr>
        <p:spPr>
          <a:xfrm>
            <a:off x="5715005" y="2157428"/>
            <a:ext cx="0" cy="619500"/>
          </a:xfrm>
          <a:prstGeom prst="straightConnector1">
            <a:avLst/>
          </a:prstGeom>
          <a:noFill/>
          <a:ln cap="flat" cmpd="sng" w="19050">
            <a:solidFill>
              <a:srgbClr val="06B6D4"/>
            </a:solidFill>
            <a:prstDash val="dash"/>
            <a:round/>
            <a:headEnd len="sm" w="sm" type="none"/>
            <a:tailEnd len="sm" w="sm" type="none"/>
          </a:ln>
        </p:spPr>
      </p:cxnSp>
      <p:cxnSp>
        <p:nvCxnSpPr>
          <p:cNvPr id="1290" name="Google Shape;1290;p36"/>
          <p:cNvCxnSpPr/>
          <p:nvPr/>
        </p:nvCxnSpPr>
        <p:spPr>
          <a:xfrm>
            <a:off x="7726675" y="2232640"/>
            <a:ext cx="0" cy="619800"/>
          </a:xfrm>
          <a:prstGeom prst="straightConnector1">
            <a:avLst/>
          </a:prstGeom>
          <a:noFill/>
          <a:ln cap="flat" cmpd="sng" w="19050">
            <a:solidFill>
              <a:srgbClr val="06B6D4"/>
            </a:solidFill>
            <a:prstDash val="dash"/>
            <a:round/>
            <a:headEnd len="sm" w="sm" type="none"/>
            <a:tailEnd len="sm" w="sm" type="none"/>
          </a:ln>
        </p:spPr>
      </p:cxnSp>
      <p:sp>
        <p:nvSpPr>
          <p:cNvPr id="1291" name="Google Shape;1291;p36"/>
          <p:cNvSpPr/>
          <p:nvPr/>
        </p:nvSpPr>
        <p:spPr>
          <a:xfrm>
            <a:off x="4681725" y="4664422"/>
            <a:ext cx="4114800" cy="885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6"/>
          <p:cNvSpPr/>
          <p:nvPr/>
        </p:nvSpPr>
        <p:spPr>
          <a:xfrm>
            <a:off x="4681735" y="4365778"/>
            <a:ext cx="4114800" cy="33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850"/>
              <a:buFont typeface="Merriweather"/>
              <a:buNone/>
            </a:pPr>
            <a:r>
              <a:rPr b="1" i="0" lang="en-US" sz="950" u="none" cap="none" strike="noStrike">
                <a:solidFill>
                  <a:srgbClr val="DC2626"/>
                </a:solidFill>
                <a:latin typeface="Merriweather"/>
                <a:ea typeface="Merriweather"/>
                <a:cs typeface="Merriweather"/>
                <a:sym typeface="Merriweather"/>
              </a:rPr>
              <a:t>Firewall — No external egress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A5C4"/>
        </a:solidFill>
      </p:bgPr>
    </p:bg>
    <p:spTree>
      <p:nvGrpSpPr>
        <p:cNvPr id="1297" name="Shape 1297"/>
        <p:cNvGrpSpPr/>
        <p:nvPr/>
      </p:nvGrpSpPr>
      <p:grpSpPr>
        <a:xfrm>
          <a:off x="0" y="0"/>
          <a:ext cx="0" cy="0"/>
          <a:chOff x="0" y="0"/>
          <a:chExt cx="0" cy="0"/>
        </a:xfrm>
      </p:grpSpPr>
      <p:sp>
        <p:nvSpPr>
          <p:cNvPr id="1298" name="Google Shape;1298;g3d2d178f3e5_5_49"/>
          <p:cNvSpPr txBox="1"/>
          <p:nvPr/>
        </p:nvSpPr>
        <p:spPr>
          <a:xfrm>
            <a:off x="0" y="2233200"/>
            <a:ext cx="91440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500">
                <a:solidFill>
                  <a:schemeClr val="lt1"/>
                </a:solidFill>
                <a:latin typeface="Merriweather"/>
                <a:ea typeface="Merriweather"/>
                <a:cs typeface="Merriweather"/>
                <a:sym typeface="Merriweather"/>
              </a:rPr>
              <a:t>QA &amp; Testing</a:t>
            </a:r>
            <a:endParaRPr sz="3500">
              <a:solidFill>
                <a:schemeClr val="lt1"/>
              </a:solidFill>
              <a:latin typeface="Merriweather"/>
              <a:ea typeface="Merriweather"/>
              <a:cs typeface="Merriweather"/>
              <a:sym typeface="Merriweathe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3" name="Shape 1303"/>
        <p:cNvGrpSpPr/>
        <p:nvPr/>
      </p:nvGrpSpPr>
      <p:grpSpPr>
        <a:xfrm>
          <a:off x="0" y="0"/>
          <a:ext cx="0" cy="0"/>
          <a:chOff x="0" y="0"/>
          <a:chExt cx="0" cy="0"/>
        </a:xfrm>
      </p:grpSpPr>
      <p:sp>
        <p:nvSpPr>
          <p:cNvPr id="1304" name="Google Shape;1304;p37"/>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7"/>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7"/>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Continuous Integration &amp; Backend API Testing</a:t>
            </a:r>
            <a:endParaRPr b="0" i="0" sz="2200" u="none" cap="none" strike="noStrike">
              <a:solidFill>
                <a:schemeClr val="dk1"/>
              </a:solidFill>
              <a:latin typeface="Calibri"/>
              <a:ea typeface="Calibri"/>
              <a:cs typeface="Calibri"/>
              <a:sym typeface="Calibri"/>
            </a:endParaRPr>
          </a:p>
        </p:txBody>
      </p:sp>
      <p:sp>
        <p:nvSpPr>
          <p:cNvPr id="1307" name="Google Shape;1307;p37"/>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7"/>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37/40</a:t>
            </a:r>
            <a:endParaRPr b="0" i="0" sz="800" u="none" cap="none" strike="noStrike">
              <a:solidFill>
                <a:schemeClr val="dk1"/>
              </a:solidFill>
              <a:latin typeface="Calibri"/>
              <a:ea typeface="Calibri"/>
              <a:cs typeface="Calibri"/>
              <a:sym typeface="Calibri"/>
            </a:endParaRPr>
          </a:p>
        </p:txBody>
      </p:sp>
      <p:cxnSp>
        <p:nvCxnSpPr>
          <p:cNvPr id="1309" name="Google Shape;1309;p37"/>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1310" name="Google Shape;1310;p37"/>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1311" name="Google Shape;1311;p37"/>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7"/>
          <p:cNvSpPr/>
          <p:nvPr/>
        </p:nvSpPr>
        <p:spPr>
          <a:xfrm>
            <a:off x="1248172" y="726958"/>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7"/>
          <p:cNvSpPr/>
          <p:nvPr/>
        </p:nvSpPr>
        <p:spPr>
          <a:xfrm>
            <a:off x="1248172" y="726958"/>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QA &amp; Testing</a:t>
            </a:r>
            <a:endParaRPr b="0" i="0" sz="1000" u="none" cap="none" strike="noStrike">
              <a:solidFill>
                <a:schemeClr val="dk1"/>
              </a:solidFill>
              <a:latin typeface="Calibri"/>
              <a:ea typeface="Calibri"/>
              <a:cs typeface="Calibri"/>
              <a:sym typeface="Calibri"/>
            </a:endParaRPr>
          </a:p>
        </p:txBody>
      </p:sp>
      <p:sp>
        <p:nvSpPr>
          <p:cNvPr id="1314" name="Google Shape;1314;p37"/>
          <p:cNvSpPr/>
          <p:nvPr/>
        </p:nvSpPr>
        <p:spPr>
          <a:xfrm>
            <a:off x="411475" y="969287"/>
            <a:ext cx="4050900" cy="3813000"/>
          </a:xfrm>
          <a:prstGeom prst="rect">
            <a:avLst/>
          </a:prstGeom>
          <a:solidFill>
            <a:srgbClr val="F0FBFF"/>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7"/>
          <p:cNvSpPr/>
          <p:nvPr/>
        </p:nvSpPr>
        <p:spPr>
          <a:xfrm>
            <a:off x="411475" y="1120800"/>
            <a:ext cx="4050900" cy="3670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GitHub Actions CI</a:t>
            </a:r>
            <a:r>
              <a:rPr b="0" i="0" lang="en-US" sz="1150" u="none" cap="none" strike="noStrike">
                <a:solidFill>
                  <a:srgbClr val="334155"/>
                </a:solidFill>
                <a:latin typeface="Merriweather"/>
                <a:ea typeface="Merriweather"/>
                <a:cs typeface="Merriweather"/>
                <a:sym typeface="Merriweather"/>
              </a:rPr>
              <a:t> — Automated pipeline triggered on every push and pull request to main branch.</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Pytest Framework</a:t>
            </a:r>
            <a:r>
              <a:rPr b="0" i="0" lang="en-US" sz="1150" u="none" cap="none" strike="noStrike">
                <a:solidFill>
                  <a:srgbClr val="334155"/>
                </a:solidFill>
                <a:latin typeface="Merriweather"/>
                <a:ea typeface="Merriweather"/>
                <a:cs typeface="Merriweather"/>
                <a:sym typeface="Merriweather"/>
              </a:rPr>
              <a:t> — 47 unit tests covering all API endpoints, risk engine functions, and scanner parsers.</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httpx for API Integration Tests</a:t>
            </a:r>
            <a:r>
              <a:rPr b="0" i="0" lang="en-US" sz="1150" u="none" cap="none" strike="noStrike">
                <a:solidFill>
                  <a:srgbClr val="334155"/>
                </a:solidFill>
                <a:latin typeface="Merriweather"/>
                <a:ea typeface="Merriweather"/>
                <a:cs typeface="Merriweather"/>
                <a:sym typeface="Merriweather"/>
              </a:rPr>
              <a:t> — Async HTTP client simulates real client calls against a test FastAPI instance.</a:t>
            </a:r>
            <a:endParaRPr b="0" i="0" sz="1150" u="none" cap="none" strike="noStrike">
              <a:solidFill>
                <a:schemeClr val="dk1"/>
              </a:solidFill>
              <a:latin typeface="Calibri"/>
              <a:ea typeface="Calibri"/>
              <a:cs typeface="Calibri"/>
              <a:sym typeface="Calibri"/>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Test Database</a:t>
            </a:r>
            <a:r>
              <a:rPr b="0" i="0" lang="en-US" sz="1150" u="none" cap="none" strike="noStrike">
                <a:solidFill>
                  <a:srgbClr val="334155"/>
                </a:solidFill>
                <a:latin typeface="Merriweather"/>
                <a:ea typeface="Merriweather"/>
                <a:cs typeface="Merriweather"/>
                <a:sym typeface="Merriweather"/>
              </a:rPr>
              <a:t> — Separate SQLite in-memory DB used for tests; never touches production PostgreSQL.</a:t>
            </a:r>
            <a:endParaRPr sz="1150">
              <a:solidFill>
                <a:srgbClr val="334155"/>
              </a:solidFill>
              <a:latin typeface="Merriweather"/>
              <a:ea typeface="Merriweather"/>
              <a:cs typeface="Merriweather"/>
              <a:sym typeface="Merriweather"/>
            </a:endParaRPr>
          </a:p>
          <a:p>
            <a:pPr indent="-342900" lvl="0" marL="342900" marR="0" rtl="0" algn="l">
              <a:lnSpc>
                <a:spcPct val="115000"/>
              </a:lnSpc>
              <a:spcBef>
                <a:spcPts val="50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Coverage Reports</a:t>
            </a:r>
            <a:r>
              <a:rPr b="0" i="0" lang="en-US" sz="1150" u="none" cap="none" strike="noStrike">
                <a:solidFill>
                  <a:srgbClr val="334155"/>
                </a:solidFill>
                <a:latin typeface="Merriweather"/>
                <a:ea typeface="Merriweather"/>
                <a:cs typeface="Merriweather"/>
                <a:sym typeface="Merriweather"/>
              </a:rPr>
              <a:t> — pytest-cov enforces minimum 80% code coverage; PRs with lower coverage are blocked.</a:t>
            </a:r>
            <a:endParaRPr b="0" i="0" sz="1150" u="none" cap="none" strike="noStrike">
              <a:solidFill>
                <a:schemeClr val="dk1"/>
              </a:solidFill>
              <a:latin typeface="Calibri"/>
              <a:ea typeface="Calibri"/>
              <a:cs typeface="Calibri"/>
              <a:sym typeface="Calibri"/>
            </a:endParaRPr>
          </a:p>
        </p:txBody>
      </p:sp>
      <p:sp>
        <p:nvSpPr>
          <p:cNvPr id="1316" name="Google Shape;1316;p37"/>
          <p:cNvSpPr/>
          <p:nvPr/>
        </p:nvSpPr>
        <p:spPr>
          <a:xfrm>
            <a:off x="5029200" y="914400"/>
            <a:ext cx="3749040" cy="621792"/>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7"/>
          <p:cNvSpPr/>
          <p:nvPr/>
        </p:nvSpPr>
        <p:spPr>
          <a:xfrm>
            <a:off x="5029200" y="914400"/>
            <a:ext cx="3749040" cy="621792"/>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git push</a:t>
            </a:r>
            <a:endParaRPr b="0" i="0" sz="1100" u="none" cap="none" strike="noStrike">
              <a:solidFill>
                <a:schemeClr val="dk1"/>
              </a:solidFill>
              <a:latin typeface="Calibri"/>
              <a:ea typeface="Calibri"/>
              <a:cs typeface="Calibri"/>
              <a:sym typeface="Calibri"/>
            </a:endParaRPr>
          </a:p>
        </p:txBody>
      </p:sp>
      <p:cxnSp>
        <p:nvCxnSpPr>
          <p:cNvPr id="1318" name="Google Shape;1318;p37"/>
          <p:cNvCxnSpPr/>
          <p:nvPr/>
        </p:nvCxnSpPr>
        <p:spPr>
          <a:xfrm>
            <a:off x="6903720" y="1536192"/>
            <a:ext cx="0" cy="182880"/>
          </a:xfrm>
          <a:prstGeom prst="straightConnector1">
            <a:avLst/>
          </a:prstGeom>
          <a:noFill/>
          <a:ln cap="flat" cmpd="sng" w="25400">
            <a:solidFill>
              <a:srgbClr val="06B6D4"/>
            </a:solidFill>
            <a:prstDash val="solid"/>
            <a:round/>
            <a:headEnd len="sm" w="sm" type="none"/>
            <a:tailEnd len="med" w="med" type="stealth"/>
          </a:ln>
        </p:spPr>
      </p:cxnSp>
      <p:sp>
        <p:nvSpPr>
          <p:cNvPr id="1319" name="Google Shape;1319;p37"/>
          <p:cNvSpPr/>
          <p:nvPr/>
        </p:nvSpPr>
        <p:spPr>
          <a:xfrm>
            <a:off x="5029200" y="1691640"/>
            <a:ext cx="3749040" cy="621792"/>
          </a:xfrm>
          <a:prstGeom prst="rect">
            <a:avLst/>
          </a:prstGeom>
          <a:solidFill>
            <a:srgbClr val="1E293B"/>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7"/>
          <p:cNvSpPr/>
          <p:nvPr/>
        </p:nvSpPr>
        <p:spPr>
          <a:xfrm>
            <a:off x="5029200" y="1691640"/>
            <a:ext cx="3749040" cy="621792"/>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FFFFFF"/>
              </a:buClr>
              <a:buSzPts val="1000"/>
              <a:buFont typeface="Merriweather"/>
              <a:buNone/>
            </a:pPr>
            <a:r>
              <a:rPr b="1" i="0" lang="en-US" sz="1100" u="none" cap="none" strike="noStrike">
                <a:solidFill>
                  <a:srgbClr val="FFFFFF"/>
                </a:solidFill>
                <a:latin typeface="Merriweather"/>
                <a:ea typeface="Merriweather"/>
                <a:cs typeface="Merriweather"/>
                <a:sym typeface="Merriweather"/>
              </a:rPr>
              <a:t>GitHub</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000"/>
              <a:buFont typeface="Merriweather"/>
              <a:buNone/>
            </a:pPr>
            <a:r>
              <a:rPr b="1" i="0" lang="en-US" sz="1100" u="none" cap="none" strike="noStrike">
                <a:solidFill>
                  <a:srgbClr val="FFFFFF"/>
                </a:solidFill>
                <a:latin typeface="Merriweather"/>
                <a:ea typeface="Merriweather"/>
                <a:cs typeface="Merriweather"/>
                <a:sym typeface="Merriweather"/>
              </a:rPr>
              <a:t>Actions</a:t>
            </a:r>
            <a:endParaRPr b="0" i="0" sz="1100" u="none" cap="none" strike="noStrike">
              <a:solidFill>
                <a:schemeClr val="dk1"/>
              </a:solidFill>
              <a:latin typeface="Calibri"/>
              <a:ea typeface="Calibri"/>
              <a:cs typeface="Calibri"/>
              <a:sym typeface="Calibri"/>
            </a:endParaRPr>
          </a:p>
        </p:txBody>
      </p:sp>
      <p:cxnSp>
        <p:nvCxnSpPr>
          <p:cNvPr id="1321" name="Google Shape;1321;p37"/>
          <p:cNvCxnSpPr/>
          <p:nvPr/>
        </p:nvCxnSpPr>
        <p:spPr>
          <a:xfrm>
            <a:off x="6903720" y="2313432"/>
            <a:ext cx="0" cy="182880"/>
          </a:xfrm>
          <a:prstGeom prst="straightConnector1">
            <a:avLst/>
          </a:prstGeom>
          <a:noFill/>
          <a:ln cap="flat" cmpd="sng" w="25400">
            <a:solidFill>
              <a:srgbClr val="06B6D4"/>
            </a:solidFill>
            <a:prstDash val="solid"/>
            <a:round/>
            <a:headEnd len="sm" w="sm" type="none"/>
            <a:tailEnd len="med" w="med" type="stealth"/>
          </a:ln>
        </p:spPr>
      </p:cxnSp>
      <p:sp>
        <p:nvSpPr>
          <p:cNvPr id="1322" name="Google Shape;1322;p37"/>
          <p:cNvSpPr/>
          <p:nvPr/>
        </p:nvSpPr>
        <p:spPr>
          <a:xfrm>
            <a:off x="5029200" y="2468880"/>
            <a:ext cx="3749040" cy="621792"/>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7"/>
          <p:cNvSpPr/>
          <p:nvPr/>
        </p:nvSpPr>
        <p:spPr>
          <a:xfrm>
            <a:off x="5029200" y="2468880"/>
            <a:ext cx="3749040" cy="621792"/>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pytest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(47 tests)</a:t>
            </a:r>
            <a:endParaRPr b="0" i="0" sz="1100" u="none" cap="none" strike="noStrike">
              <a:solidFill>
                <a:schemeClr val="dk1"/>
              </a:solidFill>
              <a:latin typeface="Calibri"/>
              <a:ea typeface="Calibri"/>
              <a:cs typeface="Calibri"/>
              <a:sym typeface="Calibri"/>
            </a:endParaRPr>
          </a:p>
        </p:txBody>
      </p:sp>
      <p:cxnSp>
        <p:nvCxnSpPr>
          <p:cNvPr id="1324" name="Google Shape;1324;p37"/>
          <p:cNvCxnSpPr/>
          <p:nvPr/>
        </p:nvCxnSpPr>
        <p:spPr>
          <a:xfrm>
            <a:off x="6903720" y="3090672"/>
            <a:ext cx="0" cy="182880"/>
          </a:xfrm>
          <a:prstGeom prst="straightConnector1">
            <a:avLst/>
          </a:prstGeom>
          <a:noFill/>
          <a:ln cap="flat" cmpd="sng" w="25400">
            <a:solidFill>
              <a:srgbClr val="06B6D4"/>
            </a:solidFill>
            <a:prstDash val="solid"/>
            <a:round/>
            <a:headEnd len="sm" w="sm" type="none"/>
            <a:tailEnd len="med" w="med" type="stealth"/>
          </a:ln>
        </p:spPr>
      </p:cxnSp>
      <p:sp>
        <p:nvSpPr>
          <p:cNvPr id="1325" name="Google Shape;1325;p37"/>
          <p:cNvSpPr/>
          <p:nvPr/>
        </p:nvSpPr>
        <p:spPr>
          <a:xfrm>
            <a:off x="5029200" y="3246120"/>
            <a:ext cx="3749040" cy="621792"/>
          </a:xfrm>
          <a:prstGeom prst="rect">
            <a:avLst/>
          </a:prstGeom>
          <a:solidFill>
            <a:srgbClr val="FEF3C7"/>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7"/>
          <p:cNvSpPr/>
          <p:nvPr/>
        </p:nvSpPr>
        <p:spPr>
          <a:xfrm>
            <a:off x="5029200" y="3246120"/>
            <a:ext cx="3749040" cy="621792"/>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Coverage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Report</a:t>
            </a:r>
            <a:endParaRPr b="0" i="0" sz="1100" u="none" cap="none" strike="noStrike">
              <a:solidFill>
                <a:schemeClr val="dk1"/>
              </a:solidFill>
              <a:latin typeface="Calibri"/>
              <a:ea typeface="Calibri"/>
              <a:cs typeface="Calibri"/>
              <a:sym typeface="Calibri"/>
            </a:endParaRPr>
          </a:p>
        </p:txBody>
      </p:sp>
      <p:cxnSp>
        <p:nvCxnSpPr>
          <p:cNvPr id="1327" name="Google Shape;1327;p37"/>
          <p:cNvCxnSpPr/>
          <p:nvPr/>
        </p:nvCxnSpPr>
        <p:spPr>
          <a:xfrm>
            <a:off x="6903720" y="3867912"/>
            <a:ext cx="0" cy="182880"/>
          </a:xfrm>
          <a:prstGeom prst="straightConnector1">
            <a:avLst/>
          </a:prstGeom>
          <a:noFill/>
          <a:ln cap="flat" cmpd="sng" w="25400">
            <a:solidFill>
              <a:srgbClr val="06B6D4"/>
            </a:solidFill>
            <a:prstDash val="solid"/>
            <a:round/>
            <a:headEnd len="sm" w="sm" type="none"/>
            <a:tailEnd len="med" w="med" type="stealth"/>
          </a:ln>
        </p:spPr>
      </p:cxnSp>
      <p:sp>
        <p:nvSpPr>
          <p:cNvPr id="1328" name="Google Shape;1328;p37"/>
          <p:cNvSpPr/>
          <p:nvPr/>
        </p:nvSpPr>
        <p:spPr>
          <a:xfrm>
            <a:off x="5029200" y="4023360"/>
            <a:ext cx="3749040" cy="621792"/>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7"/>
          <p:cNvSpPr/>
          <p:nvPr/>
        </p:nvSpPr>
        <p:spPr>
          <a:xfrm>
            <a:off x="5029200" y="4023360"/>
            <a:ext cx="3749100" cy="6219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PR</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100" u="none" cap="none" strike="noStrike">
                <a:solidFill>
                  <a:srgbClr val="0F172A"/>
                </a:solidFill>
                <a:latin typeface="Merriweather"/>
                <a:ea typeface="Merriweather"/>
                <a:cs typeface="Merriweather"/>
                <a:sym typeface="Merriweather"/>
              </a:rPr>
              <a:t>Approved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4" name="Shape 1334"/>
        <p:cNvGrpSpPr/>
        <p:nvPr/>
      </p:nvGrpSpPr>
      <p:grpSpPr>
        <a:xfrm>
          <a:off x="0" y="0"/>
          <a:ext cx="0" cy="0"/>
          <a:chOff x="0" y="0"/>
          <a:chExt cx="0" cy="0"/>
        </a:xfrm>
      </p:grpSpPr>
      <p:sp>
        <p:nvSpPr>
          <p:cNvPr id="1335" name="Google Shape;1335;p38"/>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8"/>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8"/>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Integration &amp; End-to-End Testing with Playwright</a:t>
            </a:r>
            <a:endParaRPr b="0" i="0" sz="2200" u="none" cap="none" strike="noStrike">
              <a:solidFill>
                <a:schemeClr val="dk1"/>
              </a:solidFill>
              <a:latin typeface="Calibri"/>
              <a:ea typeface="Calibri"/>
              <a:cs typeface="Calibri"/>
              <a:sym typeface="Calibri"/>
            </a:endParaRPr>
          </a:p>
        </p:txBody>
      </p:sp>
      <p:sp>
        <p:nvSpPr>
          <p:cNvPr id="1338" name="Google Shape;1338;p38"/>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8"/>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38/40</a:t>
            </a:r>
            <a:endParaRPr b="0" i="0" sz="800" u="none" cap="none" strike="noStrike">
              <a:solidFill>
                <a:schemeClr val="dk1"/>
              </a:solidFill>
              <a:latin typeface="Calibri"/>
              <a:ea typeface="Calibri"/>
              <a:cs typeface="Calibri"/>
              <a:sym typeface="Calibri"/>
            </a:endParaRPr>
          </a:p>
        </p:txBody>
      </p:sp>
      <p:cxnSp>
        <p:nvCxnSpPr>
          <p:cNvPr id="1340" name="Google Shape;1340;p38"/>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1341" name="Google Shape;1341;p38"/>
          <p:cNvSpPr/>
          <p:nvPr/>
        </p:nvSpPr>
        <p:spPr>
          <a:xfrm>
            <a:off x="347472" y="4773168"/>
            <a:ext cx="18288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1342" name="Google Shape;1342;p38"/>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8"/>
          <p:cNvSpPr/>
          <p:nvPr/>
        </p:nvSpPr>
        <p:spPr>
          <a:xfrm>
            <a:off x="1253197" y="766146"/>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8"/>
          <p:cNvSpPr/>
          <p:nvPr/>
        </p:nvSpPr>
        <p:spPr>
          <a:xfrm>
            <a:off x="1253197" y="750958"/>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QA &amp; Testing</a:t>
            </a:r>
            <a:endParaRPr b="0" i="0" sz="1000" u="none" cap="none" strike="noStrike">
              <a:solidFill>
                <a:schemeClr val="dk1"/>
              </a:solidFill>
              <a:latin typeface="Calibri"/>
              <a:ea typeface="Calibri"/>
              <a:cs typeface="Calibri"/>
              <a:sym typeface="Calibri"/>
            </a:endParaRPr>
          </a:p>
        </p:txBody>
      </p:sp>
      <p:sp>
        <p:nvSpPr>
          <p:cNvPr id="1345" name="Google Shape;1345;p38"/>
          <p:cNvSpPr/>
          <p:nvPr/>
        </p:nvSpPr>
        <p:spPr>
          <a:xfrm>
            <a:off x="530350" y="1026558"/>
            <a:ext cx="3932100" cy="3709800"/>
          </a:xfrm>
          <a:prstGeom prst="rect">
            <a:avLst/>
          </a:prstGeom>
          <a:solidFill>
            <a:srgbClr val="F0FBFF"/>
          </a:solidFill>
          <a:ln cap="flat" cmpd="sng" w="12325">
            <a:solidFill>
              <a:srgbClr val="BAE6FD"/>
            </a:solidFill>
            <a:prstDash val="solid"/>
            <a:round/>
            <a:headEnd len="sm" w="sm" type="none"/>
            <a:tailEnd len="sm" w="sm" type="none"/>
          </a:ln>
          <a:effectLst>
            <a:outerShdw blurRad="98619" rotWithShape="0" algn="bl" dir="8100000" dist="24655">
              <a:srgbClr val="000000">
                <a:alpha val="7058"/>
              </a:srgbClr>
            </a:outerShdw>
          </a:effectLst>
        </p:spPr>
        <p:txBody>
          <a:bodyPr anchorCtr="0" anchor="ctr" bIns="88750" lIns="88750" spcFirstLastPara="1" rIns="88750" wrap="square" tIns="88750">
            <a:noAutofit/>
          </a:bodyPr>
          <a:lstStyle/>
          <a:p>
            <a:pPr indent="0" lvl="0" marL="0" rtl="0" algn="l">
              <a:spcBef>
                <a:spcPts val="0"/>
              </a:spcBef>
              <a:spcAft>
                <a:spcPts val="0"/>
              </a:spcAft>
              <a:buNone/>
            </a:pPr>
            <a:r>
              <a:t/>
            </a:r>
            <a:endParaRPr sz="1358"/>
          </a:p>
        </p:txBody>
      </p:sp>
      <p:sp>
        <p:nvSpPr>
          <p:cNvPr id="1346" name="Google Shape;1346;p38"/>
          <p:cNvSpPr/>
          <p:nvPr/>
        </p:nvSpPr>
        <p:spPr>
          <a:xfrm>
            <a:off x="530350" y="1104563"/>
            <a:ext cx="3808800" cy="3570600"/>
          </a:xfrm>
          <a:prstGeom prst="rect">
            <a:avLst/>
          </a:prstGeom>
          <a:noFill/>
          <a:ln>
            <a:noFill/>
          </a:ln>
        </p:spPr>
        <p:txBody>
          <a:bodyPr anchorCtr="0" anchor="t" bIns="44350" lIns="88750" spcFirstLastPara="1" rIns="88750" wrap="square" tIns="44350">
            <a:noAutofit/>
          </a:bodyPr>
          <a:lstStyle/>
          <a:p>
            <a:pPr indent="-334980" lvl="0" marL="332837" marR="0" rtl="0" algn="l">
              <a:lnSpc>
                <a:spcPct val="115000"/>
              </a:lnSpc>
              <a:spcBef>
                <a:spcPts val="0"/>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Playwright</a:t>
            </a:r>
            <a:r>
              <a:rPr b="0" i="0" lang="en-US" sz="1150" u="none" cap="none" strike="noStrike">
                <a:solidFill>
                  <a:srgbClr val="334155"/>
                </a:solidFill>
                <a:latin typeface="Merriweather"/>
                <a:ea typeface="Merriweather"/>
                <a:cs typeface="Merriweather"/>
                <a:sym typeface="Merriweather"/>
              </a:rPr>
              <a:t> — Microsoft's headless browser automation library supporting Chromium, Firefox, and WebKit.</a:t>
            </a:r>
            <a:endParaRPr b="0" i="0" sz="1150" u="none" cap="none" strike="noStrike">
              <a:solidFill>
                <a:schemeClr val="dk1"/>
              </a:solidFill>
              <a:latin typeface="Calibri"/>
              <a:ea typeface="Calibri"/>
              <a:cs typeface="Calibri"/>
              <a:sym typeface="Calibri"/>
            </a:endParaRPr>
          </a:p>
          <a:p>
            <a:pPr indent="-334980" lvl="0" marL="332837" marR="0" rtl="0" algn="l">
              <a:lnSpc>
                <a:spcPct val="115000"/>
              </a:lnSpc>
              <a:spcBef>
                <a:spcPts val="485"/>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Simulates Real User Scenarios</a:t>
            </a:r>
            <a:r>
              <a:rPr b="0" i="0" lang="en-US" sz="1150" u="none" cap="none" strike="noStrike">
                <a:solidFill>
                  <a:srgbClr val="334155"/>
                </a:solidFill>
                <a:latin typeface="Merriweather"/>
                <a:ea typeface="Merriweather"/>
                <a:cs typeface="Merriweather"/>
                <a:sym typeface="Merriweather"/>
              </a:rPr>
              <a:t> — Login → Create Target → Launch Scan → View Results → Check Report.</a:t>
            </a:r>
            <a:endParaRPr b="0" i="0" sz="1150" u="none" cap="none" strike="noStrike">
              <a:solidFill>
                <a:schemeClr val="dk1"/>
              </a:solidFill>
              <a:latin typeface="Calibri"/>
              <a:ea typeface="Calibri"/>
              <a:cs typeface="Calibri"/>
              <a:sym typeface="Calibri"/>
            </a:endParaRPr>
          </a:p>
          <a:p>
            <a:pPr indent="-334980" lvl="0" marL="332837" marR="0" rtl="0" algn="l">
              <a:lnSpc>
                <a:spcPct val="115000"/>
              </a:lnSpc>
              <a:spcBef>
                <a:spcPts val="485"/>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Validates React UI Data Flow</a:t>
            </a:r>
            <a:r>
              <a:rPr b="0" i="0" lang="en-US" sz="1150" u="none" cap="none" strike="noStrike">
                <a:solidFill>
                  <a:srgbClr val="334155"/>
                </a:solidFill>
                <a:latin typeface="Merriweather"/>
                <a:ea typeface="Merriweather"/>
                <a:cs typeface="Merriweather"/>
                <a:sym typeface="Merriweather"/>
              </a:rPr>
              <a:t> — Ensures Zustand state updates correctly propagate to all components.</a:t>
            </a:r>
            <a:endParaRPr b="0" i="0" sz="1150" u="none" cap="none" strike="noStrike">
              <a:solidFill>
                <a:schemeClr val="dk1"/>
              </a:solidFill>
              <a:latin typeface="Calibri"/>
              <a:ea typeface="Calibri"/>
              <a:cs typeface="Calibri"/>
              <a:sym typeface="Calibri"/>
            </a:endParaRPr>
          </a:p>
          <a:p>
            <a:pPr indent="-334980" lvl="0" marL="332837" marR="0" rtl="0" algn="l">
              <a:lnSpc>
                <a:spcPct val="115000"/>
              </a:lnSpc>
              <a:spcBef>
                <a:spcPts val="485"/>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Cross-Browser Testing</a:t>
            </a:r>
            <a:r>
              <a:rPr b="0" i="0" lang="en-US" sz="1150" u="none" cap="none" strike="noStrike">
                <a:solidFill>
                  <a:srgbClr val="334155"/>
                </a:solidFill>
                <a:latin typeface="Merriweather"/>
                <a:ea typeface="Merriweather"/>
                <a:cs typeface="Merriweather"/>
                <a:sym typeface="Merriweather"/>
              </a:rPr>
              <a:t> — E2E suite runs against all three major engines to catch CSS/JS compatibility issues.</a:t>
            </a:r>
            <a:endParaRPr b="0" i="0" sz="1150" u="none" cap="none" strike="noStrike">
              <a:solidFill>
                <a:schemeClr val="dk1"/>
              </a:solidFill>
              <a:latin typeface="Calibri"/>
              <a:ea typeface="Calibri"/>
              <a:cs typeface="Calibri"/>
              <a:sym typeface="Calibri"/>
            </a:endParaRPr>
          </a:p>
          <a:p>
            <a:pPr indent="-334980" lvl="0" marL="332837" marR="0" rtl="0" algn="l">
              <a:lnSpc>
                <a:spcPct val="115000"/>
              </a:lnSpc>
              <a:spcBef>
                <a:spcPts val="485"/>
              </a:spcBef>
              <a:spcAft>
                <a:spcPts val="0"/>
              </a:spcAft>
              <a:buClr>
                <a:srgbClr val="334155"/>
              </a:buClr>
              <a:buSzPts val="1150"/>
              <a:buFont typeface="Merriweather"/>
              <a:buChar char="•"/>
            </a:pPr>
            <a:r>
              <a:rPr b="1" i="0" lang="en-US" sz="1150" u="none" cap="none" strike="noStrike">
                <a:solidFill>
                  <a:srgbClr val="334155"/>
                </a:solidFill>
                <a:latin typeface="Merriweather"/>
                <a:ea typeface="Merriweather"/>
                <a:cs typeface="Merriweather"/>
                <a:sym typeface="Merriweather"/>
              </a:rPr>
              <a:t>Screenshot on Failure</a:t>
            </a:r>
            <a:r>
              <a:rPr b="0" i="0" lang="en-US" sz="1150" u="none" cap="none" strike="noStrike">
                <a:solidFill>
                  <a:srgbClr val="334155"/>
                </a:solidFill>
                <a:latin typeface="Merriweather"/>
                <a:ea typeface="Merriweather"/>
                <a:cs typeface="Merriweather"/>
                <a:sym typeface="Merriweather"/>
              </a:rPr>
              <a:t> — Playwright automatically captures screenshots on test failure for rapid debugging.</a:t>
            </a:r>
            <a:endParaRPr b="0" i="0" sz="1150" u="none" cap="none" strike="noStrike">
              <a:solidFill>
                <a:schemeClr val="dk1"/>
              </a:solidFill>
              <a:latin typeface="Calibri"/>
              <a:ea typeface="Calibri"/>
              <a:cs typeface="Calibri"/>
              <a:sym typeface="Calibri"/>
            </a:endParaRPr>
          </a:p>
        </p:txBody>
      </p:sp>
      <p:sp>
        <p:nvSpPr>
          <p:cNvPr id="1347" name="Google Shape;1347;p38"/>
          <p:cNvSpPr/>
          <p:nvPr/>
        </p:nvSpPr>
        <p:spPr>
          <a:xfrm>
            <a:off x="4899375" y="1026625"/>
            <a:ext cx="3749100" cy="58920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8"/>
          <p:cNvSpPr/>
          <p:nvPr/>
        </p:nvSpPr>
        <p:spPr>
          <a:xfrm>
            <a:off x="4899375" y="1026625"/>
            <a:ext cx="3749100" cy="589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200" u="none" cap="none" strike="noStrike">
                <a:solidFill>
                  <a:srgbClr val="0F172A"/>
                </a:solidFill>
                <a:latin typeface="Merriweather"/>
                <a:ea typeface="Merriweather"/>
                <a:cs typeface="Merriweather"/>
                <a:sym typeface="Merriweather"/>
              </a:rPr>
              <a:t>Launch</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200" u="none" cap="none" strike="noStrike">
                <a:solidFill>
                  <a:srgbClr val="0F172A"/>
                </a:solidFill>
                <a:latin typeface="Merriweather"/>
                <a:ea typeface="Merriweather"/>
                <a:cs typeface="Merriweather"/>
                <a:sym typeface="Merriweather"/>
              </a:rPr>
              <a:t>Headless Browser</a:t>
            </a:r>
            <a:endParaRPr b="0" i="0" sz="1200" u="none" cap="none" strike="noStrike">
              <a:solidFill>
                <a:schemeClr val="dk1"/>
              </a:solidFill>
              <a:latin typeface="Calibri"/>
              <a:ea typeface="Calibri"/>
              <a:cs typeface="Calibri"/>
              <a:sym typeface="Calibri"/>
            </a:endParaRPr>
          </a:p>
        </p:txBody>
      </p:sp>
      <p:cxnSp>
        <p:nvCxnSpPr>
          <p:cNvPr id="1349" name="Google Shape;1349;p38"/>
          <p:cNvCxnSpPr/>
          <p:nvPr/>
        </p:nvCxnSpPr>
        <p:spPr>
          <a:xfrm>
            <a:off x="6773895" y="1616044"/>
            <a:ext cx="0" cy="190500"/>
          </a:xfrm>
          <a:prstGeom prst="straightConnector1">
            <a:avLst/>
          </a:prstGeom>
          <a:noFill/>
          <a:ln cap="flat" cmpd="sng" w="25400">
            <a:solidFill>
              <a:srgbClr val="06B6D4"/>
            </a:solidFill>
            <a:prstDash val="solid"/>
            <a:round/>
            <a:headEnd len="sm" w="sm" type="none"/>
            <a:tailEnd len="med" w="med" type="stealth"/>
          </a:ln>
        </p:spPr>
      </p:cxnSp>
      <p:sp>
        <p:nvSpPr>
          <p:cNvPr id="1350" name="Google Shape;1350;p38"/>
          <p:cNvSpPr/>
          <p:nvPr/>
        </p:nvSpPr>
        <p:spPr>
          <a:xfrm>
            <a:off x="4899375" y="1806738"/>
            <a:ext cx="3749100" cy="589200"/>
          </a:xfrm>
          <a:prstGeom prst="rect">
            <a:avLst/>
          </a:prstGeom>
          <a:solidFill>
            <a:srgbClr val="E8F9FD"/>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8"/>
          <p:cNvSpPr/>
          <p:nvPr/>
        </p:nvSpPr>
        <p:spPr>
          <a:xfrm>
            <a:off x="4899375" y="1806738"/>
            <a:ext cx="3749100" cy="589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200" u="none" cap="none" strike="noStrike">
                <a:solidFill>
                  <a:srgbClr val="0F172A"/>
                </a:solidFill>
                <a:latin typeface="Merriweather"/>
                <a:ea typeface="Merriweather"/>
                <a:cs typeface="Merriweather"/>
                <a:sym typeface="Merriweather"/>
              </a:rPr>
              <a:t>Navigate</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200" u="none" cap="none" strike="noStrike">
                <a:solidFill>
                  <a:srgbClr val="0F172A"/>
                </a:solidFill>
                <a:latin typeface="Merriweather"/>
                <a:ea typeface="Merriweather"/>
                <a:cs typeface="Merriweather"/>
                <a:sym typeface="Merriweather"/>
              </a:rPr>
              <a:t>to Dashboard</a:t>
            </a:r>
            <a:endParaRPr b="0" i="0" sz="1200" u="none" cap="none" strike="noStrike">
              <a:solidFill>
                <a:schemeClr val="dk1"/>
              </a:solidFill>
              <a:latin typeface="Calibri"/>
              <a:ea typeface="Calibri"/>
              <a:cs typeface="Calibri"/>
              <a:sym typeface="Calibri"/>
            </a:endParaRPr>
          </a:p>
        </p:txBody>
      </p:sp>
      <p:cxnSp>
        <p:nvCxnSpPr>
          <p:cNvPr id="1352" name="Google Shape;1352;p38"/>
          <p:cNvCxnSpPr/>
          <p:nvPr/>
        </p:nvCxnSpPr>
        <p:spPr>
          <a:xfrm>
            <a:off x="6773895" y="2396157"/>
            <a:ext cx="0" cy="190500"/>
          </a:xfrm>
          <a:prstGeom prst="straightConnector1">
            <a:avLst/>
          </a:prstGeom>
          <a:noFill/>
          <a:ln cap="flat" cmpd="sng" w="25400">
            <a:solidFill>
              <a:srgbClr val="06B6D4"/>
            </a:solidFill>
            <a:prstDash val="solid"/>
            <a:round/>
            <a:headEnd len="sm" w="sm" type="none"/>
            <a:tailEnd len="med" w="med" type="stealth"/>
          </a:ln>
        </p:spPr>
      </p:cxnSp>
      <p:sp>
        <p:nvSpPr>
          <p:cNvPr id="1353" name="Google Shape;1353;p38"/>
          <p:cNvSpPr/>
          <p:nvPr/>
        </p:nvSpPr>
        <p:spPr>
          <a:xfrm>
            <a:off x="4899375" y="2586851"/>
            <a:ext cx="3749100" cy="589200"/>
          </a:xfrm>
          <a:prstGeom prst="rect">
            <a:avLst/>
          </a:prstGeom>
          <a:solidFill>
            <a:srgbClr val="FEF3C7"/>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8"/>
          <p:cNvSpPr/>
          <p:nvPr/>
        </p:nvSpPr>
        <p:spPr>
          <a:xfrm>
            <a:off x="4899375" y="2586851"/>
            <a:ext cx="3749100" cy="589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200" u="none" cap="none" strike="noStrike">
                <a:solidFill>
                  <a:srgbClr val="0F172A"/>
                </a:solidFill>
                <a:latin typeface="Merriweather"/>
                <a:ea typeface="Merriweather"/>
                <a:cs typeface="Merriweather"/>
                <a:sym typeface="Merriweather"/>
              </a:rPr>
              <a:t>Create Target</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200" u="none" cap="none" strike="noStrike">
                <a:solidFill>
                  <a:srgbClr val="0F172A"/>
                </a:solidFill>
                <a:latin typeface="Merriweather"/>
                <a:ea typeface="Merriweather"/>
                <a:cs typeface="Merriweather"/>
                <a:sym typeface="Merriweather"/>
              </a:rPr>
              <a:t>&amp; Start Scan</a:t>
            </a:r>
            <a:endParaRPr b="0" i="0" sz="1200" u="none" cap="none" strike="noStrike">
              <a:solidFill>
                <a:schemeClr val="dk1"/>
              </a:solidFill>
              <a:latin typeface="Calibri"/>
              <a:ea typeface="Calibri"/>
              <a:cs typeface="Calibri"/>
              <a:sym typeface="Calibri"/>
            </a:endParaRPr>
          </a:p>
        </p:txBody>
      </p:sp>
      <p:cxnSp>
        <p:nvCxnSpPr>
          <p:cNvPr id="1355" name="Google Shape;1355;p38"/>
          <p:cNvCxnSpPr/>
          <p:nvPr/>
        </p:nvCxnSpPr>
        <p:spPr>
          <a:xfrm>
            <a:off x="6773895" y="3176270"/>
            <a:ext cx="0" cy="190500"/>
          </a:xfrm>
          <a:prstGeom prst="straightConnector1">
            <a:avLst/>
          </a:prstGeom>
          <a:noFill/>
          <a:ln cap="flat" cmpd="sng" w="25400">
            <a:solidFill>
              <a:srgbClr val="06B6D4"/>
            </a:solidFill>
            <a:prstDash val="solid"/>
            <a:round/>
            <a:headEnd len="sm" w="sm" type="none"/>
            <a:tailEnd len="med" w="med" type="stealth"/>
          </a:ln>
        </p:spPr>
      </p:cxnSp>
      <p:sp>
        <p:nvSpPr>
          <p:cNvPr id="1356" name="Google Shape;1356;p38"/>
          <p:cNvSpPr/>
          <p:nvPr/>
        </p:nvSpPr>
        <p:spPr>
          <a:xfrm>
            <a:off x="4899375" y="3366964"/>
            <a:ext cx="3749100" cy="589200"/>
          </a:xfrm>
          <a:prstGeom prst="rect">
            <a:avLst/>
          </a:prstGeom>
          <a:solidFill>
            <a:srgbClr val="EDE9FE"/>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8"/>
          <p:cNvSpPr/>
          <p:nvPr/>
        </p:nvSpPr>
        <p:spPr>
          <a:xfrm>
            <a:off x="4899375" y="3366964"/>
            <a:ext cx="3749100" cy="589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200" u="none" cap="none" strike="noStrike">
                <a:solidFill>
                  <a:srgbClr val="0F172A"/>
                </a:solidFill>
                <a:latin typeface="Merriweather"/>
                <a:ea typeface="Merriweather"/>
                <a:cs typeface="Merriweather"/>
                <a:sym typeface="Merriweather"/>
              </a:rPr>
              <a:t>Poll Status</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200" u="none" cap="none" strike="noStrike">
                <a:solidFill>
                  <a:srgbClr val="0F172A"/>
                </a:solidFill>
                <a:latin typeface="Merriweather"/>
                <a:ea typeface="Merriweather"/>
                <a:cs typeface="Merriweather"/>
                <a:sym typeface="Merriweather"/>
              </a:rPr>
              <a:t>Until Complete</a:t>
            </a:r>
            <a:endParaRPr b="0" i="0" sz="1200" u="none" cap="none" strike="noStrike">
              <a:solidFill>
                <a:schemeClr val="dk1"/>
              </a:solidFill>
              <a:latin typeface="Calibri"/>
              <a:ea typeface="Calibri"/>
              <a:cs typeface="Calibri"/>
              <a:sym typeface="Calibri"/>
            </a:endParaRPr>
          </a:p>
        </p:txBody>
      </p:sp>
      <p:cxnSp>
        <p:nvCxnSpPr>
          <p:cNvPr id="1358" name="Google Shape;1358;p38"/>
          <p:cNvCxnSpPr/>
          <p:nvPr/>
        </p:nvCxnSpPr>
        <p:spPr>
          <a:xfrm>
            <a:off x="6773895" y="3956383"/>
            <a:ext cx="0" cy="190500"/>
          </a:xfrm>
          <a:prstGeom prst="straightConnector1">
            <a:avLst/>
          </a:prstGeom>
          <a:noFill/>
          <a:ln cap="flat" cmpd="sng" w="25400">
            <a:solidFill>
              <a:srgbClr val="06B6D4"/>
            </a:solidFill>
            <a:prstDash val="solid"/>
            <a:round/>
            <a:headEnd len="sm" w="sm" type="none"/>
            <a:tailEnd len="med" w="med" type="stealth"/>
          </a:ln>
        </p:spPr>
      </p:cxnSp>
      <p:sp>
        <p:nvSpPr>
          <p:cNvPr id="1359" name="Google Shape;1359;p38"/>
          <p:cNvSpPr/>
          <p:nvPr/>
        </p:nvSpPr>
        <p:spPr>
          <a:xfrm>
            <a:off x="4899375" y="4147077"/>
            <a:ext cx="3749100" cy="589200"/>
          </a:xfrm>
          <a:prstGeom prst="rect">
            <a:avLst/>
          </a:prstGeom>
          <a:solidFill>
            <a:srgbClr val="D1FAE5"/>
          </a:solidFill>
          <a:ln cap="flat" cmpd="sng" w="1905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8"/>
          <p:cNvSpPr/>
          <p:nvPr/>
        </p:nvSpPr>
        <p:spPr>
          <a:xfrm>
            <a:off x="4899350" y="4094964"/>
            <a:ext cx="3749100" cy="589500"/>
          </a:xfrm>
          <a:prstGeom prst="rect">
            <a:avLst/>
          </a:prstGeom>
          <a:noFill/>
          <a:ln>
            <a:noFill/>
          </a:ln>
        </p:spPr>
        <p:txBody>
          <a:bodyPr anchorCtr="0" anchor="ctr" bIns="63500" lIns="63500" spcFirstLastPara="1" rIns="63500" wrap="square" tIns="63500">
            <a:noAutofit/>
          </a:bodyPr>
          <a:lstStyle/>
          <a:p>
            <a:pPr indent="0" lvl="0" marL="0" marR="0" rtl="0" algn="ctr">
              <a:spcBef>
                <a:spcPts val="0"/>
              </a:spcBef>
              <a:spcAft>
                <a:spcPts val="0"/>
              </a:spcAft>
              <a:buClr>
                <a:srgbClr val="0F172A"/>
              </a:buClr>
              <a:buSzPts val="1000"/>
              <a:buFont typeface="Merriweather"/>
              <a:buNone/>
            </a:pPr>
            <a:r>
              <a:rPr b="1" i="0" lang="en-US" sz="1200" u="none" cap="none" strike="noStrike">
                <a:solidFill>
                  <a:srgbClr val="0F172A"/>
                </a:solidFill>
                <a:latin typeface="Merriweather"/>
                <a:ea typeface="Merriweather"/>
                <a:cs typeface="Merriweather"/>
                <a:sym typeface="Merriweather"/>
              </a:rPr>
              <a:t>Assert</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72A"/>
              </a:buClr>
              <a:buSzPts val="1000"/>
              <a:buFont typeface="Merriweather"/>
              <a:buNone/>
            </a:pPr>
            <a:r>
              <a:rPr b="1" i="0" lang="en-US" sz="1200" u="none" cap="none" strike="noStrike">
                <a:solidFill>
                  <a:srgbClr val="0F172A"/>
                </a:solidFill>
                <a:latin typeface="Merriweather"/>
                <a:ea typeface="Merriweather"/>
                <a:cs typeface="Merriweather"/>
                <a:sym typeface="Merriweather"/>
              </a:rPr>
              <a:t>Results Correct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5" name="Shape 1365"/>
        <p:cNvGrpSpPr/>
        <p:nvPr/>
      </p:nvGrpSpPr>
      <p:grpSpPr>
        <a:xfrm>
          <a:off x="0" y="0"/>
          <a:ext cx="0" cy="0"/>
          <a:chOff x="0" y="0"/>
          <a:chExt cx="0" cy="0"/>
        </a:xfrm>
      </p:grpSpPr>
      <p:sp>
        <p:nvSpPr>
          <p:cNvPr id="1366" name="Google Shape;1366;p39"/>
          <p:cNvSpPr/>
          <p:nvPr/>
        </p:nvSpPr>
        <p:spPr>
          <a:xfrm>
            <a:off x="0" y="0"/>
            <a:ext cx="9144000" cy="59436"/>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9"/>
          <p:cNvSpPr/>
          <p:nvPr/>
        </p:nvSpPr>
        <p:spPr>
          <a:xfrm>
            <a:off x="347472" y="164592"/>
            <a:ext cx="64008" cy="45720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9"/>
          <p:cNvSpPr/>
          <p:nvPr/>
        </p:nvSpPr>
        <p:spPr>
          <a:xfrm>
            <a:off x="530352" y="155448"/>
            <a:ext cx="768096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200"/>
              <a:buFont typeface="Merriweather"/>
              <a:buNone/>
            </a:pPr>
            <a:r>
              <a:rPr b="1" i="0" lang="en-US" sz="2200" u="none" cap="none" strike="noStrike">
                <a:solidFill>
                  <a:srgbClr val="0F172A"/>
                </a:solidFill>
                <a:latin typeface="Merriweather"/>
                <a:ea typeface="Merriweather"/>
                <a:cs typeface="Merriweather"/>
                <a:sym typeface="Merriweather"/>
              </a:rPr>
              <a:t>Platform Efficiency &amp; Project Roadmap</a:t>
            </a:r>
            <a:endParaRPr b="0" i="0" sz="2200" u="none" cap="none" strike="noStrike">
              <a:solidFill>
                <a:schemeClr val="dk1"/>
              </a:solidFill>
              <a:latin typeface="Calibri"/>
              <a:ea typeface="Calibri"/>
              <a:cs typeface="Calibri"/>
              <a:sym typeface="Calibri"/>
            </a:endParaRPr>
          </a:p>
        </p:txBody>
      </p:sp>
      <p:sp>
        <p:nvSpPr>
          <p:cNvPr id="1369" name="Google Shape;1369;p39"/>
          <p:cNvSpPr/>
          <p:nvPr/>
        </p:nvSpPr>
        <p:spPr>
          <a:xfrm>
            <a:off x="8275320" y="64008"/>
            <a:ext cx="548640" cy="246888"/>
          </a:xfrm>
          <a:prstGeom prst="rect">
            <a:avLst/>
          </a:prstGeom>
          <a:solidFill>
            <a:srgbClr val="E8F9FD"/>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9"/>
          <p:cNvSpPr/>
          <p:nvPr/>
        </p:nvSpPr>
        <p:spPr>
          <a:xfrm>
            <a:off x="8275320" y="64008"/>
            <a:ext cx="5486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800"/>
              <a:buFont typeface="Merriweather"/>
              <a:buNone/>
            </a:pPr>
            <a:r>
              <a:rPr b="1" i="0" lang="en-US" sz="800" u="none" cap="none" strike="noStrike">
                <a:solidFill>
                  <a:srgbClr val="0891B2"/>
                </a:solidFill>
                <a:latin typeface="Merriweather"/>
                <a:ea typeface="Merriweather"/>
                <a:cs typeface="Merriweather"/>
                <a:sym typeface="Merriweather"/>
              </a:rPr>
              <a:t>39/40</a:t>
            </a:r>
            <a:endParaRPr b="0" i="0" sz="800" u="none" cap="none" strike="noStrike">
              <a:solidFill>
                <a:schemeClr val="dk1"/>
              </a:solidFill>
              <a:latin typeface="Calibri"/>
              <a:ea typeface="Calibri"/>
              <a:cs typeface="Calibri"/>
              <a:sym typeface="Calibri"/>
            </a:endParaRPr>
          </a:p>
        </p:txBody>
      </p:sp>
      <p:cxnSp>
        <p:nvCxnSpPr>
          <p:cNvPr id="1371" name="Google Shape;1371;p39"/>
          <p:cNvCxnSpPr/>
          <p:nvPr/>
        </p:nvCxnSpPr>
        <p:spPr>
          <a:xfrm>
            <a:off x="347472" y="676656"/>
            <a:ext cx="8449056" cy="0"/>
          </a:xfrm>
          <a:prstGeom prst="straightConnector1">
            <a:avLst/>
          </a:prstGeom>
          <a:noFill/>
          <a:ln cap="flat" cmpd="sng" w="19050">
            <a:solidFill>
              <a:srgbClr val="CFFAFE"/>
            </a:solidFill>
            <a:prstDash val="solid"/>
            <a:round/>
            <a:headEnd len="sm" w="sm" type="none"/>
            <a:tailEnd len="sm" w="sm" type="none"/>
          </a:ln>
        </p:spPr>
      </p:cxnSp>
      <p:sp>
        <p:nvSpPr>
          <p:cNvPr id="1372" name="Google Shape;1372;p39"/>
          <p:cNvSpPr/>
          <p:nvPr/>
        </p:nvSpPr>
        <p:spPr>
          <a:xfrm>
            <a:off x="347472" y="4773168"/>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700"/>
              <a:buFont typeface="Merriweather"/>
              <a:buNone/>
            </a:pPr>
            <a:r>
              <a:rPr b="0" i="0" lang="en-US" sz="700" u="none" cap="none" strike="noStrike">
                <a:solidFill>
                  <a:srgbClr val="94A3B8"/>
                </a:solidFill>
                <a:latin typeface="Merriweather"/>
                <a:ea typeface="Merriweather"/>
                <a:cs typeface="Merriweather"/>
                <a:sym typeface="Merriweather"/>
              </a:rPr>
              <a:t>Found 404</a:t>
            </a:r>
            <a:endParaRPr b="0" i="0" sz="700" u="none" cap="none" strike="noStrike">
              <a:solidFill>
                <a:schemeClr val="dk1"/>
              </a:solidFill>
              <a:latin typeface="Calibri"/>
              <a:ea typeface="Calibri"/>
              <a:cs typeface="Calibri"/>
              <a:sym typeface="Calibri"/>
            </a:endParaRPr>
          </a:p>
        </p:txBody>
      </p:sp>
      <p:sp>
        <p:nvSpPr>
          <p:cNvPr id="1373" name="Google Shape;1373;p39"/>
          <p:cNvSpPr/>
          <p:nvPr/>
        </p:nvSpPr>
        <p:spPr>
          <a:xfrm>
            <a:off x="8796528" y="4782312"/>
            <a:ext cx="109728" cy="109728"/>
          </a:xfrm>
          <a:prstGeom prst="ellipse">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9"/>
          <p:cNvSpPr/>
          <p:nvPr/>
        </p:nvSpPr>
        <p:spPr>
          <a:xfrm>
            <a:off x="1715197" y="747121"/>
            <a:ext cx="2377500" cy="201300"/>
          </a:xfrm>
          <a:prstGeom prst="rect">
            <a:avLst/>
          </a:prstGeom>
          <a:solidFill>
            <a:srgbClr val="CFFAFE"/>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9"/>
          <p:cNvSpPr/>
          <p:nvPr/>
        </p:nvSpPr>
        <p:spPr>
          <a:xfrm>
            <a:off x="1715160" y="747121"/>
            <a:ext cx="23775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800"/>
              <a:buFont typeface="Merriweather"/>
              <a:buNone/>
            </a:pPr>
            <a:r>
              <a:rPr b="1" i="0" lang="en-US" sz="1000" u="none" cap="none" strike="noStrike">
                <a:solidFill>
                  <a:srgbClr val="0E7490"/>
                </a:solidFill>
                <a:latin typeface="Merriweather"/>
                <a:ea typeface="Merriweather"/>
                <a:cs typeface="Merriweather"/>
                <a:sym typeface="Merriweather"/>
              </a:rPr>
              <a:t>Results</a:t>
            </a:r>
            <a:endParaRPr b="0" i="0" sz="1000" u="none" cap="none" strike="noStrike">
              <a:solidFill>
                <a:schemeClr val="dk1"/>
              </a:solidFill>
              <a:latin typeface="Calibri"/>
              <a:ea typeface="Calibri"/>
              <a:cs typeface="Calibri"/>
              <a:sym typeface="Calibri"/>
            </a:endParaRPr>
          </a:p>
        </p:txBody>
      </p:sp>
      <p:graphicFrame>
        <p:nvGraphicFramePr>
          <p:cNvPr id="1376" name="Google Shape;1376;p39"/>
          <p:cNvGraphicFramePr/>
          <p:nvPr/>
        </p:nvGraphicFramePr>
        <p:xfrm>
          <a:off x="411475" y="1060700"/>
          <a:ext cx="4880100" cy="3258300"/>
        </p:xfrm>
        <a:graphic>
          <a:graphicData uri="http://schemas.openxmlformats.org/drawingml/2006/chart">
            <c:chart r:id="rId3"/>
          </a:graphicData>
        </a:graphic>
      </p:graphicFrame>
      <p:sp>
        <p:nvSpPr>
          <p:cNvPr id="1377" name="Google Shape;1377;p39"/>
          <p:cNvSpPr/>
          <p:nvPr/>
        </p:nvSpPr>
        <p:spPr>
          <a:xfrm>
            <a:off x="5897875" y="839550"/>
            <a:ext cx="3121800" cy="3566100"/>
          </a:xfrm>
          <a:prstGeom prst="rect">
            <a:avLst/>
          </a:prstGeom>
          <a:solidFill>
            <a:srgbClr val="E8F9FD"/>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1378" name="Google Shape;1378;p39"/>
          <p:cNvSpPr/>
          <p:nvPr/>
        </p:nvSpPr>
        <p:spPr>
          <a:xfrm>
            <a:off x="5996357" y="877822"/>
            <a:ext cx="29544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1050"/>
              <a:buFont typeface="Merriweather"/>
              <a:buNone/>
            </a:pPr>
            <a:r>
              <a:rPr b="1" i="0" lang="en-US" sz="1050" u="none" cap="none" strike="noStrike">
                <a:solidFill>
                  <a:srgbClr val="0E7490"/>
                </a:solidFill>
                <a:latin typeface="Merriweather"/>
                <a:ea typeface="Merriweather"/>
                <a:cs typeface="Merriweather"/>
                <a:sym typeface="Merriweather"/>
              </a:rPr>
              <a:t>Project Roadmap</a:t>
            </a:r>
            <a:endParaRPr b="0" i="0" sz="1050" u="none" cap="none" strike="noStrike">
              <a:solidFill>
                <a:schemeClr val="dk1"/>
              </a:solidFill>
              <a:latin typeface="Calibri"/>
              <a:ea typeface="Calibri"/>
              <a:cs typeface="Calibri"/>
              <a:sym typeface="Calibri"/>
            </a:endParaRPr>
          </a:p>
        </p:txBody>
      </p:sp>
      <p:cxnSp>
        <p:nvCxnSpPr>
          <p:cNvPr id="1379" name="Google Shape;1379;p39"/>
          <p:cNvCxnSpPr/>
          <p:nvPr/>
        </p:nvCxnSpPr>
        <p:spPr>
          <a:xfrm>
            <a:off x="5883675" y="1200700"/>
            <a:ext cx="3146100" cy="30000"/>
          </a:xfrm>
          <a:prstGeom prst="straightConnector1">
            <a:avLst/>
          </a:prstGeom>
          <a:noFill/>
          <a:ln cap="flat" cmpd="sng" w="12700">
            <a:solidFill>
              <a:srgbClr val="BAE6FD"/>
            </a:solidFill>
            <a:prstDash val="solid"/>
            <a:round/>
            <a:headEnd len="sm" w="sm" type="none"/>
            <a:tailEnd len="sm" w="sm" type="none"/>
          </a:ln>
        </p:spPr>
      </p:cxnSp>
      <p:sp>
        <p:nvSpPr>
          <p:cNvPr id="1380" name="Google Shape;1380;p39"/>
          <p:cNvSpPr/>
          <p:nvPr/>
        </p:nvSpPr>
        <p:spPr>
          <a:xfrm>
            <a:off x="5989325" y="1390274"/>
            <a:ext cx="178800" cy="178800"/>
          </a:xfrm>
          <a:prstGeom prst="ellipse">
            <a:avLst/>
          </a:prstGeom>
          <a:solidFill>
            <a:srgbClr val="059669"/>
          </a:solidFill>
          <a:ln cap="flat" cmpd="sng" w="13775">
            <a:solidFill>
              <a:srgbClr val="059669"/>
            </a:solidFill>
            <a:prstDash val="solid"/>
            <a:round/>
            <a:headEnd len="sm" w="sm" type="none"/>
            <a:tailEnd len="sm" w="sm" type="none"/>
          </a:ln>
        </p:spPr>
        <p:txBody>
          <a:bodyPr anchorCtr="0" anchor="ctr" bIns="99250" lIns="99250" spcFirstLastPara="1" rIns="99250" wrap="square" tIns="99250">
            <a:noAutofit/>
          </a:bodyPr>
          <a:lstStyle/>
          <a:p>
            <a:pPr indent="0" lvl="0" marL="0" rtl="0" algn="l">
              <a:spcBef>
                <a:spcPts val="0"/>
              </a:spcBef>
              <a:spcAft>
                <a:spcPts val="0"/>
              </a:spcAft>
              <a:buNone/>
            </a:pPr>
            <a:r>
              <a:t/>
            </a:r>
            <a:endParaRPr/>
          </a:p>
        </p:txBody>
      </p:sp>
      <p:sp>
        <p:nvSpPr>
          <p:cNvPr id="1381" name="Google Shape;1381;p39"/>
          <p:cNvSpPr/>
          <p:nvPr/>
        </p:nvSpPr>
        <p:spPr>
          <a:xfrm>
            <a:off x="6257350" y="1298450"/>
            <a:ext cx="2630400" cy="25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977"/>
              <a:buFont typeface="Merriweather"/>
              <a:buNone/>
            </a:pPr>
            <a:r>
              <a:rPr b="1" i="0" lang="en-US" sz="1194" u="none" cap="none" strike="noStrike">
                <a:solidFill>
                  <a:srgbClr val="059669"/>
                </a:solidFill>
                <a:latin typeface="Merriweather"/>
                <a:ea typeface="Merriweather"/>
                <a:cs typeface="Merriweather"/>
                <a:sym typeface="Merriweather"/>
              </a:rPr>
              <a:t>v1.0 (Now)</a:t>
            </a:r>
            <a:endParaRPr b="0" i="0" sz="1194" u="none" cap="none" strike="noStrike">
              <a:solidFill>
                <a:schemeClr val="dk1"/>
              </a:solidFill>
              <a:latin typeface="Calibri"/>
              <a:ea typeface="Calibri"/>
              <a:cs typeface="Calibri"/>
              <a:sym typeface="Calibri"/>
            </a:endParaRPr>
          </a:p>
        </p:txBody>
      </p:sp>
      <p:sp>
        <p:nvSpPr>
          <p:cNvPr id="1382" name="Google Shape;1382;p39"/>
          <p:cNvSpPr/>
          <p:nvPr/>
        </p:nvSpPr>
        <p:spPr>
          <a:xfrm>
            <a:off x="6257377" y="1616028"/>
            <a:ext cx="2630400" cy="23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23"/>
              <a:buFont typeface="Merriweather"/>
              <a:buNone/>
            </a:pPr>
            <a:r>
              <a:rPr b="0" i="0" lang="en-US" sz="1139" u="none" cap="none" strike="noStrike">
                <a:solidFill>
                  <a:srgbClr val="334155"/>
                </a:solidFill>
                <a:latin typeface="Merriweather"/>
                <a:ea typeface="Merriweather"/>
                <a:cs typeface="Merriweather"/>
                <a:sym typeface="Merriweather"/>
              </a:rPr>
              <a:t>Core DAST · Force-Graph · SME Score</a:t>
            </a:r>
            <a:endParaRPr b="0" i="0" sz="1139" u="none" cap="none" strike="noStrike">
              <a:solidFill>
                <a:schemeClr val="dk1"/>
              </a:solidFill>
              <a:latin typeface="Calibri"/>
              <a:ea typeface="Calibri"/>
              <a:cs typeface="Calibri"/>
              <a:sym typeface="Calibri"/>
            </a:endParaRPr>
          </a:p>
        </p:txBody>
      </p:sp>
      <p:sp>
        <p:nvSpPr>
          <p:cNvPr id="1383" name="Google Shape;1383;p39"/>
          <p:cNvSpPr/>
          <p:nvPr/>
        </p:nvSpPr>
        <p:spPr>
          <a:xfrm>
            <a:off x="5989325" y="2005744"/>
            <a:ext cx="178800" cy="178800"/>
          </a:xfrm>
          <a:prstGeom prst="ellipse">
            <a:avLst/>
          </a:prstGeom>
          <a:solidFill>
            <a:srgbClr val="06B6D4"/>
          </a:solidFill>
          <a:ln cap="flat" cmpd="sng" w="13775">
            <a:solidFill>
              <a:srgbClr val="06B6D4"/>
            </a:solidFill>
            <a:prstDash val="solid"/>
            <a:round/>
            <a:headEnd len="sm" w="sm" type="none"/>
            <a:tailEnd len="sm" w="sm" type="none"/>
          </a:ln>
        </p:spPr>
        <p:txBody>
          <a:bodyPr anchorCtr="0" anchor="ctr" bIns="99250" lIns="99250" spcFirstLastPara="1" rIns="99250" wrap="square" tIns="99250">
            <a:noAutofit/>
          </a:bodyPr>
          <a:lstStyle/>
          <a:p>
            <a:pPr indent="0" lvl="0" marL="0" rtl="0" algn="l">
              <a:spcBef>
                <a:spcPts val="0"/>
              </a:spcBef>
              <a:spcAft>
                <a:spcPts val="0"/>
              </a:spcAft>
              <a:buNone/>
            </a:pPr>
            <a:r>
              <a:t/>
            </a:r>
            <a:endParaRPr/>
          </a:p>
        </p:txBody>
      </p:sp>
      <p:sp>
        <p:nvSpPr>
          <p:cNvPr id="1384" name="Google Shape;1384;p39"/>
          <p:cNvSpPr/>
          <p:nvPr/>
        </p:nvSpPr>
        <p:spPr>
          <a:xfrm>
            <a:off x="6257350" y="1913920"/>
            <a:ext cx="2630400" cy="25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B6D4"/>
              </a:buClr>
              <a:buSzPts val="977"/>
              <a:buFont typeface="Merriweather"/>
              <a:buNone/>
            </a:pPr>
            <a:r>
              <a:rPr b="1" i="0" lang="en-US" sz="1194" u="none" cap="none" strike="noStrike">
                <a:solidFill>
                  <a:srgbClr val="06B6D4"/>
                </a:solidFill>
                <a:latin typeface="Merriweather"/>
                <a:ea typeface="Merriweather"/>
                <a:cs typeface="Merriweather"/>
                <a:sym typeface="Merriweather"/>
              </a:rPr>
              <a:t>v1.1 (Q3 2025)</a:t>
            </a:r>
            <a:endParaRPr b="0" i="0" sz="1194" u="none" cap="none" strike="noStrike">
              <a:solidFill>
                <a:schemeClr val="dk1"/>
              </a:solidFill>
              <a:latin typeface="Calibri"/>
              <a:ea typeface="Calibri"/>
              <a:cs typeface="Calibri"/>
              <a:sym typeface="Calibri"/>
            </a:endParaRPr>
          </a:p>
        </p:txBody>
      </p:sp>
      <p:sp>
        <p:nvSpPr>
          <p:cNvPr id="1385" name="Google Shape;1385;p39"/>
          <p:cNvSpPr/>
          <p:nvPr/>
        </p:nvSpPr>
        <p:spPr>
          <a:xfrm>
            <a:off x="6257377" y="2231498"/>
            <a:ext cx="2630400" cy="23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23"/>
              <a:buFont typeface="Merriweather"/>
              <a:buNone/>
            </a:pPr>
            <a:r>
              <a:rPr b="0" i="0" lang="en-US" sz="1139" u="none" cap="none" strike="noStrike">
                <a:solidFill>
                  <a:srgbClr val="334155"/>
                </a:solidFill>
                <a:latin typeface="Merriweather"/>
                <a:ea typeface="Merriweather"/>
                <a:cs typeface="Merriweather"/>
                <a:sym typeface="Merriweather"/>
              </a:rPr>
              <a:t>Multi-tenant SaaS · PDF Export</a:t>
            </a:r>
            <a:endParaRPr b="0" i="0" sz="1139" u="none" cap="none" strike="noStrike">
              <a:solidFill>
                <a:schemeClr val="dk1"/>
              </a:solidFill>
              <a:latin typeface="Calibri"/>
              <a:ea typeface="Calibri"/>
              <a:cs typeface="Calibri"/>
              <a:sym typeface="Calibri"/>
            </a:endParaRPr>
          </a:p>
        </p:txBody>
      </p:sp>
      <p:sp>
        <p:nvSpPr>
          <p:cNvPr id="1386" name="Google Shape;1386;p39"/>
          <p:cNvSpPr/>
          <p:nvPr/>
        </p:nvSpPr>
        <p:spPr>
          <a:xfrm>
            <a:off x="5989325" y="2621215"/>
            <a:ext cx="178800" cy="178800"/>
          </a:xfrm>
          <a:prstGeom prst="ellipse">
            <a:avLst/>
          </a:prstGeom>
          <a:solidFill>
            <a:srgbClr val="D97706"/>
          </a:solidFill>
          <a:ln cap="flat" cmpd="sng" w="13775">
            <a:solidFill>
              <a:srgbClr val="D97706"/>
            </a:solidFill>
            <a:prstDash val="solid"/>
            <a:round/>
            <a:headEnd len="sm" w="sm" type="none"/>
            <a:tailEnd len="sm" w="sm" type="none"/>
          </a:ln>
        </p:spPr>
        <p:txBody>
          <a:bodyPr anchorCtr="0" anchor="ctr" bIns="99250" lIns="99250" spcFirstLastPara="1" rIns="99250" wrap="square" tIns="99250">
            <a:noAutofit/>
          </a:bodyPr>
          <a:lstStyle/>
          <a:p>
            <a:pPr indent="0" lvl="0" marL="0" rtl="0" algn="l">
              <a:spcBef>
                <a:spcPts val="0"/>
              </a:spcBef>
              <a:spcAft>
                <a:spcPts val="0"/>
              </a:spcAft>
              <a:buNone/>
            </a:pPr>
            <a:r>
              <a:t/>
            </a:r>
            <a:endParaRPr/>
          </a:p>
        </p:txBody>
      </p:sp>
      <p:sp>
        <p:nvSpPr>
          <p:cNvPr id="1387" name="Google Shape;1387;p39"/>
          <p:cNvSpPr/>
          <p:nvPr/>
        </p:nvSpPr>
        <p:spPr>
          <a:xfrm>
            <a:off x="6257350" y="2529390"/>
            <a:ext cx="2630400" cy="25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977"/>
              <a:buFont typeface="Merriweather"/>
              <a:buNone/>
            </a:pPr>
            <a:r>
              <a:rPr b="1" i="0" lang="en-US" sz="1194" u="none" cap="none" strike="noStrike">
                <a:solidFill>
                  <a:srgbClr val="D97706"/>
                </a:solidFill>
                <a:latin typeface="Merriweather"/>
                <a:ea typeface="Merriweather"/>
                <a:cs typeface="Merriweather"/>
                <a:sym typeface="Merriweather"/>
              </a:rPr>
              <a:t>v2.0 (Q1 2026)</a:t>
            </a:r>
            <a:endParaRPr b="0" i="0" sz="1194" u="none" cap="none" strike="noStrike">
              <a:solidFill>
                <a:schemeClr val="dk1"/>
              </a:solidFill>
              <a:latin typeface="Calibri"/>
              <a:ea typeface="Calibri"/>
              <a:cs typeface="Calibri"/>
              <a:sym typeface="Calibri"/>
            </a:endParaRPr>
          </a:p>
        </p:txBody>
      </p:sp>
      <p:sp>
        <p:nvSpPr>
          <p:cNvPr id="1388" name="Google Shape;1388;p39"/>
          <p:cNvSpPr/>
          <p:nvPr/>
        </p:nvSpPr>
        <p:spPr>
          <a:xfrm>
            <a:off x="6257377" y="2846968"/>
            <a:ext cx="2630400" cy="23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23"/>
              <a:buFont typeface="Merriweather"/>
              <a:buNone/>
            </a:pPr>
            <a:r>
              <a:rPr b="0" i="0" lang="en-US" sz="1139" u="none" cap="none" strike="noStrike">
                <a:solidFill>
                  <a:srgbClr val="334155"/>
                </a:solidFill>
                <a:latin typeface="Merriweather"/>
                <a:ea typeface="Merriweather"/>
                <a:cs typeface="Merriweather"/>
                <a:sym typeface="Merriweather"/>
              </a:rPr>
              <a:t>Scheduled scans · Slack/email alerts</a:t>
            </a:r>
            <a:endParaRPr b="0" i="0" sz="1139" u="none" cap="none" strike="noStrike">
              <a:solidFill>
                <a:schemeClr val="dk1"/>
              </a:solidFill>
              <a:latin typeface="Calibri"/>
              <a:ea typeface="Calibri"/>
              <a:cs typeface="Calibri"/>
              <a:sym typeface="Calibri"/>
            </a:endParaRPr>
          </a:p>
        </p:txBody>
      </p:sp>
      <p:sp>
        <p:nvSpPr>
          <p:cNvPr id="1389" name="Google Shape;1389;p39"/>
          <p:cNvSpPr/>
          <p:nvPr/>
        </p:nvSpPr>
        <p:spPr>
          <a:xfrm>
            <a:off x="5989325" y="3236685"/>
            <a:ext cx="178800" cy="178800"/>
          </a:xfrm>
          <a:prstGeom prst="ellipse">
            <a:avLst/>
          </a:prstGeom>
          <a:solidFill>
            <a:srgbClr val="7C3AED"/>
          </a:solidFill>
          <a:ln cap="flat" cmpd="sng" w="13775">
            <a:solidFill>
              <a:srgbClr val="7C3AED"/>
            </a:solidFill>
            <a:prstDash val="solid"/>
            <a:round/>
            <a:headEnd len="sm" w="sm" type="none"/>
            <a:tailEnd len="sm" w="sm" type="none"/>
          </a:ln>
        </p:spPr>
        <p:txBody>
          <a:bodyPr anchorCtr="0" anchor="ctr" bIns="99250" lIns="99250" spcFirstLastPara="1" rIns="99250" wrap="square" tIns="99250">
            <a:noAutofit/>
          </a:bodyPr>
          <a:lstStyle/>
          <a:p>
            <a:pPr indent="0" lvl="0" marL="0" rtl="0" algn="l">
              <a:spcBef>
                <a:spcPts val="0"/>
              </a:spcBef>
              <a:spcAft>
                <a:spcPts val="0"/>
              </a:spcAft>
              <a:buNone/>
            </a:pPr>
            <a:r>
              <a:t/>
            </a:r>
            <a:endParaRPr/>
          </a:p>
        </p:txBody>
      </p:sp>
      <p:sp>
        <p:nvSpPr>
          <p:cNvPr id="1390" name="Google Shape;1390;p39"/>
          <p:cNvSpPr/>
          <p:nvPr/>
        </p:nvSpPr>
        <p:spPr>
          <a:xfrm>
            <a:off x="6257350" y="3144861"/>
            <a:ext cx="2630400" cy="25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977"/>
              <a:buFont typeface="Merriweather"/>
              <a:buNone/>
            </a:pPr>
            <a:r>
              <a:rPr b="1" i="0" lang="en-US" sz="1194" u="none" cap="none" strike="noStrike">
                <a:solidFill>
                  <a:srgbClr val="7C3AED"/>
                </a:solidFill>
                <a:latin typeface="Merriweather"/>
                <a:ea typeface="Merriweather"/>
                <a:cs typeface="Merriweather"/>
                <a:sym typeface="Merriweather"/>
              </a:rPr>
              <a:t>v3.0 (2026+)</a:t>
            </a:r>
            <a:endParaRPr b="0" i="0" sz="1194" u="none" cap="none" strike="noStrike">
              <a:solidFill>
                <a:schemeClr val="dk1"/>
              </a:solidFill>
              <a:latin typeface="Calibri"/>
              <a:ea typeface="Calibri"/>
              <a:cs typeface="Calibri"/>
              <a:sym typeface="Calibri"/>
            </a:endParaRPr>
          </a:p>
        </p:txBody>
      </p:sp>
      <p:sp>
        <p:nvSpPr>
          <p:cNvPr id="1391" name="Google Shape;1391;p39"/>
          <p:cNvSpPr/>
          <p:nvPr/>
        </p:nvSpPr>
        <p:spPr>
          <a:xfrm>
            <a:off x="6257377" y="3462438"/>
            <a:ext cx="2630400" cy="23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23"/>
              <a:buFont typeface="Merriweather"/>
              <a:buNone/>
            </a:pPr>
            <a:r>
              <a:rPr b="0" i="0" lang="en-US" sz="1139" u="none" cap="none" strike="noStrike">
                <a:solidFill>
                  <a:srgbClr val="334155"/>
                </a:solidFill>
                <a:latin typeface="Merriweather"/>
                <a:ea typeface="Merriweather"/>
                <a:cs typeface="Merriweather"/>
                <a:sym typeface="Merriweather"/>
              </a:rPr>
              <a:t>Mobile app · AI auto-patch proposals</a:t>
            </a:r>
            <a:endParaRPr b="0" i="0" sz="1139" u="none" cap="none" strike="noStrike">
              <a:solidFill>
                <a:schemeClr val="dk1"/>
              </a:solidFill>
              <a:latin typeface="Calibri"/>
              <a:ea typeface="Calibri"/>
              <a:cs typeface="Calibri"/>
              <a:sym typeface="Calibri"/>
            </a:endParaRPr>
          </a:p>
        </p:txBody>
      </p:sp>
      <p:sp>
        <p:nvSpPr>
          <p:cNvPr id="1392" name="Google Shape;1392;p39"/>
          <p:cNvSpPr/>
          <p:nvPr/>
        </p:nvSpPr>
        <p:spPr>
          <a:xfrm>
            <a:off x="347472" y="4572000"/>
            <a:ext cx="844905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7490"/>
              </a:buClr>
              <a:buSzPts val="1050"/>
              <a:buFont typeface="Merriweather"/>
              <a:buNone/>
            </a:pPr>
            <a:r>
              <a:rPr b="1" i="0" lang="en-US" sz="1150" u="none" cap="none" strike="noStrike">
                <a:solidFill>
                  <a:srgbClr val="0E7490"/>
                </a:solidFill>
                <a:latin typeface="Merriweather"/>
                <a:ea typeface="Merriweather"/>
                <a:cs typeface="Merriweather"/>
                <a:sym typeface="Merriweather"/>
              </a:rPr>
              <a:t>Found 404 compresses weeks of manual testing into 12 minutes of autonomous scanning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7" name="Shape 1397"/>
        <p:cNvGrpSpPr/>
        <p:nvPr/>
      </p:nvGrpSpPr>
      <p:grpSpPr>
        <a:xfrm>
          <a:off x="0" y="0"/>
          <a:ext cx="0" cy="0"/>
          <a:chOff x="0" y="0"/>
          <a:chExt cx="0" cy="0"/>
        </a:xfrm>
      </p:grpSpPr>
      <p:sp>
        <p:nvSpPr>
          <p:cNvPr id="1398" name="Google Shape;1398;p40"/>
          <p:cNvSpPr/>
          <p:nvPr/>
        </p:nvSpPr>
        <p:spPr>
          <a:xfrm>
            <a:off x="0" y="0"/>
            <a:ext cx="9144000" cy="146304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40"/>
          <p:cNvSpPr/>
          <p:nvPr/>
        </p:nvSpPr>
        <p:spPr>
          <a:xfrm>
            <a:off x="6858000" y="-640080"/>
            <a:ext cx="2743200" cy="2743200"/>
          </a:xfrm>
          <a:prstGeom prst="ellipse">
            <a:avLst/>
          </a:prstGeom>
          <a:solidFill>
            <a:srgbClr val="0891B2">
              <a:alpha val="45098"/>
            </a:srgbClr>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400" name="Google Shape;1400;p40"/>
          <p:cNvSpPr/>
          <p:nvPr/>
        </p:nvSpPr>
        <p:spPr>
          <a:xfrm>
            <a:off x="457200" y="45725"/>
            <a:ext cx="6400800" cy="64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600"/>
              <a:buFont typeface="Merriweather"/>
              <a:buNone/>
            </a:pPr>
            <a:r>
              <a:rPr b="1" lang="en-US" sz="2200">
                <a:solidFill>
                  <a:schemeClr val="lt1"/>
                </a:solidFill>
                <a:latin typeface="Merriweather"/>
                <a:ea typeface="Merriweather"/>
                <a:cs typeface="Merriweather"/>
                <a:sym typeface="Merriweather"/>
              </a:rPr>
              <a:t>SMEs SECURITY ORCHESTRATION CENTER</a:t>
            </a:r>
            <a:endParaRPr b="1" sz="2100">
              <a:solidFill>
                <a:srgbClr val="FFFFFF"/>
              </a:solidFill>
              <a:latin typeface="Merriweather"/>
              <a:ea typeface="Merriweather"/>
              <a:cs typeface="Merriweather"/>
              <a:sym typeface="Merriweather"/>
            </a:endParaRPr>
          </a:p>
        </p:txBody>
      </p:sp>
      <p:sp>
        <p:nvSpPr>
          <p:cNvPr id="1401" name="Google Shape;1401;p40"/>
          <p:cNvSpPr/>
          <p:nvPr/>
        </p:nvSpPr>
        <p:spPr>
          <a:xfrm>
            <a:off x="457200" y="713232"/>
            <a:ext cx="7772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FAFE"/>
              </a:buClr>
              <a:buSzPts val="1000"/>
              <a:buFont typeface="Merriweather"/>
              <a:buNone/>
            </a:pPr>
            <a:r>
              <a:rPr b="1" i="0" lang="en-US" sz="1100" u="none" cap="none" strike="noStrike">
                <a:solidFill>
                  <a:srgbClr val="CFFAFE"/>
                </a:solidFill>
                <a:latin typeface="Merriweather"/>
                <a:ea typeface="Merriweather"/>
                <a:cs typeface="Merriweather"/>
                <a:sym typeface="Merriweather"/>
              </a:rPr>
              <a:t>AUTONOMOUS SECURITY, REDEFINED FOR SMEs</a:t>
            </a:r>
            <a:endParaRPr b="1" i="0" sz="1100" u="none" cap="none" strike="noStrike">
              <a:solidFill>
                <a:schemeClr val="dk1"/>
              </a:solidFill>
              <a:latin typeface="Calibri"/>
              <a:ea typeface="Calibri"/>
              <a:cs typeface="Calibri"/>
              <a:sym typeface="Calibri"/>
            </a:endParaRPr>
          </a:p>
        </p:txBody>
      </p:sp>
      <p:sp>
        <p:nvSpPr>
          <p:cNvPr id="1402" name="Google Shape;1402;p40"/>
          <p:cNvSpPr/>
          <p:nvPr/>
        </p:nvSpPr>
        <p:spPr>
          <a:xfrm>
            <a:off x="347472" y="1627632"/>
            <a:ext cx="1993392" cy="2103120"/>
          </a:xfrm>
          <a:prstGeom prst="rect">
            <a:avLst/>
          </a:prstGeom>
          <a:solidFill>
            <a:srgbClr val="E8F9FD"/>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403" name="Google Shape;1403;p40"/>
          <p:cNvSpPr/>
          <p:nvPr/>
        </p:nvSpPr>
        <p:spPr>
          <a:xfrm>
            <a:off x="347472" y="1719072"/>
            <a:ext cx="199339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B6D4"/>
              </a:buClr>
              <a:buSzPts val="2000"/>
              <a:buFont typeface="Merriweather"/>
              <a:buNone/>
            </a:pPr>
            <a:r>
              <a:rPr b="1" i="0" lang="en-US" sz="2100" u="none" cap="none" strike="noStrike">
                <a:solidFill>
                  <a:srgbClr val="06B6D4"/>
                </a:solidFill>
                <a:latin typeface="Merriweather"/>
                <a:ea typeface="Merriweather"/>
                <a:cs typeface="Merriweather"/>
                <a:sym typeface="Merriweather"/>
              </a:rPr>
              <a:t>01</a:t>
            </a:r>
            <a:endParaRPr b="0" i="0" sz="2100" u="none" cap="none" strike="noStrike">
              <a:solidFill>
                <a:schemeClr val="dk1"/>
              </a:solidFill>
              <a:latin typeface="Calibri"/>
              <a:ea typeface="Calibri"/>
              <a:cs typeface="Calibri"/>
              <a:sym typeface="Calibri"/>
            </a:endParaRPr>
          </a:p>
        </p:txBody>
      </p:sp>
      <p:sp>
        <p:nvSpPr>
          <p:cNvPr id="1404" name="Google Shape;1404;p40"/>
          <p:cNvSpPr/>
          <p:nvPr/>
        </p:nvSpPr>
        <p:spPr>
          <a:xfrm>
            <a:off x="457200" y="2176272"/>
            <a:ext cx="177393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950"/>
              <a:buFont typeface="Merriweather"/>
              <a:buNone/>
            </a:pPr>
            <a:r>
              <a:rPr b="1" i="0" lang="en-US" sz="1050" u="none" cap="none" strike="noStrike">
                <a:solidFill>
                  <a:srgbClr val="0F172A"/>
                </a:solidFill>
                <a:latin typeface="Merriweather"/>
                <a:ea typeface="Merriweather"/>
                <a:cs typeface="Merriweather"/>
                <a:sym typeface="Merriweather"/>
              </a:rPr>
              <a:t>Deterministic Hybrid Model</a:t>
            </a:r>
            <a:endParaRPr b="0" i="0" sz="1050" u="none" cap="none" strike="noStrike">
              <a:solidFill>
                <a:schemeClr val="dk1"/>
              </a:solidFill>
              <a:latin typeface="Calibri"/>
              <a:ea typeface="Calibri"/>
              <a:cs typeface="Calibri"/>
              <a:sym typeface="Calibri"/>
            </a:endParaRPr>
          </a:p>
        </p:txBody>
      </p:sp>
      <p:sp>
        <p:nvSpPr>
          <p:cNvPr id="1405" name="Google Shape;1405;p40"/>
          <p:cNvSpPr/>
          <p:nvPr/>
        </p:nvSpPr>
        <p:spPr>
          <a:xfrm>
            <a:off x="438912" y="2651760"/>
            <a:ext cx="1810512" cy="8961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34155"/>
              </a:buClr>
              <a:buSzPts val="850"/>
              <a:buFont typeface="Merriweather"/>
              <a:buNone/>
            </a:pPr>
            <a:r>
              <a:rPr b="0" i="0" lang="en-US" sz="950" u="none" cap="none" strike="noStrike">
                <a:solidFill>
                  <a:srgbClr val="334155"/>
                </a:solidFill>
                <a:latin typeface="Merriweather"/>
                <a:ea typeface="Merriweather"/>
                <a:cs typeface="Merriweather"/>
                <a:sym typeface="Merriweather"/>
              </a:rPr>
              <a:t>Enterprise-grade DAST delivered by fixed pipelines + AI advisory</a:t>
            </a:r>
            <a:endParaRPr b="0" i="0" sz="950" u="none" cap="none" strike="noStrike">
              <a:solidFill>
                <a:schemeClr val="dk1"/>
              </a:solidFill>
              <a:latin typeface="Calibri"/>
              <a:ea typeface="Calibri"/>
              <a:cs typeface="Calibri"/>
              <a:sym typeface="Calibri"/>
            </a:endParaRPr>
          </a:p>
        </p:txBody>
      </p:sp>
      <p:sp>
        <p:nvSpPr>
          <p:cNvPr id="1406" name="Google Shape;1406;p40"/>
          <p:cNvSpPr/>
          <p:nvPr/>
        </p:nvSpPr>
        <p:spPr>
          <a:xfrm>
            <a:off x="2523744" y="1627632"/>
            <a:ext cx="1993392" cy="2103120"/>
          </a:xfrm>
          <a:prstGeom prst="rect">
            <a:avLst/>
          </a:prstGeom>
          <a:solidFill>
            <a:srgbClr val="D1FAE5"/>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407" name="Google Shape;1407;p40"/>
          <p:cNvSpPr/>
          <p:nvPr/>
        </p:nvSpPr>
        <p:spPr>
          <a:xfrm>
            <a:off x="2523744" y="1719072"/>
            <a:ext cx="199339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B6D4"/>
              </a:buClr>
              <a:buSzPts val="2000"/>
              <a:buFont typeface="Merriweather"/>
              <a:buNone/>
            </a:pPr>
            <a:r>
              <a:rPr b="1" i="0" lang="en-US" sz="2100" u="none" cap="none" strike="noStrike">
                <a:solidFill>
                  <a:srgbClr val="06B6D4"/>
                </a:solidFill>
                <a:latin typeface="Merriweather"/>
                <a:ea typeface="Merriweather"/>
                <a:cs typeface="Merriweather"/>
                <a:sym typeface="Merriweather"/>
              </a:rPr>
              <a:t>02</a:t>
            </a:r>
            <a:endParaRPr b="0" i="0" sz="2100" u="none" cap="none" strike="noStrike">
              <a:solidFill>
                <a:schemeClr val="dk1"/>
              </a:solidFill>
              <a:latin typeface="Calibri"/>
              <a:ea typeface="Calibri"/>
              <a:cs typeface="Calibri"/>
              <a:sym typeface="Calibri"/>
            </a:endParaRPr>
          </a:p>
        </p:txBody>
      </p:sp>
      <p:sp>
        <p:nvSpPr>
          <p:cNvPr id="1408" name="Google Shape;1408;p40"/>
          <p:cNvSpPr/>
          <p:nvPr/>
        </p:nvSpPr>
        <p:spPr>
          <a:xfrm>
            <a:off x="2633472" y="2176272"/>
            <a:ext cx="177393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950"/>
              <a:buFont typeface="Merriweather"/>
              <a:buNone/>
            </a:pPr>
            <a:r>
              <a:rPr b="1" i="0" lang="en-US" sz="1050" u="none" cap="none" strike="noStrike">
                <a:solidFill>
                  <a:srgbClr val="0F172A"/>
                </a:solidFill>
                <a:latin typeface="Merriweather"/>
                <a:ea typeface="Merriweather"/>
                <a:cs typeface="Merriweather"/>
                <a:sym typeface="Merriweather"/>
              </a:rPr>
              <a:t>Autonomous Orchestration</a:t>
            </a:r>
            <a:endParaRPr b="0" i="0" sz="1050" u="none" cap="none" strike="noStrike">
              <a:solidFill>
                <a:schemeClr val="dk1"/>
              </a:solidFill>
              <a:latin typeface="Calibri"/>
              <a:ea typeface="Calibri"/>
              <a:cs typeface="Calibri"/>
              <a:sym typeface="Calibri"/>
            </a:endParaRPr>
          </a:p>
        </p:txBody>
      </p:sp>
      <p:sp>
        <p:nvSpPr>
          <p:cNvPr id="1409" name="Google Shape;1409;p40"/>
          <p:cNvSpPr/>
          <p:nvPr/>
        </p:nvSpPr>
        <p:spPr>
          <a:xfrm>
            <a:off x="2615184" y="2651760"/>
            <a:ext cx="1810512" cy="8961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34155"/>
              </a:buClr>
              <a:buSzPts val="850"/>
              <a:buFont typeface="Merriweather"/>
              <a:buNone/>
            </a:pPr>
            <a:r>
              <a:rPr b="0" i="0" lang="en-US" sz="950" u="none" cap="none" strike="noStrike">
                <a:solidFill>
                  <a:srgbClr val="334155"/>
                </a:solidFill>
                <a:latin typeface="Merriweather"/>
                <a:ea typeface="Merriweather"/>
                <a:cs typeface="Merriweather"/>
                <a:sym typeface="Merriweather"/>
              </a:rPr>
              <a:t>Celery/Redis pipeline runs Nmap, Nuclei, Wazuh in full automation</a:t>
            </a:r>
            <a:endParaRPr b="0" i="0" sz="950" u="none" cap="none" strike="noStrike">
              <a:solidFill>
                <a:schemeClr val="dk1"/>
              </a:solidFill>
              <a:latin typeface="Calibri"/>
              <a:ea typeface="Calibri"/>
              <a:cs typeface="Calibri"/>
              <a:sym typeface="Calibri"/>
            </a:endParaRPr>
          </a:p>
        </p:txBody>
      </p:sp>
      <p:sp>
        <p:nvSpPr>
          <p:cNvPr id="1410" name="Google Shape;1410;p40"/>
          <p:cNvSpPr/>
          <p:nvPr/>
        </p:nvSpPr>
        <p:spPr>
          <a:xfrm>
            <a:off x="4700016" y="1627632"/>
            <a:ext cx="1993392" cy="2103120"/>
          </a:xfrm>
          <a:prstGeom prst="rect">
            <a:avLst/>
          </a:prstGeom>
          <a:solidFill>
            <a:srgbClr val="EDE9FE"/>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411" name="Google Shape;1411;p40"/>
          <p:cNvSpPr/>
          <p:nvPr/>
        </p:nvSpPr>
        <p:spPr>
          <a:xfrm>
            <a:off x="4700016" y="1719072"/>
            <a:ext cx="199339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B6D4"/>
              </a:buClr>
              <a:buSzPts val="2000"/>
              <a:buFont typeface="Merriweather"/>
              <a:buNone/>
            </a:pPr>
            <a:r>
              <a:rPr b="1" i="0" lang="en-US" sz="2100" u="none" cap="none" strike="noStrike">
                <a:solidFill>
                  <a:srgbClr val="06B6D4"/>
                </a:solidFill>
                <a:latin typeface="Merriweather"/>
                <a:ea typeface="Merriweather"/>
                <a:cs typeface="Merriweather"/>
                <a:sym typeface="Merriweather"/>
              </a:rPr>
              <a:t>03</a:t>
            </a:r>
            <a:endParaRPr b="0" i="0" sz="2100" u="none" cap="none" strike="noStrike">
              <a:solidFill>
                <a:schemeClr val="dk1"/>
              </a:solidFill>
              <a:latin typeface="Calibri"/>
              <a:ea typeface="Calibri"/>
              <a:cs typeface="Calibri"/>
              <a:sym typeface="Calibri"/>
            </a:endParaRPr>
          </a:p>
        </p:txBody>
      </p:sp>
      <p:sp>
        <p:nvSpPr>
          <p:cNvPr id="1412" name="Google Shape;1412;p40"/>
          <p:cNvSpPr/>
          <p:nvPr/>
        </p:nvSpPr>
        <p:spPr>
          <a:xfrm>
            <a:off x="4809744" y="2176272"/>
            <a:ext cx="177393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950"/>
              <a:buFont typeface="Merriweather"/>
              <a:buNone/>
            </a:pPr>
            <a:r>
              <a:rPr b="1" i="0" lang="en-US" sz="1050" u="none" cap="none" strike="noStrike">
                <a:solidFill>
                  <a:srgbClr val="0F172A"/>
                </a:solidFill>
                <a:latin typeface="Merriweather"/>
                <a:ea typeface="Merriweather"/>
                <a:cs typeface="Merriweather"/>
                <a:sym typeface="Merriweather"/>
              </a:rPr>
              <a:t>Visual Intelligence</a:t>
            </a:r>
            <a:endParaRPr b="0" i="0" sz="1050" u="none" cap="none" strike="noStrike">
              <a:solidFill>
                <a:schemeClr val="dk1"/>
              </a:solidFill>
              <a:latin typeface="Calibri"/>
              <a:ea typeface="Calibri"/>
              <a:cs typeface="Calibri"/>
              <a:sym typeface="Calibri"/>
            </a:endParaRPr>
          </a:p>
        </p:txBody>
      </p:sp>
      <p:sp>
        <p:nvSpPr>
          <p:cNvPr id="1413" name="Google Shape;1413;p40"/>
          <p:cNvSpPr/>
          <p:nvPr/>
        </p:nvSpPr>
        <p:spPr>
          <a:xfrm>
            <a:off x="4791456" y="2651760"/>
            <a:ext cx="1810512" cy="8961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34155"/>
              </a:buClr>
              <a:buSzPts val="850"/>
              <a:buFont typeface="Merriweather"/>
              <a:buNone/>
            </a:pPr>
            <a:r>
              <a:rPr b="0" i="0" lang="en-US" sz="950" u="none" cap="none" strike="noStrike">
                <a:solidFill>
                  <a:srgbClr val="334155"/>
                </a:solidFill>
                <a:latin typeface="Merriweather"/>
                <a:ea typeface="Merriweather"/>
                <a:cs typeface="Merriweather"/>
                <a:sym typeface="Merriweather"/>
              </a:rPr>
              <a:t>D3 Force-Graph transforms raw findings into instant threat clarity</a:t>
            </a:r>
            <a:endParaRPr b="0" i="0" sz="950" u="none" cap="none" strike="noStrike">
              <a:solidFill>
                <a:schemeClr val="dk1"/>
              </a:solidFill>
              <a:latin typeface="Calibri"/>
              <a:ea typeface="Calibri"/>
              <a:cs typeface="Calibri"/>
              <a:sym typeface="Calibri"/>
            </a:endParaRPr>
          </a:p>
        </p:txBody>
      </p:sp>
      <p:sp>
        <p:nvSpPr>
          <p:cNvPr id="1414" name="Google Shape;1414;p40"/>
          <p:cNvSpPr/>
          <p:nvPr/>
        </p:nvSpPr>
        <p:spPr>
          <a:xfrm>
            <a:off x="6876288" y="1627632"/>
            <a:ext cx="1993392" cy="2103120"/>
          </a:xfrm>
          <a:prstGeom prst="rect">
            <a:avLst/>
          </a:prstGeom>
          <a:solidFill>
            <a:srgbClr val="FEF3C7"/>
          </a:solidFill>
          <a:ln cap="flat" cmpd="sng" w="12700">
            <a:solidFill>
              <a:srgbClr val="BAE6FD"/>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1415" name="Google Shape;1415;p40"/>
          <p:cNvSpPr/>
          <p:nvPr/>
        </p:nvSpPr>
        <p:spPr>
          <a:xfrm>
            <a:off x="6876288" y="1719072"/>
            <a:ext cx="1993392"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B6D4"/>
              </a:buClr>
              <a:buSzPts val="2000"/>
              <a:buFont typeface="Merriweather"/>
              <a:buNone/>
            </a:pPr>
            <a:r>
              <a:rPr b="1" i="0" lang="en-US" sz="2100" u="none" cap="none" strike="noStrike">
                <a:solidFill>
                  <a:srgbClr val="06B6D4"/>
                </a:solidFill>
                <a:latin typeface="Merriweather"/>
                <a:ea typeface="Merriweather"/>
                <a:cs typeface="Merriweather"/>
                <a:sym typeface="Merriweather"/>
              </a:rPr>
              <a:t>04</a:t>
            </a:r>
            <a:endParaRPr b="0" i="0" sz="2100" u="none" cap="none" strike="noStrike">
              <a:solidFill>
                <a:schemeClr val="dk1"/>
              </a:solidFill>
              <a:latin typeface="Calibri"/>
              <a:ea typeface="Calibri"/>
              <a:cs typeface="Calibri"/>
              <a:sym typeface="Calibri"/>
            </a:endParaRPr>
          </a:p>
        </p:txBody>
      </p:sp>
      <p:sp>
        <p:nvSpPr>
          <p:cNvPr id="1416" name="Google Shape;1416;p40"/>
          <p:cNvSpPr/>
          <p:nvPr/>
        </p:nvSpPr>
        <p:spPr>
          <a:xfrm>
            <a:off x="6986016" y="2176272"/>
            <a:ext cx="177393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950"/>
              <a:buFont typeface="Merriweather"/>
              <a:buNone/>
            </a:pPr>
            <a:r>
              <a:rPr b="1" i="0" lang="en-US" sz="1050" u="none" cap="none" strike="noStrike">
                <a:solidFill>
                  <a:srgbClr val="0F172A"/>
                </a:solidFill>
                <a:latin typeface="Merriweather"/>
                <a:ea typeface="Merriweather"/>
                <a:cs typeface="Merriweather"/>
                <a:sym typeface="Merriweather"/>
              </a:rPr>
              <a:t>SME Health Score</a:t>
            </a:r>
            <a:endParaRPr b="0" i="0" sz="1050" u="none" cap="none" strike="noStrike">
              <a:solidFill>
                <a:schemeClr val="dk1"/>
              </a:solidFill>
              <a:latin typeface="Calibri"/>
              <a:ea typeface="Calibri"/>
              <a:cs typeface="Calibri"/>
              <a:sym typeface="Calibri"/>
            </a:endParaRPr>
          </a:p>
        </p:txBody>
      </p:sp>
      <p:sp>
        <p:nvSpPr>
          <p:cNvPr id="1417" name="Google Shape;1417;p40"/>
          <p:cNvSpPr/>
          <p:nvPr/>
        </p:nvSpPr>
        <p:spPr>
          <a:xfrm>
            <a:off x="6967728" y="2651760"/>
            <a:ext cx="1810512" cy="896112"/>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34155"/>
              </a:buClr>
              <a:buSzPts val="850"/>
              <a:buFont typeface="Merriweather"/>
              <a:buNone/>
            </a:pPr>
            <a:r>
              <a:rPr b="0" i="0" lang="en-US" sz="950" u="none" cap="none" strike="noStrike">
                <a:solidFill>
                  <a:srgbClr val="334155"/>
                </a:solidFill>
                <a:latin typeface="Merriweather"/>
                <a:ea typeface="Merriweather"/>
                <a:cs typeface="Merriweather"/>
                <a:sym typeface="Merriweather"/>
              </a:rPr>
              <a:t>Complex risk distilled into one actionable number for business owners</a:t>
            </a:r>
            <a:endParaRPr b="0" i="0" sz="950" u="none" cap="none" strike="noStrike">
              <a:solidFill>
                <a:schemeClr val="dk1"/>
              </a:solidFill>
              <a:latin typeface="Calibri"/>
              <a:ea typeface="Calibri"/>
              <a:cs typeface="Calibri"/>
              <a:sym typeface="Calibri"/>
            </a:endParaRPr>
          </a:p>
        </p:txBody>
      </p:sp>
      <p:sp>
        <p:nvSpPr>
          <p:cNvPr id="1418" name="Google Shape;1418;p40"/>
          <p:cNvSpPr/>
          <p:nvPr/>
        </p:nvSpPr>
        <p:spPr>
          <a:xfrm>
            <a:off x="347472" y="3840480"/>
            <a:ext cx="8449056" cy="822960"/>
          </a:xfrm>
          <a:prstGeom prst="rect">
            <a:avLst/>
          </a:prstGeom>
          <a:solidFill>
            <a:srgbClr val="0F172A"/>
          </a:solidFill>
          <a:ln cap="flat" cmpd="sng" w="12700">
            <a:solidFill>
              <a:srgbClr val="0F172A"/>
            </a:solidFill>
            <a:prstDash val="solid"/>
            <a:round/>
            <a:headEnd len="sm" w="sm" type="none"/>
            <a:tailEnd len="sm" w="sm" type="none"/>
          </a:ln>
          <a:effectLst>
            <a:outerShdw blurRad="1016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40"/>
          <p:cNvSpPr/>
          <p:nvPr/>
        </p:nvSpPr>
        <p:spPr>
          <a:xfrm>
            <a:off x="347472" y="3840480"/>
            <a:ext cx="8449056"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Merriweather"/>
              <a:buNone/>
            </a:pPr>
            <a:r>
              <a:rPr b="1" i="0" lang="en-US" sz="1500" u="none" cap="none" strike="noStrike">
                <a:solidFill>
                  <a:srgbClr val="FFFFFF"/>
                </a:solidFill>
                <a:latin typeface="Merriweather"/>
                <a:ea typeface="Merriweather"/>
                <a:cs typeface="Merriweather"/>
                <a:sym typeface="Merriweather"/>
              </a:rPr>
              <a:t>Team Found 404 thanks you   ·  Live Lab Demo</a:t>
            </a:r>
            <a:endParaRPr b="0" i="0" sz="1500" u="none" cap="none" strike="noStrike">
              <a:solidFill>
                <a:schemeClr val="dk1"/>
              </a:solidFill>
              <a:latin typeface="Calibri"/>
              <a:ea typeface="Calibri"/>
              <a:cs typeface="Calibri"/>
              <a:sym typeface="Calibri"/>
            </a:endParaRPr>
          </a:p>
        </p:txBody>
      </p:sp>
      <p:sp>
        <p:nvSpPr>
          <p:cNvPr id="1420" name="Google Shape;1420;p40"/>
          <p:cNvSpPr/>
          <p:nvPr/>
        </p:nvSpPr>
        <p:spPr>
          <a:xfrm>
            <a:off x="0" y="5001768"/>
            <a:ext cx="9144000" cy="141732"/>
          </a:xfrm>
          <a:prstGeom prst="rect">
            <a:avLst/>
          </a:prstGeom>
          <a:solidFill>
            <a:srgbClr val="CFFAFE"/>
          </a:solidFill>
          <a:ln cap="flat" cmpd="sng" w="12700">
            <a:solidFill>
              <a:srgbClr val="CFFA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40"/>
          <p:cNvSpPr/>
          <p:nvPr/>
        </p:nvSpPr>
        <p:spPr>
          <a:xfrm>
            <a:off x="0" y="5074920"/>
            <a:ext cx="9144000" cy="68580"/>
          </a:xfrm>
          <a:prstGeom prst="rect">
            <a:avLst/>
          </a:prstGeom>
          <a:solidFill>
            <a:srgbClr val="06B6D4"/>
          </a:solidFill>
          <a:ln cap="flat" cmpd="sng" w="12700">
            <a:solidFill>
              <a:srgbClr val="06B6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26" name="Shape 1426"/>
        <p:cNvGrpSpPr/>
        <p:nvPr/>
      </p:nvGrpSpPr>
      <p:grpSpPr>
        <a:xfrm>
          <a:off x="0" y="0"/>
          <a:ext cx="0" cy="0"/>
          <a:chOff x="0" y="0"/>
          <a:chExt cx="0" cy="0"/>
        </a:xfrm>
      </p:grpSpPr>
      <p:sp>
        <p:nvSpPr>
          <p:cNvPr id="1427" name="Google Shape;1427;g3d2d178f3e5_5_137"/>
          <p:cNvSpPr/>
          <p:nvPr/>
        </p:nvSpPr>
        <p:spPr>
          <a:xfrm>
            <a:off x="0" y="-25"/>
            <a:ext cx="9144000" cy="594300"/>
          </a:xfrm>
          <a:prstGeom prst="rect">
            <a:avLst/>
          </a:prstGeom>
          <a:solidFill>
            <a:srgbClr val="1E293B"/>
          </a:solidFill>
          <a:ln cap="flat" cmpd="sng" w="12700">
            <a:solidFill>
              <a:srgbClr val="04081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latin typeface="Merriweather"/>
              <a:ea typeface="Merriweather"/>
              <a:cs typeface="Merriweather"/>
              <a:sym typeface="Merriweather"/>
            </a:endParaRPr>
          </a:p>
        </p:txBody>
      </p:sp>
      <p:sp>
        <p:nvSpPr>
          <p:cNvPr id="1428" name="Google Shape;1428;g3d2d178f3e5_5_137"/>
          <p:cNvSpPr/>
          <p:nvPr/>
        </p:nvSpPr>
        <p:spPr>
          <a:xfrm>
            <a:off x="457200" y="45725"/>
            <a:ext cx="8686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E0"/>
              </a:buClr>
              <a:buSzPts val="1000"/>
              <a:buFont typeface="Calibri"/>
              <a:buNone/>
            </a:pPr>
            <a:r>
              <a:rPr b="1" i="0" lang="en-US" u="none" cap="none" strike="noStrike">
                <a:solidFill>
                  <a:schemeClr val="lt1"/>
                </a:solidFill>
                <a:latin typeface="Merriweather"/>
                <a:ea typeface="Merriweather"/>
                <a:cs typeface="Merriweather"/>
                <a:sym typeface="Merriweather"/>
              </a:rPr>
              <a:t>FUTURE ROADMAP</a:t>
            </a:r>
            <a:endParaRPr b="1" i="0" u="none" cap="none" strike="noStrike">
              <a:solidFill>
                <a:schemeClr val="lt1"/>
              </a:solidFill>
              <a:latin typeface="Merriweather"/>
              <a:ea typeface="Merriweather"/>
              <a:cs typeface="Merriweather"/>
              <a:sym typeface="Merriweather"/>
            </a:endParaRPr>
          </a:p>
        </p:txBody>
      </p:sp>
      <p:sp>
        <p:nvSpPr>
          <p:cNvPr id="1429" name="Google Shape;1429;g3d2d178f3e5_5_137"/>
          <p:cNvSpPr/>
          <p:nvPr/>
        </p:nvSpPr>
        <p:spPr>
          <a:xfrm>
            <a:off x="457200" y="713232"/>
            <a:ext cx="82296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FAFC"/>
              </a:buClr>
              <a:buSzPts val="3000"/>
              <a:buFont typeface="Trebuchet MS"/>
              <a:buNone/>
            </a:pPr>
            <a:r>
              <a:rPr b="1" i="0" lang="en-US" sz="2800" u="none" cap="none" strike="noStrike">
                <a:solidFill>
                  <a:schemeClr val="dk1"/>
                </a:solidFill>
                <a:latin typeface="Merriweather"/>
                <a:ea typeface="Merriweather"/>
                <a:cs typeface="Merriweather"/>
                <a:sym typeface="Merriweather"/>
              </a:rPr>
              <a:t>Scalability &amp; Future Planning</a:t>
            </a:r>
            <a:endParaRPr i="0" sz="2800" u="none" cap="none" strike="noStrike">
              <a:solidFill>
                <a:schemeClr val="dk1"/>
              </a:solidFill>
              <a:latin typeface="Merriweather"/>
              <a:ea typeface="Merriweather"/>
              <a:cs typeface="Merriweather"/>
              <a:sym typeface="Merriweather"/>
            </a:endParaRPr>
          </a:p>
        </p:txBody>
      </p:sp>
      <p:sp>
        <p:nvSpPr>
          <p:cNvPr id="1430" name="Google Shape;1430;g3d2d178f3e5_5_137"/>
          <p:cNvSpPr/>
          <p:nvPr/>
        </p:nvSpPr>
        <p:spPr>
          <a:xfrm>
            <a:off x="365739" y="1508750"/>
            <a:ext cx="5601900" cy="3337500"/>
          </a:xfrm>
          <a:prstGeom prst="rect">
            <a:avLst/>
          </a:prstGeom>
          <a:solidFill>
            <a:srgbClr val="1E293B"/>
          </a:solidFill>
          <a:ln>
            <a:noFill/>
          </a:ln>
          <a:effectLst>
            <a:outerShdw blurRad="1270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600">
              <a:solidFill>
                <a:schemeClr val="lt1"/>
              </a:solidFill>
              <a:latin typeface="Merriweather"/>
              <a:ea typeface="Merriweather"/>
              <a:cs typeface="Merriweather"/>
              <a:sym typeface="Merriweather"/>
            </a:endParaRPr>
          </a:p>
        </p:txBody>
      </p:sp>
      <p:sp>
        <p:nvSpPr>
          <p:cNvPr id="1431" name="Google Shape;1431;g3d2d178f3e5_5_137"/>
          <p:cNvSpPr/>
          <p:nvPr/>
        </p:nvSpPr>
        <p:spPr>
          <a:xfrm>
            <a:off x="457200" y="1627632"/>
            <a:ext cx="2514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300"/>
              <a:buFont typeface="Trebuchet MS"/>
              <a:buNone/>
            </a:pPr>
            <a:r>
              <a:rPr b="1" i="0" lang="en-US" sz="1500" u="none" cap="none" strike="noStrike">
                <a:solidFill>
                  <a:schemeClr val="lt1"/>
                </a:solidFill>
                <a:latin typeface="Merriweather"/>
                <a:ea typeface="Merriweather"/>
                <a:cs typeface="Merriweather"/>
                <a:sym typeface="Merriweather"/>
              </a:rPr>
              <a:t>Phase 1 (Now)</a:t>
            </a:r>
            <a:endParaRPr b="1" i="0" sz="1500" u="none" cap="none" strike="noStrike">
              <a:solidFill>
                <a:schemeClr val="lt1"/>
              </a:solidFill>
              <a:latin typeface="Merriweather"/>
              <a:ea typeface="Merriweather"/>
              <a:cs typeface="Merriweather"/>
              <a:sym typeface="Merriweather"/>
            </a:endParaRPr>
          </a:p>
        </p:txBody>
      </p:sp>
      <p:sp>
        <p:nvSpPr>
          <p:cNvPr id="1432" name="Google Shape;1432;g3d2d178f3e5_5_137"/>
          <p:cNvSpPr/>
          <p:nvPr/>
        </p:nvSpPr>
        <p:spPr>
          <a:xfrm>
            <a:off x="503100" y="2175949"/>
            <a:ext cx="2423100" cy="2003100"/>
          </a:xfrm>
          <a:prstGeom prst="rect">
            <a:avLst/>
          </a:prstGeom>
          <a:noFill/>
          <a:ln>
            <a:noFill/>
          </a:ln>
        </p:spPr>
        <p:txBody>
          <a:bodyPr anchorCtr="0" anchor="ctr" bIns="0" lIns="0" spcFirstLastPara="1" rIns="0" wrap="square" tIns="0">
            <a:noAutofit/>
          </a:bodyPr>
          <a:lstStyle/>
          <a:p>
            <a:pPr indent="-355600" lvl="0" marL="342900" marR="0" rtl="0" algn="l">
              <a:lnSpc>
                <a:spcPct val="115000"/>
              </a:lnSpc>
              <a:spcBef>
                <a:spcPts val="0"/>
              </a:spcBef>
              <a:spcAft>
                <a:spcPts val="0"/>
              </a:spcAft>
              <a:buClr>
                <a:schemeClr val="lt1"/>
              </a:buClr>
              <a:buSzPts val="1300"/>
              <a:buFont typeface="Merriweather"/>
              <a:buChar char="•"/>
            </a:pPr>
            <a:r>
              <a:rPr i="0" lang="en-US" sz="1300" u="none" cap="none" strike="noStrike">
                <a:solidFill>
                  <a:schemeClr val="lt1"/>
                </a:solidFill>
                <a:latin typeface="Merriweather"/>
                <a:ea typeface="Merriweather"/>
                <a:cs typeface="Merriweather"/>
                <a:sym typeface="Merriweather"/>
              </a:rPr>
              <a:t>Multi-container Docker stack</a:t>
            </a:r>
            <a:endParaRPr i="0" sz="1300" u="none" cap="none" strike="noStrike">
              <a:solidFill>
                <a:schemeClr val="lt1"/>
              </a:solidFill>
              <a:latin typeface="Merriweather"/>
              <a:ea typeface="Merriweather"/>
              <a:cs typeface="Merriweather"/>
              <a:sym typeface="Merriweather"/>
            </a:endParaRPr>
          </a:p>
          <a:p>
            <a:pPr indent="-355600" lvl="0" marL="342900" marR="0" rtl="0" algn="l">
              <a:lnSpc>
                <a:spcPct val="115000"/>
              </a:lnSpc>
              <a:spcBef>
                <a:spcPts val="500"/>
              </a:spcBef>
              <a:spcAft>
                <a:spcPts val="0"/>
              </a:spcAft>
              <a:buClr>
                <a:schemeClr val="lt1"/>
              </a:buClr>
              <a:buSzPts val="1300"/>
              <a:buFont typeface="Merriweather"/>
              <a:buChar char="•"/>
            </a:pPr>
            <a:r>
              <a:rPr i="0" lang="en-US" sz="1300" u="none" cap="none" strike="noStrike">
                <a:solidFill>
                  <a:schemeClr val="lt1"/>
                </a:solidFill>
                <a:latin typeface="Merriweather"/>
                <a:ea typeface="Merriweather"/>
                <a:cs typeface="Merriweather"/>
                <a:sym typeface="Merriweather"/>
              </a:rPr>
              <a:t>DAST scanning pipeline</a:t>
            </a:r>
            <a:endParaRPr i="0" sz="1300" u="none" cap="none" strike="noStrike">
              <a:solidFill>
                <a:schemeClr val="lt1"/>
              </a:solidFill>
              <a:latin typeface="Merriweather"/>
              <a:ea typeface="Merriweather"/>
              <a:cs typeface="Merriweather"/>
              <a:sym typeface="Merriweather"/>
            </a:endParaRPr>
          </a:p>
          <a:p>
            <a:pPr indent="-355600" lvl="0" marL="342900" marR="0" rtl="0" algn="l">
              <a:lnSpc>
                <a:spcPct val="115000"/>
              </a:lnSpc>
              <a:spcBef>
                <a:spcPts val="500"/>
              </a:spcBef>
              <a:spcAft>
                <a:spcPts val="0"/>
              </a:spcAft>
              <a:buClr>
                <a:schemeClr val="lt1"/>
              </a:buClr>
              <a:buSzPts val="1300"/>
              <a:buFont typeface="Merriweather"/>
              <a:buChar char="•"/>
            </a:pPr>
            <a:r>
              <a:rPr i="0" lang="en-US" sz="1300" u="none" cap="none" strike="noStrike">
                <a:solidFill>
                  <a:schemeClr val="lt1"/>
                </a:solidFill>
                <a:latin typeface="Merriweather"/>
                <a:ea typeface="Merriweather"/>
                <a:cs typeface="Merriweather"/>
                <a:sym typeface="Merriweather"/>
              </a:rPr>
              <a:t>Force Graph visualization</a:t>
            </a:r>
            <a:endParaRPr i="0" sz="1300" u="none" cap="none" strike="noStrike">
              <a:solidFill>
                <a:schemeClr val="lt1"/>
              </a:solidFill>
              <a:latin typeface="Merriweather"/>
              <a:ea typeface="Merriweather"/>
              <a:cs typeface="Merriweather"/>
              <a:sym typeface="Merriweather"/>
            </a:endParaRPr>
          </a:p>
          <a:p>
            <a:pPr indent="-355600" lvl="0" marL="342900" marR="0" rtl="0" algn="l">
              <a:lnSpc>
                <a:spcPct val="115000"/>
              </a:lnSpc>
              <a:spcBef>
                <a:spcPts val="500"/>
              </a:spcBef>
              <a:spcAft>
                <a:spcPts val="0"/>
              </a:spcAft>
              <a:buClr>
                <a:schemeClr val="lt1"/>
              </a:buClr>
              <a:buSzPts val="1300"/>
              <a:buFont typeface="Merriweather"/>
              <a:buChar char="•"/>
            </a:pPr>
            <a:r>
              <a:rPr i="0" lang="en-US" sz="1300" u="none" cap="none" strike="noStrike">
                <a:solidFill>
                  <a:schemeClr val="lt1"/>
                </a:solidFill>
                <a:latin typeface="Merriweather"/>
                <a:ea typeface="Merriweather"/>
                <a:cs typeface="Merriweather"/>
                <a:sym typeface="Merriweather"/>
              </a:rPr>
              <a:t>SME Health Score</a:t>
            </a:r>
            <a:endParaRPr sz="1300">
              <a:solidFill>
                <a:schemeClr val="lt1"/>
              </a:solidFill>
              <a:latin typeface="Merriweather"/>
              <a:ea typeface="Merriweather"/>
              <a:cs typeface="Merriweather"/>
              <a:sym typeface="Merriweather"/>
            </a:endParaRPr>
          </a:p>
        </p:txBody>
      </p:sp>
      <p:sp>
        <p:nvSpPr>
          <p:cNvPr id="1433" name="Google Shape;1433;g3d2d178f3e5_5_137"/>
          <p:cNvSpPr/>
          <p:nvPr/>
        </p:nvSpPr>
        <p:spPr>
          <a:xfrm>
            <a:off x="3383280" y="2103120"/>
            <a:ext cx="2423100" cy="2469000"/>
          </a:xfrm>
          <a:prstGeom prst="rect">
            <a:avLst/>
          </a:prstGeom>
          <a:noFill/>
          <a:ln>
            <a:noFill/>
          </a:ln>
        </p:spPr>
        <p:txBody>
          <a:bodyPr anchorCtr="0" anchor="ctr" bIns="0" lIns="0" spcFirstLastPara="1" rIns="0" wrap="square" tIns="0">
            <a:noAutofit/>
          </a:bodyPr>
          <a:lstStyle/>
          <a:p>
            <a:pPr indent="-355600" lvl="0" marL="342900" marR="0" rtl="0" algn="l">
              <a:lnSpc>
                <a:spcPct val="115000"/>
              </a:lnSpc>
              <a:spcBef>
                <a:spcPts val="0"/>
              </a:spcBef>
              <a:spcAft>
                <a:spcPts val="0"/>
              </a:spcAft>
              <a:buClr>
                <a:schemeClr val="lt1"/>
              </a:buClr>
              <a:buSzPts val="1300"/>
              <a:buFont typeface="Merriweather"/>
              <a:buChar char="•"/>
            </a:pPr>
            <a:r>
              <a:rPr i="0" lang="en-US" sz="1300" u="none" cap="none" strike="noStrike">
                <a:solidFill>
                  <a:schemeClr val="lt1"/>
                </a:solidFill>
                <a:latin typeface="Merriweather"/>
                <a:ea typeface="Merriweather"/>
                <a:cs typeface="Merriweather"/>
                <a:sym typeface="Merriweather"/>
              </a:rPr>
              <a:t>RBAC (Role-Based Access Control)</a:t>
            </a:r>
            <a:endParaRPr i="0" sz="1300" u="none" cap="none" strike="noStrike">
              <a:solidFill>
                <a:schemeClr val="lt1"/>
              </a:solidFill>
              <a:latin typeface="Merriweather"/>
              <a:ea typeface="Merriweather"/>
              <a:cs typeface="Merriweather"/>
              <a:sym typeface="Merriweather"/>
            </a:endParaRPr>
          </a:p>
          <a:p>
            <a:pPr indent="-355600" lvl="0" marL="342900" marR="0" rtl="0" algn="l">
              <a:lnSpc>
                <a:spcPct val="115000"/>
              </a:lnSpc>
              <a:spcBef>
                <a:spcPts val="500"/>
              </a:spcBef>
              <a:spcAft>
                <a:spcPts val="0"/>
              </a:spcAft>
              <a:buClr>
                <a:schemeClr val="lt1"/>
              </a:buClr>
              <a:buSzPts val="1300"/>
              <a:buFont typeface="Merriweather"/>
              <a:buChar char="•"/>
            </a:pPr>
            <a:r>
              <a:rPr i="0" lang="en-US" sz="1300" u="none" cap="none" strike="noStrike">
                <a:solidFill>
                  <a:schemeClr val="lt1"/>
                </a:solidFill>
                <a:latin typeface="Merriweather"/>
                <a:ea typeface="Merriweather"/>
                <a:cs typeface="Merriweather"/>
                <a:sym typeface="Merriweather"/>
              </a:rPr>
              <a:t>Multi-tenant SaaS architecture</a:t>
            </a:r>
            <a:endParaRPr i="0" sz="1300" u="none" cap="none" strike="noStrike">
              <a:solidFill>
                <a:schemeClr val="lt1"/>
              </a:solidFill>
              <a:latin typeface="Merriweather"/>
              <a:ea typeface="Merriweather"/>
              <a:cs typeface="Merriweather"/>
              <a:sym typeface="Merriweather"/>
            </a:endParaRPr>
          </a:p>
          <a:p>
            <a:pPr indent="-355600" lvl="0" marL="342900" marR="0" rtl="0" algn="l">
              <a:lnSpc>
                <a:spcPct val="115000"/>
              </a:lnSpc>
              <a:spcBef>
                <a:spcPts val="500"/>
              </a:spcBef>
              <a:spcAft>
                <a:spcPts val="0"/>
              </a:spcAft>
              <a:buClr>
                <a:schemeClr val="lt1"/>
              </a:buClr>
              <a:buSzPts val="1300"/>
              <a:buFont typeface="Merriweather"/>
              <a:buChar char="•"/>
            </a:pPr>
            <a:r>
              <a:rPr i="0" lang="en-US" sz="1300" u="none" cap="none" strike="noStrike">
                <a:solidFill>
                  <a:schemeClr val="lt1"/>
                </a:solidFill>
                <a:latin typeface="Merriweather"/>
                <a:ea typeface="Merriweather"/>
                <a:cs typeface="Merriweather"/>
                <a:sym typeface="Merriweather"/>
              </a:rPr>
              <a:t>PDF report auto-generation</a:t>
            </a:r>
            <a:endParaRPr i="0" sz="1300" u="none" cap="none" strike="noStrike">
              <a:solidFill>
                <a:schemeClr val="lt1"/>
              </a:solidFill>
              <a:latin typeface="Merriweather"/>
              <a:ea typeface="Merriweather"/>
              <a:cs typeface="Merriweather"/>
              <a:sym typeface="Merriweather"/>
            </a:endParaRPr>
          </a:p>
          <a:p>
            <a:pPr indent="-355600" lvl="0" marL="342900" marR="0" rtl="0" algn="l">
              <a:lnSpc>
                <a:spcPct val="115000"/>
              </a:lnSpc>
              <a:spcBef>
                <a:spcPts val="500"/>
              </a:spcBef>
              <a:spcAft>
                <a:spcPts val="0"/>
              </a:spcAft>
              <a:buClr>
                <a:schemeClr val="lt1"/>
              </a:buClr>
              <a:buSzPts val="1300"/>
              <a:buFont typeface="Merriweather"/>
              <a:buChar char="•"/>
            </a:pPr>
            <a:r>
              <a:rPr i="0" lang="en-US" sz="1300" u="none" cap="none" strike="noStrike">
                <a:solidFill>
                  <a:schemeClr val="lt1"/>
                </a:solidFill>
                <a:latin typeface="Merriweather"/>
                <a:ea typeface="Merriweather"/>
                <a:cs typeface="Merriweather"/>
                <a:sym typeface="Merriweather"/>
              </a:rPr>
              <a:t>Mobile dashboard (React Native)</a:t>
            </a:r>
            <a:endParaRPr i="0" sz="1300" u="none" cap="none" strike="noStrike">
              <a:solidFill>
                <a:schemeClr val="lt1"/>
              </a:solidFill>
              <a:latin typeface="Merriweather"/>
              <a:ea typeface="Merriweather"/>
              <a:cs typeface="Merriweather"/>
              <a:sym typeface="Merriweather"/>
            </a:endParaRPr>
          </a:p>
        </p:txBody>
      </p:sp>
      <p:sp>
        <p:nvSpPr>
          <p:cNvPr id="1434" name="Google Shape;1434;g3d2d178f3e5_5_137"/>
          <p:cNvSpPr/>
          <p:nvPr/>
        </p:nvSpPr>
        <p:spPr>
          <a:xfrm>
            <a:off x="6126480" y="1508760"/>
            <a:ext cx="2697600" cy="3337500"/>
          </a:xfrm>
          <a:prstGeom prst="rect">
            <a:avLst/>
          </a:prstGeom>
          <a:solidFill>
            <a:srgbClr val="1E293B"/>
          </a:solidFill>
          <a:ln>
            <a:noFill/>
          </a:ln>
          <a:effectLst>
            <a:outerShdw blurRad="127000" rotWithShape="0" algn="bl" dir="8100000" dist="38100">
              <a:srgbClr val="000000">
                <a:alpha val="349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600">
              <a:solidFill>
                <a:schemeClr val="lt1"/>
              </a:solidFill>
              <a:latin typeface="Merriweather"/>
              <a:ea typeface="Merriweather"/>
              <a:cs typeface="Merriweather"/>
              <a:sym typeface="Merriweather"/>
            </a:endParaRPr>
          </a:p>
        </p:txBody>
      </p:sp>
      <p:sp>
        <p:nvSpPr>
          <p:cNvPr id="1435" name="Google Shape;1435;g3d2d178f3e5_5_137"/>
          <p:cNvSpPr/>
          <p:nvPr/>
        </p:nvSpPr>
        <p:spPr>
          <a:xfrm>
            <a:off x="6217920" y="1627632"/>
            <a:ext cx="2514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300"/>
              <a:buFont typeface="Trebuchet MS"/>
              <a:buNone/>
            </a:pPr>
            <a:r>
              <a:rPr b="1" i="0" lang="en-US" sz="1500" u="none" cap="none" strike="noStrike">
                <a:solidFill>
                  <a:schemeClr val="lt1"/>
                </a:solidFill>
                <a:latin typeface="Merriweather"/>
                <a:ea typeface="Merriweather"/>
                <a:cs typeface="Merriweather"/>
                <a:sym typeface="Merriweather"/>
              </a:rPr>
              <a:t>Phase </a:t>
            </a:r>
            <a:r>
              <a:rPr b="1" lang="en-US" sz="1500">
                <a:solidFill>
                  <a:schemeClr val="lt1"/>
                </a:solidFill>
                <a:latin typeface="Merriweather"/>
                <a:ea typeface="Merriweather"/>
                <a:cs typeface="Merriweather"/>
                <a:sym typeface="Merriweather"/>
              </a:rPr>
              <a:t>2</a:t>
            </a:r>
            <a:r>
              <a:rPr b="1" i="0" lang="en-US" sz="1500" u="none" cap="none" strike="noStrike">
                <a:solidFill>
                  <a:schemeClr val="lt1"/>
                </a:solidFill>
                <a:latin typeface="Merriweather"/>
                <a:ea typeface="Merriweather"/>
                <a:cs typeface="Merriweather"/>
                <a:sym typeface="Merriweather"/>
              </a:rPr>
              <a:t> (Future)</a:t>
            </a:r>
            <a:endParaRPr b="1" i="0" sz="1500" u="none" cap="none" strike="noStrike">
              <a:solidFill>
                <a:schemeClr val="lt1"/>
              </a:solidFill>
              <a:latin typeface="Merriweather"/>
              <a:ea typeface="Merriweather"/>
              <a:cs typeface="Merriweather"/>
              <a:sym typeface="Merriweather"/>
            </a:endParaRPr>
          </a:p>
        </p:txBody>
      </p:sp>
      <p:sp>
        <p:nvSpPr>
          <p:cNvPr id="1436" name="Google Shape;1436;g3d2d178f3e5_5_137"/>
          <p:cNvSpPr/>
          <p:nvPr/>
        </p:nvSpPr>
        <p:spPr>
          <a:xfrm>
            <a:off x="6263640" y="2103120"/>
            <a:ext cx="2423100" cy="2469000"/>
          </a:xfrm>
          <a:prstGeom prst="rect">
            <a:avLst/>
          </a:prstGeom>
          <a:noFill/>
          <a:ln>
            <a:noFill/>
          </a:ln>
        </p:spPr>
        <p:txBody>
          <a:bodyPr anchorCtr="0" anchor="ctr" bIns="0" lIns="0" spcFirstLastPara="1" rIns="0" wrap="square" tIns="0">
            <a:noAutofit/>
          </a:bodyPr>
          <a:lstStyle/>
          <a:p>
            <a:pPr indent="-355600" lvl="0" marL="342900" marR="0" rtl="0" algn="l">
              <a:lnSpc>
                <a:spcPct val="115000"/>
              </a:lnSpc>
              <a:spcBef>
                <a:spcPts val="0"/>
              </a:spcBef>
              <a:spcAft>
                <a:spcPts val="0"/>
              </a:spcAft>
              <a:buClr>
                <a:schemeClr val="lt1"/>
              </a:buClr>
              <a:buSzPts val="1300"/>
              <a:buFont typeface="Merriweather"/>
              <a:buChar char="•"/>
            </a:pPr>
            <a:r>
              <a:rPr i="0" lang="en-US" sz="1300" u="none" cap="none" strike="noStrike">
                <a:solidFill>
                  <a:schemeClr val="lt1"/>
                </a:solidFill>
                <a:latin typeface="Merriweather"/>
                <a:ea typeface="Merriweather"/>
                <a:cs typeface="Merriweather"/>
                <a:sym typeface="Merriweather"/>
              </a:rPr>
              <a:t>SOAR automated remediation</a:t>
            </a:r>
            <a:endParaRPr i="0" sz="1300" u="none" cap="none" strike="noStrike">
              <a:solidFill>
                <a:schemeClr val="lt1"/>
              </a:solidFill>
              <a:latin typeface="Merriweather"/>
              <a:ea typeface="Merriweather"/>
              <a:cs typeface="Merriweather"/>
              <a:sym typeface="Merriweather"/>
            </a:endParaRPr>
          </a:p>
          <a:p>
            <a:pPr indent="-355600" lvl="0" marL="342900" marR="0" rtl="0" algn="l">
              <a:lnSpc>
                <a:spcPct val="115000"/>
              </a:lnSpc>
              <a:spcBef>
                <a:spcPts val="500"/>
              </a:spcBef>
              <a:spcAft>
                <a:spcPts val="0"/>
              </a:spcAft>
              <a:buClr>
                <a:schemeClr val="lt1"/>
              </a:buClr>
              <a:buSzPts val="1300"/>
              <a:buFont typeface="Merriweather"/>
              <a:buChar char="•"/>
            </a:pPr>
            <a:r>
              <a:rPr i="0" lang="en-US" sz="1300" u="none" cap="none" strike="noStrike">
                <a:solidFill>
                  <a:schemeClr val="lt1"/>
                </a:solidFill>
                <a:latin typeface="Merriweather"/>
                <a:ea typeface="Merriweather"/>
                <a:cs typeface="Merriweather"/>
                <a:sym typeface="Merriweather"/>
              </a:rPr>
              <a:t>SIEM integration (Splunk/QRadar)</a:t>
            </a:r>
            <a:endParaRPr i="0" sz="1300" u="none" cap="none" strike="noStrike">
              <a:solidFill>
                <a:schemeClr val="lt1"/>
              </a:solidFill>
              <a:latin typeface="Merriweather"/>
              <a:ea typeface="Merriweather"/>
              <a:cs typeface="Merriweather"/>
              <a:sym typeface="Merriweather"/>
            </a:endParaRPr>
          </a:p>
          <a:p>
            <a:pPr indent="-355600" lvl="0" marL="342900" marR="0" rtl="0" algn="l">
              <a:lnSpc>
                <a:spcPct val="115000"/>
              </a:lnSpc>
              <a:spcBef>
                <a:spcPts val="500"/>
              </a:spcBef>
              <a:spcAft>
                <a:spcPts val="0"/>
              </a:spcAft>
              <a:buClr>
                <a:schemeClr val="lt1"/>
              </a:buClr>
              <a:buSzPts val="1300"/>
              <a:buFont typeface="Merriweather"/>
              <a:buChar char="•"/>
            </a:pPr>
            <a:r>
              <a:rPr i="0" lang="en-US" sz="1300" u="none" cap="none" strike="noStrike">
                <a:solidFill>
                  <a:schemeClr val="lt1"/>
                </a:solidFill>
                <a:latin typeface="Merriweather"/>
                <a:ea typeface="Merriweather"/>
                <a:cs typeface="Merriweather"/>
                <a:sym typeface="Merriweather"/>
              </a:rPr>
              <a:t>Threat intelligence feeds</a:t>
            </a:r>
            <a:endParaRPr i="0" sz="1300" u="none" cap="none" strike="noStrike">
              <a:solidFill>
                <a:schemeClr val="lt1"/>
              </a:solidFill>
              <a:latin typeface="Merriweather"/>
              <a:ea typeface="Merriweather"/>
              <a:cs typeface="Merriweather"/>
              <a:sym typeface="Merriweather"/>
            </a:endParaRPr>
          </a:p>
          <a:p>
            <a:pPr indent="-355600" lvl="0" marL="342900" marR="0" rtl="0" algn="l">
              <a:lnSpc>
                <a:spcPct val="115000"/>
              </a:lnSpc>
              <a:spcBef>
                <a:spcPts val="500"/>
              </a:spcBef>
              <a:spcAft>
                <a:spcPts val="0"/>
              </a:spcAft>
              <a:buClr>
                <a:schemeClr val="lt1"/>
              </a:buClr>
              <a:buSzPts val="1300"/>
              <a:buFont typeface="Merriweather"/>
              <a:buChar char="•"/>
            </a:pPr>
            <a:r>
              <a:rPr i="0" lang="en-US" sz="1300" u="none" cap="none" strike="noStrike">
                <a:solidFill>
                  <a:schemeClr val="lt1"/>
                </a:solidFill>
                <a:latin typeface="Merriweather"/>
                <a:ea typeface="Merriweather"/>
                <a:cs typeface="Merriweather"/>
                <a:sym typeface="Merriweather"/>
              </a:rPr>
              <a:t>Compliance reporting (ISO 27001)</a:t>
            </a:r>
            <a:endParaRPr i="0" sz="1300" u="none" cap="none" strike="noStrike">
              <a:solidFill>
                <a:schemeClr val="lt1"/>
              </a:solidFill>
              <a:latin typeface="Merriweather"/>
              <a:ea typeface="Merriweather"/>
              <a:cs typeface="Merriweather"/>
              <a:sym typeface="Merriweather"/>
            </a:endParaRPr>
          </a:p>
        </p:txBody>
      </p:sp>
      <p:sp>
        <p:nvSpPr>
          <p:cNvPr id="1437" name="Google Shape;1437;g3d2d178f3e5_5_137"/>
          <p:cNvSpPr/>
          <p:nvPr/>
        </p:nvSpPr>
        <p:spPr>
          <a:xfrm>
            <a:off x="305750" y="114275"/>
            <a:ext cx="60000" cy="365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A5C4"/>
        </a:solidFill>
      </p:bgPr>
    </p:bg>
    <p:spTree>
      <p:nvGrpSpPr>
        <p:cNvPr id="1442" name="Shape 1442"/>
        <p:cNvGrpSpPr/>
        <p:nvPr/>
      </p:nvGrpSpPr>
      <p:grpSpPr>
        <a:xfrm>
          <a:off x="0" y="0"/>
          <a:ext cx="0" cy="0"/>
          <a:chOff x="0" y="0"/>
          <a:chExt cx="0" cy="0"/>
        </a:xfrm>
      </p:grpSpPr>
      <p:sp>
        <p:nvSpPr>
          <p:cNvPr id="1443" name="Google Shape;1443;g3968b1e942d_3_0"/>
          <p:cNvSpPr txBox="1"/>
          <p:nvPr/>
        </p:nvSpPr>
        <p:spPr>
          <a:xfrm>
            <a:off x="0" y="2233200"/>
            <a:ext cx="91440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500">
                <a:solidFill>
                  <a:schemeClr val="lt1"/>
                </a:solidFill>
                <a:latin typeface="Merriweather"/>
                <a:ea typeface="Merriweather"/>
                <a:cs typeface="Merriweather"/>
                <a:sym typeface="Merriweather"/>
              </a:rPr>
              <a:t>Thank You</a:t>
            </a:r>
            <a:endParaRPr sz="3500">
              <a:solidFill>
                <a:schemeClr val="lt1"/>
              </a:solidFill>
              <a:latin typeface="Merriweather"/>
              <a:ea typeface="Merriweather"/>
              <a:cs typeface="Merriweather"/>
              <a:sym typeface="Merriweath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2026-03-26T16:35:21Z</dcterms:created>
  <dc:creator>Found 404 Team</dc:creator>
</cp:coreProperties>
</file>