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 (Penalty = 50)</c:v>
                </c:pt>
              </c:strCache>
            </c:strRef>
          </c:tx>
          <c:spPr>
            <a:solidFill>
              <a:srgbClr val="00D4FF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CRITICAL
(1.5×)</c:v>
                </c:pt>
                <c:pt idx="1">
                  <c:v>HIGH
(1.2×)</c:v>
                </c:pt>
                <c:pt idx="2">
                  <c:v>MEDIUM
(1.0×)</c:v>
                </c:pt>
                <c:pt idx="3">
                  <c:v>LOW
(0.8×)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60</c:v>
                </c:pt>
                <c:pt idx="2">
                  <c:v>50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 Score (Penalty = 30)</c:v>
                </c:pt>
              </c:strCache>
            </c:strRef>
          </c:tx>
          <c:spPr>
            <a:solidFill>
              <a:srgbClr val="4A90D9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CRITICAL
(1.5×)</c:v>
                </c:pt>
                <c:pt idx="1">
                  <c:v>HIGH
(1.2×)</c:v>
                </c:pt>
                <c:pt idx="2">
                  <c:v>MEDIUM
(1.0×)</c:v>
                </c:pt>
                <c:pt idx="3">
                  <c:v>LOW
(0.8×)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</c:v>
                </c:pt>
                <c:pt idx="1">
                  <c:v>36</c:v>
                </c:pt>
                <c:pt idx="2">
                  <c:v>30</c:v>
                </c:pt>
                <c:pt idx="3">
                  <c:v>24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B8BA8"/>
            </a:solidFill>
          </a:ln>
        </c:spPr>
        <c:txPr>
          <a:bodyPr/>
          <a:lstStyle/>
          <a:p>
            <a:pPr>
              <a:defRPr sz="1000">
                <a:solidFill>
                  <a:srgbClr val="C0C8D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2A30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7B8BA8"/>
            </a:solidFill>
          </a:ln>
        </c:spPr>
        <c:txPr>
          <a:bodyPr/>
          <a:lstStyle/>
          <a:p>
            <a:pPr>
              <a:defRPr sz="1000">
                <a:solidFill>
                  <a:srgbClr val="7B8BA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C0C8D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 (seconds)</c:v>
                </c:pt>
              </c:strCache>
            </c:strRef>
          </c:tx>
          <c:spPr>
            <a:solidFill>
              <a:srgbClr val="00FF88"/>
            </a:solidFill>
          </c:spPr>
          <c:cat>
            <c:strRef>
              <c:f>Sheet1!$A$2:$A$8</c:f>
              <c:strCache>
                <c:ptCount val="7"/>
                <c:pt idx="0">
                  <c:v>HTTP</c:v>
                </c:pt>
                <c:pt idx="1">
                  <c:v>DNS</c:v>
                </c:pt>
                <c:pt idx="2">
                  <c:v>SMB</c:v>
                </c:pt>
                <c:pt idx="3">
                  <c:v>DB</c:v>
                </c:pt>
                <c:pt idx="4">
                  <c:v>Redis</c:v>
                </c:pt>
                <c:pt idx="5">
                  <c:v>Email</c:v>
                </c:pt>
                <c:pt idx="6">
                  <c:v>Suspicious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45</c:v>
                </c:pt>
                <c:pt idx="2">
                  <c:v>60</c:v>
                </c:pt>
                <c:pt idx="3">
                  <c:v>40</c:v>
                </c:pt>
                <c:pt idx="4">
                  <c:v>20</c:v>
                </c:pt>
                <c:pt idx="5">
                  <c:v>120</c:v>
                </c:pt>
                <c:pt idx="6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FAA00"/>
            </a:solidFill>
          </c:spPr>
          <c:cat>
            <c:strRef>
              <c:f>Sheet1!$A$2:$A$8</c:f>
              <c:strCache>
                <c:ptCount val="7"/>
                <c:pt idx="0">
                  <c:v>HTTP</c:v>
                </c:pt>
                <c:pt idx="1">
                  <c:v>DNS</c:v>
                </c:pt>
                <c:pt idx="2">
                  <c:v>SMB</c:v>
                </c:pt>
                <c:pt idx="3">
                  <c:v>DB</c:v>
                </c:pt>
                <c:pt idx="4">
                  <c:v>Redis</c:v>
                </c:pt>
                <c:pt idx="5">
                  <c:v>Email</c:v>
                </c:pt>
                <c:pt idx="6">
                  <c:v>Suspicious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</c:v>
                </c:pt>
                <c:pt idx="1">
                  <c:v>15</c:v>
                </c:pt>
                <c:pt idx="2">
                  <c:v>30</c:v>
                </c:pt>
                <c:pt idx="3">
                  <c:v>20</c:v>
                </c:pt>
                <c:pt idx="4">
                  <c:v>10</c:v>
                </c:pt>
                <c:pt idx="5">
                  <c:v>60</c:v>
                </c:pt>
                <c:pt idx="6">
                  <c:v>120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F0055"/>
            </a:solidFill>
          </c:spPr>
          <c:cat>
            <c:strRef>
              <c:f>Sheet1!$A$2:$A$8</c:f>
              <c:strCache>
                <c:ptCount val="7"/>
                <c:pt idx="0">
                  <c:v>HTTP</c:v>
                </c:pt>
                <c:pt idx="1">
                  <c:v>DNS</c:v>
                </c:pt>
                <c:pt idx="2">
                  <c:v>SMB</c:v>
                </c:pt>
                <c:pt idx="3">
                  <c:v>DB</c:v>
                </c:pt>
                <c:pt idx="4">
                  <c:v>Redis</c:v>
                </c:pt>
                <c:pt idx="5">
                  <c:v>Email</c:v>
                </c:pt>
                <c:pt idx="6">
                  <c:v>Suspicious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</c:v>
                </c:pt>
                <c:pt idx="1">
                  <c:v>5</c:v>
                </c:pt>
                <c:pt idx="2">
                  <c:v>10</c:v>
                </c:pt>
                <c:pt idx="3">
                  <c:v>8</c:v>
                </c:pt>
                <c:pt idx="4">
                  <c:v>5</c:v>
                </c:pt>
                <c:pt idx="5">
                  <c:v>30</c:v>
                </c:pt>
                <c:pt idx="6">
                  <c:v>60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B8BA8"/>
            </a:solidFill>
          </a:ln>
        </c:spPr>
        <c:txPr>
          <a:bodyPr/>
          <a:lstStyle/>
          <a:p>
            <a:pPr>
              <a:defRPr sz="900">
                <a:solidFill>
                  <a:srgbClr val="C0C8D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30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7B8BA8"/>
            </a:solidFill>
          </a:ln>
        </c:spPr>
        <c:txPr>
          <a:bodyPr/>
          <a:lstStyle/>
          <a:p>
            <a:pPr>
              <a:defRPr sz="900">
                <a:solidFill>
                  <a:srgbClr val="7B8BA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C0C8D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FF0055"/>
              </a:solidFill>
            </c:spPr>
          </c:dPt>
          <c:dPt>
            <c:idx val="1"/>
            <c:spPr>
              <a:solidFill>
                <a:srgbClr val="FFAA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00FF88"/>
              </a:solidFill>
            </c:spPr>
          </c:dPt>
          <c:dPt>
            <c:idx val="4"/>
            <c:spPr>
              <a:solidFill>
                <a:srgbClr val="4A90D9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  <c:pt idx="4">
                  <c:v>Info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100">
              <a:solidFill>
                <a:srgbClr val="C0C8D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 i="0">
                <a:solidFill>
                  <a:srgbClr val="00D4FF"/>
                </a:solidFill>
                <a:latin typeface="Merriweather Light"/>
              </a:rPr>
              <a:t>FOUND 404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Merriweather Light"/>
              </a:rPr>
              <a:t>Autonomous Security Orchestration Platform for SMEs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7B8BA8"/>
                </a:solidFill>
                <a:latin typeface="Merriweather Light"/>
              </a:rPr>
              <a:t>Graduation Project Defense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7B8BA8"/>
                </a:solidFill>
                <a:latin typeface="Merriweather Light"/>
              </a:rPr>
              <a:t>AI-Driven DAST  •  Multi-Agent Pipeline  •  Unified Risk Engine  •  SIEM/SOAR Integration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4A90D9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274320"/>
            <a:ext cx="457200" cy="457200"/>
          </a:xfrm>
          <a:prstGeom prst="ellipse">
            <a:avLst/>
          </a:prstGeom>
          <a:solidFill>
            <a:srgbClr val="4A90D9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4320" y="6217920"/>
            <a:ext cx="457200" cy="457200"/>
          </a:xfrm>
          <a:prstGeom prst="ellipse">
            <a:avLst/>
          </a:prstGeom>
          <a:solidFill>
            <a:srgbClr val="4A90D9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6217920"/>
            <a:ext cx="457200" cy="457200"/>
          </a:xfrm>
          <a:prstGeom prst="ellipse">
            <a:avLst/>
          </a:prstGeom>
          <a:solidFill>
            <a:srgbClr val="4A90D9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Presentation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16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Problem Statement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562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963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Literature Review &amp;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System 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764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Microservices Decomposition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165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Multi-Agent Orchestration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19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566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Unified Risk Engine — Deterministic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216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Deterministic vs. Non-Deterministic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8562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SIEM / SOAR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4963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Living Lab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108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13639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Dashboard &amp; Real-Time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7764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Results, Evaluation &amp; Novel Contributions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D4FF"/>
                </a:solidFill>
                <a:latin typeface="Merriweather Light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4165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Future Work &amp;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698480" cy="41148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lnSpc>
                <a:spcPts val="2400"/>
              </a:lnSpc>
            </a:pPr>
            <a:r>
              <a:rPr sz="1500" b="0" i="0">
                <a:solidFill>
                  <a:srgbClr val="C0C8D8"/>
                </a:solidFill>
                <a:latin typeface="Merriweather Light"/>
              </a:rPr>
              <a:t>Found 404 is an AI-driven Dynamic Application Security Testing (DAST) platform purpose-built for Small and Medium Enterprises. The system orchestrates a multi-agent autonomous pipeline—ReconAgent, AttackAgent, ValidationAgent, and ReportingAgent—powered by Google Gemini LLM, unifying industry-standard tools (Nmap, Nuclei, OpenVAS, Wazuh) under a single microservices architecture.
The platform introduces a Unified Risk Engine that computes deterministic risk scores by weighting vulnerability severity, asset criticality, and network exposure. A living lab with 4 subnets and 11 vulnerable containers simulates realistic SME environments for validation. Real-time dashboards, SIEM/SOAR integration, and non-technical advisory generation bridge the gap between complex security telemetry and actionable business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D4FF"/>
                </a:solidFill>
                <a:latin typeface="Merriweather Light"/>
              </a:rPr>
              <a:t>Keywords:  DAST  •  Multi-Agent Systems  •  Risk Quantification  •  SIEM/SOAR  •  LLM-Enhanced Security  •  SME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The SME Security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69848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74320"/>
          <a:lstStyle/>
          <a:p>
            <a:pPr algn="ctr"/>
            <a:r>
              <a:rPr sz="1600" b="1" i="0">
                <a:solidFill>
                  <a:srgbClr val="FF0055"/>
                </a:solidFill>
                <a:latin typeface="Merriweather Light"/>
              </a:rPr>
              <a:t>⚠  Tool Fragmentation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SMEs lack resources to manage Nmap, Nuclei, OpenVAS, and Wazuh independently. Each tool has its own interface, output format, and expertise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9848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74320"/>
          <a:lstStyle/>
          <a:p>
            <a:pPr algn="ctr"/>
            <a:r>
              <a:rPr sz="1600" b="1" i="0">
                <a:solidFill>
                  <a:srgbClr val="FF0055"/>
                </a:solidFill>
                <a:latin typeface="Merriweather Light"/>
              </a:rPr>
              <a:t>⚠  Alert Fatigue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Security tools generate thousands of findings with no unified prioritization. Non-technical stakeholders cannot interpret raw CVE data or CVSS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40"/>
            <a:ext cx="1069848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74320"/>
          <a:lstStyle/>
          <a:p>
            <a:pPr algn="ctr"/>
            <a:r>
              <a:rPr sz="1600" b="1" i="0">
                <a:solidFill>
                  <a:srgbClr val="FFAA00"/>
                </a:solidFill>
                <a:latin typeface="Merriweather Light"/>
              </a:rPr>
              <a:t>⚠  Reactive Posture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Most SMEs discover vulnerabilities after exploitation. Continuous automated testing and real-time risk dashboards are typically enterprise-only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19"/>
            <a:ext cx="1069848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74320"/>
          <a:lstStyle/>
          <a:p>
            <a:pPr algn="ctr"/>
            <a:r>
              <a:rPr sz="1600" b="1" i="0">
                <a:solidFill>
                  <a:srgbClr val="FFAA00"/>
                </a:solidFill>
                <a:latin typeface="Merriweather Light"/>
              </a:rPr>
              <a:t>⚠  Expertise Shortage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There is a global deficit of 3.4M cybersecurity professionals (ISC² 2023). SMEs cannot hire dedicated security teams or afford managed SIEM services.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Goals &amp;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9144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0E27"/>
                </a:solidFill>
                <a:latin typeface="Merriweather Light"/>
              </a:rPr>
              <a:t>RO-1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Design a multi-agent autonomous DAST pipeline that chains reconnaissance, attack, validation, and reporting stages without human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9144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0E27"/>
                </a:solidFill>
                <a:latin typeface="Merriweather Light"/>
              </a:rPr>
              <a:t>RO-2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Develop a Unified Risk Engine with deterministic scoring that weights vulnerability severity against asset criticality and network exposure.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9144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0E27"/>
                </a:solidFill>
                <a:latin typeface="Merriweather Light"/>
              </a:rPr>
              <a:t>RO-3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346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Integrate heterogeneous security tools (Nmap, Nuclei, OpenVAS, Wazuh) via a unified microservices API 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19"/>
            <a:ext cx="9144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0E27"/>
                </a:solidFill>
                <a:latin typeface="Merriweather Light"/>
              </a:rPr>
              <a:t>RO-4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0331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Implement AI-enhanced advisory generation using Google Gemini LLM to translate technical findings into non-technical business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9144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0E27"/>
                </a:solidFill>
                <a:latin typeface="Merriweather Light"/>
              </a:rPr>
              <a:t>RO-5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720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Build a living lab simulation environment modeling a realistic 4-subnet SME network topology for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40680"/>
            <a:ext cx="9144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0E27"/>
                </a:solidFill>
                <a:latin typeface="Merriweather Light"/>
              </a:rPr>
              <a:t>RO-6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440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Deliver a real-time dashboard with WebSocket-driven updates and SIEM/SOAR integration for operational visibility.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LITERATURE REVIEW &amp;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Related Work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D4FF"/>
                </a:solidFill>
                <a:latin typeface="Merriweather Light"/>
              </a:rP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D4FF"/>
                </a:solidFill>
                <a:latin typeface="Merriweather Light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D4FF"/>
                </a:solidFill>
                <a:latin typeface="Merriweather Light"/>
              </a:rPr>
              <a:t>Limitation / Advantage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10698480" cy="731520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Merriweather Light"/>
              </a:rPr>
              <a:t>OWASP ZAP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Open-source DAST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AA00"/>
                </a:solidFill>
                <a:latin typeface="Merriweather Light"/>
              </a:rPr>
              <a:t>Single-tool, no orchestration, no AI advisory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10698480" cy="73152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Merriweather Light"/>
              </a:rPr>
              <a:t>Burp Suite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Commercial DAST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AA00"/>
                </a:solidFill>
                <a:latin typeface="Merriweather Light"/>
              </a:rPr>
              <a:t>Expensive, manual-heavy, no SIEM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10698480" cy="731520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Merriweather Light"/>
              </a:rPr>
              <a:t>DefectDojo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Vuln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AA00"/>
                </a:solidFill>
                <a:latin typeface="Merriweather Light"/>
              </a:rPr>
              <a:t>No active scanning, no multi-agent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799"/>
            <a:ext cx="10698480" cy="73152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51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Merriweather Light"/>
              </a:rPr>
              <a:t>Qualys VMDR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51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Enterprise VM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251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0055"/>
                </a:solidFill>
                <a:latin typeface="Merriweather Light"/>
              </a:rPr>
              <a:t>Cost-prohibitive for SMEs, cloud-only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10698480" cy="73152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erriweather Light"/>
              </a:rPr>
              <a:t>Found 404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AI-Driven DAST + SOAR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0FF88"/>
                </a:solidFill>
                <a:latin typeface="Merriweather Light"/>
              </a:rPr>
              <a:t>Unified pipeline, deterministic scoring, LLM advisory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Microservices &amp; Integration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731520"/>
            <a:ext cx="10698480" cy="201168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868680"/>
            <a:ext cx="2560320" cy="4114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0E27"/>
                </a:solidFill>
                <a:latin typeface="Merriweather Light"/>
              </a:rPr>
              <a:t>PRESENTATION 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React/Vite SPA (Port 5173)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WebSocket Client (/ws/logs)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Real-Time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79" y="1463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RiskScore Gauge, Agent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0698480" cy="201168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154680"/>
            <a:ext cx="256032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0E27"/>
                </a:solidFill>
                <a:latin typeface="Merriweather Light"/>
              </a:rPr>
              <a:t>APPLICATION 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49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FastAPI Gateway (Port 8000)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749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Agent Orchestrator (4 Agents)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Celery Workers + Beat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79" y="3749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Unified Risk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698480" cy="201168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40680"/>
            <a:ext cx="2560320" cy="41148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0E27"/>
                </a:solidFill>
                <a:latin typeface="Merriweather Light"/>
              </a:rPr>
              <a:t>DATA &amp; SECURITY 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6035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PostgreSQL (Port 5432)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6035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Redis Pub/Sub (Port 6379)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6035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Elasticsearch/Kibana SIEM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79" y="6035040"/>
            <a:ext cx="2468880" cy="1005840"/>
          </a:xfrm>
          <a:prstGeom prst="roundRect">
            <a:avLst/>
          </a:prstGeom>
          <a:solidFill>
            <a:srgbClr val="1A2240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0" i="0">
                <a:solidFill>
                  <a:srgbClr val="C0C8D8"/>
                </a:solidFill>
                <a:latin typeface="Merriweather Light"/>
              </a:rPr>
              <a:t>Wazuh Manager + n8n SOAR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852160" y="2788920"/>
            <a:ext cx="320040" cy="228600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5852160" y="5074920"/>
            <a:ext cx="320040" cy="228600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MICROSERVICES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11 Containerized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0D4FF"/>
                </a:solidFill>
                <a:latin typeface="Merriweather Light"/>
              </a:rPr>
              <a:t>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005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0D4FF"/>
                </a:solidFill>
                <a:latin typeface="Merriweather Light"/>
              </a:rPr>
              <a:t>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0D4FF"/>
                </a:solidFill>
                <a:latin typeface="Merriweather Light"/>
              </a:rPr>
              <a:t>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698480" cy="411480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508760"/>
            <a:ext cx="182880" cy="1828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Backend (FastAPI)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463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API + WebSocket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874520"/>
            <a:ext cx="10698480" cy="4114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965960"/>
            <a:ext cx="182880" cy="1828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Frontend (Vite)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20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5173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React SPA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331720"/>
            <a:ext cx="10698480" cy="411480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2423160"/>
            <a:ext cx="182880" cy="1828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377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5432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Primary data 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788920"/>
            <a:ext cx="10698480" cy="4114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2880360"/>
            <a:ext cx="182880" cy="1828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834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6379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Celery broker + Pub/Sub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246120"/>
            <a:ext cx="10698480" cy="411480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337560"/>
            <a:ext cx="182880" cy="1828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Celery Worker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291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291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Async task processing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703320"/>
            <a:ext cx="10698480" cy="4114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60" y="3794760"/>
            <a:ext cx="182880" cy="1828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Celery Beat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749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749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Hourly scan scheduler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160520"/>
            <a:ext cx="10698480" cy="411480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" y="4251960"/>
            <a:ext cx="182880" cy="18288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OpenVAS/GVM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206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9390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Vulnerability scanner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617720"/>
            <a:ext cx="10698480" cy="4114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2960" y="4709160"/>
            <a:ext cx="182880" cy="18288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Elasticsearch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4663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9200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SIEM log aggregation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074920"/>
            <a:ext cx="10698480" cy="411480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2960" y="5166360"/>
            <a:ext cx="182880" cy="18288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Kibana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120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5601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120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SIEM visualization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532120"/>
            <a:ext cx="10698480" cy="4114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2960" y="5623560"/>
            <a:ext cx="182880" cy="18288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Wazuh Manager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5577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55000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5577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Security event mgmt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989320"/>
            <a:ext cx="10698480" cy="411480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22960" y="6080760"/>
            <a:ext cx="182880" cy="18288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7280" y="6035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rriweather Light"/>
              </a:rPr>
              <a:t>n8n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6035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7B8BA8"/>
                </a:solidFill>
                <a:latin typeface="Merriweather Light"/>
              </a:rPr>
              <a:t>5678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0" y="6035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SOAR orchestration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DATABASE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SQLAlchemy ORM — 9 Core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486400" cy="9601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300" b="1" i="0">
                <a:solidFill>
                  <a:srgbClr val="00D4FF"/>
                </a:solidFill>
                <a:latin typeface="Merriweather Light"/>
              </a:rPr>
              <a:t>Target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UUID PK, name, base_url, source, tech_stack (JSON),
asset_value, data_sensitivity, auth_method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486400" cy="9601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300" b="1" i="0">
                <a:solidFill>
                  <a:srgbClr val="00D4FF"/>
                </a:solidFill>
                <a:latin typeface="Merriweather Light"/>
              </a:rPr>
              <a:t>Scan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UUID PK, target_id FK, status, scan_type,
risk_score (0-100), health_score, agent_thoughts (JSON)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486400" cy="9601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300" b="1" i="0">
                <a:solidFill>
                  <a:srgbClr val="00D4FF"/>
                </a:solidFill>
                <a:latin typeface="Merriweather Light"/>
              </a:rPr>
              <a:t>Vulnerability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UUID PK, scan_id FK, type, severity, status,
confidence_score, ai_validation_result (JSON), PoC, remediation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19"/>
            <a:ext cx="5486400" cy="9601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300" b="1" i="0">
                <a:solidFill>
                  <a:srgbClr val="00D4FF"/>
                </a:solidFill>
                <a:latin typeface="Merriweather Light"/>
              </a:rPr>
              <a:t>AgentLog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UUID PK, scan_id FK, agent_name, action,
reasoning (JSON), input_data, output_data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5486400" cy="9601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300" b="1" i="0">
                <a:solidFill>
                  <a:srgbClr val="00D4FF"/>
                </a:solidFill>
                <a:latin typeface="Merriweather Light"/>
              </a:rPr>
              <a:t>Endpoint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UUID PK, target_id FK, url, method,
parameters (JSON), auth_required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486400" cy="9601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300" b="1" i="0">
                <a:solidFill>
                  <a:srgbClr val="00D4FF"/>
                </a:solidFill>
                <a:latin typeface="Merriweather Light"/>
              </a:rPr>
              <a:t>ScanAsset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INT PK, scan_id FK, ip_address, hostname,
os_name, device_type, ai_insight (JSON)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5486400" cy="9601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300" b="1" i="0">
                <a:solidFill>
                  <a:srgbClr val="00D4FF"/>
                </a:solidFill>
                <a:latin typeface="Merriweather Light"/>
              </a:rPr>
              <a:t>AssetService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INT PK, asset_id FK, port, protocol,
service_name, product, version, CPE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291840"/>
            <a:ext cx="5486400" cy="9601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300" b="1" i="0">
                <a:solidFill>
                  <a:srgbClr val="00D4FF"/>
                </a:solidFill>
                <a:latin typeface="Merriweather Light"/>
              </a:rPr>
              <a:t>NetworkAsset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INT PK, ip_address UNIQUE, status,
criticality, risk_score, first/last_seen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89119"/>
            <a:ext cx="5486400" cy="9601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300" b="1" i="0">
                <a:solidFill>
                  <a:srgbClr val="00D4FF"/>
                </a:solidFill>
                <a:latin typeface="Merriweather Light"/>
              </a:rPr>
              <a:t>ActionItem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INT PK, scan_id FK, title, priority,
status, type (REMEDIATION | CONFIGURATION)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MULTI-AGENT ORCHESTRATION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4-Stage Autonomous DAST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468880" cy="411480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146304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0A0E27"/>
                </a:solidFill>
                <a:latin typeface="Merriweather L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4A90D9"/>
                </a:solidFill>
                <a:latin typeface="Merriweather Light"/>
              </a:rPr>
              <a:t>RECON
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Nmap scan
Playwright crawl
Tech stack detect
Endpoint discovery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71800" y="3200400"/>
            <a:ext cx="365760" cy="32004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280160"/>
            <a:ext cx="2468880" cy="411480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1463040"/>
            <a:ext cx="640080" cy="640080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0A0E27"/>
                </a:solidFill>
                <a:latin typeface="Merriweather Ligh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0055"/>
                </a:solidFill>
                <a:latin typeface="Merriweather Light"/>
              </a:rPr>
              <a:t>ATTACK
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Nuclei templates
Payload injection
Service heuristics
Concurrent testing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97880" y="3200400"/>
            <a:ext cx="365760" cy="320040"/>
          </a:xfrm>
          <a:prstGeom prst="rightArrow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2468880" cy="411480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60" y="1463040"/>
            <a:ext cx="640080" cy="64008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0A0E27"/>
                </a:solidFill>
                <a:latin typeface="Merriweather Ligh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AA00"/>
                </a:solidFill>
                <a:latin typeface="Merriweather Light"/>
              </a:rPr>
              <a:t>VALIDATION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Confidence filter &gt;0.6
LLM re-validation
False positive detect
Deterministic rules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23960" y="3200400"/>
            <a:ext cx="365760" cy="320040"/>
          </a:xfrm>
          <a:prstGeom prst="rightArrow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1280160"/>
            <a:ext cx="2468880" cy="411480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49840" y="1463040"/>
            <a:ext cx="640080" cy="64008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0A0E27"/>
                </a:solidFill>
                <a:latin typeface="Merriweather Ligh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0FF88"/>
                </a:solidFill>
                <a:latin typeface="Merriweather Light"/>
              </a:rPr>
              <a:t>REPORTING
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Executive summary
PoC generation
Remediation templates
Markdown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77840"/>
            <a:ext cx="11247120" cy="731520"/>
          </a:xfrm>
          <a:prstGeom prst="roundRect">
            <a:avLst/>
          </a:prstGeom>
          <a:solidFill>
            <a:srgbClr val="1A22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b="0" i="0">
                <a:solidFill>
                  <a:srgbClr val="00D4FF"/>
                </a:solidFill>
                <a:latin typeface="Merriweather Light"/>
              </a:rPr>
              <a:t>POST-PROCESSING:  UnifiedRiskEngine → Score Calculation  →  ActionItem Generation  →  WebSocket Broadcast (RISK_UPDATE)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RECON AGENT —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Infrastructure Discovery &amp; Web Crawling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Nmap Integration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Quick scan: -F -T4 (top 100 ports)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Full scan: -sV -T4 (service detection)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Deep scan: -sV -O -A --script=vulners,banner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OS fingerprinting, MAC vendor lookup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Creates ScanAsset + AssetService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Playwright Web Crawling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JS-enabled headless browser (Chromium)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Discovers links, forms, and input fields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Waits for networkidle (SPA-compatible)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Fallback to requests if Playwright unavailable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Auth credential injection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0352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Tech Stack Detection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HTTP headers: Server, X-Powered-By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Content analysis: React, Vue, Angular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CMS detection: WordPress, Drupal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Framework fingerprinting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Stored in Target.tech_stack (JSON)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657600"/>
            <a:ext cx="530352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Output Schema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endpoints[]: {url, method, parameters}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tech_stack: {server, frontend, cms}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forms[]: {action, method, inputs[]}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assets[]: {ip, ports[], os, hostname}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Broadcasts [RECON] events via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ATTACK AGENT —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Vulnerability Discovery &amp; Payload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48640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Service → Nuclei Template Mapping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http/https → cve, exposures, misconfiguration, takeovers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ftp/ssh → default-logins, misconfiguration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mysql/postgresql → default-logins, misconfiguration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redis/smb → cve, default-logins, misconfiguration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Timeout: 600s per target, JSONL output parsing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0352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Built-in Payload Library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SQLi: ' OR '1'='1, UNION SELECT NULL, DROP TABLE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XSS: &lt;script&gt;alert(1)&lt;/script&gt;, onerror handlers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BOLA: ../../../etc/passwd, /api/users/999999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SSRF: http://127.0.0.1, file:///etc/passwd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Concurrent execution via asyncio.Semaphore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486400" cy="25603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Lab-Specific Heuristics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Port 6379 (Redis no-auth) → CRITICAL, confidence 1.0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Port 3000 (Juice Shop) → HIGH, confidence 0.9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Port 445 (SMB weak creds) → CRITICAL, confidence 0.95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Port 5432 (PostgreSQL exposed) → HIGH, confidence 0.85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Combines deterministic rules + Nuclei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657600"/>
            <a:ext cx="5303520" cy="25603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Concurrency Model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asyncio.gather() for parallel payload dispatch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httpx.AsyncClient with 10s timeout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Up to 50 concurrent endpoint tests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Response analysis: status codes + content matching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Creates Vulnerability records with evidence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VALIDATION AGENT —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False Positive Filtering &amp; Confidence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7432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Deterministic Filtering (Stage 1)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Confidence threshold: ≥ 0.6 required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Evidence completeness check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Cross-reference against known patterns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Reject findings without reproducible evidence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Status update: OPEN → FALSE_POSITIVE if rejected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100% reproducible — same input → same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7432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LLM Re-Validation (Stage 2 — Optional)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Triggered only for findings passing Stage 1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Google Gemini 2.0 Flash model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Prompt: vulnerability type, URL, evidence, confidence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Response: VERDICT (REAL/FALSE_POSITIVE)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New confidence score assigned by LLM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Non-deterministic — enhances but does not override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VALIDATION FUNNEL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647" y="4663440"/>
            <a:ext cx="10058400" cy="50292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0055"/>
                </a:solidFill>
                <a:latin typeface="Merriweather Light"/>
              </a:rPr>
              <a:t>ALL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9647" y="5303520"/>
            <a:ext cx="7772400" cy="50292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AA00"/>
                </a:solidFill>
                <a:latin typeface="Merriweather Light"/>
              </a:rPr>
              <a:t>Confidence ≥ 0.6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5943600"/>
            <a:ext cx="5486400" cy="50292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FF88"/>
                </a:solidFill>
                <a:latin typeface="Merriweather Light"/>
              </a:rPr>
              <a:t>LLM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REPORTING AGENT —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AI-Generated Advisory &amp; PoC Scripts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Executive Summary Generation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Powered by Google Gemini 2.0 Flash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Target audience: Non-technical CEO/CTO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3-4 sentences covering security posture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Most concerning finding highlighted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Immediate next steps recommended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Simple language, no jargon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5603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Proof-of-Concept Generation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Auto-generated Python scripts for Critical/High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Templates: SQLi, XSS, BOLA exploit scripts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Includes target URL and payload injection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Responsible disclosure format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Facilitates remediation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30352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Remediation Intelligence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Vulnerability-specific fix recommendations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Configuration hardening suggestions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Mapped to OWASP best practices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Stored in Vulnerability.remediation field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Drives ActionItem generation downstream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30352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Report Assembly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Full Markdown report with sections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Risk score summary + vulnerability table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Asset inventory with port analysis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Stored in Scan.agent_thoughts JSON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Exportable via Reports dashboard 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UNIFIED RISK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Deterministic Risk Quantification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1188720"/>
          </a:xfrm>
          <a:prstGeom prst="roundRect">
            <a:avLst/>
          </a:prstGeom>
          <a:solidFill>
            <a:srgbClr val="1A224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2200" b="1" i="0">
                <a:solidFill>
                  <a:srgbClr val="00D4FF"/>
                </a:solidFill>
                <a:latin typeface="Merriweather Light"/>
              </a:rPr>
              <a:t>RISK SCORE  =  min(100,  PENALTY  ×  ASSET_MULTIPLIER  ×  EXPOSURE_MULTIPLIER)</a:t>
            </a:r>
          </a:p>
          <a:p>
            <a:pPr algn="ctr"/>
            <a:r>
              <a:rPr sz="1400" b="0" i="0">
                <a:solidFill>
                  <a:srgbClr val="C0C8D8"/>
                </a:solidFill>
                <a:latin typeface="Merriweather Light"/>
              </a:rPr>
              <a:t>where  PENALTY = Σ(severity_weight × confidence) + Σ(port_risk_penalty)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3383280" cy="3200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0055"/>
                </a:solidFill>
                <a:latin typeface="Merriweather Light"/>
              </a:rPr>
              <a:t>Severity Weights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CRITICAL  →  25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HIGH         →  15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MEDIUM    →   7 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LOW          →   2 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INFO          →   0 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Weighted by confidence_score (0–1.0)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560320"/>
            <a:ext cx="3383280" cy="3200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AA00"/>
                </a:solidFill>
                <a:latin typeface="Merriweather Light"/>
              </a:rPr>
              <a:t>Port Risk Penalties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FTP (21)            →  15 pts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Telnet (23)        →  20 pts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SMB (445)         →  20 pts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RDP (3389)       →  15 pts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Redis (6379)     →  10 pts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PostgreSQL (5432)  →  10 pts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MySQL (3306)    →  10 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560320"/>
            <a:ext cx="3383280" cy="3200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FF88"/>
                </a:solidFill>
                <a:latin typeface="Merriweather Light"/>
              </a:rPr>
              <a:t>Asset &amp; Exposure Multipliers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CRITICAL asset   →  1.5×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HIGH asset         →  1.2×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MEDIUM asset    →  1.0×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LOW asset          →  0.8×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Public IP            →  1.0×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Private (RFC1918) →  0.6×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RISK SCORING —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Deterministic Calculation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800" b="1" i="0">
                <a:solidFill>
                  <a:srgbClr val="00D4FF"/>
                </a:solidFill>
                <a:latin typeface="Merriweather Light"/>
              </a:rPr>
              <a:t>SCENARIO:  Lab Redis Cache (10.10.30.20)</a:t>
            </a:r>
          </a:p>
          <a:p>
            <a:r>
              <a:rPr sz="1200" b="0" i="0">
                <a:solidFill>
                  <a:srgbClr val="C0C8D8"/>
                </a:solidFill>
                <a:latin typeface="Merriweather Light"/>
              </a:rPr>
              <a:t>Asset Criticality: MEDIUM (1.0×)  |  Network: Private (0.6×)  |  Port 6379 open (Redis, no auth)</a:t>
            </a:r>
          </a:p>
          <a:p>
            <a:r>
              <a:rPr sz="1200" b="0" i="0">
                <a:solidFill>
                  <a:srgbClr val="C0C8D8"/>
                </a:solidFill>
                <a:latin typeface="Merriweather Light"/>
              </a:rPr>
              <a:t>Finding 1: CRITICAL — Unprotected Redis Database (confidence: 1.0)  |  Finding 2: HIGH — Service Exposure (confidence: 0.8)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0972800" cy="64008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0055"/>
                </a:solidFill>
                <a:latin typeface="Merriweather Light"/>
              </a:rPr>
              <a:t>Step 1: Vulnerability Penalties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346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CRITICAL: 25 × 1.0 = 25.0  |  HIGH: 15 × 0.8 = 12.0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10972800" cy="64008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AA00"/>
                </a:solidFill>
                <a:latin typeface="Merriweather Light"/>
              </a:rPr>
              <a:t>Step 2: Port Risk Penalty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118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Redis (6379): +10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10972800" cy="64008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4A90D9"/>
                </a:solidFill>
                <a:latin typeface="Merriweather Light"/>
              </a:rPr>
              <a:t>Step 3: Total Penalty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891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Σ = 25.0 + 12.0 + 10.0 = 47.0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0972800" cy="64008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FF88"/>
                </a:solidFill>
                <a:latin typeface="Merriweather Light"/>
              </a:rPr>
              <a:t>Step 4: Apply Multipliers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1663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47.0 × 1.0 (MEDIUM) × 0.6 (Private) = 28.2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52160"/>
            <a:ext cx="10972800" cy="64008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D4FF"/>
                </a:solidFill>
                <a:latin typeface="Merriweather Light"/>
              </a:rPr>
              <a:t>Step 5: Final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9436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RISK SCORE = min(100, 28.2) = 28.2 /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DETERMINISTIC vs. NON-DETERMINISTIC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Hybrid Intelligence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/>
            <a:r>
              <a:rPr sz="1800" b="1" i="0">
                <a:solidFill>
                  <a:srgbClr val="00FF88"/>
                </a:solidFill>
                <a:latin typeface="Merriweather Light"/>
              </a:rPr>
              <a:t>DETERMINISTIC COMPONENTS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✓ Risk Score Calculation (UnifiedRiskEngine)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Same vulns + ports + criticality = Same score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✓ Nmap Port Scanning (NmapWrapper)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Reproducible infrastructure discovery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✓ Nuclei Template Matching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Known CVE patterns, no ambiguity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✓ Confidence Threshold Filtering (≥0.6)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Binary pass/fail gate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✓ Health Score Computation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Fixed deduction rules per severity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✓ Action Item Generation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Rule-based: HIGH/CRITICAL → REMEDIATION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✓ Port Risk Penalty Table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Static mapping: port → penalty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502920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/>
            <a:r>
              <a:rPr sz="1800" b="1" i="0">
                <a:solidFill>
                  <a:srgbClr val="00D4FF"/>
                </a:solidFill>
                <a:latin typeface="Merriweather Light"/>
              </a:rPr>
              <a:t>NON-DETERMINISTIC COMPONENTS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○ LLM Re-Validation (Gemini 2.0 Flash)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VERDICT: REAL/FALSE_POSITIVE + confidence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○ Executive Summary Generation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Natural language for non-technical audience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○ PoC Script Enhancement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LLM-augmented exploit code generation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○ Asset Intelligence Advisory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Risk explanation, business impact, remediation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○ SIEM Event Analysis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7B8BA8"/>
                </a:solidFill>
                <a:latin typeface="Merriweather Light"/>
              </a:rPr>
              <a:t>    AI interpretation of Wazuh/ES alerts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FFAA00"/>
                </a:solidFill>
                <a:latin typeface="Merriweather Light"/>
              </a:rPr>
              <a:t>KEY DESIGN PRINCIPLE: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FFAA00"/>
                </a:solidFill>
                <a:latin typeface="Merriweather Light"/>
              </a:rPr>
              <a:t>Non-deterministic outputs ENHANCE but never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FFAA00"/>
                </a:solidFill>
                <a:latin typeface="Merriweather Light"/>
              </a:rPr>
              <a:t>OVERRIDE deterministic scoring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ASSET CRITICALITY WEIGHTING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Context-Aware Risk Amplification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The Unified Risk Engine does not treat all assets equally. A CRITICAL vulnerability on a production database server carries more organizational risk than the same vulnerability on an isolated test workstation. Asset criticality multipliers amplify or attenuate the raw penalty score.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01168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2011680"/>
            <a:ext cx="4114800" cy="41148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FF88"/>
                </a:solidFill>
                <a:latin typeface="Merriweather Light"/>
              </a:rPr>
              <a:t>Network Exposure Factor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Public IP assets: 1.0× (full risk)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Private (RFC 1918): 0.6× (attenuated)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Rationale: Internal assets require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attacker to first breach perimeter,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reducing effective exposure.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Combined: Criticality × Exposure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e.g., CRITICAL + Public = 1.5 × 1.0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e.g., LOW + Private = 0.8 × 0.6 = 0.48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HEALTH SCORE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Complementary Metric (100 = Safe)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914400"/>
          </a:xfrm>
          <a:prstGeom prst="roundRect">
            <a:avLst/>
          </a:prstGeom>
          <a:solidFill>
            <a:srgbClr val="1A224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/>
            <a:r>
              <a:rPr sz="1600" b="1" i="0">
                <a:solidFill>
                  <a:srgbClr val="00FF88"/>
                </a:solidFill>
                <a:latin typeface="Merriweather Light"/>
              </a:rPr>
              <a:t>HEALTH = max(0,  100  −  Σ(vuln_deductions)  −  Σ(port_deductions))    |    Capped at 90 if any vulnerabilities exist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02920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0055"/>
                </a:solidFill>
                <a:latin typeface="Merriweather Light"/>
              </a:rPr>
              <a:t>Vulnerability Deductions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Each CRITICAL vulnerability:   −20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Each HIGH vulnerability:           −10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Each MEDIUM vulnerability:      − 5 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Each LOW vulnerability:             − 0 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Cap: score cannot exceed 90 if vulns present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286000"/>
            <a:ext cx="5486400" cy="22860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AA00"/>
                </a:solidFill>
                <a:latin typeface="Merriweather Light"/>
              </a:rPr>
              <a:t>High-Risk Port Deductions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Each open FTP (21):       −15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Each open Telnet (23):   −15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Each open SMB (445):   −15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Each open RDP (3389): −15 points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Floor: health score never drops below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10972800" cy="13716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/>
            <a:r>
              <a:rPr sz="1500" b="1" i="0">
                <a:solidFill>
                  <a:srgbClr val="00D4FF"/>
                </a:solidFill>
                <a:latin typeface="Merriweather Light"/>
              </a:rPr>
              <a:t>EXAMPLE:  2 CRITICAL + 1 HIGH + Open Telnet</a:t>
            </a:r>
          </a:p>
          <a:p>
            <a:r>
              <a:rPr sz="1300" b="0" i="0">
                <a:solidFill>
                  <a:srgbClr val="C0C8D8"/>
                </a:solidFill>
                <a:latin typeface="Merriweather Light"/>
              </a:rPr>
              <a:t>Health = 100 − (2×20) − (1×10) − 15 = 100 − 40 − 10 − 15 = 35    |    Capped at min(35, 90) = 35 / 100</a:t>
            </a:r>
          </a:p>
          <a:p>
            <a:r>
              <a:rPr sz="1200" b="0" i="0">
                <a:solidFill>
                  <a:srgbClr val="FF0055"/>
                </a:solidFill>
                <a:latin typeface="Merriweather Light"/>
              </a:rPr>
              <a:t>Interpretation: Asset is in POOR health — immediate remediation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ACTION ITEM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Automated Remediation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3200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Rule-Based Generation (Deterministic)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Rule 1: Critical/High vulns → REMEDIATION items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  title = vuln.title or 'Fix {vuln.type}'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  priority = severity.upper()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  status = 'OPEN'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Rule 2: High-risk ports → CONFIGURATION items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  Ports: 21, 23, 445, 3389, 6379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  title = 'Secure {service} on {ip}'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  description = 'Restrict or VPN access'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Deduplication by title to avoid duplicate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3200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ActionItem Lifecycle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OPEN → IN_PROGRESS → RESOLVED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OPEN → ACCEPTED (risk accepted)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Item Types: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REMEDIATION — Fix a vulnerability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CONFIGURATION — Harden infrastructure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new_device — New device discovered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alert — SIEM/Wazuh notification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Dashboard Integration: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GET /api/v1/dashboard/actions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0972800" cy="1371600"/>
          </a:xfrm>
          <a:prstGeom prst="roundRect">
            <a:avLst/>
          </a:prstGeom>
          <a:solidFill>
            <a:srgbClr val="1A22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828800" cy="7315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 i="0">
                <a:solidFill>
                  <a:srgbClr val="4A90D9"/>
                </a:solidFill>
                <a:latin typeface="Merriweather Light"/>
              </a:rPr>
              <a:t>Scan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846320"/>
            <a:ext cx="1828800" cy="7315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 i="0">
                <a:solidFill>
                  <a:srgbClr val="FFAA00"/>
                </a:solidFill>
                <a:latin typeface="Merriweather Light"/>
              </a:rPr>
              <a:t>Risk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4846320"/>
            <a:ext cx="1828800" cy="7315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 i="0">
                <a:solidFill>
                  <a:srgbClr val="00FF88"/>
                </a:solidFill>
                <a:latin typeface="Merriweather Light"/>
              </a:rPr>
              <a:t>Action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846320"/>
            <a:ext cx="1828800" cy="7315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 i="0">
                <a:solidFill>
                  <a:srgbClr val="00D4FF"/>
                </a:solidFill>
                <a:latin typeface="Merriweather Light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4846320"/>
            <a:ext cx="1828800" cy="7315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 i="0">
                <a:solidFill>
                  <a:srgbClr val="00FF88"/>
                </a:solidFill>
                <a:latin typeface="Merriweather Light"/>
              </a:rPr>
              <a:t>Resolved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06040" y="5074920"/>
            <a:ext cx="36576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892040" y="5074920"/>
            <a:ext cx="36576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178040" y="5074920"/>
            <a:ext cx="36576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9464040" y="5074920"/>
            <a:ext cx="36576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CELERY TASK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Asynchronous Scan Execution &amp;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6858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2560320" cy="45720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A0E27"/>
                </a:solidFill>
                <a:latin typeface="Merriweather Light"/>
              </a:rPr>
              <a:t>Phase 1: NMAP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234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Nmap scan → ScanAsset + AssetService records → Vulnerability (Service Exposure)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0972800" cy="6858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256032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A0E27"/>
                </a:solidFill>
                <a:latin typeface="Merriweather Light"/>
              </a:rPr>
              <a:t>Phase 2: AI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57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Gemini batch_analyze → ai_insight JSON per asset (risk explanation, business impact)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10972800" cy="6858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2560320" cy="457200"/>
          </a:xfrm>
          <a:prstGeom prst="round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A0E27"/>
                </a:solidFill>
                <a:latin typeface="Merriweather Light"/>
              </a:rPr>
              <a:t>Phase 3: NUCLEI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80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Template-based vulnerability detection → Vulnerability records with CVE info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10972800" cy="6858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2560320" cy="45720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A0E27"/>
                </a:solidFill>
                <a:latin typeface="Merriweather Light"/>
              </a:rPr>
              <a:t>Phase 4: RISK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03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UnifiedRiskEngine.update_scan_risk() → risk_score + health_score + action_items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89120"/>
            <a:ext cx="10972800" cy="6858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2560320" cy="45720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A0E27"/>
                </a:solidFill>
                <a:latin typeface="Merriweather Light"/>
              </a:rPr>
              <a:t>Phase 5: ASSET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526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AssetMonitor.process_scan_results() → Detect new devices, update NetworkAsset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0972800" cy="6858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256032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A0E27"/>
                </a:solidFill>
                <a:latin typeface="Merriweather Light"/>
              </a:rPr>
              <a:t>Phase 6: EVENT PUBLISH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349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Redis Pub/Sub → WebSocket broadcast → Frontend RISK_UPDATE event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35040"/>
            <a:ext cx="10972800" cy="640080"/>
          </a:xfrm>
          <a:prstGeom prst="roundRect">
            <a:avLst/>
          </a:prstGeom>
          <a:solidFill>
            <a:srgbClr val="1A224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/>
            <a:r>
              <a:rPr sz="1200" b="0" i="0">
                <a:solidFill>
                  <a:srgbClr val="FFAA00"/>
                </a:solidFill>
                <a:latin typeface="Merriweather Light"/>
              </a:rPr>
              <a:t>CELERY BEAT:  Hourly automatic scans via crontab(minute=0)  |  max_retries=2  |  retry_delay=30s  |  @celery_app.task(bind=True)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SIEM / SOAR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Wazuh + Elasticsearch + n8n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7432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Wazuh Manager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Security event management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Agent monitoring (port 1514/1515)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REST API on port 55000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Active response triggers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JWT authentication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Integrated alert forwarding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474720" cy="27432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Elasticsearch + Kibana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Log aggregation (port 9200)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Index: sme-lab-events-*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Index: wazuh-alerts-*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ECS format compliance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Kibana dashboards (5601)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Bulk indexing via /_bulk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097280"/>
            <a:ext cx="3474720" cy="27432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n8n SOAR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Workflow automation (port 5678)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Webhook-triggered responses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Connects to Found 404 API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Automated incident workflows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Slack/Email notifications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Remediation playbooks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LOG FLOW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572000"/>
            <a:ext cx="1828800" cy="914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200" b="1" i="0">
                <a:solidFill>
                  <a:srgbClr val="FF0055"/>
                </a:solidFill>
                <a:latin typeface="Merriweather Light"/>
              </a:rPr>
              <a:t>Traffic 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4572000"/>
            <a:ext cx="1828800" cy="914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200" b="1" i="0">
                <a:solidFill>
                  <a:srgbClr val="FFAA00"/>
                </a:solidFill>
                <a:latin typeface="Merriweather Light"/>
              </a:rPr>
              <a:t>Log Shipper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572000"/>
            <a:ext cx="1828800" cy="914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200" b="1" i="0">
                <a:solidFill>
                  <a:srgbClr val="00FF88"/>
                </a:solidFill>
                <a:latin typeface="Merriweather Light"/>
              </a:rPr>
              <a:t>Elasticsearch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572000"/>
            <a:ext cx="1828800" cy="914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200" b="1" i="0">
                <a:solidFill>
                  <a:srgbClr val="4A90D9"/>
                </a:solidFill>
                <a:latin typeface="Merriweather Light"/>
              </a:rPr>
              <a:t>Wazuh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572000"/>
            <a:ext cx="1828800" cy="914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200" b="1" i="0">
                <a:solidFill>
                  <a:srgbClr val="00D4FF"/>
                </a:solidFill>
                <a:latin typeface="Merriweather Light"/>
              </a:rPr>
              <a:t>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4572000"/>
            <a:ext cx="1828800" cy="9144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200" b="1" i="0">
                <a:solidFill>
                  <a:srgbClr val="FFAA00"/>
                </a:solidFill>
                <a:latin typeface="Merriweather Light"/>
              </a:rPr>
              <a:t>n8n SOAR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48840" y="4800600"/>
            <a:ext cx="27432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251960" y="4800600"/>
            <a:ext cx="27432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355080" y="4800600"/>
            <a:ext cx="27432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458200" y="4800600"/>
            <a:ext cx="27432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0287000" y="4800600"/>
            <a:ext cx="27432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972800" cy="82296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Wazuh Rule Mapping Examples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Auth Failure → Rule 5710 (Level 5)    • Port Scan → Rule 510 (Level 6)    • Brute Force → Rule 5712 (Level 10)    • DB Error → Rule 50100 (Level 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LIVING 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4 Subnets, 11 Vulnerable Containers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743200" cy="457200"/>
          </a:xfrm>
          <a:prstGeom prst="round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A0E27"/>
                </a:solidFill>
                <a:latin typeface="Merriweather Light"/>
              </a:rPr>
              <a:t>DMZ (10.10.10.0/24)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Juice Shop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10.10.10.10:3000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OWASP Top 10 vulns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0632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API Gateway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10.10.10.20:8081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Nginx exposed headers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4348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DNS Server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10.10.10.30:53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Zone transfer vuln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097280"/>
            <a:ext cx="2743200" cy="45720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A0E27"/>
                </a:solidFill>
                <a:latin typeface="Merriweather Light"/>
              </a:rPr>
              <a:t>Corporate (10.10.20.0/24)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916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File Server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10.10.20.10:445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SMB weak creds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0632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Mail Server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10.10.20.20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Plaintext SMTP/POP3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4348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Workstation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10.10.20.40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Internal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97280"/>
            <a:ext cx="27432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A0E27"/>
                </a:solidFill>
                <a:latin typeface="Merriweather Light"/>
              </a:rPr>
              <a:t>Data (10.10.30.0/24)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PostgreSQL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10.10.30.10:5432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password123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632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Redis Cache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10.10.30.20:6380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No auth, no protected-mode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097280"/>
            <a:ext cx="2743200" cy="45720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A0E27"/>
                </a:solidFill>
                <a:latin typeface="Merriweather Light"/>
              </a:rPr>
              <a:t>Management (10.10.40.0/24)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916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Traffic Gen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10.10.40.x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7 traffic generators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063240"/>
            <a:ext cx="2743200" cy="11887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rriweather Light"/>
              </a:rPr>
              <a:t>Log Shipper</a:t>
            </a:r>
          </a:p>
          <a:p>
            <a:r>
              <a:rPr sz="1000" b="0" i="0">
                <a:solidFill>
                  <a:srgbClr val="00D4FF"/>
                </a:solidFill>
                <a:latin typeface="Merriweather Light"/>
              </a:rPr>
              <a:t>10.10.40.x</a:t>
            </a:r>
          </a:p>
          <a:p>
            <a:r>
              <a:rPr sz="1000" b="0" i="0">
                <a:solidFill>
                  <a:srgbClr val="7B8BA8"/>
                </a:solidFill>
                <a:latin typeface="Merriweather Light"/>
              </a:rPr>
              <a:t>ECS + Wazuh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TRAFFIC GENERATION &amp; LOG SHIPPING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Simulated Enterprise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7 Traffic Generators (Threaded)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HTTP: Employee browsing + API calls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DNS: Internal + external domain queries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SMB: File server access (admin/admin123)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Database: PostgreSQL queries from webserver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Redis: GET/SET cache operations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Email: SMTP/POP3/IMAP simulated mail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Suspicious: Port scans, brute force, exfiltration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56032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Log Shipper Pipeline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Tail-follow /var/log/traffic/traffic.log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Transform to ECS format (Elastic Common Schema)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Transform to Wazuh alert format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Buffer in memory (size ≥ 50 or 10s interval)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Bulk-index to Elasticsearch via /_bulk API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Creates sme-lab-events-* and wazuh-alerts-*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Index templates with proper field mappings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3931920"/>
          <a:ext cx="10972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DASHBOARD &amp; REAL-TIME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React/Vite SPA with WebSocket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743200" cy="22860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400" b="1" i="0">
                <a:solidFill>
                  <a:srgbClr val="00D4FF"/>
                </a:solidFill>
                <a:latin typeface="Merriweather Light"/>
              </a:rPr>
              <a:t>RiskScore Gauge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0–100 gauge with color coding
Green (≥70) / Orange (40–70) / Red (&lt;40)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743200" cy="22860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400" b="1" i="0">
                <a:solidFill>
                  <a:srgbClr val="4A90D9"/>
                </a:solidFill>
                <a:latin typeface="Merriweather Light"/>
              </a:rPr>
              <a:t>Scan Pipeline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Visual step progress: Queued → Nmap
→ Nuclei → Risk Engine →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743200" cy="22860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400" b="1" i="0">
                <a:solidFill>
                  <a:srgbClr val="00FF88"/>
                </a:solidFill>
                <a:latin typeface="Merriweather Light"/>
              </a:rPr>
              <a:t>Agent Log Viewer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Console-like terminal stream
Real-time fetch every 2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097280"/>
            <a:ext cx="2743200" cy="22860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400" b="1" i="0">
                <a:solidFill>
                  <a:srgbClr val="FFAA00"/>
                </a:solidFill>
                <a:latin typeface="Merriweather Light"/>
              </a:rPr>
              <a:t>Action Center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Open remediation items
Status: OPEN → RESOLVED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40480"/>
            <a:ext cx="2743200" cy="22860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400" b="1" i="0">
                <a:solidFill>
                  <a:srgbClr val="FF0055"/>
                </a:solidFill>
                <a:latin typeface="Merriweather Light"/>
              </a:rPr>
              <a:t>Activity Feed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Recent security events
Prioritized by severity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840480"/>
            <a:ext cx="2743200" cy="22860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400" b="1" i="0">
                <a:solidFill>
                  <a:srgbClr val="4A90D9"/>
                </a:solidFill>
                <a:latin typeface="Merriweather Light"/>
              </a:rPr>
              <a:t>Network Topology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Graph visualization of discovered
assets and connections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2743200" cy="22860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400" b="1" i="0">
                <a:solidFill>
                  <a:srgbClr val="FF0055"/>
                </a:solidFill>
                <a:latin typeface="Merriweather Light"/>
              </a:rPr>
              <a:t>Risk Heatmap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Asset risk matrix with
color-coded severity 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840480"/>
            <a:ext cx="2743200" cy="22860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400" b="1" i="0">
                <a:solidFill>
                  <a:srgbClr val="00FF88"/>
                </a:solidFill>
                <a:latin typeface="Merriweather Light"/>
              </a:rPr>
              <a:t>Lab Environment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Lab container status
Telemetry and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REAL-TIME EVENT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Redis Pub/Sub → WebSocket → React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474720" cy="274320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600" b="1" i="0">
                <a:solidFill>
                  <a:srgbClr val="4A90D9"/>
                </a:solidFill>
                <a:latin typeface="Merriweather Light"/>
              </a:rPr>
              <a:t>BACKEND
(Event Publisher)</a:t>
            </a:r>
          </a:p>
          <a:p>
            <a:pPr algn="ctr">
              <a:spcBef>
                <a:spcPts val="1200"/>
              </a:spcBef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Redis Pub/Sub channel
publish('RISK_UPDATE', payload)
Triggered after Risk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188720"/>
            <a:ext cx="3474720" cy="274320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600" b="1" i="0">
                <a:solidFill>
                  <a:srgbClr val="00D4FF"/>
                </a:solidFill>
                <a:latin typeface="Merriweather Light"/>
              </a:rPr>
              <a:t>GATEWAY
(FastAPI WebSocket)</a:t>
            </a:r>
          </a:p>
          <a:p>
            <a:pPr algn="ctr">
              <a:spcBef>
                <a:spcPts val="1200"/>
              </a:spcBef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Endpoint: /ws/logs
Redis listener with backoff
2s → 4s → 8s → 32s 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188720"/>
            <a:ext cx="3474720" cy="2743200"/>
          </a:xfrm>
          <a:prstGeom prst="roundRect">
            <a:avLst/>
          </a:prstGeom>
          <a:solidFill>
            <a:srgbClr val="141A3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600" b="1" i="0">
                <a:solidFill>
                  <a:srgbClr val="00FF88"/>
                </a:solidFill>
                <a:latin typeface="Merriweather Light"/>
              </a:rPr>
              <a:t>FRONTEND
(RealTimeContext)</a:t>
            </a:r>
          </a:p>
          <a:p>
            <a:pPr algn="ctr">
              <a:spcBef>
                <a:spcPts val="1200"/>
              </a:spcBef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WebSocket.onmessage
dispatch({type, payload})
All components re-render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80" y="2377440"/>
            <a:ext cx="365760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589520" y="2377440"/>
            <a:ext cx="365760" cy="32004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4206240"/>
            <a:ext cx="11155680" cy="2286000"/>
          </a:xfrm>
          <a:prstGeom prst="roundRect">
            <a:avLst/>
          </a:prstGeom>
          <a:solidFill>
            <a:srgbClr val="1A22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600" b="1" i="0">
                <a:solidFill>
                  <a:srgbClr val="00D4FF"/>
                </a:solidFill>
                <a:latin typeface="Merriweather Light"/>
              </a:rPr>
              <a:t>WebSocket Event Types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•  RISK_UPDATE  →  {scan_id, overall_score, health_score, vuln_count}  →  Updates RiskScore gauge + KPIs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•  [RECON] start_recon  →  {target_url, scan_type}  →  Agent Log Viewer + Pipeline Step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•  [ATTACK] test_complete  →  {findings_count, tested_endpoints}  →  Activity Feed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•  [VALIDATION] complete  →  {validated_count, false_positives}  →  Status indicators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•  [REPORTING] complete  →  {report_summary, poc_count}  →  Reports panel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SECURITY SCANNING CAPABILITIES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Tool Coverage &amp; Intelligence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D4FF"/>
                </a:solidFill>
                <a:latin typeface="Merriweather Light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05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D4FF"/>
                </a:solidFill>
                <a:latin typeface="Merriweather Light"/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005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D4FF"/>
                </a:solidFill>
                <a:latin typeface="Merriweather Light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005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D4FF"/>
                </a:solidFill>
                <a:latin typeface="Merriweather Light"/>
              </a:rPr>
              <a:t>Deterministic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005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D4FF"/>
                </a:solidFill>
                <a:latin typeface="Merriweather Light"/>
              </a:rPr>
              <a:t>AI-Enhanced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71600"/>
            <a:ext cx="10972800" cy="393192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Port Scanning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Nmap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ReconAgent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FF88"/>
                </a:solidFill>
                <a:latin typeface="Merriweather Light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810512"/>
            <a:ext cx="10972800" cy="393192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856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Service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856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Nmap -sV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856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ReconAgent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1856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FF88"/>
                </a:solidFill>
                <a:latin typeface="Merriweather Light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856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249424"/>
            <a:ext cx="10972800" cy="393192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295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OS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295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Nmap -O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295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ReconAgent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295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FF88"/>
                </a:solidFill>
                <a:latin typeface="Merriweather Light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295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688336"/>
            <a:ext cx="10972800" cy="393192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734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Web App Crawling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2734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Playwright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2734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ReconAgent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2734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FF88"/>
                </a:solidFill>
                <a:latin typeface="Merriweather Light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734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127248"/>
            <a:ext cx="10972800" cy="393192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Template Vulns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Nuclei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AttackAgent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FF88"/>
                </a:solidFill>
                <a:latin typeface="Merriweather Light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566160"/>
            <a:ext cx="10972800" cy="393192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Payload Injection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AttackAgent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AttackAgent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FF88"/>
                </a:solidFill>
                <a:latin typeface="Merriweather Light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005072"/>
            <a:ext cx="10972800" cy="393192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0507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FP Filtering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40507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Validation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40507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ValidationAgent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0" y="40507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D4FF"/>
                </a:solidFill>
                <a:latin typeface="Merriweather Light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40507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D4FF"/>
                </a:solidFill>
                <a:latin typeface="Merriweather Light"/>
              </a:rPr>
              <a:t>Gemini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443984"/>
            <a:ext cx="10972800" cy="393192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489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Risk Scoring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4489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UnifiedRiskEngine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80" y="4489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0" y="4489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FF88"/>
                </a:solidFill>
                <a:latin typeface="Merriweather Light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489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4882896"/>
            <a:ext cx="10972800" cy="393192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49286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PoC Generation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0" y="49286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Templates+LLM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80" y="49286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ReportingAgent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0" y="49286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D4FF"/>
                </a:solidFill>
                <a:latin typeface="Merriweather Light"/>
              </a:rPr>
              <a:t>Template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9286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D4FF"/>
                </a:solidFill>
                <a:latin typeface="Merriweather Light"/>
              </a:rPr>
              <a:t>Gemini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321808"/>
            <a:ext cx="10972800" cy="393192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367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Exec Summary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26080" y="5367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LLM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2080" y="5367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ReportingAgent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0" y="5367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367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D4FF"/>
                </a:solidFill>
                <a:latin typeface="Merriweather Light"/>
              </a:rPr>
              <a:t>Gemini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5760720"/>
            <a:ext cx="10972800" cy="393192"/>
          </a:xfrm>
          <a:prstGeom prst="roundRect">
            <a:avLst/>
          </a:prstGeom>
          <a:solidFill>
            <a:srgbClr val="14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Asset Intel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26080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Gemini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0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IntelligenceAgent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0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0C8D8"/>
                </a:solidFill>
                <a:latin typeface="Merriweather Light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D4FF"/>
                </a:solidFill>
                <a:latin typeface="Merriweather Light"/>
              </a:rPr>
              <a:t>Gemini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API ENDPOINTS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FastAPI REST + WebSocket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46888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Scans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POST /scans         Create sync scan (Celery)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POST /scans/ai      Create AI scan (Orchestrator)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 /scans          List scans (filter by status)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 /scans/{id}    Detailed scan + vulns +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577840" cy="246888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FF88"/>
                </a:solidFill>
                <a:latin typeface="Merriweather Light"/>
              </a:rPr>
              <a:t>Dashboard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/dashboard/risk-overview    KPI metrics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/dashboard/kpi-snapshot     Scores + counts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/dashboard/actions              Action items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POST /dashboard/refresh-risk    Force recalc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40480"/>
            <a:ext cx="5577840" cy="246888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4A90D9"/>
                </a:solidFill>
                <a:latin typeface="Merriweather Light"/>
              </a:rPr>
              <a:t>Network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/network/assets           All network assets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/network/assets/new     Last 24h discoveries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/network/activity          Recent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577840" cy="246888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AA00"/>
                </a:solidFill>
                <a:latin typeface="Merriweather Light"/>
              </a:rPr>
              <a:t>SIEM &amp; Lab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/siem/alerts    Elasticsearch alerts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/siem/health   ES connectivity check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GET /lab/status      Container status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POST /lab/seed     Register lab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VULNERABILITY ANALYSIS — Lab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Severity Distribution &amp; Coverage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18872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Lab Scan Findings Summary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33 total vulnerabilities discovered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4 CRITICAL: Redis no-auth, SMB weak creds,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PostgreSQL exposed, DNS zone transfer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8 HIGH: Juice Shop vulns, default logins,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service exposures on sensitive ports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12 MEDIUM: HTTP misconfiguration,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  directory listing, exposed headers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6 LOW: Information disclosure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3 INFO: Version banners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False positive rate: &lt;5% after validation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Avg scan time: 3-5 min (quick mode)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100% deterministic risk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NOVEL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Research Impact &amp; Innovation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05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0D4FF"/>
                </a:solidFill>
                <a:latin typeface="Merriweather Light"/>
              </a:rPr>
              <a:t>Unified Risk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Deterministic scoring algorithm combining CVSS-like severity weights, asset criticality multipliers, and network exposure factors. Reproducible for compliance: same inputs always produce the same risk score.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4A90D9"/>
                </a:solidFill>
                <a:latin typeface="Merriweather Light"/>
              </a:rPr>
              <a:t>Multi-Agent Autonomous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4-stage orchestrated DAST workflow (Recon → Attack → Validation → Reporting) that operates without human intervention, reducing mean-time-to-detection from days to minutes.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0FF88"/>
                </a:solidFill>
                <a:latin typeface="Merriweather Light"/>
              </a:rPr>
              <a:t>SME-Focused Simplification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AI-powered translation of technical CVE data and scan results into non-technical business language via Google Gemini, enabling CEO/CTO-level decision-making without security expertise.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389119"/>
            <a:ext cx="457200" cy="45720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97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AA00"/>
                </a:solidFill>
                <a:latin typeface="Merriweather Light"/>
              </a:rPr>
              <a:t>Living Lab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4-subnet network with 11 vulnerable containers modeling a realistic SME topology (DMZ, Corporate, Data, Management) with traffic generation and SIEM-compatible log shipping.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0055"/>
                </a:solidFill>
                <a:latin typeface="Merriweather Light"/>
              </a:rPr>
              <a:t>Hybrid Intelligence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Clean separation between deterministic (scoring, filtering) and non-deterministic (LLM advisory) components. AI enhances but never overrides deterministic security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QUANTITATIVE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Platform Performance &amp;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00D4FF"/>
                </a:solidFill>
                <a:latin typeface="Merriweather Light"/>
              </a:rPr>
              <a:t>11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Microservices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18872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4A90D9"/>
                </a:solidFill>
                <a:latin typeface="Merriweather Light"/>
              </a:rPr>
              <a:t>4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Agent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18872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00FF88"/>
                </a:solidFill>
                <a:latin typeface="Merriweather Light"/>
              </a:rPr>
              <a:t>5+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Integration
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0" y="118872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FFAA00"/>
                </a:solidFill>
                <a:latin typeface="Merriweather Light"/>
              </a:rPr>
              <a:t>11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Lab Containers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18872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FF0055"/>
                </a:solidFill>
                <a:latin typeface="Merriweather Light"/>
              </a:rPr>
              <a:t>4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Network
Subnets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2608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00D4FF"/>
                </a:solidFill>
                <a:latin typeface="Merriweather Light"/>
              </a:rPr>
              <a:t>50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Concurrent
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92608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00FF88"/>
                </a:solidFill>
                <a:latin typeface="Merriweather Light"/>
              </a:rPr>
              <a:t>2-5
min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Quick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92608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FFAA00"/>
                </a:solidFill>
                <a:latin typeface="Merriweather Light"/>
              </a:rPr>
              <a:t>15+
min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Deep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0" y="292608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00FF88"/>
                </a:solidFill>
                <a:latin typeface="Merriweather Light"/>
              </a:rPr>
              <a:t>&lt;5%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FP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926080"/>
            <a:ext cx="2103120" cy="137160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3200" b="1" i="0">
                <a:solidFill>
                  <a:srgbClr val="4A90D9"/>
                </a:solidFill>
                <a:latin typeface="Merriweather Light"/>
              </a:rPr>
              <a:t>9</a:t>
            </a:r>
          </a:p>
          <a:p>
            <a:pPr algn="ctr"/>
            <a:r>
              <a:rPr sz="1100" b="0" i="0">
                <a:solidFill>
                  <a:srgbClr val="7B8BA8"/>
                </a:solidFill>
                <a:latin typeface="Merriweather Light"/>
              </a:rPr>
              <a:t>DB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572000"/>
            <a:ext cx="11155680" cy="1828800"/>
          </a:xfrm>
          <a:prstGeom prst="roundRect">
            <a:avLst/>
          </a:prstGeom>
          <a:solidFill>
            <a:srgbClr val="141A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D4FF"/>
                </a:solidFill>
                <a:latin typeface="Merriweather Light"/>
              </a:rPr>
              <a:t>Platform Highlights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Risk scoring is 100% deterministic — same inputs produce identical outputs (reproducible for audit &amp; compliance)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Celery Beat enables continuous monitoring with hourly automated scans across all registered targets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WebSocket real-time event pipeline: &lt;100ms latency from scan completion to dashboard update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C0C8D8"/>
                </a:solidFill>
                <a:latin typeface="Merriweather Light"/>
              </a:rPr>
              <a:t>  • Docker Compose orchestration with health checks, resource limits, and automatic restart policies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Roadmap &amp; Research Extensions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146304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37160"/>
          <a:lstStyle/>
          <a:p>
            <a:pPr algn="ctr"/>
            <a:r>
              <a:rPr sz="1400" b="1" i="0">
                <a:solidFill>
                  <a:srgbClr val="00D4FF"/>
                </a:solidFill>
                <a:latin typeface="Merriweather Light"/>
              </a:rPr>
              <a:t>Multi-Tenant Architecture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Support for multiple organizations with role-based access control, tenant isolation, and per-organization risk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577840" cy="146304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37160"/>
          <a:lstStyle/>
          <a:p>
            <a:pPr algn="ctr"/>
            <a:r>
              <a:rPr sz="1400" b="1" i="0">
                <a:solidFill>
                  <a:srgbClr val="4A90D9"/>
                </a:solidFill>
                <a:latin typeface="Merriweather Light"/>
              </a:rPr>
              <a:t>Machine Learning Anomaly Detection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Train models on baseline traffic patterns to detect zero-day threats and anomalous behavior without signature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834640"/>
            <a:ext cx="5577840" cy="146304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37160"/>
          <a:lstStyle/>
          <a:p>
            <a:pPr algn="ctr"/>
            <a:r>
              <a:rPr sz="1400" b="1" i="0">
                <a:solidFill>
                  <a:srgbClr val="00FF88"/>
                </a:solidFill>
                <a:latin typeface="Merriweather Light"/>
              </a:rPr>
              <a:t>Kubernetes Orchestration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Migrate from Docker Compose to Kubernetes for horizontal scaling, auto-healing, and production-grade orchestration.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34640"/>
            <a:ext cx="5577840" cy="146304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37160"/>
          <a:lstStyle/>
          <a:p>
            <a:pPr algn="ctr"/>
            <a:r>
              <a:rPr sz="1400" b="1" i="0">
                <a:solidFill>
                  <a:srgbClr val="FFAA00"/>
                </a:solidFill>
                <a:latin typeface="Merriweather Light"/>
              </a:rPr>
              <a:t>Compliance Mapping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Map vulnerabilities and risk scores to frameworks like ISO 27001, NIST CSF, and PCI-DSS for automated compliance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572000"/>
            <a:ext cx="5577840" cy="146304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37160"/>
          <a:lstStyle/>
          <a:p>
            <a:pPr algn="ctr"/>
            <a:r>
              <a:rPr sz="1400" b="1" i="0">
                <a:solidFill>
                  <a:srgbClr val="FF0055"/>
                </a:solidFill>
                <a:latin typeface="Merriweather Light"/>
              </a:rPr>
              <a:t>Agentic Remediation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Extend the agent pipeline with a RemediationAgent that can autonomously apply fixes (firewall rules, patches, configurations) with human-in-the-loop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5577840" cy="1463040"/>
          </a:xfrm>
          <a:prstGeom prst="roundRect">
            <a:avLst/>
          </a:prstGeom>
          <a:solidFill>
            <a:srgbClr val="141A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37160"/>
          <a:lstStyle/>
          <a:p>
            <a:pPr algn="ctr"/>
            <a:r>
              <a:rPr sz="1400" b="1" i="0">
                <a:solidFill>
                  <a:srgbClr val="00D4FF"/>
                </a:solidFill>
                <a:latin typeface="Merriweather Light"/>
              </a:rPr>
              <a:t>Extended Tool Integration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C0C8D8"/>
                </a:solidFill>
                <a:latin typeface="Merriweather Light"/>
              </a:rPr>
              <a:t>Add support for Burp Suite API, Snyk for dependency scanning, and cloud security posture management (CSPM) tools.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5486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erriweather Light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B8BA8"/>
                </a:solidFill>
                <a:latin typeface="Merriweather Light"/>
              </a:rPr>
              <a:t>Summary &amp; Key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234440"/>
            <a:ext cx="365760" cy="36576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Found 404 demonstrates that enterprise-grade security orchestration can be made accessible to SMEs through intelligent automation and AI-driven advisory generation.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The Unified Risk Engine provides deterministic, reproducible risk quantification that bridges the gap between raw vulnerability data and actionable business intelligence.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The multi-agent pipeline reduces mean-time-to-detection from days to minutes by autonomously chaining reconnaissance, attack, validation, and reporting without human intervention.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526279"/>
            <a:ext cx="365760" cy="36576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1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The hybrid architecture—deterministic scoring with non-deterministic AI enhancement—ensures both reliability and contextual intelligence, where AI enhances but never overrides security decisions.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623560"/>
            <a:ext cx="365760" cy="36576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/>
            <a:r>
              <a:rPr sz="1600" b="1" i="0">
                <a:solidFill>
                  <a:srgbClr val="0A0E27"/>
                </a:solidFill>
                <a:latin typeface="Merriweather Ligh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The living lab validates the platform against a realistic SME network topology with 4 subnets and 11 vulnerable containers, proving practical effectiveness beyond theoretical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00D4FF"/>
                </a:solidFill>
                <a:latin typeface="Merriweather Light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0" i="0">
                <a:solidFill>
                  <a:srgbClr val="FFFFFF"/>
                </a:solidFill>
                <a:latin typeface="Merriweather Light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00400"/>
            <a:ext cx="3017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7B8BA8"/>
                </a:solidFill>
                <a:latin typeface="Merriweather Light"/>
              </a:rPr>
              <a:t>Found 404  —  Autonomous Security Orchestration Platform for SMEs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▸  Deterministic vs. Non-Deterministic Architecture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983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▸  Unified Risk Engine Weighting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394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▸  Multi-Agent Orchestration 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806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0C8D8"/>
                </a:solidFill>
                <a:latin typeface="Merriweather Light"/>
              </a:rPr>
              <a:t>▸  Living Lab Fidelity &amp; Real-World Applicability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7B8BA8"/>
                </a:solidFill>
                <a:latin typeface="Merriweather Light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