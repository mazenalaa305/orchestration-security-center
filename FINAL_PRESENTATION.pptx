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Omar Kapil opens. Warm welcome. State the problem in one sentence: '90% of Egyptian businesses are SMEs and almost none can afford a security analyst — that is the gap we close.' Do NOT introduce the team yet; that is slide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Omar Kapil. Frame as cost + expertise + volume problem. Real SME breaches happen because the simple stuff is unmonitored. End with: 'Even if they buy a scanner, they cannot read the output.' Bridge to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Omar Kapil. Acknowledge the existing tools are good — we use Nmap and Nuclei underneath. Innovation is the orchestration layer. Set up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Omar Kapil. Thesis statement slide. 'We are not a scanner. We are the brain that orchestrates scanners and translates output into action.' Hand off to Reem.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Reem Amin takes over here. Emphasise determinism — committee always asks 'how do you trust the AI?'. Answer: we do not trust it for decisions; only for English. The math is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Reem Amin. Walk left-to-right along the data flow. Pause on Redis pub/sub: 'this is how a 3-minute scan streams live to the browser without polling'. Mention the whole stack runs on 8 GB 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Reem. Don't read the table. Emphasise the philosophy: Python/FastAPI for orchestration logic (the brain), C/Go scanners (Nmap/Nuclei) for low-level work (the muscle), React for visualisation.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Marize Ehap takes the mic. Switch to live dashboard; click a topology node; narrate that the hover tooltip is fed from the same Redis-backed RealTimeContext as the KPI cards — single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Reem Amin. Show /docs live, expand /scans/ai. Explain the Depends() pattern: this is how 40 endpoints share one auth check without copy-paste.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Yousef Abdel Hady supports Reem here. Each agent is async, rate-limited, and writes a tamper-proof log. Replay any scan from AgentLog. Open the Orchestration Feed during demo so the committee sees the pipeline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Yousef. Committee always asks: 'is your AI a black box?'. Answer: 'No — the score is pure arithmetic. The LLM only writes the English summary.'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Shahd Paher takes over. 'Most platforms run every template against every target — that's why they generate 200 alerts. We chain deterministically. Same coverage, fewer false positives, faster scans.'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Mariz Ehap (or Shahd narrates). 'A scanner finding plus a SIEM alert on the same IP equals high confidence — that is correlation.' This is the slide that answers 'what about runtime threats, not just vulnerabilities?'.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Mohamed Shaban (supports) / Reem narrates. 'This is the plumbing. Without it, the dashboard would just spin. With it, you watch the AI think in real time.'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Omar Kapil retakes the mic. 'Reproducibility was a hard requirement. Any examiner can clone the repo, run start-lite.ps1, and have the platform live in 4 minutes.'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Omar Kapil. 'A security tool that is insecure is worse than no tool. We applied the same OWASP checks to ourselves.' Direct examiners to SECURITY_AUDIT.md.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Shahd Paher. 'This is not a single Juice Shop container — it is a 10-container miniature SME with realistic background traffic. Every scenario has a CVE, a CVSS score, and an expected dashboard outcome.'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Omar Kapil drives demo from demo/demo_script.md. Yousef on agent log lines, Shahd on scan internals, Marize/Omnia on UI. Time-cap 10 min. If a step hangs &gt;30s, switch to pre-recorded fallback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Omar Kapil. Walk top-to-bottom. Team Lead at top; 4 sub-team leads as the second tier; specialists under each lead. ONE LINE per person. ~60 seconds total for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Omar Kapil keeps time and re-routes Q&amp;A: Reem/Shahd/Marize for technical questions, Yousef for AI questions. Q&amp;A prepared answers are in FINAL_PRESENTATION.md.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6400800"/>
            <a:ext cx="14020495" cy="2540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914400" y="6291072"/>
            <a:ext cx="14020495" cy="25400"/>
          </a:xfrm>
          <a:prstGeom prst="rect">
            <a:avLst/>
          </a:prstGeom>
          <a:solidFill>
            <a:srgbClr val="FF4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914400" y="6181344"/>
            <a:ext cx="14020495" cy="254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E0FF"/>
                </a:solidFill>
                <a:latin typeface="Calibri"/>
              </a:rPr>
              <a:t>FINAL YEAR PROJECT  ·  CYBERSECURITY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800" b="1">
                <a:solidFill>
                  <a:srgbClr val="ECEFF4"/>
                </a:solidFill>
                <a:latin typeface="Calibri"/>
              </a:rPr>
              <a:t>Orchestration Security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6984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0">
                <a:solidFill>
                  <a:srgbClr val="00E0FF"/>
                </a:solidFill>
                <a:latin typeface="Calibri"/>
              </a:rPr>
              <a:t>An Automated Security Orchestration Platform for SMEs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102412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ECEFF4"/>
                </a:solidFill>
                <a:latin typeface="Calibri"/>
              </a:rPr>
              <a:t>“Turn 200 raw vulnerability alerts into 5 prioritised business actions.”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Helwan International Technological University (HITU)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97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Team of 12  ·  4 sub-teams  ·  Foundational engineering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5778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0">
                <a:solidFill>
                  <a:srgbClr val="9AA3B2"/>
                </a:solidFill>
                <a:latin typeface="Calibri"/>
              </a:rPr>
              <a:t>Presented: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8978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0">
                <a:solidFill>
                  <a:srgbClr val="9AA3B2"/>
                </a:solidFill>
                <a:latin typeface="Calibri"/>
              </a:rPr>
              <a:t>Supervisor: &lt;name&gt;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73152" cy="50292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CEFF4"/>
                </a:solidFill>
                <a:latin typeface="Calibri"/>
              </a:rPr>
              <a:t>The SME Security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Why existing approaches leave small businesses exposed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12700"/>
          </a:xfrm>
          <a:prstGeom prst="rect">
            <a:avLst/>
          </a:prstGeom>
          <a:solidFill>
            <a:srgbClr val="22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Orchestration Security Center  ·  HITU FYP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22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E0FF"/>
                </a:solidFill>
                <a:latin typeface="Calibri"/>
              </a:rPr>
              <a:t>WHAT THE DATA SAYS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1828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400" b="1">
                <a:solidFill>
                  <a:srgbClr val="FF4A4A"/>
                </a:solidFill>
                <a:latin typeface="Calibri"/>
              </a:rPr>
              <a:t>1 in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194560"/>
            <a:ext cx="31089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CEFF4"/>
                </a:solidFill>
                <a:latin typeface="Calibri"/>
              </a:rPr>
              <a:t>SMEs hit by a cyberattack last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1828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400" b="1">
                <a:solidFill>
                  <a:srgbClr val="FF9C2A"/>
                </a:solidFill>
                <a:latin typeface="Calibri"/>
              </a:rPr>
              <a:t>&gt;6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108960"/>
            <a:ext cx="31089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CEFF4"/>
                </a:solidFill>
                <a:latin typeface="Calibri"/>
              </a:rPr>
              <a:t>Avg breach cost &gt; 6 months of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23360"/>
            <a:ext cx="1828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400" b="1">
                <a:solidFill>
                  <a:srgbClr val="FF9C2A"/>
                </a:solidFill>
                <a:latin typeface="Calibri"/>
              </a:rPr>
              <a:t>$200K+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023360"/>
            <a:ext cx="31089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CEFF4"/>
                </a:solidFill>
                <a:latin typeface="Calibri"/>
              </a:rPr>
              <a:t>Annual cost of a 3-analyst SOC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37760"/>
            <a:ext cx="1828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400" b="1">
                <a:solidFill>
                  <a:srgbClr val="00E0FF"/>
                </a:solidFill>
                <a:latin typeface="Calibri"/>
              </a:rPr>
              <a:t>200+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937760"/>
            <a:ext cx="31089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CEFF4"/>
                </a:solidFill>
                <a:latin typeface="Calibri"/>
              </a:rPr>
              <a:t>Raw findings from a typical scanner 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554480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6916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Calibri"/>
              </a:rPr>
              <a:t>WHAT AN SME HAS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103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1 generalist IT person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No SIEM, no SOC, no incident response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Off-the-shelf scanners they cannot interpret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886200"/>
            <a:ext cx="5440680" cy="224028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0233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4A4A"/>
                </a:solidFill>
                <a:latin typeface="Calibri"/>
              </a:rPr>
              <a:t>WHAT ATTACKERS EXPLOIT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348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4A4A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Default credentials (admin/admin123)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4A4A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Open management ports (RDP, SMB, Telnet)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4A4A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Unpatched CVEs and outdated services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4A4A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No log monitoring → silent compromise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73152" cy="50292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CEFF4"/>
                </a:solidFill>
                <a:latin typeface="Calibri"/>
              </a:rPr>
              <a:t>Why Off-the-Shelf Tools Don’t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We respect them — we just need a different layer on top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12700"/>
          </a:xfrm>
          <a:prstGeom prst="rect">
            <a:avLst/>
          </a:prstGeom>
          <a:solidFill>
            <a:srgbClr val="22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Orchestration Security Center  ·  HITU FYP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00200"/>
            <a:ext cx="73152" cy="1051560"/>
          </a:xfrm>
          <a:prstGeom prst="rect">
            <a:avLst/>
          </a:prstGeom>
          <a:solidFill>
            <a:srgbClr val="F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0200"/>
            <a:ext cx="393192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Calibri"/>
              </a:rPr>
              <a:t>Tenable / Rapid7 / Qualys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600200"/>
            <a:ext cx="320040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00FF88"/>
                </a:solidFill>
                <a:latin typeface="Calibri"/>
              </a:rPr>
              <a:t>✓  Strong scanning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600200"/>
            <a:ext cx="356616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4A4A"/>
                </a:solidFill>
                <a:latin typeface="Calibri"/>
              </a:rPr>
              <a:t>✗  Expensive · cloud-only · no remediation guidance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61488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761488"/>
            <a:ext cx="73152" cy="1051560"/>
          </a:xfrm>
          <a:prstGeom prst="rect">
            <a:avLst/>
          </a:prstGeom>
          <a:solidFill>
            <a:srgbClr val="FF9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61488"/>
            <a:ext cx="393192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Calibri"/>
              </a:rPr>
              <a:t>OpenVAS / Nmap (raw)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761488"/>
            <a:ext cx="320040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00FF88"/>
                </a:solidFill>
                <a:latin typeface="Calibri"/>
              </a:rPr>
              <a:t>✓  Free and powerful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761488"/>
            <a:ext cx="356616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9C2A"/>
                </a:solidFill>
                <a:latin typeface="Calibri"/>
              </a:rPr>
              <a:t>✗  Output requires expert interpretation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22776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922776"/>
            <a:ext cx="73152" cy="1051560"/>
          </a:xfrm>
          <a:prstGeom prst="rect">
            <a:avLst/>
          </a:prstGeom>
          <a:solidFill>
            <a:srgbClr val="F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922776"/>
            <a:ext cx="393192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Calibri"/>
              </a:rPr>
              <a:t>Pure-LLM ‘AI security’ startups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922776"/>
            <a:ext cx="320040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00FF88"/>
                </a:solidFill>
                <a:latin typeface="Calibri"/>
              </a:rPr>
              <a:t>✓  Modern 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922776"/>
            <a:ext cx="356616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F4A4A"/>
                </a:solidFill>
                <a:latin typeface="Calibri"/>
              </a:rPr>
              <a:t>✗  Hallucinate · non-deterministic · unauditable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084064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084064"/>
            <a:ext cx="73152" cy="105156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084064"/>
            <a:ext cx="393192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ECEFF4"/>
                </a:solidFill>
                <a:latin typeface="Calibri"/>
              </a:rPr>
              <a:t>OUR ANSWER: Orchestration Security Center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084064"/>
            <a:ext cx="320040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00FF88"/>
                </a:solidFill>
                <a:latin typeface="Calibri"/>
              </a:rPr>
              <a:t>✓  Free + explainable + deterministic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084064"/>
            <a:ext cx="356616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00FF88"/>
                </a:solidFill>
                <a:latin typeface="Calibri"/>
              </a:rPr>
              <a:t>→  Hybrid: math for scoring, LLM only for English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73152" cy="50292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CEFF4"/>
                </a:solidFill>
                <a:latin typeface="Calibri"/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The orchestration layer for SME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12700"/>
          </a:xfrm>
          <a:prstGeom prst="rect">
            <a:avLst/>
          </a:prstGeom>
          <a:solidFill>
            <a:srgbClr val="22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Orchestration Security Center  ·  HITU FYP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E0FF"/>
                </a:solidFill>
                <a:latin typeface="Calibri"/>
              </a:rPr>
              <a:t>WHAT IT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500">
                <a:solidFill>
                  <a:srgbClr val="ECEFF4"/>
                </a:solidFill>
                <a:latin typeface="Calibri"/>
              </a:rPr>
              <a:t>Automated DAST platform — discover · attack · validate · score · report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500">
                <a:solidFill>
                  <a:srgbClr val="ECEFF4"/>
                </a:solidFill>
                <a:latin typeface="Calibri"/>
              </a:rPr>
              <a:t>4-stage AI agent pipeline runs unattended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500">
                <a:solidFill>
                  <a:srgbClr val="ECEFF4"/>
                </a:solidFill>
                <a:latin typeface="Calibri"/>
              </a:rPr>
              <a:t>Deterministic 0–100 risk score (no LLM in scoring path)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500">
                <a:solidFill>
                  <a:srgbClr val="ECEFF4"/>
                </a:solidFill>
                <a:latin typeface="Calibri"/>
              </a:rPr>
              <a:t>Gemini LLM advisory only — plain-English explanations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500">
                <a:solidFill>
                  <a:srgbClr val="ECEFF4"/>
                </a:solidFill>
                <a:latin typeface="Calibri"/>
              </a:rPr>
              <a:t>Single-laptop deploy: docker compose up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500">
                <a:solidFill>
                  <a:srgbClr val="ECEFF4"/>
                </a:solidFill>
                <a:latin typeface="Calibri"/>
              </a:rPr>
              <a:t>5 prioritised actions, not 200 raw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22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Calibri"/>
              </a:rPr>
              <a:t>BEFORE  →  AFTER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103120"/>
            <a:ext cx="4983480" cy="182880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FF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4A4A"/>
                </a:solidFill>
                <a:latin typeface="Calibri"/>
              </a:rPr>
              <a:t>BEFORE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514600"/>
            <a:ext cx="45720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ECEFF4"/>
                </a:solidFill>
                <a:latin typeface="Calibri"/>
              </a:rPr>
              <a:t>200 CSV rows of CVEs.</a:t>
            </a:r>
          </a:p>
          <a:p>
            <a:pPr algn="l"/>
            <a:r>
              <a:rPr sz="1400" b="0">
                <a:solidFill>
                  <a:srgbClr val="ECEFF4"/>
                </a:solidFill>
                <a:latin typeface="Calibri"/>
              </a:rPr>
              <a:t>No priority. No business context.</a:t>
            </a:r>
          </a:p>
          <a:p>
            <a:pPr algn="l"/>
            <a:r>
              <a:rPr sz="1400" b="0">
                <a:solidFill>
                  <a:srgbClr val="ECEFF4"/>
                </a:solidFill>
                <a:latin typeface="Calibri"/>
              </a:rPr>
              <a:t>Nobody reads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160520"/>
            <a:ext cx="4983480" cy="1874519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251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FF88"/>
                </a:solidFill>
                <a:latin typeface="Calibri"/>
              </a:rPr>
              <a:t>AFTER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572000"/>
            <a:ext cx="45720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ECEFF4"/>
                </a:solidFill>
                <a:latin typeface="Calibri"/>
              </a:rPr>
              <a:t>5 ranked action cards.</a:t>
            </a:r>
          </a:p>
          <a:p>
            <a:pPr algn="l"/>
            <a:r>
              <a:rPr sz="1400" b="0">
                <a:solidFill>
                  <a:srgbClr val="ECEFF4"/>
                </a:solidFill>
                <a:latin typeface="Calibri"/>
              </a:rPr>
              <a:t>Plain-English impact + remediation.</a:t>
            </a:r>
          </a:p>
          <a:p>
            <a:pPr algn="l"/>
            <a:r>
              <a:rPr sz="1400" b="0">
                <a:solidFill>
                  <a:srgbClr val="ECEFF4"/>
                </a:solidFill>
                <a:latin typeface="Calibri"/>
              </a:rPr>
              <a:t>The owner knows what to fix first.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73152" cy="50292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CEFF4"/>
                </a:solidFill>
                <a:latin typeface="Calibri"/>
              </a:rPr>
              <a:t>Core Innovation — Four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What makes Orchestration Security Center different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12700"/>
          </a:xfrm>
          <a:prstGeom prst="rect">
            <a:avLst/>
          </a:prstGeom>
          <a:solidFill>
            <a:srgbClr val="22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Orchestration Security Center  ·  HITU FYP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554480"/>
            <a:ext cx="91440" cy="237744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9164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0E0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91640"/>
            <a:ext cx="4206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CEFF4"/>
                </a:solidFill>
                <a:latin typeface="Calibri"/>
              </a:rPr>
              <a:t>Deterministic Tool Chaining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331720"/>
            <a:ext cx="49377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Nmap result drives Nuclei template choice.</a:t>
            </a:r>
          </a:p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Port 445 → SMB templates only — never SQLi.</a:t>
            </a:r>
          </a:p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Fewer false positives, faster scans.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E0FF"/>
                </a:solidFill>
                <a:latin typeface="Consolas"/>
              </a:rPr>
              <a:t>▣  nuclei_wrapper.py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55448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4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554480"/>
            <a:ext cx="91440" cy="2377440"/>
          </a:xfrm>
          <a:prstGeom prst="rect">
            <a:avLst/>
          </a:prstGeom>
          <a:solidFill>
            <a:srgbClr val="FF4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69164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4AC8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1691640"/>
            <a:ext cx="4206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CEFF4"/>
                </a:solidFill>
                <a:latin typeface="Calibri"/>
              </a:rPr>
              <a:t>Hybrid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31720"/>
            <a:ext cx="49377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Math-based scoring + AI-based explanation.</a:t>
            </a:r>
          </a:p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Deterministic decisions; LLM only for English.</a:t>
            </a:r>
          </a:p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Auditable + accessible.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5204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4AC8"/>
                </a:solidFill>
                <a:latin typeface="Consolas"/>
              </a:rPr>
              <a:t>▣  unified_risk_engine.py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6908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069080"/>
            <a:ext cx="91440" cy="237744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0624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0FF88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206240"/>
            <a:ext cx="4206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CEFF4"/>
                </a:solidFill>
                <a:latin typeface="Calibri"/>
              </a:rPr>
              <a:t>Tamper-Evident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49377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Every agent action hash-chained.</a:t>
            </a:r>
          </a:p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sha256(prev_hash + entry).</a:t>
            </a:r>
          </a:p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Replayable like a blockchain.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0350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0FF88"/>
                </a:solidFill>
                <a:latin typeface="Consolas"/>
              </a:rPr>
              <a:t>▣  agent_orchestrator.py · BaseAgent.log_action()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06908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4069080"/>
            <a:ext cx="91440" cy="2377440"/>
          </a:xfrm>
          <a:prstGeom prst="rect">
            <a:avLst/>
          </a:prstGeom>
          <a:solidFill>
            <a:srgbClr val="FF9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20624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9C2A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206240"/>
            <a:ext cx="4206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CEFF4"/>
                </a:solidFill>
                <a:latin typeface="Calibri"/>
              </a:rPr>
              <a:t>Single-Pane Visibility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846320"/>
            <a:ext cx="49377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Scanner findings + Wazuh SIEM alerts fused.</a:t>
            </a:r>
          </a:p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One dashboard, one source of truth.</a:t>
            </a:r>
          </a:p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React + WebSocket-driven UI.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60350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9C2A"/>
                </a:solidFill>
                <a:latin typeface="Consolas"/>
              </a:rPr>
              <a:t>▣  alert_correlator.py · RealTimeContext.jsx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73152" cy="50292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CEFF4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Single-laptop deployment · 7 services · 4-zone lab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12700"/>
          </a:xfrm>
          <a:prstGeom prst="rect">
            <a:avLst/>
          </a:prstGeom>
          <a:solidFill>
            <a:srgbClr val="22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Orchestration Security Center  ·  HITU FYP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2011680" cy="86868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ECE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ECEFF4"/>
                </a:solidFill>
                <a:latin typeface="Calibri"/>
              </a:rPr>
              <a:t>User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AA3B2"/>
                </a:solidFill>
                <a:latin typeface="Consolas"/>
              </a:rPr>
              <a:t>https://localhost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1554480"/>
            <a:ext cx="2194560" cy="86868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69164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E0FF"/>
                </a:solidFill>
                <a:latin typeface="Calibri"/>
              </a:rPr>
              <a:t>Caddy TLS Proxy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05740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AA3B2"/>
                </a:solidFill>
                <a:latin typeface="Consolas"/>
              </a:rPr>
              <a:t>auto-TLS · :443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4320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4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803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4AC8"/>
                </a:solidFill>
                <a:latin typeface="Calibri"/>
              </a:rPr>
              <a:t>React 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4612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AA3B2"/>
                </a:solidFill>
                <a:latin typeface="Consolas"/>
              </a:rPr>
              <a:t>Vite · :5173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74320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8803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E0FF"/>
                </a:solidFill>
                <a:latin typeface="Calibri"/>
              </a:rPr>
              <a:t>FastAPI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24612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AA3B2"/>
                </a:solidFill>
                <a:latin typeface="Consolas"/>
              </a:rPr>
              <a:t>Python 3.11 · :8000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69080"/>
            <a:ext cx="1828800" cy="82296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FF88"/>
                </a:solidFill>
                <a:latin typeface="Calibri"/>
              </a:rPr>
              <a:t>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AA3B2"/>
                </a:solidFill>
                <a:latin typeface="Consolas"/>
              </a:rPr>
              <a:t>ACID state · :5432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40" y="4069080"/>
            <a:ext cx="1828800" cy="82296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40" y="42062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9C2A"/>
                </a:solidFill>
                <a:latin typeface="Calibri"/>
              </a:rPr>
              <a:t>Redis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45720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AA3B2"/>
                </a:solidFill>
                <a:latin typeface="Consolas"/>
              </a:rPr>
              <a:t>queue + pub/sub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069080"/>
            <a:ext cx="1828800" cy="82296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2062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9C2A"/>
                </a:solidFill>
                <a:latin typeface="Calibri"/>
              </a:rPr>
              <a:t>Celery Worker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5720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AA3B2"/>
                </a:solidFill>
                <a:latin typeface="Consolas"/>
              </a:rPr>
              <a:t>async scans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212080"/>
            <a:ext cx="1417320" cy="7772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ECE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49240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ECEFF4"/>
                </a:solidFill>
                <a:latin typeface="Calibri"/>
              </a:rPr>
              <a:t>Nmap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715000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AA3B2"/>
                </a:solidFill>
                <a:latin typeface="Consolas"/>
              </a:rPr>
              <a:t>ports · OS · NSE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48840" y="5212080"/>
            <a:ext cx="1417320" cy="7772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ECE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48840" y="5349240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ECEFF4"/>
                </a:solidFill>
                <a:latin typeface="Calibri"/>
              </a:rPr>
              <a:t>Nuclei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715000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AA3B2"/>
                </a:solidFill>
                <a:latin typeface="Consolas"/>
              </a:rPr>
              <a:t>YAML CVE templates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5212080"/>
            <a:ext cx="1417320" cy="7772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ECE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5349240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ECEFF4"/>
                </a:solidFill>
                <a:latin typeface="Calibri"/>
              </a:rPr>
              <a:t>OpenVAS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715000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AA3B2"/>
                </a:solidFill>
                <a:latin typeface="Consolas"/>
              </a:rPr>
              <a:t>deep CVE scan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66360" y="5212080"/>
            <a:ext cx="1417320" cy="7772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4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66360" y="5349240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4AC8"/>
                </a:solidFill>
                <a:latin typeface="Calibri"/>
              </a:rPr>
              <a:t>Gemini LLM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6360" y="5715000"/>
            <a:ext cx="1417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AA3B2"/>
                </a:solidFill>
                <a:latin typeface="Consolas"/>
              </a:rPr>
              <a:t>advisory only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12280" y="1554480"/>
            <a:ext cx="4846320" cy="228600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16459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Calibri"/>
              </a:rPr>
              <a:t>SIEM TIER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2011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Wazuh (HIDS + rules)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Elasticsearch (log index)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Kibana (dashboards)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alert_correlator.py → DB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12280" y="3977639"/>
            <a:ext cx="4846320" cy="219456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FF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03720" y="4069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4A4A"/>
                </a:solidFill>
                <a:latin typeface="Calibri"/>
              </a:rPr>
              <a:t>LAB ENVIRONMENT (internal: true)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44348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4A4A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DMZ — Juice Shop · API GW · DNS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4A4A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CORP — Samba · GreenMail · workstation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4A4A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DATA — PostgreSQL · Redis (no auth)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4A4A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MGMT — traffic gen · log shipper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645920" y="2423160"/>
            <a:ext cx="2560320" cy="0"/>
          </a:xfrm>
          <a:prstGeom prst="bentConnector3">
            <a:avLst/>
          </a:prstGeom>
          <a:ln w="15875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828800" y="2423160"/>
            <a:ext cx="2377440" cy="320040"/>
          </a:xfrm>
          <a:prstGeom prst="bentConnector3">
            <a:avLst/>
          </a:prstGeom>
          <a:ln w="15875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206240" y="2423160"/>
            <a:ext cx="274320" cy="320040"/>
          </a:xfrm>
          <a:prstGeom prst="bentConnector3">
            <a:avLst/>
          </a:prstGeom>
          <a:ln w="15875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554480" y="3657600"/>
            <a:ext cx="2926080" cy="411480"/>
          </a:xfrm>
          <a:prstGeom prst="bentConnector3">
            <a:avLst/>
          </a:prstGeom>
          <a:ln w="15875">
            <a:solidFill>
              <a:srgbClr val="00E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3520440" y="3657600"/>
            <a:ext cx="960120" cy="411480"/>
          </a:xfrm>
          <a:prstGeom prst="bentConnector3">
            <a:avLst/>
          </a:prstGeom>
          <a:ln w="15875">
            <a:solidFill>
              <a:srgbClr val="FF9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520440" y="4892040"/>
            <a:ext cx="1965960" cy="0"/>
          </a:xfrm>
          <a:prstGeom prst="bentConnector3">
            <a:avLst/>
          </a:prstGeom>
          <a:ln w="15875">
            <a:solidFill>
              <a:srgbClr val="FF9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486400" y="4892040"/>
            <a:ext cx="0" cy="320040"/>
          </a:xfrm>
          <a:prstGeom prst="bentConnector3">
            <a:avLst/>
          </a:prstGeom>
          <a:ln w="15875">
            <a:solidFill>
              <a:srgbClr val="FF9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73152" cy="50292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CEFF4"/>
                </a:solidFill>
                <a:latin typeface="Calibri"/>
              </a:rPr>
              <a:t>Tech Stack — Why Each 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Right tool for each layer · not one tool for everything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12700"/>
          </a:xfrm>
          <a:prstGeom prst="rect">
            <a:avLst/>
          </a:prstGeom>
          <a:solidFill>
            <a:srgbClr val="22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Orchestration Security Center  ·  HITU FYP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11155680" cy="45720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0E0FF"/>
                </a:solidFill>
                <a:latin typeface="Calibri"/>
              </a:rPr>
              <a:t>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55448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0E0FF"/>
                </a:solidFill>
                <a:latin typeface="Calibri"/>
              </a:rPr>
              <a:t>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54480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0E0FF"/>
                </a:solidFill>
                <a:latin typeface="Calibri"/>
              </a:rPr>
              <a:t>WHY THIS CHOICE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57400"/>
            <a:ext cx="11155680" cy="438912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22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57400"/>
            <a:ext cx="219456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057400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0E0FF"/>
                </a:solidFill>
                <a:latin typeface="Consolas"/>
              </a:rPr>
              <a:t>React 18 · Vite · Tailwind · D3.js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057400"/>
            <a:ext cx="4663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Lazy-loaded panels · D3 force graph · cyber theme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523744"/>
            <a:ext cx="11155680" cy="438912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22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523744"/>
            <a:ext cx="219456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523744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0E0FF"/>
                </a:solidFill>
                <a:latin typeface="Consolas"/>
              </a:rPr>
              <a:t>React Query · useReducer (RealTime)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523744"/>
            <a:ext cx="4663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Server cache + WebSocket reducer pattern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990088"/>
            <a:ext cx="11155680" cy="438912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22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990088"/>
            <a:ext cx="219456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990088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0E0FF"/>
                </a:solidFill>
                <a:latin typeface="Consolas"/>
              </a:rPr>
              <a:t>FastAPI · Pydantic v2 · SQLAlchemy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990088"/>
            <a:ext cx="4663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Auto-OpenAPI · async-first · type-safe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456432"/>
            <a:ext cx="11155680" cy="438912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22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456432"/>
            <a:ext cx="219456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Async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456432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0E0FF"/>
                </a:solidFill>
                <a:latin typeface="Consolas"/>
              </a:rPr>
              <a:t>Celery + Redis (broker + pub/sub)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456432"/>
            <a:ext cx="4663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Fan-out scans · live event bridge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922776"/>
            <a:ext cx="11155680" cy="438912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22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922776"/>
            <a:ext cx="219456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3922776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0E0FF"/>
                </a:solidFill>
                <a:latin typeface="Consolas"/>
              </a:rPr>
              <a:t>PostgreSQL + Alembic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922776"/>
            <a:ext cx="4663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ACID for security-critical state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389120"/>
            <a:ext cx="11155680" cy="438912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22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389120"/>
            <a:ext cx="219456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Scanners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4389120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0E0FF"/>
                </a:solidFill>
                <a:latin typeface="Consolas"/>
              </a:rPr>
              <a:t>Nmap · Nuclei · OpenVAS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389120"/>
            <a:ext cx="4663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Discovery → templates → deep CVE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855464"/>
            <a:ext cx="11155680" cy="438912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22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855464"/>
            <a:ext cx="219456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SIEM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4855464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0E0FF"/>
                </a:solidFill>
                <a:latin typeface="Consolas"/>
              </a:rPr>
              <a:t>Wazuh · Elasticsearch · Kibana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855464"/>
            <a:ext cx="4663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Open-source, production-grade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321808"/>
            <a:ext cx="11155680" cy="438912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22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321808"/>
            <a:ext cx="219456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5321808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0E0FF"/>
                </a:solidFill>
                <a:latin typeface="Consolas"/>
              </a:rPr>
              <a:t>Google Gemini 2.0 Flash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321808"/>
            <a:ext cx="4663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Cheap · fast · JSON-mode advisory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788152"/>
            <a:ext cx="11155680" cy="438912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22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788152"/>
            <a:ext cx="219456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DevOps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5788152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0E0FF"/>
                </a:solidFill>
                <a:latin typeface="Consolas"/>
              </a:rPr>
              <a:t>Docker Compose · Caddy · GH Actions · Trivy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788152"/>
            <a:ext cx="4663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Reproducible · TLS · scanned in CI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4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73152" cy="502920"/>
          </a:xfrm>
          <a:prstGeom prst="rect">
            <a:avLst/>
          </a:prstGeom>
          <a:solidFill>
            <a:srgbClr val="FF4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CEFF4"/>
                </a:solidFill>
                <a:latin typeface="Calibri"/>
              </a:rPr>
              <a:t>Module Deep Dive —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React 18 · WebSocket-first · auth-aware UI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12700"/>
          </a:xfrm>
          <a:prstGeom prst="rect">
            <a:avLst/>
          </a:prstGeom>
          <a:solidFill>
            <a:srgbClr val="22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Orchestration Security Center  ·  HITU FYP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5943600" cy="457200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4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4AC8"/>
                </a:solidFill>
                <a:latin typeface="Calibri"/>
              </a:rPr>
              <a:t>ARCHITECTURE &amp;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4AC8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Vite-bundled · code-split · 25+ dashboard panels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4AC8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RealTimeContext.jsx — useReducer + WebSocket envelope {type, payload, seq, ts}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4AC8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Exponential-backoff auto-reconnect (1s → 30s cap)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4AC8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react-force-graph-2d — node colour by risk score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4AC8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D3.js heatmap · Chart.js trends · Recharts gauges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4AC8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JWT in localStorage · ProtectedRoute · RoleGuard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4AC8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TailwindCSS cyber theme (cyber-cyan / cyber-red / glass cards)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554480"/>
            <a:ext cx="4937760" cy="219456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6916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E0FF"/>
                </a:solidFill>
                <a:latin typeface="Calibri"/>
              </a:rPr>
              <a:t>REAL-TIME EVENT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1031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200">
                <a:solidFill>
                  <a:srgbClr val="ECEFF4"/>
                </a:solidFill>
                <a:latin typeface="Calibri"/>
              </a:rPr>
              <a:t>WS open → SET_CONNECTED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200">
                <a:solidFill>
                  <a:srgbClr val="ECEFF4"/>
                </a:solidFill>
                <a:latin typeface="Calibri"/>
              </a:rPr>
              <a:t>RISK_UPDATE → KPI cards re-render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200">
                <a:solidFill>
                  <a:srgbClr val="ECEFF4"/>
                </a:solidFill>
                <a:latin typeface="Calibri"/>
              </a:rPr>
              <a:t>LOG_STREAM → OrchestrationFeed (max 200)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200">
                <a:solidFill>
                  <a:srgbClr val="ECEFF4"/>
                </a:solidFill>
                <a:latin typeface="Calibri"/>
              </a:rPr>
              <a:t>ALERT_NEW → toast + alert badge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886200"/>
            <a:ext cx="4937760" cy="224028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40233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Calibri"/>
              </a:rPr>
              <a:t>AUTH-AWARE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4348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200">
                <a:solidFill>
                  <a:srgbClr val="ECEFF4"/>
                </a:solidFill>
                <a:latin typeface="Calibri"/>
              </a:rPr>
              <a:t>AuthContext stores JWT + role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200">
                <a:solidFill>
                  <a:srgbClr val="ECEFF4"/>
                </a:solidFill>
                <a:latin typeface="Calibri"/>
              </a:rPr>
              <a:t>&lt;ProtectedRoute /&gt; redirects guests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200">
                <a:solidFill>
                  <a:srgbClr val="ECEFF4"/>
                </a:solidFill>
                <a:latin typeface="Calibri"/>
              </a:rPr>
              <a:t>&lt;RoleGuard role='admin' /&gt; hides UI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200">
                <a:solidFill>
                  <a:srgbClr val="ECEFF4"/>
                </a:solidFill>
                <a:latin typeface="Calibri"/>
              </a:rPr>
              <a:t>Force-password-change on first 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73152" cy="50292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CEFF4"/>
                </a:solidFill>
                <a:latin typeface="Calibri"/>
              </a:rPr>
              <a:t>Module Deep Dive — Backend API &amp; Auth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FastAPI · JWT · RBAC · audit 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12700"/>
          </a:xfrm>
          <a:prstGeom prst="rect">
            <a:avLst/>
          </a:prstGeom>
          <a:solidFill>
            <a:srgbClr val="22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Orchestration Security Center  ·  HITU FYP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E0FF"/>
                </a:solidFill>
                <a:latin typeface="Calibri"/>
              </a:rPr>
              <a:t>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40+ REST endpoints · auto-OpenAPI at /docs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13 router groups (auth · scans · targets · findings · …)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bcrypt password hash · JWT (HS256) · Depends(get_current_user)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RBAC: admin · analyst · viewer · require_role()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Fernet-encrypted credentials at rest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Lifespan: Alembic check · scan-reaper · admin-seed · Redis listener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Hash-chained AgentLog → tamper-evident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916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E0FF"/>
                </a:solidFill>
                <a:latin typeface="Calibri"/>
              </a:rPr>
              <a:t>AUTH SEQUENCE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103120"/>
            <a:ext cx="1280160" cy="50292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1031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0E0FF"/>
                </a:solidFill>
                <a:latin typeface="Calibri"/>
              </a:rPr>
              <a:t>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10312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ECEFF4"/>
                </a:solidFill>
                <a:latin typeface="Consolas"/>
              </a:rPr>
              <a:t>POST /auth/login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10312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Email + password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743200"/>
            <a:ext cx="1280160" cy="50292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74320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0E0FF"/>
                </a:solidFill>
                <a:latin typeface="Calibri"/>
              </a:rPr>
              <a:t>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74320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ECEFF4"/>
                </a:solidFill>
                <a:latin typeface="Consolas"/>
              </a:rPr>
              <a:t>verify_password()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74320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bcrypt compare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383280"/>
            <a:ext cx="1280160" cy="50292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38328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0E0FF"/>
                </a:solidFill>
                <a:latin typeface="Calibri"/>
              </a:rPr>
              <a:t>FastAPI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338328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ECEFF4"/>
                </a:solidFill>
                <a:latin typeface="Consolas"/>
              </a:rPr>
              <a:t>create_access_token()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338328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JWT HS256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4023360"/>
            <a:ext cx="1280160" cy="50292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02336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0E0FF"/>
                </a:solidFill>
                <a:latin typeface="Calibri"/>
              </a:rPr>
              <a:t>Browser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402336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ECEFF4"/>
                </a:solidFill>
                <a:latin typeface="Consolas"/>
              </a:rPr>
              <a:t>Authorization: Bearer 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402336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Stored in localStorage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4663440"/>
            <a:ext cx="1280160" cy="50292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66344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0E0FF"/>
                </a:solidFill>
                <a:latin typeface="Calibri"/>
              </a:rPr>
              <a:t>FastAPI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66344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ECEFF4"/>
                </a:solidFill>
                <a:latin typeface="Consolas"/>
              </a:rPr>
              <a:t>Depends(get_current_user)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466344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Decode + DB lookup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5303520"/>
            <a:ext cx="1280160" cy="50292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53035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0E0FF"/>
                </a:solidFill>
                <a:latin typeface="Calibri"/>
              </a:rPr>
              <a:t>Endpoint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530352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ECEFF4"/>
                </a:solidFill>
                <a:latin typeface="Consolas"/>
              </a:rPr>
              <a:t>require_role('admin')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5303520"/>
            <a:ext cx="1371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RBAC guard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4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73152" cy="502920"/>
          </a:xfrm>
          <a:prstGeom prst="rect">
            <a:avLst/>
          </a:prstGeom>
          <a:solidFill>
            <a:srgbClr val="FF4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CEFF4"/>
                </a:solidFill>
                <a:latin typeface="Calibri"/>
              </a:rPr>
              <a:t>Module Deep Dive — The AI Agent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agent_orchestrator.py · 4 stages · async + rate-limited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12700"/>
          </a:xfrm>
          <a:prstGeom prst="rect">
            <a:avLst/>
          </a:prstGeom>
          <a:solidFill>
            <a:srgbClr val="22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Orchestration Security Center  ·  HITU FYP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00200"/>
            <a:ext cx="73152" cy="146304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37360"/>
            <a:ext cx="2606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E0FF"/>
                </a:solidFill>
                <a:latin typeface="Calibri"/>
              </a:rPr>
              <a:t>STAGE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2606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CEFF4"/>
                </a:solidFill>
                <a:latin typeface="Calibri"/>
              </a:rPr>
              <a:t>RECON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6032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Nmap · Playwright crawl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27248" y="2194560"/>
            <a:ext cx="164592" cy="274320"/>
          </a:xfrm>
          <a:prstGeom prst="rightArrow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00984" y="160020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00984" y="1600200"/>
            <a:ext cx="73152" cy="1463040"/>
          </a:xfrm>
          <a:prstGeom prst="rect">
            <a:avLst/>
          </a:prstGeom>
          <a:solidFill>
            <a:srgbClr val="FF9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3864" y="1737360"/>
            <a:ext cx="2606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9C2A"/>
                </a:solidFill>
                <a:latin typeface="Calibri"/>
              </a:rPr>
              <a:t>STAGE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2103120"/>
            <a:ext cx="2606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CEFF4"/>
                </a:solidFill>
                <a:latin typeface="Calibri"/>
              </a:rPr>
              <a:t>ATTACK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3864" y="256032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httpx payloads (SQLi/XSS/BOLA/SSRF)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25312" y="2194560"/>
            <a:ext cx="164592" cy="274320"/>
          </a:xfrm>
          <a:prstGeom prst="rightArrow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99048" y="160020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9048" y="1600200"/>
            <a:ext cx="73152" cy="146304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737360"/>
            <a:ext cx="2606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FF88"/>
                </a:solidFill>
                <a:latin typeface="Calibri"/>
              </a:rPr>
              <a:t>STAGE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2103120"/>
            <a:ext cx="2606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CEFF4"/>
                </a:solidFill>
                <a:latin typeface="Calibri"/>
              </a:rPr>
              <a:t>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256032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drop confidence &lt; 0.6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723376" y="2194560"/>
            <a:ext cx="164592" cy="274320"/>
          </a:xfrm>
          <a:prstGeom prst="rightArrow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97112" y="160020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4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97112" y="1600200"/>
            <a:ext cx="73152" cy="1463040"/>
          </a:xfrm>
          <a:prstGeom prst="rect">
            <a:avLst/>
          </a:prstGeom>
          <a:solidFill>
            <a:srgbClr val="FF4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9992" y="1737360"/>
            <a:ext cx="2606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4AC8"/>
                </a:solidFill>
                <a:latin typeface="Calibri"/>
              </a:rPr>
              <a:t>STAGE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9992" y="2103120"/>
            <a:ext cx="2606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CEFF4"/>
                </a:solidFill>
                <a:latin typeface="Calibri"/>
              </a:rPr>
              <a:t>REPORTING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9992" y="256032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markdown + PDF export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291840"/>
            <a:ext cx="5486400" cy="283464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4290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E0FF"/>
                </a:solidFill>
                <a:latin typeface="Consolas"/>
              </a:rPr>
              <a:t>BaseAgent (abstract)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84048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AsyncLimiter — 10 rps per agent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log_action() → AgentLog · sha256 hash chain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llm_reason() → Gemini 2.0 Flash (fallback if no key)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Async DB session per Celery task (own event loop)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execute(context) → enriched context to next stage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291840"/>
            <a:ext cx="5440680" cy="283464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FF4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4290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4AC8"/>
                </a:solidFill>
                <a:latin typeface="Calibri"/>
              </a:rPr>
              <a:t>IntelligenceAgent — Advisory Side-Channel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84048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4AC8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NEVER on the decision path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4AC8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Receives finished scan results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4AC8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Asks Gemini for plain-English impact + remediation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4AC8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JSON-mode → structured output for the dashboard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4AC8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llm_guard.py blocks destructive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73152" cy="50292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CEFF4"/>
                </a:solidFill>
                <a:latin typeface="Calibri"/>
              </a:rPr>
              <a:t>Module Deep Dive — Risk Engine (Math, Not Magic)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UnifiedRiskEngine · explainable 0–100 score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12700"/>
          </a:xfrm>
          <a:prstGeom prst="rect">
            <a:avLst/>
          </a:prstGeom>
          <a:solidFill>
            <a:srgbClr val="22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Orchestration Security Center  ·  HITU FYP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0E0FF"/>
                </a:solidFill>
                <a:latin typeface="Consolas"/>
              </a:rPr>
              <a:t>score = ((Σ severity·confidence) + Σ port_penalties) × asset_mult × exposure_mod   →   capped at 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6888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60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4A4A"/>
                </a:solidFill>
                <a:latin typeface="Calibri"/>
              </a:rPr>
              <a:t>SEVERITY WEIGHTS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71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4A4A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CRITICAL  +25 × confidence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4A4A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HIGH         +15 × confidence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4A4A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MEDIUM    +7 × confidence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4A4A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LOW           +2 × confidence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4A4A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INFO         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246888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39" y="2560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9C2A"/>
                </a:solidFill>
                <a:latin typeface="Calibri"/>
              </a:rPr>
              <a:t>PORT PENALTIES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39" y="2971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9C2A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Telnet 23      +20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9C2A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SMB 445       +20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9C2A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FTP 21          +15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9C2A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RDP 3389     +15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9C2A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Redis 6379  +10  ·  Postgres 5432  +10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0999" y="246888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560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Calibri"/>
              </a:rPr>
              <a:t>MODIFIERS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971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Asset CRITICAL  × 1.5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Asset LOW             × 0.8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Internal IP             × 0.6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Public IP                × 1.0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Health = 100 − 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983480"/>
            <a:ext cx="11155680" cy="118872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74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Calibri"/>
              </a:rPr>
              <a:t>WORKED EXAMPLE — Juice Shop on public 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4406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CEFF4"/>
                </a:solidFill>
                <a:latin typeface="Consolas"/>
              </a:rPr>
              <a:t>2 × CRITICAL (50) + 5 × HIGH (75) + port 80 open + public IP × 1.0 → score capped at 100 → reported as 95/100  ·  no LLM involved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73152" cy="502920"/>
          </a:xfrm>
          <a:prstGeom prst="rect">
            <a:avLst/>
          </a:prstGeom>
          <a:solidFill>
            <a:srgbClr val="FF9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CEFF4"/>
                </a:solidFill>
                <a:latin typeface="Calibri"/>
              </a:rPr>
              <a:t>Module Deep Dive — Scanning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Deterministic tool chaining · Nmap → Nuclei → OpenVAS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12700"/>
          </a:xfrm>
          <a:prstGeom prst="rect">
            <a:avLst/>
          </a:prstGeom>
          <a:solidFill>
            <a:srgbClr val="22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Orchestration Security Center  ·  HITU FYP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6858000" cy="457200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9C2A"/>
                </a:solidFill>
                <a:latin typeface="Calibri"/>
              </a:rPr>
              <a:t>DETERMINISTIC CHAINING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94560"/>
            <a:ext cx="1920240" cy="64008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94560"/>
            <a:ext cx="19202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9C2A"/>
                </a:solidFill>
                <a:latin typeface="Consolas"/>
              </a:rPr>
              <a:t>Nmap  →  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E0FF"/>
                </a:solidFill>
                <a:latin typeface="Consolas"/>
              </a:rPr>
              <a:t>port 80 / 443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971800"/>
            <a:ext cx="4297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CEFF4"/>
                </a:solidFill>
                <a:latin typeface="Consolas"/>
              </a:rPr>
              <a:t>→ http-sqli · http-xss · bola · ssrf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74720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4AC8"/>
                </a:solidFill>
                <a:latin typeface="Consolas"/>
              </a:rPr>
              <a:t>port 445 (SMB)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474720"/>
            <a:ext cx="4297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CEFF4"/>
                </a:solidFill>
                <a:latin typeface="Consolas"/>
              </a:rPr>
              <a:t>→ smb-enum · smb-default-creds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40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Consolas"/>
              </a:rPr>
              <a:t>port 6379 (Redis)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977640"/>
            <a:ext cx="4297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CEFF4"/>
                </a:solidFill>
                <a:latin typeface="Consolas"/>
              </a:rPr>
              <a:t>→ redis-unauth · redis-rce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80560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onsolas"/>
              </a:rPr>
              <a:t>port 5432 (PG)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480560"/>
            <a:ext cx="4297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CEFF4"/>
                </a:solidFill>
                <a:latin typeface="Consolas"/>
              </a:rPr>
              <a:t>→ postgres-weak-creds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83480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9C2A"/>
                </a:solidFill>
                <a:latin typeface="Consolas"/>
              </a:rPr>
              <a:t>port 21 (FTP)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983480"/>
            <a:ext cx="4297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CEFF4"/>
                </a:solidFill>
                <a:latin typeface="Consolas"/>
              </a:rPr>
              <a:t>→ ftp-anon · ftp-weak-creds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1554480"/>
            <a:ext cx="4023360" cy="219456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16916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E0FF"/>
                </a:solidFill>
                <a:latin typeface="Calibri"/>
              </a:rPr>
              <a:t>NMAP MODES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21031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quick → -sV -F -T4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full   → -sV -O -T4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deep  → -sV -O -A --script=vulners,smb-os-discovery,http-enum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3886200"/>
            <a:ext cx="4023360" cy="224028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40233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Calibri"/>
              </a:rPr>
              <a:t>GUARDRAILS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44348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scope_guard.py — allow-list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Out-of-scope rejected before any packet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finding_dedup.py — collapses repeats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100">
                <a:solidFill>
                  <a:srgbClr val="ECEFF4"/>
                </a:solidFill>
                <a:latin typeface="Calibri"/>
              </a:rPr>
              <a:t>Audit-logged for every rejection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73152" cy="50292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CEFF4"/>
                </a:solidFill>
                <a:latin typeface="Calibri"/>
              </a:rPr>
              <a:t>Module Deep Dive — SIEM &amp; Log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Wazuh + Elasticsearch + Kibana · one-pane visibility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12700"/>
          </a:xfrm>
          <a:prstGeom prst="rect">
            <a:avLst/>
          </a:prstGeom>
          <a:solidFill>
            <a:srgbClr val="22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Orchestration Security Center  ·  HITU FYP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Calibri"/>
              </a:rPr>
              <a:t>INTEGRATIONS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wazuh_integration.py — Basic→JWT · httpx async · /alerts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elastic_integration.py — DSL: bool · must · range · match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alert_correlator.py — Wazuh alert ↔ scan vuln (IP + port + time)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Custom Wazuh rules in lab/wazuh/custom_rules.xml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400">
                <a:solidFill>
                  <a:srgbClr val="ECEFF4"/>
                </a:solidFill>
                <a:latin typeface="Calibri"/>
              </a:rPr>
              <a:t>Pre-built Kibana dashboard sme_overview.ndjson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916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E0FF"/>
                </a:solidFill>
                <a:latin typeface="Calibri"/>
              </a:rPr>
              <a:t>DATA FLOW (lab → dashboard)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1031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1031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E0FF"/>
                </a:solidFill>
                <a:latin typeface="Consola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103120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lab containers emit access/error 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74320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7432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E0FF"/>
                </a:solidFill>
                <a:latin typeface="Consola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743200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log_shipper.py — every 10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38328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E0FF"/>
                </a:solidFill>
                <a:latin typeface="Consola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383280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Elasticsearch index sme-lab-*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02336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E0FF"/>
                </a:solidFill>
                <a:latin typeface="Consola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023360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Wazuh rule engine fires alert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466344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6634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E0FF"/>
                </a:solidFill>
                <a:latin typeface="Consola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63440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GET /api/v1/siem/alerts (poll 30 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53035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3035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0E0FF"/>
                </a:solidFill>
                <a:latin typeface="Consola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5303520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SIEM tab renders alert + correlated vuln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73152" cy="50292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CEFF4"/>
                </a:solidFill>
                <a:latin typeface="Calibri"/>
              </a:rPr>
              <a:t>Module Deep Dive — Async Pipeline &amp; Real-Time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Celery · Redis pub/sub · WebSocket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12700"/>
          </a:xfrm>
          <a:prstGeom prst="rect">
            <a:avLst/>
          </a:prstGeom>
          <a:solidFill>
            <a:srgbClr val="22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Orchestration Security Center  ·  HITU FYP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548640" cy="548640"/>
          </a:xfrm>
          <a:prstGeom prst="roundRect">
            <a:avLst>
              <a:gd name="adj" fmla="val 6000"/>
            </a:avLst>
          </a:prstGeom>
          <a:solidFill>
            <a:srgbClr val="00E0FF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002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A0A1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60020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Click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60020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onsolas"/>
              </a:rPr>
              <a:t>POST /scans/ai (FastAPI)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19456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194560"/>
            <a:ext cx="548640" cy="548640"/>
          </a:xfrm>
          <a:prstGeom prst="roundRect">
            <a:avLst>
              <a:gd name="adj" fmla="val 6000"/>
            </a:avLst>
          </a:prstGeom>
          <a:solidFill>
            <a:srgbClr val="00E0FF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1945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A0A14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19456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Enqueue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19456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onsolas"/>
              </a:rPr>
              <a:t>celery_app.send_task('run_full_scan')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78892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2788920"/>
            <a:ext cx="548640" cy="548640"/>
          </a:xfrm>
          <a:prstGeom prst="roundRect">
            <a:avLst>
              <a:gd name="adj" fmla="val 6000"/>
            </a:avLst>
          </a:prstGeom>
          <a:solidFill>
            <a:srgbClr val="FF9C2A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7889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A0A14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278892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Worker pops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278892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onsolas"/>
              </a:rPr>
              <a:t>fresh asyncio loop per task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38328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3383280"/>
            <a:ext cx="548640" cy="548640"/>
          </a:xfrm>
          <a:prstGeom prst="roundRect">
            <a:avLst>
              <a:gd name="adj" fmla="val 6000"/>
            </a:avLst>
          </a:prstGeom>
          <a:solidFill>
            <a:srgbClr val="FF9C2A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3832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A0A14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38328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Run scanners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338328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onsolas"/>
              </a:rPr>
              <a:t>Nmap → Nuclei → Risk Engine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160020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4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63640" y="1600200"/>
            <a:ext cx="548640" cy="548640"/>
          </a:xfrm>
          <a:prstGeom prst="roundRect">
            <a:avLst>
              <a:gd name="adj" fmla="val 6000"/>
            </a:avLst>
          </a:prstGeom>
          <a:solidFill>
            <a:srgbClr val="FF4AC8"/>
          </a:solidFill>
          <a:ln w="9525">
            <a:solidFill>
              <a:srgbClr val="FF4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6002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A0A14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160020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Publish event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160020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onsolas"/>
              </a:rPr>
              <a:t>Redis PUBLISH ws_events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219456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4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63640" y="2194560"/>
            <a:ext cx="548640" cy="548640"/>
          </a:xfrm>
          <a:prstGeom prst="roundRect">
            <a:avLst>
              <a:gd name="adj" fmla="val 6000"/>
            </a:avLst>
          </a:prstGeom>
          <a:solidFill>
            <a:srgbClr val="FF4AC8"/>
          </a:solidFill>
          <a:ln w="9525">
            <a:solidFill>
              <a:srgbClr val="FF4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21945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A0A14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219456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Bridge listens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219456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onsolas"/>
              </a:rPr>
              <a:t>main.py redis_event_listener()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278892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63640" y="2788920"/>
            <a:ext cx="548640" cy="548640"/>
          </a:xfrm>
          <a:prstGeom prst="roundRect">
            <a:avLst>
              <a:gd name="adj" fmla="val 6000"/>
            </a:avLst>
          </a:prstGeom>
          <a:solidFill>
            <a:srgbClr val="00FF88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27889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A0A14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278892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Broadcast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278892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onsolas"/>
              </a:rPr>
              <a:t>WebSocketManager.send_all(env)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38328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63640" y="3383280"/>
            <a:ext cx="548640" cy="548640"/>
          </a:xfrm>
          <a:prstGeom prst="roundRect">
            <a:avLst>
              <a:gd name="adj" fmla="val 6000"/>
            </a:avLst>
          </a:prstGeom>
          <a:solidFill>
            <a:srgbClr val="00FF88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33832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A0A14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338328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React update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338328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onsolas"/>
              </a:rPr>
              <a:t>useReducer dispatch UPDATE_RISK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394960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39496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ECEFF4"/>
                </a:solidFill>
                <a:latin typeface="Consolas"/>
              </a:rPr>
              <a:t>scan_reaper.py — kills any scan stuck in RUNNING &gt; 10 min on startup    ·    WebSocket envelope: {type, payload, seq, ts}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73152" cy="50292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CEFF4"/>
                </a:solidFill>
                <a:latin typeface="Calibri"/>
              </a:rPr>
              <a:t>DevOps &amp;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docker compose · Caddy · GitHub Actions · Trivy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12700"/>
          </a:xfrm>
          <a:prstGeom prst="rect">
            <a:avLst/>
          </a:prstGeom>
          <a:solidFill>
            <a:srgbClr val="22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Orchestration Security Center  ·  HITU FYP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Calibri"/>
              </a:rPr>
              <a:t>SEVEN SERVICES (docker-compose.yml)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03120"/>
            <a:ext cx="5029200" cy="41148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03120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0E0FF"/>
                </a:solidFill>
                <a:latin typeface="Consolas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10312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React 18 · Vite · 5173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06040"/>
            <a:ext cx="5029200" cy="41148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606040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0E0FF"/>
                </a:solidFill>
                <a:latin typeface="Consolas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60604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FastAPI · 8000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108960"/>
            <a:ext cx="5029200" cy="41148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108960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9C2A"/>
                </a:solidFill>
                <a:latin typeface="Consolas"/>
              </a:rPr>
              <a:t>celery_worker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10896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scan executor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611880"/>
            <a:ext cx="5029200" cy="41148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611880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9C2A"/>
                </a:solidFill>
                <a:latin typeface="Consolas"/>
              </a:rPr>
              <a:t>celery_beat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61188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scheduled jobs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114800"/>
            <a:ext cx="5029200" cy="41148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Consolas"/>
              </a:rPr>
              <a:t>postgres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11480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ACID state · 5432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617720"/>
            <a:ext cx="5029200" cy="41148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17720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9C2A"/>
                </a:solidFill>
                <a:latin typeface="Consolas"/>
              </a:rPr>
              <a:t>redis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61772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queue + pub/sub · 6379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120640"/>
            <a:ext cx="5029200" cy="411480"/>
          </a:xfrm>
          <a:prstGeom prst="roundRect">
            <a:avLst>
              <a:gd name="adj" fmla="val 6000"/>
            </a:avLst>
          </a:prstGeom>
          <a:solidFill>
            <a:srgbClr val="0A0A14"/>
          </a:solidFill>
          <a:ln w="9525">
            <a:solidFill>
              <a:srgbClr val="FF4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120640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4AC8"/>
                </a:solidFill>
                <a:latin typeface="Consolas"/>
              </a:rPr>
              <a:t>caddy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12064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Calibri"/>
              </a:rPr>
              <a:t>TLS reverse proxy · 443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1554480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16916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E0FF"/>
                </a:solidFill>
                <a:latin typeface="Calibri"/>
              </a:rPr>
              <a:t>CI / CD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103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200">
                <a:solidFill>
                  <a:srgbClr val="ECEFF4"/>
                </a:solidFill>
                <a:latin typeface="Calibri"/>
              </a:rPr>
              <a:t>.github/workflows/ci.yml — pytest + Trivy on every PR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200">
                <a:solidFill>
                  <a:srgbClr val="ECEFF4"/>
                </a:solidFill>
                <a:latin typeface="Calibri"/>
              </a:rPr>
              <a:t>.github/workflows/cd.yml — auto-deploy on main merge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200">
                <a:solidFill>
                  <a:srgbClr val="ECEFF4"/>
                </a:solidFill>
                <a:latin typeface="Calibri"/>
              </a:rPr>
              <a:t>Trivy gate rejects HIGH/CRITICAL CVE images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886200"/>
            <a:ext cx="5440680" cy="224028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0233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9C2A"/>
                </a:solidFill>
                <a:latin typeface="Calibri"/>
              </a:rPr>
              <a:t>ONE-COMMAND 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348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9C2A"/>
                </a:solidFill>
                <a:latin typeface="Consolas"/>
              </a:rPr>
              <a:t>▸  </a:t>
            </a:r>
            <a:r>
              <a:rPr sz="1200">
                <a:solidFill>
                  <a:srgbClr val="ECEFF4"/>
                </a:solidFill>
                <a:latin typeface="Calibri"/>
              </a:rPr>
              <a:t>start-lite.ps1 — full stack in &lt;4 min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9C2A"/>
                </a:solidFill>
                <a:latin typeface="Consolas"/>
              </a:rPr>
              <a:t>▸  </a:t>
            </a:r>
            <a:r>
              <a:rPr sz="1200">
                <a:solidFill>
                  <a:srgbClr val="ECEFF4"/>
                </a:solidFill>
                <a:latin typeface="Calibri"/>
              </a:rPr>
              <a:t>lab_setup.ps1 start|stop|seed|reset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9C2A"/>
                </a:solidFill>
                <a:latin typeface="Consolas"/>
              </a:rPr>
              <a:t>▸  </a:t>
            </a:r>
            <a:r>
              <a:rPr sz="1200">
                <a:solidFill>
                  <a:srgbClr val="ECEFF4"/>
                </a:solidFill>
                <a:latin typeface="Calibri"/>
              </a:rPr>
              <a:t>8 GB RAM budget · runs on a laptop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9C2A"/>
                </a:solidFill>
                <a:latin typeface="Consolas"/>
              </a:rPr>
              <a:t>▸  </a:t>
            </a:r>
            <a:r>
              <a:rPr sz="1200">
                <a:solidFill>
                  <a:srgbClr val="ECEFF4"/>
                </a:solidFill>
                <a:latin typeface="Calibri"/>
              </a:rPr>
              <a:t>Caddy: self-signed (dev) · Let's Encrypt (prod)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73152" cy="502920"/>
          </a:xfrm>
          <a:prstGeom prst="rect">
            <a:avLst/>
          </a:prstGeom>
          <a:solidFill>
            <a:srgbClr val="F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CEFF4"/>
                </a:solidFill>
                <a:latin typeface="Calibri"/>
              </a:rPr>
              <a:t>Securing the Platform Itself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SECURITY_AUDIT.md · we eat our own dog food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12700"/>
          </a:xfrm>
          <a:prstGeom prst="rect">
            <a:avLst/>
          </a:prstGeom>
          <a:solidFill>
            <a:srgbClr val="22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Orchestration Security Center  ·  HITU FYP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00200"/>
            <a:ext cx="73152" cy="132588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E0FF"/>
                </a:solidFill>
                <a:latin typeface="Calibri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029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bcrypt · JWT · RBAC · force-password-change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0020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4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73152" cy="1325880"/>
          </a:xfrm>
          <a:prstGeom prst="rect">
            <a:avLst/>
          </a:prstGeom>
          <a:solidFill>
            <a:srgbClr val="FF4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7373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4AC8"/>
                </a:solidFill>
                <a:latin typeface="Calibri"/>
              </a:rPr>
              <a:t>TRANSPORT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5029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Caddy auto-TLS · HSTS · secure cookies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6324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063240"/>
            <a:ext cx="73152" cy="132588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FF88"/>
                </a:solidFill>
                <a:latin typeface="Calibri"/>
              </a:rPr>
              <a:t>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66160"/>
            <a:ext cx="5029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Pydantic strict · scope_guard allow-list · no shell concat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06324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063240"/>
            <a:ext cx="73152" cy="1325880"/>
          </a:xfrm>
          <a:prstGeom prst="rect">
            <a:avLst/>
          </a:prstGeom>
          <a:solidFill>
            <a:srgbClr val="FF9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004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9C2A"/>
                </a:solidFill>
                <a:latin typeface="Calibri"/>
              </a:rP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66160"/>
            <a:ext cx="5029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llm_guard blocks destructive output · token budget · LLM-disabled mode tested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2628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526280"/>
            <a:ext cx="73152" cy="1325880"/>
          </a:xfrm>
          <a:prstGeom prst="rect">
            <a:avLst/>
          </a:prstGeom>
          <a:solidFill>
            <a:srgbClr val="F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634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4A4A"/>
                </a:solidFill>
                <a:latin typeface="Calibri"/>
              </a:rPr>
              <a:t>SUPPLY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29200"/>
            <a:ext cx="5029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Trivy gate in CI rejects HIGH/CRITICAL CVE images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52628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526280"/>
            <a:ext cx="73152" cy="132588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6634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E0FF"/>
                </a:solidFill>
                <a:latin typeface="Calibri"/>
              </a:rPr>
              <a:t>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029200"/>
            <a:ext cx="5029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CEFF4"/>
                </a:solidFill>
                <a:latin typeface="Calibri"/>
              </a:rPr>
              <a:t>Hash-chained AgentLog (sha256) · tamper-evident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9AA3B2"/>
                </a:solidFill>
                <a:latin typeface="Calibri"/>
              </a:rPr>
              <a:t>OWASP Top-10 (2021) — every category mapped to a control. Full table in SECURITY_AUDIT.md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73152" cy="502920"/>
          </a:xfrm>
          <a:prstGeom prst="rect">
            <a:avLst/>
          </a:prstGeom>
          <a:solidFill>
            <a:srgbClr val="F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CEFF4"/>
                </a:solidFill>
                <a:latin typeface="Calibri"/>
              </a:rPr>
              <a:t>The Lab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Simulated SME · 4 isolated zones · 3 documented attack scenarios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12700"/>
          </a:xfrm>
          <a:prstGeom prst="rect">
            <a:avLst/>
          </a:prstGeom>
          <a:solidFill>
            <a:srgbClr val="22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Orchestration Security Center  ·  HITU FYP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4A4A"/>
                </a:solidFill>
                <a:latin typeface="Consolas"/>
              </a:rPr>
              <a:t>DMZ   10.10.10.0/24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CEFF4"/>
                </a:solidFill>
                <a:latin typeface="Calibri"/>
              </a:rPr>
              <a:t>Juice Shop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0574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4A4A"/>
                </a:solidFill>
                <a:latin typeface="Consolas"/>
              </a:rPr>
              <a:t>10.10.10.10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0574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SQLi · XSS · BOLA · SSRF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05740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FF4A4A"/>
                </a:solidFill>
                <a:latin typeface="Calibri"/>
              </a:rPr>
              <a:t>9.5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46888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CEFF4"/>
                </a:solidFill>
                <a:latin typeface="Calibri"/>
              </a:rPr>
              <a:t>API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4688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4A4A"/>
                </a:solidFill>
                <a:latin typeface="Consolas"/>
              </a:rPr>
              <a:t>10.10.10.20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46888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Header leak · info disclosure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46888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FF4A4A"/>
                </a:solidFill>
                <a:latin typeface="Calibri"/>
              </a:rPr>
              <a:t>6.0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88036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CEFF4"/>
                </a:solidFill>
                <a:latin typeface="Calibri"/>
              </a:rPr>
              <a:t>CoreDNS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28803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4A4A"/>
                </a:solidFill>
                <a:latin typeface="Consolas"/>
              </a:rPr>
              <a:t>10.10.10.30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88036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Zone xfer · DNS amplification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88036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FF4A4A"/>
                </a:solidFill>
                <a:latin typeface="Calibri"/>
              </a:rPr>
              <a:t>5.0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554480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6459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9C2A"/>
                </a:solidFill>
                <a:latin typeface="Consolas"/>
              </a:rPr>
              <a:t>CORP   10.10.20.0/24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05740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CEFF4"/>
                </a:solidFill>
                <a:latin typeface="Calibri"/>
              </a:rPr>
              <a:t>Samba 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20574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9C2A"/>
                </a:solidFill>
                <a:latin typeface="Consolas"/>
              </a:rPr>
              <a:t>10.10.20.10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0574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admin/admin123 · enum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205740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FF4A4A"/>
                </a:solidFill>
                <a:latin typeface="Calibri"/>
              </a:rPr>
              <a:t>8.0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46888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CEFF4"/>
                </a:solidFill>
                <a:latin typeface="Calibri"/>
              </a:rPr>
              <a:t>GreenMail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24688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9C2A"/>
                </a:solidFill>
                <a:latin typeface="Consolas"/>
              </a:rPr>
              <a:t>10.10.20.20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46888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Plaintext SMTP · POP3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246888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FF4A4A"/>
                </a:solidFill>
                <a:latin typeface="Calibri"/>
              </a:rPr>
              <a:t>7.0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88036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CEFF4"/>
                </a:solidFill>
                <a:latin typeface="Calibri"/>
              </a:rPr>
              <a:t>Workstation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28803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9C2A"/>
                </a:solidFill>
                <a:latin typeface="Consolas"/>
              </a:rPr>
              <a:t>10.10.20.40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88036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Internal info disclosure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288036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FF4A4A"/>
                </a:solidFill>
                <a:latin typeface="Calibri"/>
              </a:rPr>
              <a:t>4.0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886200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FF4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9776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4AC8"/>
                </a:solidFill>
                <a:latin typeface="Consolas"/>
              </a:rPr>
              <a:t>DATA   10.10.30.0/24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38912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CEFF4"/>
                </a:solidFill>
                <a:latin typeface="Calibri"/>
              </a:rPr>
              <a:t>PostgreSQL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43891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4AC8"/>
                </a:solidFill>
                <a:latin typeface="Consolas"/>
              </a:rPr>
              <a:t>10.10.30.10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438912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Weak password · no SSL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438912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FF4A4A"/>
                </a:solidFill>
                <a:latin typeface="Calibri"/>
              </a:rPr>
              <a:t>9.0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480060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CEFF4"/>
                </a:solidFill>
                <a:latin typeface="Calibri"/>
              </a:rPr>
              <a:t>Redis cache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4800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4AC8"/>
                </a:solidFill>
                <a:latin typeface="Consolas"/>
              </a:rPr>
              <a:t>10.10.30.20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48006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No auth · protect-mode off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480060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FF4A4A"/>
                </a:solidFill>
                <a:latin typeface="Calibri"/>
              </a:rPr>
              <a:t>8.5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3886200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39776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E0FF"/>
                </a:solidFill>
                <a:latin typeface="Consolas"/>
              </a:rPr>
              <a:t>MGMT   10.10.40.0/24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438912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CEFF4"/>
                </a:solidFill>
                <a:latin typeface="Calibri"/>
              </a:rPr>
              <a:t>traffic_gen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80" y="43891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0E0FF"/>
                </a:solidFill>
                <a:latin typeface="Consolas"/>
              </a:rPr>
              <a:t>10.10.40.10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438912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Background HTTP/SMB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8560" y="438912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9AA3B2"/>
                </a:solidFill>
                <a:latin typeface="Calibri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480060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CEFF4"/>
                </a:solidFill>
                <a:latin typeface="Calibri"/>
              </a:rPr>
              <a:t>log_shipper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80" y="4800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0E0FF"/>
                </a:solidFill>
                <a:latin typeface="Consolas"/>
              </a:rPr>
              <a:t>10.10.40.20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48006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→ Elasticsearch / Wazuh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480060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9AA3B2"/>
                </a:solidFill>
                <a:latin typeface="Calibri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698480" cy="2011680"/>
          </a:xfrm>
          <a:prstGeom prst="roundRect">
            <a:avLst>
              <a:gd name="adj" fmla="val 8000"/>
            </a:avLst>
          </a:prstGeom>
          <a:solidFill>
            <a:srgbClr val="121522"/>
          </a:solidFill>
          <a:ln w="25400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2011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1">
                <a:solidFill>
                  <a:srgbClr val="00E0FF"/>
                </a:solidFill>
                <a:latin typeface="Calibri"/>
              </a:rPr>
              <a:t>LIVE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9AA3B2"/>
                </a:solidFill>
                <a:latin typeface="Calibri"/>
              </a:rPr>
              <a:t>Scan to Action in under 3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383280"/>
            <a:ext cx="1517904" cy="246888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3383280"/>
            <a:ext cx="54864" cy="246888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520440"/>
            <a:ext cx="151790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E0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86200"/>
            <a:ext cx="1243584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CEFF4"/>
                </a:solidFill>
                <a:latin typeface="Calibri"/>
              </a:rP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1243584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admin@local · dashboard loads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84832" y="3383280"/>
            <a:ext cx="1517904" cy="246888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84832" y="3383280"/>
            <a:ext cx="54864" cy="246888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3520440"/>
            <a:ext cx="151790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E0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7712" y="3886200"/>
            <a:ext cx="1243584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CEFF4"/>
                </a:solidFill>
                <a:latin typeface="Calibri"/>
              </a:rPr>
              <a:t>Trigger AI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4572000"/>
            <a:ext cx="1243584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target = 10.10.10.10 (Juice Shop)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66744" y="3383280"/>
            <a:ext cx="1517904" cy="246888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66744" y="3383280"/>
            <a:ext cx="54864" cy="246888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9624" y="3520440"/>
            <a:ext cx="151790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E0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9624" y="3886200"/>
            <a:ext cx="1243584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CEFF4"/>
                </a:solidFill>
                <a:latin typeface="Calibri"/>
              </a:rPr>
              <a:t>Watch Orchestration Feed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9624" y="4572000"/>
            <a:ext cx="1243584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RECON → ATTACK → VALIDATE → 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48656" y="3383280"/>
            <a:ext cx="1517904" cy="246888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48656" y="3383280"/>
            <a:ext cx="54864" cy="246888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31536" y="3520440"/>
            <a:ext cx="151790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E0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1536" y="3886200"/>
            <a:ext cx="1243584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CEFF4"/>
                </a:solidFill>
                <a:latin typeface="Calibri"/>
              </a:rPr>
              <a:t>Topology turns 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1536" y="4572000"/>
            <a:ext cx="1243584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node colour by risk score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0568" y="3383280"/>
            <a:ext cx="1517904" cy="246888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30568" y="3383280"/>
            <a:ext cx="54864" cy="246888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3520440"/>
            <a:ext cx="151790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E0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3886200"/>
            <a:ext cx="1243584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CEFF4"/>
                </a:solidFill>
                <a:latin typeface="Calibri"/>
              </a:rPr>
              <a:t>Open Asset Detail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3448" y="4572000"/>
            <a:ext cx="1243584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AI plain-English advisory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3383280"/>
            <a:ext cx="1517904" cy="246888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12480" y="3383280"/>
            <a:ext cx="54864" cy="246888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3520440"/>
            <a:ext cx="151790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E0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886200"/>
            <a:ext cx="1243584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CEFF4"/>
                </a:solidFill>
                <a:latin typeface="Calibri"/>
              </a:rPr>
              <a:t>Action Center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572000"/>
            <a:ext cx="1243584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5 prioritised remediation items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94392" y="3383280"/>
            <a:ext cx="1517904" cy="246888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94392" y="3383280"/>
            <a:ext cx="54864" cy="246888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77272" y="3520440"/>
            <a:ext cx="151790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E0FF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77272" y="3886200"/>
            <a:ext cx="1243584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CEFF4"/>
                </a:solidFill>
                <a:latin typeface="Calibri"/>
              </a:rPr>
              <a:t>Reports tab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7272" y="4572000"/>
            <a:ext cx="1243584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one-click PDF export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73152" cy="50292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CEFF4"/>
                </a:solidFill>
                <a:latin typeface="Calibri"/>
              </a:rPr>
              <a:t>How 12 People Built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AA3B2"/>
                </a:solidFill>
                <a:latin typeface="Calibri"/>
              </a:rPr>
              <a:t>Team Lead + 4 sub-team leads + 7 specialists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12700"/>
          </a:xfrm>
          <a:prstGeom prst="rect">
            <a:avLst/>
          </a:prstGeom>
          <a:solidFill>
            <a:srgbClr val="22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Orchestration Security Center  ·  HITU FYP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25400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002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0E0FF"/>
                </a:solidFill>
                <a:latin typeface="Calibri"/>
              </a:rPr>
              <a:t>OMAR KAPIL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6596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ECEFF4"/>
                </a:solidFill>
                <a:latin typeface="Calibri"/>
              </a:rPr>
              <a:t>Team Lead  ·  DevOps Sub-Leader</a:t>
            </a:r>
          </a:p>
          <a:p>
            <a:pPr algn="ctr"/>
            <a:r>
              <a:rPr sz="1000" b="0">
                <a:solidFill>
                  <a:srgbClr val="ECEFF4"/>
                </a:solidFill>
                <a:latin typeface="Calibri"/>
              </a:rPr>
              <a:t>(docker · CI · Caddy · lab)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00E0FF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0604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A0A14"/>
                </a:solidFill>
                <a:latin typeface="Calibri"/>
              </a:rPr>
              <a:t>SUB-TEAM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08960"/>
            <a:ext cx="2697480" cy="41148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08960"/>
            <a:ext cx="2697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0E0FF"/>
                </a:solidFill>
                <a:latin typeface="Calibri"/>
              </a:rPr>
              <a:t>Backend &amp; AI 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66160"/>
            <a:ext cx="2697480" cy="86868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19050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11880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Reem Amin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931920"/>
            <a:ext cx="2514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00E0FF"/>
                </a:solidFill>
                <a:latin typeface="Calibri"/>
              </a:rPr>
              <a:t>Backend Lead</a:t>
            </a:r>
          </a:p>
          <a:p>
            <a:pPr algn="l"/>
            <a:r>
              <a:rPr sz="900" b="0">
                <a:solidFill>
                  <a:srgbClr val="00E0FF"/>
                </a:solidFill>
                <a:latin typeface="Calibri"/>
              </a:rPr>
              <a:t>FastAPI · auth · DB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26280"/>
            <a:ext cx="2697480" cy="7772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22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572000"/>
            <a:ext cx="2697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CEFF4"/>
                </a:solidFill>
                <a:latin typeface="Calibri"/>
              </a:rPr>
              <a:t>Yousef Abdel Hady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84632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Calibri"/>
              </a:rPr>
              <a:t>Agent pipeline · risk engine · Gemini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394960"/>
            <a:ext cx="2697480" cy="7772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22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440680"/>
            <a:ext cx="2697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CEFF4"/>
                </a:solidFill>
                <a:latin typeface="Calibri"/>
              </a:rPr>
              <a:t>Mohamed Shaban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1500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Calibri"/>
              </a:rPr>
              <a:t>Celery · Redis · WebSocket · reaper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260604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FF4AC8"/>
          </a:solidFill>
          <a:ln w="9525">
            <a:solidFill>
              <a:srgbClr val="FF4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260604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A0A14"/>
                </a:solidFill>
                <a:latin typeface="Calibri"/>
              </a:rPr>
              <a:t>SUB-TEAM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3108960"/>
            <a:ext cx="2697480" cy="41148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FF4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108960"/>
            <a:ext cx="2697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4AC8"/>
                </a:solidFill>
                <a:latin typeface="Calibri"/>
              </a:rPr>
              <a:t>Frontend &amp; Visualization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3566160"/>
            <a:ext cx="2697480" cy="86868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19050">
            <a:solidFill>
              <a:srgbClr val="FF4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3611880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Marize Ehap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931920"/>
            <a:ext cx="2514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4AC8"/>
                </a:solidFill>
                <a:latin typeface="Calibri"/>
              </a:rPr>
              <a:t>Frontend Lead</a:t>
            </a:r>
          </a:p>
          <a:p>
            <a:pPr algn="l"/>
            <a:r>
              <a:rPr sz="900" b="0">
                <a:solidFill>
                  <a:srgbClr val="FF4AC8"/>
                </a:solidFill>
                <a:latin typeface="Calibri"/>
              </a:rPr>
              <a:t>React · routing · auth UI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4526280"/>
            <a:ext cx="2697480" cy="7772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22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4572000"/>
            <a:ext cx="2697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CEFF4"/>
                </a:solidFill>
                <a:latin typeface="Calibri"/>
              </a:rPr>
              <a:t>Omnia Helmy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84632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Calibri"/>
              </a:rPr>
              <a:t>D3 force graph · charts · heatmaps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5394960"/>
            <a:ext cx="2697480" cy="7772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22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5440680"/>
            <a:ext cx="2697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CEFF4"/>
                </a:solidFill>
                <a:latin typeface="Calibri"/>
              </a:rPr>
              <a:t>Rahma Ebrahem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571500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Calibri"/>
              </a:rPr>
              <a:t>UI/UX · cyber theme · a11y · toasts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0760" y="260604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FF4A4A"/>
          </a:solidFill>
          <a:ln w="9525">
            <a:solidFill>
              <a:srgbClr val="FF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260604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A0A14"/>
                </a:solidFill>
                <a:latin typeface="Calibri"/>
              </a:rPr>
              <a:t>SUB-TEAM 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80760" y="3108960"/>
            <a:ext cx="2697480" cy="41148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FF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3108960"/>
            <a:ext cx="2697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4A4A"/>
                </a:solidFill>
                <a:latin typeface="Calibri"/>
              </a:rPr>
              <a:t>Security &amp; Scanning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80760" y="3566160"/>
            <a:ext cx="2697480" cy="86868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19050">
            <a:solidFill>
              <a:srgbClr val="FF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3611880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Shahd Paher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3931920"/>
            <a:ext cx="2514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4A4A"/>
                </a:solidFill>
                <a:latin typeface="Calibri"/>
              </a:rPr>
              <a:t>Security Lead</a:t>
            </a:r>
          </a:p>
          <a:p>
            <a:pPr algn="l"/>
            <a:r>
              <a:rPr sz="900" b="0">
                <a:solidFill>
                  <a:srgbClr val="FF4A4A"/>
                </a:solidFill>
                <a:latin typeface="Calibri"/>
              </a:rPr>
              <a:t>Nmap · Nuclei · OpenVAS · lab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0760" y="4526280"/>
            <a:ext cx="2697480" cy="7772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22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4572000"/>
            <a:ext cx="2697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CEFF4"/>
                </a:solidFill>
                <a:latin typeface="Calibri"/>
              </a:rPr>
              <a:t>Mariz Ehap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484632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Calibri"/>
              </a:rPr>
              <a:t>Wazuh · Elasticsearch · Kibana · correlator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69680" y="260604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00FF88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0" y="260604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A0A14"/>
                </a:solidFill>
                <a:latin typeface="Calibri"/>
              </a:rPr>
              <a:t>SUB-TEAM 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69680" y="3108960"/>
            <a:ext cx="2697480" cy="41148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69680" y="3108960"/>
            <a:ext cx="2697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0FF88"/>
                </a:solidFill>
                <a:latin typeface="Calibri"/>
              </a:rPr>
              <a:t>DevOps &amp; QA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69680" y="3566160"/>
            <a:ext cx="2697480" cy="86868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20" y="3611880"/>
            <a:ext cx="2697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CEFF4"/>
                </a:solidFill>
                <a:latin typeface="Calibri"/>
              </a:rPr>
              <a:t>Omar Kapil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3931920"/>
            <a:ext cx="2514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00FF88"/>
                </a:solidFill>
                <a:latin typeface="Calibri"/>
              </a:rPr>
              <a:t>DevOps Lead (also Team Lead)</a:t>
            </a:r>
          </a:p>
          <a:p>
            <a:pPr algn="l"/>
            <a:r>
              <a:rPr sz="900" b="0">
                <a:solidFill>
                  <a:srgbClr val="00FF88"/>
                </a:solidFill>
                <a:latin typeface="Calibri"/>
              </a:rPr>
              <a:t>compose · CI · TLS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69680" y="4526280"/>
            <a:ext cx="2697480" cy="7772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22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61120" y="4572000"/>
            <a:ext cx="2697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CEFF4"/>
                </a:solidFill>
                <a:latin typeface="Calibri"/>
              </a:rPr>
              <a:t>Yosef Ali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484632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Calibri"/>
              </a:rPr>
              <a:t>API tests · Postman · coverage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869680" y="5394960"/>
            <a:ext cx="2697480" cy="77724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222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61120" y="5440680"/>
            <a:ext cx="2697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CEFF4"/>
                </a:solidFill>
                <a:latin typeface="Calibri"/>
              </a:rPr>
              <a:t>Mazin Alla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61120" y="571500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Calibri"/>
              </a:rPr>
              <a:t>Playwright E2E · UAT · cross-browser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2920" y="5943600"/>
            <a:ext cx="11155680" cy="50292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FF9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594360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9C2A"/>
                </a:solidFill>
                <a:latin typeface="Calibri"/>
              </a:rPr>
              <a:t>OMAR TAREK  —  Documentation &amp; Presentation Lead   (Mermaid diagrams · demo script · slides · video · Swagger)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73152" cy="502920"/>
          </a:xfrm>
          <a:prstGeom prst="rect">
            <a:avLst/>
          </a:prstGeom>
          <a:solidFill>
            <a:srgbClr val="00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657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CEFF4"/>
                </a:solidFill>
                <a:latin typeface="Calibri"/>
              </a:rPr>
              <a:t>Conclusion · Future Work ·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1155680" cy="12700"/>
          </a:xfrm>
          <a:prstGeom prst="rect">
            <a:avLst/>
          </a:prstGeom>
          <a:solidFill>
            <a:srgbClr val="22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6858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Calibri"/>
              </a:rPr>
              <a:t>Orchestration Security Center  ·  HITU FYP 2025/2026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Calibr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FF88"/>
                </a:solidFill>
                <a:latin typeface="Calibri"/>
              </a:rPr>
              <a:t>WHAT WE ACHIEVED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40+ documented REST endpoints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4-stage AI agent pipeline (production-grade)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Deterministic 0–100 risk engine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25+ dashboard panels · live WebSocket UI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4-zone simulated SME lab · 3 attack scenarios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Wazuh + Elasticsearch SIEM integration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≥ 15 backend tests + Playwright E2E suite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FF88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One-command Docker deploy under 4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121522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E0FF"/>
                </a:solidFill>
                <a:latin typeface="Calibri"/>
              </a:rPr>
              <a:t>WHAT'S 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Cosign image signing (supply chain)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Cloud asset discovery (AWS / GCP)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n8n SOAR playbooks (auto-remediation)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Celery worker autoscaling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E0FF"/>
                </a:solidFill>
                <a:latin typeface="Consolas"/>
              </a:rPr>
              <a:t>▸  </a:t>
            </a:r>
            <a:r>
              <a:rPr sz="1300">
                <a:solidFill>
                  <a:srgbClr val="ECEFF4"/>
                </a:solidFill>
                <a:latin typeface="Calibri"/>
              </a:rPr>
              <a:t>Multi-tenant deployment for MSPs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6263640"/>
            <a:ext cx="11155680" cy="411480"/>
          </a:xfrm>
          <a:prstGeom prst="roundRect">
            <a:avLst>
              <a:gd name="adj" fmla="val 6000"/>
            </a:avLst>
          </a:prstGeom>
          <a:solidFill>
            <a:srgbClr val="1A1F30"/>
          </a:solidFill>
          <a:ln w="9525">
            <a:solidFill>
              <a:srgbClr val="00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2636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ECEFF4"/>
                </a:solidFill>
                <a:latin typeface="Calibri"/>
              </a:rPr>
              <a:t>Thank you  —  questions are welcome  ·  HOW_TO_RUN.md reproduces the demo in &lt;5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00E0FF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